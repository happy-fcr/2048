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8"/>
  </p:handoutMasterIdLst>
  <p:sldIdLst>
    <p:sldId id="409" r:id="rId4"/>
    <p:sldId id="497" r:id="rId6"/>
    <p:sldId id="720" r:id="rId7"/>
    <p:sldId id="722" r:id="rId8"/>
    <p:sldId id="732" r:id="rId9"/>
    <p:sldId id="733" r:id="rId10"/>
    <p:sldId id="716" r:id="rId11"/>
    <p:sldId id="734" r:id="rId12"/>
    <p:sldId id="755" r:id="rId13"/>
    <p:sldId id="717" r:id="rId14"/>
    <p:sldId id="752" r:id="rId15"/>
    <p:sldId id="735" r:id="rId16"/>
    <p:sldId id="427" r:id="rId17"/>
  </p:sldIdLst>
  <p:sldSz cx="12192000" cy="6858000"/>
  <p:notesSz cx="6858000" cy="9144000"/>
  <p:embeddedFontLst>
    <p:embeddedFont>
      <p:font typeface="微软雅黑" panose="020B0503020204020204" pitchFamily="34" charset="-122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2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6.xml"/><Relationship Id="rId5" Type="http://schemas.openxmlformats.org/officeDocument/2006/relationships/image" Target="../media/image3.png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7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3.xml"/><Relationship Id="rId4" Type="http://schemas.openxmlformats.org/officeDocument/2006/relationships/image" Target="../media/image3.png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4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5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9.xml"/><Relationship Id="rId4" Type="http://schemas.openxmlformats.org/officeDocument/2006/relationships/image" Target="../media/image3.png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126355" y="2529205"/>
            <a:ext cx="53549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位带操作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4518025" y="3761105"/>
            <a:ext cx="30321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位带操作配置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4970780" y="152034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6056473" y="152034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7447915" y="3703955"/>
            <a:ext cx="333121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LED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灯闪烁实验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302625" y="1520349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537910" y="1520349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69545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位带操作介绍</a:t>
            </a:r>
            <a:endParaRPr lang="zh-CN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26815" y="2613025"/>
            <a:ext cx="566864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>
            <a:off x="3733800" y="2593340"/>
            <a:ext cx="5674360" cy="825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826635" y="1640205"/>
            <a:ext cx="479171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位带操作介绍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6235" y="3249295"/>
            <a:ext cx="58172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位带操作</a:t>
            </a:r>
            <a:r>
              <a:rPr lang="zh-CN" sz="3200"/>
              <a:t>概念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位带操作内存地址</a:t>
            </a:r>
            <a:endParaRPr lang="zh-CN" altLang="en-US" sz="3200"/>
          </a:p>
          <a:p>
            <a:r>
              <a:rPr lang="en-US" altLang="zh-CN" sz="3200"/>
              <a:t>3.</a:t>
            </a:r>
            <a:r>
              <a:rPr lang="zh-CN" altLang="en-US" sz="3200"/>
              <a:t>位带操作优势</a:t>
            </a:r>
            <a:endParaRPr lang="zh-CN" altLang="en-US" sz="32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位带操作概念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676400" y="1323975"/>
            <a:ext cx="88392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 altLang="en-US"/>
              <a:t>为了减少“读-改-写”操作的次数，Cortex ® -M4处理器提供了一个可以执行单原子比特操作的位带功能。存储器映射包含了两个支持位带操作的区域。其中一个是SRAM区的最低1MB范围，第二个是片内外设区的最低1MB范围。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76400" y="3245485"/>
            <a:ext cx="88392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</a:t>
            </a:r>
            <a:r>
              <a:t>这两个区域中的地址除了普通应用外，还有自己的“位带别名区”。位带别名区把每个比特扩展成一个32位的字。当用户访问位带别名区时，就可以达到访问原始比特的目的。</a:t>
            </a:r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位带操作内存地址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579245" y="1375410"/>
            <a:ext cx="739965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        </a:t>
            </a:r>
            <a:r>
              <a:rPr lang="zh-CN" altLang="en-US"/>
              <a:t>关于支持位带操作的两个内存区的范围是：</a:t>
            </a:r>
            <a:endParaRPr lang="zh-CN" altLang="en-US"/>
          </a:p>
          <a:p>
            <a:pPr algn="l"/>
            <a:r>
              <a:rPr lang="zh-CN" altLang="en-US"/>
              <a:t>	0x2000_0000‐0x200F_FFFF（SRAM 区的最低1MB）</a:t>
            </a:r>
            <a:endParaRPr lang="zh-CN" altLang="en-US"/>
          </a:p>
          <a:p>
            <a:pPr algn="l"/>
            <a:r>
              <a:rPr lang="zh-CN" altLang="en-US"/>
              <a:t>	0x4000_0000‐0x400F_FFFF（片上外设区的最低 1MB）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endParaRPr lang="zh-CN" altLang="en-US"/>
          </a:p>
          <a:p>
            <a:pPr algn="l"/>
            <a:endParaRPr lang="zh-CN" altLang="en-US"/>
          </a:p>
          <a:p>
            <a:pPr algn="l"/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注意：</a:t>
            </a:r>
            <a:endParaRPr lang="zh-CN" altLang="en-US"/>
          </a:p>
          <a:p>
            <a:pPr algn="l"/>
            <a:r>
              <a:rPr lang="en-US" altLang="zh-CN"/>
              <a:t>        </a:t>
            </a:r>
            <a:r>
              <a:rPr lang="zh-CN" altLang="en-US"/>
              <a:t>对应的位段别名区的起始地址分别为0x2200 0000和0x4200 0000，这个在编程的时候需要使用。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位带操作优势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664335" y="1612900"/>
            <a:ext cx="78917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1. </a:t>
            </a:r>
            <a:r>
              <a:rPr lang="zh-CN" altLang="en-US"/>
              <a:t>相比于寄存器和库函数访问速度快，更高效。</a:t>
            </a:r>
            <a:endParaRPr lang="zh-CN" altLang="en-US"/>
          </a:p>
          <a:p>
            <a:pPr algn="l"/>
            <a:r>
              <a:rPr lang="en-US" altLang="zh-CN"/>
              <a:t>2. </a:t>
            </a:r>
            <a:r>
              <a:rPr lang="zh-CN" altLang="en-US"/>
              <a:t>读取数据更简单</a:t>
            </a:r>
            <a:endParaRPr lang="zh-CN" altLang="en-US"/>
          </a:p>
          <a:p>
            <a:pPr algn="l"/>
            <a:r>
              <a:rPr lang="en-US" altLang="zh-CN"/>
              <a:t>3. </a:t>
            </a:r>
            <a:r>
              <a:rPr lang="zh-CN" altLang="en-US"/>
              <a:t>相对安全，位带操作属于硬件完成不可被异常打断的操作（原子操作）。</a:t>
            </a:r>
            <a:endParaRPr lang="zh-CN" altLang="en-US"/>
          </a:p>
          <a:p>
            <a:pPr algn="l"/>
            <a:r>
              <a:rPr lang="en-US" altLang="zh-CN"/>
              <a:t>4. </a:t>
            </a:r>
            <a:r>
              <a:rPr lang="zh-CN" altLang="en-US"/>
              <a:t>提高运行效率和节省代码空间。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 flipV="1">
            <a:off x="3778250" y="2522220"/>
            <a:ext cx="5765800" cy="4889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2101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位带操作配置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位带操作配置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70" y="1423670"/>
            <a:ext cx="9692640" cy="28695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位带操作配置解析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629410" y="1513205"/>
            <a:ext cx="881253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altLang="en-US" sz="1800" b="0"/>
              <a:t>bit_word_addr =bit_band_base +(byte_offset×32)+(bit_number×4)</a:t>
            </a:r>
            <a:endParaRPr lang="zh-CN" altLang="en-US" sz="1800" b="0"/>
          </a:p>
          <a:p>
            <a:pPr indent="266700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59280" y="2270125"/>
            <a:ext cx="7531735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#define BIT_ADDR(byte_offset,bitnum)  </a:t>
            </a:r>
            <a:endParaRPr lang="zh-CN" altLang="en-US">
              <a:sym typeface="+mn-ea"/>
            </a:endParaRPr>
          </a:p>
          <a:p>
            <a:pPr algn="l"/>
            <a:r>
              <a:rPr lang="zh-CN" altLang="en-US">
                <a:sym typeface="+mn-ea"/>
              </a:rPr>
              <a:t> (volatile unsigned long*)(0x42000000 + (byte_offset * 32) + (bitnum * 4))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36675" y="3646805"/>
            <a:ext cx="101834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PD7输出对应的字节偏移量为#define GPIOD_OCTL_OFFSET      ((GPIOD + 0x14) - 0x40000000)</a:t>
            </a:r>
            <a:endParaRPr lang="zh-CN" altLang="en-US" sz="1600"/>
          </a:p>
          <a:p>
            <a:pPr algn="l"/>
            <a:r>
              <a:rPr lang="zh-CN" altLang="en-US" sz="1600"/>
              <a:t>PD7输入对应的字节偏移量为#define GPIOD_ISTAT_OFFSET     ((GPIOD + 0x10) - 0x40000000)</a:t>
            </a:r>
            <a:endParaRPr lang="zh-CN" altLang="en-US" sz="1600"/>
          </a:p>
          <a:p>
            <a:pPr algn="l"/>
            <a:endParaRPr lang="zh-CN" altLang="en-US" sz="1600"/>
          </a:p>
          <a:p>
            <a:pPr algn="l"/>
            <a:r>
              <a:rPr lang="zh-CN" altLang="en-US" sz="1600"/>
              <a:t>PD7输出最终可配置为#define PDout(n)</a:t>
            </a:r>
            <a:r>
              <a:rPr lang="en-US" altLang="zh-CN" sz="1600"/>
              <a:t>	</a:t>
            </a:r>
            <a:r>
              <a:rPr lang="zh-CN" altLang="en-US" sz="1600"/>
              <a:t>	</a:t>
            </a:r>
            <a:r>
              <a:rPr lang="en-US" altLang="zh-CN" sz="1600"/>
              <a:t>	       </a:t>
            </a:r>
            <a:r>
              <a:rPr lang="zh-CN" altLang="en-US" sz="1600"/>
              <a:t>*(BIT_ADDR(GPIOD_OCTL_OFFSET,n)）</a:t>
            </a:r>
            <a:endParaRPr lang="zh-CN" altLang="en-US" sz="1600"/>
          </a:p>
          <a:p>
            <a:pPr algn="l"/>
            <a:r>
              <a:rPr lang="zh-CN" altLang="en-US" sz="1600"/>
              <a:t>PD7输入最终可配置为#define PDin(n)		</a:t>
            </a:r>
            <a:r>
              <a:rPr lang="en-US" altLang="zh-CN" sz="1600"/>
              <a:t>	       </a:t>
            </a:r>
            <a:r>
              <a:rPr lang="zh-CN" altLang="en-US" sz="1600"/>
              <a:t>*(BIT_ADDR(GPIOD_ISTAT_OFFSET,n))	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1985010" y="5403215"/>
            <a:ext cx="8221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我们要配置PD7输出高电平就是PDout(7) = 1;配置输出低电平就是PDout(7) = 0; 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42160" y="5959475"/>
            <a:ext cx="7523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highlight>
                  <a:srgbClr val="FF0000"/>
                </a:highlight>
              </a:rPr>
              <a:t>需要注意的是当你使用位带功能时，要访问的变量必须用volatile来定义。</a:t>
            </a:r>
            <a:endParaRPr lang="zh-CN" altLang="en-US">
              <a:highlight>
                <a:srgbClr val="FF0000"/>
              </a:highlight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55390" y="2609850"/>
            <a:ext cx="5908040" cy="317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31368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LED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灯闪烁实验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LED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灯闪烁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125980" y="1437640"/>
            <a:ext cx="7265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2800"/>
              <a:t>如何实现用位带操作让</a:t>
            </a:r>
            <a:r>
              <a:rPr lang="en-US" altLang="zh-CN" sz="2800"/>
              <a:t>LED</a:t>
            </a:r>
            <a:r>
              <a:rPr lang="zh-CN" altLang="en-US" sz="2800"/>
              <a:t>灯闪烁呢？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2270760" y="2545080"/>
            <a:ext cx="697484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只需要将main.c文件下的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gpio_bit_set(BSP_LED2_PORT,BSP_LED2_PIN); </a:t>
            </a:r>
            <a:endParaRPr lang="zh-CN" altLang="en-US"/>
          </a:p>
          <a:p>
            <a:pPr algn="l"/>
            <a:r>
              <a:rPr lang="zh-CN" altLang="en-US"/>
              <a:t>函数替换为</a:t>
            </a:r>
            <a:endParaRPr lang="zh-CN" altLang="en-US"/>
          </a:p>
          <a:p>
            <a:pPr algn="l"/>
            <a:r>
              <a:rPr lang="zh-CN" altLang="en-US"/>
              <a:t>PDout(7) = 1;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gpio_bit_reset(BSP_LED2_PORT,BSP_LED2_PIN); </a:t>
            </a:r>
            <a:endParaRPr lang="zh-CN" altLang="en-US"/>
          </a:p>
          <a:p>
            <a:pPr algn="l"/>
            <a:r>
              <a:rPr lang="zh-CN" altLang="en-US"/>
              <a:t>函数替换为</a:t>
            </a:r>
            <a:endParaRPr lang="zh-CN" altLang="en-US"/>
          </a:p>
          <a:p>
            <a:pPr algn="l"/>
            <a:r>
              <a:rPr lang="zh-CN" altLang="en-US"/>
              <a:t>PDout(7) = 0;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然后编译运行即可。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实验现象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355215" y="1599565"/>
            <a:ext cx="72650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/>
              <a:t>        </a:t>
            </a:r>
            <a:r>
              <a:rPr lang="zh-CN" altLang="en-US" sz="2800"/>
              <a:t>烧录代码之后，可以</a:t>
            </a:r>
            <a:r>
              <a:rPr sz="2800"/>
              <a:t>看到开发板LED2将会1s亮1s灭</a:t>
            </a:r>
            <a:endParaRPr sz="2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1383</Words>
  <Application>WPS 演示</Application>
  <PresentationFormat>宽屏</PresentationFormat>
  <Paragraphs>100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317</cp:revision>
  <dcterms:created xsi:type="dcterms:W3CDTF">2019-06-19T02:08:00Z</dcterms:created>
  <dcterms:modified xsi:type="dcterms:W3CDTF">2022-05-11T05:34:53Z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2052-11.1.0.11369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