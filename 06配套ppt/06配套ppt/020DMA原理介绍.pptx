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1" r:id="rId3"/>
  </p:sldMasterIdLst>
  <p:notesMasterIdLst>
    <p:notesMasterId r:id="rId5"/>
  </p:notesMasterIdLst>
  <p:handoutMasterIdLst>
    <p:handoutMasterId r:id="rId22"/>
  </p:handoutMasterIdLst>
  <p:sldIdLst>
    <p:sldId id="409" r:id="rId4"/>
    <p:sldId id="497" r:id="rId6"/>
    <p:sldId id="720" r:id="rId7"/>
    <p:sldId id="722" r:id="rId8"/>
    <p:sldId id="755" r:id="rId9"/>
    <p:sldId id="730" r:id="rId10"/>
    <p:sldId id="738" r:id="rId11"/>
    <p:sldId id="744" r:id="rId12"/>
    <p:sldId id="751" r:id="rId13"/>
    <p:sldId id="756" r:id="rId14"/>
    <p:sldId id="757" r:id="rId15"/>
    <p:sldId id="758" r:id="rId16"/>
    <p:sldId id="759" r:id="rId17"/>
    <p:sldId id="716" r:id="rId18"/>
    <p:sldId id="719" r:id="rId19"/>
    <p:sldId id="760" r:id="rId20"/>
    <p:sldId id="427" r:id="rId21"/>
  </p:sldIdLst>
  <p:sldSz cx="12192000" cy="6858000"/>
  <p:notesSz cx="6858000" cy="9144000"/>
  <p:embeddedFontLst>
    <p:embeddedFont>
      <p:font typeface="微软雅黑" panose="020B0503020204020204" pitchFamily="34" charset="-122"/>
      <p:regular r:id="rId27"/>
    </p:embeddedFont>
    <p:embeddedFont>
      <p:font typeface="Calibri" panose="020F0502020204030204" charset="0"/>
      <p:regular r:id="rId28"/>
      <p:bold r:id="rId29"/>
      <p:italic r:id="rId30"/>
      <p:boldItalic r:id="rId3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 id="3" name="Author" initials="A" lastIdx="0" clrIdx="2"/>
  <p:cmAuthor id="4" name="USER" initials="U" lastIdx="2"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8B6E5"/>
    <a:srgbClr val="F18870"/>
    <a:srgbClr val="FFBA55"/>
    <a:srgbClr val="56CA95"/>
    <a:srgbClr val="6096E6"/>
    <a:srgbClr val="4691C0"/>
    <a:srgbClr val="70AACE"/>
    <a:srgbClr val="79C5D9"/>
    <a:srgbClr val="35729C"/>
    <a:srgbClr val="174A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494"/>
        <p:guide pos="388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Master" Target="slideMasters/slideMaster2.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commentAuthors" Target="commentAuthors.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255270" y="253365"/>
            <a:ext cx="11682095" cy="6351270"/>
          </a:xfrm>
          <a:prstGeom prst="rect">
            <a:avLst/>
          </a:prstGeom>
          <a:solidFill>
            <a:schemeClr val="bg1"/>
          </a:solidFill>
          <a:ln>
            <a:noFill/>
          </a:ln>
          <a:effectLst>
            <a:outerShdw blurRad="63500" algn="ctr" rotWithShape="0">
              <a:schemeClr val="tx1">
                <a:lumMod val="75000"/>
                <a:lumOff val="25000"/>
                <a:alpha val="6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654050" y="640715"/>
            <a:ext cx="10884535" cy="5576570"/>
          </a:xfrm>
          <a:prstGeom prst="rect">
            <a:avLst/>
          </a:prstGeom>
          <a:solidFill>
            <a:schemeClr val="bg1"/>
          </a:solidFill>
          <a:ln>
            <a:noFill/>
          </a:ln>
          <a:effectLst>
            <a:outerShdw blurRad="127000" algn="ctr" rotWithShape="0">
              <a:schemeClr val="tx1">
                <a:lumMod val="75000"/>
                <a:lumOff val="25000"/>
                <a:alpha val="7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255270" y="253365"/>
            <a:ext cx="11682095" cy="6351270"/>
          </a:xfrm>
          <a:prstGeom prst="rect">
            <a:avLst/>
          </a:prstGeom>
          <a:solidFill>
            <a:schemeClr val="bg1"/>
          </a:solidFill>
          <a:ln>
            <a:noFill/>
          </a:ln>
          <a:effectLst>
            <a:outerShdw blurRad="76200" algn="ctr" rotWithShape="0">
              <a:schemeClr val="tx1">
                <a:lumMod val="75000"/>
                <a:lumOff val="25000"/>
                <a:alpha val="4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0" Type="http://schemas.openxmlformats.org/officeDocument/2006/relationships/theme" Target="../theme/theme2.xml"/><Relationship Id="rId2" Type="http://schemas.openxmlformats.org/officeDocument/2006/relationships/slideLayout" Target="../slideLayouts/slideLayout14.xml"/><Relationship Id="rId19" Type="http://schemas.openxmlformats.org/officeDocument/2006/relationships/tags" Target="../tags/tag114.xml"/><Relationship Id="rId18" Type="http://schemas.openxmlformats.org/officeDocument/2006/relationships/tags" Target="../tags/tag113.xml"/><Relationship Id="rId17" Type="http://schemas.openxmlformats.org/officeDocument/2006/relationships/tags" Target="../tags/tag112.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alpha val="51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alpha val="51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115.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8.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xml"/><Relationship Id="rId7" Type="http://schemas.openxmlformats.org/officeDocument/2006/relationships/tags" Target="../tags/tag126.xml"/><Relationship Id="rId6" Type="http://schemas.openxmlformats.org/officeDocument/2006/relationships/image" Target="../media/image3.png"/><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5.xml"/><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image" Target="../media/image3.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5.xml"/><Relationship Id="rId3" Type="http://schemas.openxmlformats.org/officeDocument/2006/relationships/tags" Target="../tags/tag129.xml"/><Relationship Id="rId2" Type="http://schemas.openxmlformats.org/officeDocument/2006/relationships/image" Target="../media/image3.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5.xml"/><Relationship Id="rId4" Type="http://schemas.openxmlformats.org/officeDocument/2006/relationships/tags" Target="../tags/tag130.xml"/><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5.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image" Target="../media/image3.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5.xml"/><Relationship Id="rId4" Type="http://schemas.openxmlformats.org/officeDocument/2006/relationships/tags" Target="../tags/tag133.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5.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image" Target="../media/image3.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5.xml"/><Relationship Id="rId3" Type="http://schemas.openxmlformats.org/officeDocument/2006/relationships/tags" Target="../tags/tag136.xml"/><Relationship Id="rId2" Type="http://schemas.openxmlformats.org/officeDocument/2006/relationships/image" Target="../media/image3.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5.xml"/><Relationship Id="rId3" Type="http://schemas.openxmlformats.org/officeDocument/2006/relationships/tags" Target="../tags/tag137.xml"/><Relationship Id="rId2" Type="http://schemas.openxmlformats.org/officeDocument/2006/relationships/image" Target="../media/image3.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5.xml"/><Relationship Id="rId4" Type="http://schemas.openxmlformats.org/officeDocument/2006/relationships/tags" Target="../tags/tag139.xml"/><Relationship Id="rId3" Type="http://schemas.openxmlformats.org/officeDocument/2006/relationships/tags" Target="../tags/tag138.xml"/><Relationship Id="rId2" Type="http://schemas.openxmlformats.org/officeDocument/2006/relationships/image" Target="../media/image3.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5.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image" Target="../media/image3.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xml"/><Relationship Id="rId6" Type="http://schemas.openxmlformats.org/officeDocument/2006/relationships/tags" Target="../tags/tag146.xml"/><Relationship Id="rId5" Type="http://schemas.openxmlformats.org/officeDocument/2006/relationships/image" Target="../media/image3.png"/><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5.xml"/><Relationship Id="rId3" Type="http://schemas.openxmlformats.org/officeDocument/2006/relationships/tags" Target="../tags/tag147.xml"/><Relationship Id="rId2" Type="http://schemas.openxmlformats.org/officeDocument/2006/relationships/image" Target="../media/image3.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5.xml"/><Relationship Id="rId3" Type="http://schemas.openxmlformats.org/officeDocument/2006/relationships/tags" Target="../tags/tag148.xml"/><Relationship Id="rId2" Type="http://schemas.openxmlformats.org/officeDocument/2006/relationships/image" Target="../media/image3.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49.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5126355" y="2529205"/>
            <a:ext cx="5905500" cy="922020"/>
          </a:xfrm>
          <a:prstGeom prst="rect">
            <a:avLst/>
          </a:prstGeom>
          <a:noFill/>
        </p:spPr>
        <p:txBody>
          <a:bodyPr wrap="square" rtlCol="0">
            <a:spAutoFit/>
          </a:bodyPr>
          <a:p>
            <a:r>
              <a:rPr lang="en-US" altLang="zh-CN" sz="5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DMA</a:t>
            </a:r>
            <a:r>
              <a:rPr lang="zh-CN" altLang="en-US" sz="5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原理介绍</a:t>
            </a:r>
            <a:endParaRPr lang="zh-CN" altLang="en-US" sz="5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descr="专业版03"/>
          <p:cNvPicPr>
            <a:picLocks noChangeAspect="1"/>
          </p:cNvPicPr>
          <p:nvPr/>
        </p:nvPicPr>
        <p:blipFill>
          <a:blip r:embed="rId1"/>
          <a:stretch>
            <a:fillRect/>
          </a:stretch>
        </p:blipFill>
        <p:spPr>
          <a:xfrm>
            <a:off x="306705" y="1143000"/>
            <a:ext cx="4572000" cy="4572000"/>
          </a:xfrm>
          <a:prstGeom prst="rect">
            <a:avLst/>
          </a:prstGeom>
        </p:spPr>
      </p:pic>
      <p:pic>
        <p:nvPicPr>
          <p:cNvPr id="102" name="图片 101"/>
          <p:cNvPicPr>
            <a:picLocks noChangeAspect="1"/>
          </p:cNvPicPr>
          <p:nvPr/>
        </p:nvPicPr>
        <p:blipFill>
          <a:blip r:embed="rId2"/>
          <a:stretch>
            <a:fillRect/>
          </a:stretch>
        </p:blipFill>
        <p:spPr>
          <a:xfrm>
            <a:off x="306705" y="187325"/>
            <a:ext cx="2322830" cy="872490"/>
          </a:xfrm>
          <a:prstGeom prst="rect">
            <a:avLst/>
          </a:prstGeom>
          <a:noFill/>
          <a:ln w="9525">
            <a:noFill/>
          </a:ln>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 name="文本框 56"/>
          <p:cNvSpPr txBox="1"/>
          <p:nvPr>
            <p:custDataLst>
              <p:tags r:id="rId1"/>
            </p:custDataLst>
          </p:nvPr>
        </p:nvSpPr>
        <p:spPr>
          <a:xfrm>
            <a:off x="6898640" y="3676015"/>
            <a:ext cx="3061335" cy="1116965"/>
          </a:xfrm>
          <a:prstGeom prst="rect">
            <a:avLst/>
          </a:prstGeom>
          <a:noFill/>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r">
              <a:lnSpc>
                <a:spcPct val="110000"/>
              </a:lnSpc>
            </a:pPr>
            <a:r>
              <a:rPr lang="en-US" altLang="zh-CN"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DMA</a:t>
            </a:r>
            <a:r>
              <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操作流程</a:t>
            </a:r>
            <a:endPar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6" name="任意形状 55" descr="A0"/>
          <p:cNvSpPr/>
          <p:nvPr>
            <p:custDataLst>
              <p:tags r:id="rId2"/>
            </p:custDataLst>
          </p:nvPr>
        </p:nvSpPr>
        <p:spPr>
          <a:xfrm>
            <a:off x="7796530" y="1435259"/>
            <a:ext cx="817200" cy="1058400"/>
          </a:xfrm>
          <a:custGeom>
            <a:avLst/>
            <a:gdLst>
              <a:gd name="connsiteX0" fmla="*/ 316687 w 631918"/>
              <a:gd name="connsiteY0" fmla="*/ 0 h 736299"/>
              <a:gd name="connsiteX1" fmla="*/ 631918 w 631918"/>
              <a:gd name="connsiteY1" fmla="*/ 309389 h 736299"/>
              <a:gd name="connsiteX2" fmla="*/ 631918 w 631918"/>
              <a:gd name="connsiteY2" fmla="*/ 736299 h 736299"/>
              <a:gd name="connsiteX3" fmla="*/ 442195 w 631918"/>
              <a:gd name="connsiteY3" fmla="*/ 736299 h 736299"/>
              <a:gd name="connsiteX4" fmla="*/ 442195 w 631918"/>
              <a:gd name="connsiteY4" fmla="*/ 312322 h 736299"/>
              <a:gd name="connsiteX5" fmla="*/ 316687 w 631918"/>
              <a:gd name="connsiteY5" fmla="*/ 170751 h 736299"/>
              <a:gd name="connsiteX6" fmla="*/ 189723 w 631918"/>
              <a:gd name="connsiteY6" fmla="*/ 312311 h 736299"/>
              <a:gd name="connsiteX7" fmla="*/ 189723 w 631918"/>
              <a:gd name="connsiteY7" fmla="*/ 736299 h 736299"/>
              <a:gd name="connsiteX8" fmla="*/ 0 w 631918"/>
              <a:gd name="connsiteY8" fmla="*/ 736299 h 736299"/>
              <a:gd name="connsiteX9" fmla="*/ 0 w 631918"/>
              <a:gd name="connsiteY9" fmla="*/ 309389 h 736299"/>
              <a:gd name="connsiteX10" fmla="*/ 316687 w 631918"/>
              <a:gd name="connsiteY10" fmla="*/ 0 h 736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1918" h="736299">
                <a:moveTo>
                  <a:pt x="316687" y="0"/>
                </a:moveTo>
                <a:cubicBezTo>
                  <a:pt x="485970" y="0"/>
                  <a:pt x="631918" y="110913"/>
                  <a:pt x="631918" y="309389"/>
                </a:cubicBezTo>
                <a:lnTo>
                  <a:pt x="631918" y="736299"/>
                </a:lnTo>
                <a:lnTo>
                  <a:pt x="442195" y="736299"/>
                </a:lnTo>
                <a:lnTo>
                  <a:pt x="442195" y="312322"/>
                </a:lnTo>
                <a:cubicBezTo>
                  <a:pt x="442195" y="224747"/>
                  <a:pt x="391121" y="170751"/>
                  <a:pt x="316687" y="170751"/>
                </a:cubicBezTo>
                <a:cubicBezTo>
                  <a:pt x="242264" y="170751"/>
                  <a:pt x="189723" y="224747"/>
                  <a:pt x="189723" y="312311"/>
                </a:cubicBezTo>
                <a:lnTo>
                  <a:pt x="189723" y="736299"/>
                </a:lnTo>
                <a:lnTo>
                  <a:pt x="0" y="736299"/>
                </a:lnTo>
                <a:lnTo>
                  <a:pt x="0" y="309389"/>
                </a:lnTo>
                <a:cubicBezTo>
                  <a:pt x="0" y="110913"/>
                  <a:pt x="147402" y="0"/>
                  <a:pt x="316687" y="0"/>
                </a:cubicBezTo>
                <a:close/>
              </a:path>
            </a:pathLst>
          </a:custGeom>
          <a:solidFill>
            <a:schemeClr val="accent2"/>
          </a:solidFill>
          <a:ln w="1032" cap="flat">
            <a:noFill/>
            <a:prstDash val="solid"/>
            <a:miter/>
          </a:ln>
        </p:spPr>
        <p:txBody>
          <a:bodyPr rtlCol="0" anchor="ctr"/>
          <a:lstStyle/>
          <a:p>
            <a:endParaRPr lang="zh-CN" altLang="en-US" sz="800"/>
          </a:p>
        </p:txBody>
      </p:sp>
      <p:sp>
        <p:nvSpPr>
          <p:cNvPr id="63" name="任意形状 62" descr="A2"/>
          <p:cNvSpPr/>
          <p:nvPr>
            <p:custDataLst>
              <p:tags r:id="rId3"/>
            </p:custDataLst>
          </p:nvPr>
        </p:nvSpPr>
        <p:spPr>
          <a:xfrm>
            <a:off x="8882223" y="1435259"/>
            <a:ext cx="817200" cy="1058400"/>
          </a:xfrm>
          <a:custGeom>
            <a:avLst/>
            <a:gdLst>
              <a:gd name="connsiteX0" fmla="*/ 319975 w 638478"/>
              <a:gd name="connsiteY0" fmla="*/ 0 h 715701"/>
              <a:gd name="connsiteX1" fmla="*/ 638478 w 638478"/>
              <a:gd name="connsiteY1" fmla="*/ 305251 h 715701"/>
              <a:gd name="connsiteX2" fmla="*/ 526415 w 638478"/>
              <a:gd name="connsiteY2" fmla="*/ 545598 h 715701"/>
              <a:gd name="connsiteX3" fmla="*/ 379875 w 638478"/>
              <a:gd name="connsiteY3" fmla="*/ 715701 h 715701"/>
              <a:gd name="connsiteX4" fmla="*/ 146785 w 638478"/>
              <a:gd name="connsiteY4" fmla="*/ 715701 h 715701"/>
              <a:gd name="connsiteX5" fmla="*/ 392230 w 638478"/>
              <a:gd name="connsiteY5" fmla="*/ 430582 h 715701"/>
              <a:gd name="connsiteX6" fmla="*/ 446798 w 638478"/>
              <a:gd name="connsiteY6" fmla="*/ 303769 h 715701"/>
              <a:gd name="connsiteX7" fmla="*/ 319975 w 638478"/>
              <a:gd name="connsiteY7" fmla="*/ 172535 h 715701"/>
              <a:gd name="connsiteX8" fmla="*/ 191693 w 638478"/>
              <a:gd name="connsiteY8" fmla="*/ 306721 h 715701"/>
              <a:gd name="connsiteX9" fmla="*/ 0 w 638478"/>
              <a:gd name="connsiteY9" fmla="*/ 306721 h 715701"/>
              <a:gd name="connsiteX10" fmla="*/ 319975 w 638478"/>
              <a:gd name="connsiteY10" fmla="*/ 0 h 715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8478" h="715701">
                <a:moveTo>
                  <a:pt x="319975" y="0"/>
                </a:moveTo>
                <a:cubicBezTo>
                  <a:pt x="505776" y="0"/>
                  <a:pt x="638478" y="116486"/>
                  <a:pt x="638478" y="305251"/>
                </a:cubicBezTo>
                <a:cubicBezTo>
                  <a:pt x="638478" y="406990"/>
                  <a:pt x="598670" y="461547"/>
                  <a:pt x="526415" y="545598"/>
                </a:cubicBezTo>
                <a:lnTo>
                  <a:pt x="379875" y="715701"/>
                </a:lnTo>
                <a:lnTo>
                  <a:pt x="146785" y="715701"/>
                </a:lnTo>
                <a:lnTo>
                  <a:pt x="392230" y="430582"/>
                </a:lnTo>
                <a:cubicBezTo>
                  <a:pt x="430568" y="384870"/>
                  <a:pt x="446798" y="352422"/>
                  <a:pt x="446798" y="303769"/>
                </a:cubicBezTo>
                <a:cubicBezTo>
                  <a:pt x="446798" y="225622"/>
                  <a:pt x="401073" y="172535"/>
                  <a:pt x="319975" y="172535"/>
                </a:cubicBezTo>
                <a:cubicBezTo>
                  <a:pt x="256563" y="172535"/>
                  <a:pt x="191693" y="204982"/>
                  <a:pt x="191693" y="306721"/>
                </a:cubicBezTo>
                <a:lnTo>
                  <a:pt x="0" y="306721"/>
                </a:lnTo>
                <a:cubicBezTo>
                  <a:pt x="0" y="115028"/>
                  <a:pt x="140089" y="12"/>
                  <a:pt x="319975" y="0"/>
                </a:cubicBezTo>
                <a:close/>
              </a:path>
            </a:pathLst>
          </a:custGeom>
          <a:solidFill>
            <a:schemeClr val="accent2"/>
          </a:solidFill>
          <a:ln w="1032" cap="flat">
            <a:noFill/>
            <a:prstDash val="solid"/>
            <a:miter/>
          </a:ln>
        </p:spPr>
        <p:txBody>
          <a:bodyPr rtlCol="0" anchor="ctr"/>
          <a:lstStyle/>
          <a:p>
            <a:endParaRPr lang="zh-CN" altLang="en-US"/>
          </a:p>
        </p:txBody>
      </p:sp>
      <p:sp>
        <p:nvSpPr>
          <p:cNvPr id="14" name="任意多边形 13"/>
          <p:cNvSpPr/>
          <p:nvPr/>
        </p:nvSpPr>
        <p:spPr>
          <a:xfrm>
            <a:off x="2572960" y="1579404"/>
            <a:ext cx="1825200" cy="1098000"/>
          </a:xfrm>
          <a:custGeom>
            <a:avLst/>
            <a:gdLst/>
            <a:ahLst/>
            <a:cxnLst>
              <a:cxn ang="3">
                <a:pos x="hc" y="t"/>
              </a:cxn>
              <a:cxn ang="cd2">
                <a:pos x="l" y="vc"/>
              </a:cxn>
              <a:cxn ang="cd4">
                <a:pos x="hc" y="b"/>
              </a:cxn>
              <a:cxn ang="0">
                <a:pos x="r" y="vc"/>
              </a:cxn>
            </a:cxnLst>
            <a:rect l="l" t="t" r="r" b="b"/>
            <a:pathLst>
              <a:path w="2505" h="1365">
                <a:moveTo>
                  <a:pt x="2198" y="0"/>
                </a:moveTo>
                <a:lnTo>
                  <a:pt x="2505" y="0"/>
                </a:lnTo>
                <a:lnTo>
                  <a:pt x="2505" y="1365"/>
                </a:lnTo>
                <a:lnTo>
                  <a:pt x="2127" y="1365"/>
                </a:lnTo>
                <a:lnTo>
                  <a:pt x="2127" y="557"/>
                </a:lnTo>
                <a:cubicBezTo>
                  <a:pt x="1988" y="686"/>
                  <a:pt x="1825" y="782"/>
                  <a:pt x="1637" y="844"/>
                </a:cubicBezTo>
                <a:lnTo>
                  <a:pt x="1637" y="500"/>
                </a:lnTo>
                <a:cubicBezTo>
                  <a:pt x="1736" y="468"/>
                  <a:pt x="1844" y="406"/>
                  <a:pt x="1960" y="316"/>
                </a:cubicBezTo>
                <a:cubicBezTo>
                  <a:pt x="2075" y="226"/>
                  <a:pt x="2155" y="120"/>
                  <a:pt x="2198" y="0"/>
                </a:cubicBezTo>
                <a:close/>
                <a:moveTo>
                  <a:pt x="641" y="0"/>
                </a:moveTo>
                <a:cubicBezTo>
                  <a:pt x="833" y="0"/>
                  <a:pt x="982" y="68"/>
                  <a:pt x="1090" y="205"/>
                </a:cubicBezTo>
                <a:cubicBezTo>
                  <a:pt x="1219" y="367"/>
                  <a:pt x="1283" y="635"/>
                  <a:pt x="1283" y="1009"/>
                </a:cubicBezTo>
                <a:cubicBezTo>
                  <a:pt x="1283" y="1138"/>
                  <a:pt x="1275" y="1254"/>
                  <a:pt x="1260" y="1358"/>
                </a:cubicBezTo>
                <a:lnTo>
                  <a:pt x="1259" y="1365"/>
                </a:lnTo>
                <a:lnTo>
                  <a:pt x="872" y="1365"/>
                </a:lnTo>
                <a:lnTo>
                  <a:pt x="873" y="1351"/>
                </a:lnTo>
                <a:cubicBezTo>
                  <a:pt x="882" y="1261"/>
                  <a:pt x="887" y="1147"/>
                  <a:pt x="887" y="1009"/>
                </a:cubicBezTo>
                <a:cubicBezTo>
                  <a:pt x="887" y="778"/>
                  <a:pt x="875" y="618"/>
                  <a:pt x="852" y="532"/>
                </a:cubicBezTo>
                <a:cubicBezTo>
                  <a:pt x="828" y="445"/>
                  <a:pt x="799" y="387"/>
                  <a:pt x="763" y="358"/>
                </a:cubicBezTo>
                <a:cubicBezTo>
                  <a:pt x="728" y="329"/>
                  <a:pt x="687" y="314"/>
                  <a:pt x="641" y="314"/>
                </a:cubicBezTo>
                <a:cubicBezTo>
                  <a:pt x="596" y="314"/>
                  <a:pt x="555" y="329"/>
                  <a:pt x="519" y="358"/>
                </a:cubicBezTo>
                <a:cubicBezTo>
                  <a:pt x="483" y="387"/>
                  <a:pt x="455" y="439"/>
                  <a:pt x="435" y="515"/>
                </a:cubicBezTo>
                <a:cubicBezTo>
                  <a:pt x="409" y="613"/>
                  <a:pt x="396" y="778"/>
                  <a:pt x="396" y="1009"/>
                </a:cubicBezTo>
                <a:cubicBezTo>
                  <a:pt x="396" y="1154"/>
                  <a:pt x="401" y="1271"/>
                  <a:pt x="410" y="1359"/>
                </a:cubicBezTo>
                <a:lnTo>
                  <a:pt x="411" y="1365"/>
                </a:lnTo>
                <a:lnTo>
                  <a:pt x="22" y="1365"/>
                </a:lnTo>
                <a:lnTo>
                  <a:pt x="21" y="1355"/>
                </a:lnTo>
                <a:cubicBezTo>
                  <a:pt x="7" y="1252"/>
                  <a:pt x="0" y="1136"/>
                  <a:pt x="0" y="1005"/>
                </a:cubicBezTo>
                <a:cubicBezTo>
                  <a:pt x="0" y="633"/>
                  <a:pt x="65" y="366"/>
                  <a:pt x="194" y="202"/>
                </a:cubicBezTo>
                <a:cubicBezTo>
                  <a:pt x="301" y="67"/>
                  <a:pt x="450" y="0"/>
                  <a:pt x="641"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 name="文本框 1"/>
          <p:cNvSpPr txBox="1"/>
          <p:nvPr>
            <p:custDataLst>
              <p:tags r:id="rId4"/>
            </p:custDataLst>
          </p:nvPr>
        </p:nvSpPr>
        <p:spPr>
          <a:xfrm>
            <a:off x="1781175" y="3676015"/>
            <a:ext cx="3221990" cy="1116965"/>
          </a:xfrm>
          <a:prstGeom prst="rect">
            <a:avLst/>
          </a:prstGeom>
          <a:noFill/>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r">
              <a:lnSpc>
                <a:spcPct val="110000"/>
              </a:lnSpc>
            </a:pPr>
            <a:r>
              <a:rPr lang="en-US" altLang="zh-CN"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DMA</a:t>
            </a:r>
            <a:r>
              <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基础知识</a:t>
            </a:r>
            <a:endPar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custDataLst>
              <p:tags r:id="rId1"/>
            </p:custDataLst>
          </p:nvPr>
        </p:nvSpPr>
        <p:spPr>
          <a:xfrm>
            <a:off x="3533140" y="1372245"/>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01</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8" name="直接连接符 7"/>
          <p:cNvCxnSpPr/>
          <p:nvPr>
            <p:custDataLst>
              <p:tags r:id="rId2"/>
            </p:custDataLst>
          </p:nvPr>
        </p:nvCxnSpPr>
        <p:spPr>
          <a:xfrm flipV="1">
            <a:off x="3765550" y="2606675"/>
            <a:ext cx="6508115" cy="635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extBox 2"/>
          <p:cNvSpPr txBox="1"/>
          <p:nvPr>
            <p:custDataLst>
              <p:tags r:id="rId3"/>
            </p:custDataLst>
          </p:nvPr>
        </p:nvSpPr>
        <p:spPr>
          <a:xfrm>
            <a:off x="3543300" y="1362720"/>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01</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4" name="直接连接符 3"/>
          <p:cNvCxnSpPr/>
          <p:nvPr>
            <p:custDataLst>
              <p:tags r:id="rId4"/>
            </p:custDataLst>
          </p:nvPr>
        </p:nvCxnSpPr>
        <p:spPr>
          <a:xfrm flipV="1">
            <a:off x="3765550" y="2596515"/>
            <a:ext cx="4558030" cy="698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1"/>
          <p:cNvSpPr>
            <a:spLocks noGrp="1"/>
          </p:cNvSpPr>
          <p:nvPr>
            <p:custDataLst>
              <p:tags r:id="rId5"/>
            </p:custDataLst>
          </p:nvPr>
        </p:nvSpPr>
        <p:spPr>
          <a:xfrm>
            <a:off x="5030470" y="1628775"/>
            <a:ext cx="5367655" cy="705485"/>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en-US" altLang="zh-CN" sz="4800">
                <a:solidFill>
                  <a:srgbClr val="6096E6"/>
                </a:solidFill>
                <a:sym typeface="Arial" panose="020B0604020202020204" pitchFamily="34" charset="0"/>
              </a:rPr>
              <a:t>DMA</a:t>
            </a:r>
            <a:r>
              <a:rPr lang="zh-CN" altLang="en-US" sz="4800">
                <a:solidFill>
                  <a:srgbClr val="6096E6"/>
                </a:solidFill>
                <a:sym typeface="Arial" panose="020B0604020202020204" pitchFamily="34" charset="0"/>
              </a:rPr>
              <a:t>基础知识</a:t>
            </a:r>
            <a:endParaRPr lang="zh-CN" altLang="en-US" sz="4800">
              <a:solidFill>
                <a:srgbClr val="6096E6"/>
              </a:solidFill>
              <a:sym typeface="Arial" panose="020B0604020202020204" pitchFamily="34" charset="0"/>
            </a:endParaRPr>
          </a:p>
        </p:txBody>
      </p:sp>
      <p:sp>
        <p:nvSpPr>
          <p:cNvPr id="10" name="文本框 9"/>
          <p:cNvSpPr txBox="1"/>
          <p:nvPr/>
        </p:nvSpPr>
        <p:spPr>
          <a:xfrm>
            <a:off x="4132580" y="2809240"/>
            <a:ext cx="4551680" cy="3784600"/>
          </a:xfrm>
          <a:prstGeom prst="rect">
            <a:avLst/>
          </a:prstGeom>
          <a:noFill/>
        </p:spPr>
        <p:txBody>
          <a:bodyPr wrap="square" rtlCol="0">
            <a:spAutoFit/>
          </a:bodyPr>
          <a:p>
            <a:r>
              <a:rPr lang="en-US" altLang="zh-CN" sz="2400"/>
              <a:t>1.</a:t>
            </a:r>
            <a:r>
              <a:rPr lang="zh-CN" altLang="en-US" sz="2400"/>
              <a:t>数据传输方式</a:t>
            </a:r>
            <a:endParaRPr lang="zh-CN" altLang="en-US" sz="2400"/>
          </a:p>
          <a:p>
            <a:r>
              <a:rPr lang="en-US" altLang="zh-CN" sz="2400">
                <a:sym typeface="+mn-ea"/>
              </a:rPr>
              <a:t>2.</a:t>
            </a:r>
            <a:r>
              <a:rPr lang="zh-CN" altLang="en-US" sz="2400">
                <a:sym typeface="+mn-ea"/>
              </a:rPr>
              <a:t>什么是</a:t>
            </a:r>
            <a:r>
              <a:rPr lang="en-US" altLang="zh-CN" sz="2400">
                <a:sym typeface="+mn-ea"/>
              </a:rPr>
              <a:t>DMA</a:t>
            </a:r>
            <a:endParaRPr lang="zh-CN" altLang="en-US" sz="2400"/>
          </a:p>
          <a:p>
            <a:r>
              <a:rPr lang="en-US" altLang="zh-CN" sz="2400"/>
              <a:t>3.</a:t>
            </a:r>
            <a:r>
              <a:rPr lang="en-US" sz="2400"/>
              <a:t>GD32DMA</a:t>
            </a:r>
            <a:r>
              <a:rPr lang="zh-CN" altLang="en-US" sz="2400"/>
              <a:t>了解</a:t>
            </a:r>
            <a:endParaRPr lang="zh-CN" altLang="en-US" sz="2400"/>
          </a:p>
          <a:p>
            <a:r>
              <a:rPr lang="en-US" altLang="zh-CN" sz="2400"/>
              <a:t>4.DMA</a:t>
            </a:r>
            <a:r>
              <a:rPr lang="zh-CN" altLang="en-US" sz="2400"/>
              <a:t>传输方式</a:t>
            </a:r>
            <a:endParaRPr lang="zh-CN" altLang="en-US" sz="2400"/>
          </a:p>
          <a:p>
            <a:r>
              <a:rPr lang="en-US" altLang="zh-CN" sz="2400"/>
              <a:t>5.DMA</a:t>
            </a:r>
            <a:r>
              <a:rPr lang="zh-CN" altLang="en-US" sz="2400"/>
              <a:t>外设映射通道</a:t>
            </a:r>
            <a:endParaRPr lang="zh-CN" altLang="en-US" sz="2400"/>
          </a:p>
          <a:p>
            <a:r>
              <a:rPr lang="en-US" altLang="zh-CN" sz="2400"/>
              <a:t>6.</a:t>
            </a:r>
            <a:r>
              <a:rPr lang="zh-CN" altLang="en-US" sz="2400"/>
              <a:t>仲裁</a:t>
            </a:r>
            <a:endParaRPr lang="zh-CN" altLang="en-US" sz="2400"/>
          </a:p>
          <a:p>
            <a:r>
              <a:rPr lang="en-US" altLang="zh-CN" sz="2400"/>
              <a:t>7.FIFO</a:t>
            </a:r>
            <a:endParaRPr lang="en-US" altLang="zh-CN" sz="2400"/>
          </a:p>
          <a:p>
            <a:r>
              <a:rPr lang="en-US" altLang="zh-CN" sz="2400"/>
              <a:t>8.</a:t>
            </a:r>
            <a:r>
              <a:rPr lang="zh-CN" altLang="en-US" sz="2400"/>
              <a:t>地址生成算法</a:t>
            </a:r>
            <a:endParaRPr lang="zh-CN" altLang="en-US" sz="2400"/>
          </a:p>
          <a:p>
            <a:r>
              <a:rPr lang="en-US" altLang="zh-CN" sz="2400"/>
              <a:t>9.</a:t>
            </a:r>
            <a:r>
              <a:rPr lang="zh-CN" altLang="en-US" sz="2400"/>
              <a:t>循环模式</a:t>
            </a:r>
            <a:endParaRPr lang="zh-CN" altLang="en-US" sz="2400"/>
          </a:p>
          <a:p>
            <a:r>
              <a:rPr lang="en-US" altLang="zh-CN" sz="2400"/>
              <a:t>10.</a:t>
            </a:r>
            <a:r>
              <a:rPr lang="zh-CN" altLang="en-US" sz="2400"/>
              <a:t>中断</a:t>
            </a:r>
            <a:endParaRPr lang="zh-CN" altLang="en-US" sz="2400"/>
          </a:p>
        </p:txBody>
      </p:sp>
      <p:pic>
        <p:nvPicPr>
          <p:cNvPr id="102" name="图片 101"/>
          <p:cNvPicPr>
            <a:picLocks noChangeAspect="1"/>
          </p:cNvPicPr>
          <p:nvPr/>
        </p:nvPicPr>
        <p:blipFill>
          <a:blip r:embed="rId6"/>
          <a:stretch>
            <a:fillRect/>
          </a:stretch>
        </p:blipFill>
        <p:spPr>
          <a:xfrm>
            <a:off x="317500" y="144780"/>
            <a:ext cx="2322830" cy="872490"/>
          </a:xfrm>
          <a:prstGeom prst="rect">
            <a:avLst/>
          </a:prstGeom>
          <a:noFill/>
          <a:ln w="9525">
            <a:noFill/>
          </a:ln>
        </p:spPr>
      </p:pic>
    </p:spTree>
    <p:custDataLst>
      <p:tags r:id="rId7"/>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数据传输方式</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graphicFrame>
        <p:nvGraphicFramePr>
          <p:cNvPr id="3" name="表格 2"/>
          <p:cNvGraphicFramePr/>
          <p:nvPr>
            <p:custDataLst>
              <p:tags r:id="rId3"/>
            </p:custDataLst>
          </p:nvPr>
        </p:nvGraphicFramePr>
        <p:xfrm>
          <a:off x="1829435" y="1388745"/>
          <a:ext cx="8533765" cy="1524000"/>
        </p:xfrm>
        <a:graphic>
          <a:graphicData uri="http://schemas.openxmlformats.org/drawingml/2006/table">
            <a:tbl>
              <a:tblPr firstRow="1" bandRow="1">
                <a:tableStyleId>{5C22544A-7EE6-4342-B048-85BDC9FD1C3A}</a:tableStyleId>
              </a:tblPr>
              <a:tblGrid>
                <a:gridCol w="4266565"/>
                <a:gridCol w="4266565"/>
              </a:tblGrid>
              <a:tr h="381000">
                <a:tc>
                  <a:txBody>
                    <a:bodyPr/>
                    <a:p>
                      <a:pPr algn="ctr">
                        <a:buNone/>
                      </a:pPr>
                      <a:r>
                        <a:rPr lang="zh-CN" altLang="en-US"/>
                        <a:t>方式</a:t>
                      </a:r>
                      <a:endParaRPr lang="zh-CN" altLang="en-US"/>
                    </a:p>
                  </a:txBody>
                  <a:tcPr/>
                </a:tc>
                <a:tc>
                  <a:txBody>
                    <a:bodyPr/>
                    <a:p>
                      <a:pPr algn="ctr">
                        <a:buNone/>
                      </a:pPr>
                      <a:r>
                        <a:rPr lang="zh-CN" altLang="en-US"/>
                        <a:t>描述</a:t>
                      </a:r>
                      <a:endParaRPr lang="zh-CN" altLang="en-US"/>
                    </a:p>
                  </a:txBody>
                  <a:tcPr/>
                </a:tc>
              </a:tr>
              <a:tr h="381000">
                <a:tc>
                  <a:txBody>
                    <a:bodyPr/>
                    <a:p>
                      <a:pPr algn="ctr">
                        <a:buNone/>
                      </a:pPr>
                      <a:r>
                        <a:rPr lang="zh-CN" altLang="en-US"/>
                        <a:t>轮询法</a:t>
                      </a:r>
                      <a:endParaRPr lang="zh-CN" altLang="en-US"/>
                    </a:p>
                  </a:txBody>
                  <a:tcPr anchor="ctr" anchorCtr="0"/>
                </a:tc>
                <a:tc>
                  <a:txBody>
                    <a:bodyPr/>
                    <a:p>
                      <a:pPr>
                        <a:buNone/>
                      </a:pPr>
                      <a:r>
                        <a:rPr lang="zh-CN" altLang="en-US" sz="1400"/>
                        <a:t>在主循环中，CPU不断检查外设的相关标志位，来判断其是否需要进行数据的传输，如果需要，则CPU将数据在外设和内存之间搬运，实现数据传输。当数据传输服务请求频繁或者传输的数据量很大时，会影响其他任务的实时性。</a:t>
                      </a:r>
                      <a:endParaRPr lang="zh-CN" altLang="en-US" sz="1400"/>
                    </a:p>
                  </a:txBody>
                  <a:tcPr/>
                </a:tc>
              </a:tr>
              <a:tr h="381000">
                <a:tc>
                  <a:txBody>
                    <a:bodyPr/>
                    <a:p>
                      <a:pPr algn="ctr">
                        <a:buNone/>
                      </a:pPr>
                      <a:r>
                        <a:rPr lang="zh-CN" altLang="en-US"/>
                        <a:t>中断法</a:t>
                      </a:r>
                      <a:endParaRPr lang="zh-CN" altLang="en-US"/>
                    </a:p>
                  </a:txBody>
                  <a:tcPr anchor="ctr" anchorCtr="0"/>
                </a:tc>
                <a:tc>
                  <a:txBody>
                    <a:bodyPr/>
                    <a:p>
                      <a:pPr>
                        <a:buNone/>
                      </a:pPr>
                      <a:r>
                        <a:rPr lang="zh-CN" altLang="en-US" sz="1400"/>
                        <a:t>当外设需要传输数据时，会触发中断，CPU会暂停正在处理的任务，转而去执行中断服务函数，接着处理外设的数据传输任务。CPU无需反复检查外设的标志位，中断机制会指示CPU何时去处理外设数据，但是依然需要CPU去完成数据搬运和传输过程。当外设数据传输服务不频繁且数据量不大时，中断法也是不错的选择。当中断连续不断且频繁发生时，中断法变得不再高效，因为在恢复主流程的执行和中断相应的上下文切换会占用大量的CPU时间。</a:t>
                      </a:r>
                      <a:endParaRPr lang="zh-CN" altLang="en-US" sz="1400"/>
                    </a:p>
                  </a:txBody>
                  <a:tcPr/>
                </a:tc>
              </a:tr>
              <a:tr h="381000">
                <a:tc>
                  <a:txBody>
                    <a:bodyPr/>
                    <a:p>
                      <a:pPr algn="ctr">
                        <a:buNone/>
                      </a:pPr>
                      <a:r>
                        <a:rPr lang="en-US" altLang="zh-CN"/>
                        <a:t>DMA</a:t>
                      </a:r>
                      <a:endParaRPr lang="en-US" altLang="zh-CN"/>
                    </a:p>
                  </a:txBody>
                  <a:tcPr anchor="ctr" anchorCtr="0"/>
                </a:tc>
                <a:tc>
                  <a:txBody>
                    <a:bodyPr/>
                    <a:p>
                      <a:pPr>
                        <a:buNone/>
                      </a:pPr>
                      <a:r>
                        <a:rPr lang="zh-CN" altLang="en-US" sz="1600"/>
                        <a:t>DMA控制器是单片机中的硬件单元，它在存储器和外设之间有专用的通道，允许外设和存储器之间高效传输数据，且传输过程无需CPU参与。</a:t>
                      </a:r>
                      <a:endParaRPr lang="zh-CN" altLang="en-US" sz="1600"/>
                    </a:p>
                  </a:txBody>
                  <a:tcPr/>
                </a:tc>
              </a:tr>
            </a:tbl>
          </a:graphicData>
        </a:graphic>
      </p:graphicFrame>
    </p:spTree>
    <p:custDataLst>
      <p:tags r:id="rId4"/>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什么是</a:t>
            </a:r>
            <a:r>
              <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DMA</a:t>
            </a:r>
            <a:endPar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697990" y="1540510"/>
            <a:ext cx="8354695" cy="3476625"/>
          </a:xfrm>
          <a:prstGeom prst="rect">
            <a:avLst/>
          </a:prstGeom>
          <a:noFill/>
          <a:ln w="9525">
            <a:noFill/>
          </a:ln>
        </p:spPr>
        <p:txBody>
          <a:bodyPr wrap="square">
            <a:spAutoFit/>
          </a:bodyPr>
          <a:p>
            <a:pPr indent="0" fontAlgn="auto"/>
            <a:r>
              <a:rPr lang="en-US" sz="2000" b="0">
                <a:latin typeface="Calibri" panose="020F0502020204030204" charset="0"/>
                <a:ea typeface="宋体" panose="02010600030101010101" pitchFamily="2" charset="-122"/>
              </a:rPr>
              <a:t>        DMA</a:t>
            </a:r>
            <a:r>
              <a:rPr lang="zh-CN" sz="2000" b="0">
                <a:latin typeface="Calibri" panose="020F0502020204030204" charset="0"/>
                <a:ea typeface="宋体" panose="02010600030101010101" pitchFamily="2" charset="-122"/>
              </a:rPr>
              <a:t>（</a:t>
            </a:r>
            <a:r>
              <a:rPr lang="en-US" sz="2000" b="0">
                <a:latin typeface="Calibri" panose="020F0502020204030204" charset="0"/>
                <a:ea typeface="宋体" panose="02010600030101010101" pitchFamily="2" charset="-122"/>
              </a:rPr>
              <a:t>Direct Memory Access</a:t>
            </a:r>
            <a:r>
              <a:rPr lang="zh-CN" sz="2000" b="0">
                <a:latin typeface="Calibri" panose="020F0502020204030204" charset="0"/>
                <a:ea typeface="宋体" panose="02010600030101010101" pitchFamily="2" charset="-122"/>
              </a:rPr>
              <a:t>）控制器提供了一种硬件的方式在外设和存储器之间或者存储器和存储器之间传输数据，而无需</a:t>
            </a:r>
            <a:r>
              <a:rPr lang="en-US" sz="2000" b="0">
                <a:latin typeface="Calibri" panose="020F0502020204030204" charset="0"/>
                <a:ea typeface="宋体" panose="02010600030101010101" pitchFamily="2" charset="-122"/>
              </a:rPr>
              <a:t>CPU</a:t>
            </a:r>
            <a:r>
              <a:rPr lang="zh-CN" sz="2000" b="0">
                <a:latin typeface="Calibri" panose="020F0502020204030204" charset="0"/>
                <a:ea typeface="宋体" panose="02010600030101010101" pitchFamily="2" charset="-122"/>
              </a:rPr>
              <a:t>的介入，避免了</a:t>
            </a:r>
            <a:r>
              <a:rPr lang="en-US" sz="2000" b="0">
                <a:latin typeface="Calibri" panose="020F0502020204030204" charset="0"/>
                <a:ea typeface="宋体" panose="02010600030101010101" pitchFamily="2" charset="-122"/>
              </a:rPr>
              <a:t>CPU</a:t>
            </a:r>
            <a:r>
              <a:rPr lang="zh-CN" sz="2000" b="0">
                <a:latin typeface="Calibri" panose="020F0502020204030204" charset="0"/>
                <a:ea typeface="宋体" panose="02010600030101010101" pitchFamily="2" charset="-122"/>
              </a:rPr>
              <a:t>多次进入中断进行大规模的数据拷贝，最终提高整体的系统性能。</a:t>
            </a:r>
            <a:endParaRPr lang="zh-CN" sz="2000" b="0">
              <a:latin typeface="Calibri" panose="020F0502020204030204" charset="0"/>
              <a:ea typeface="宋体" panose="02010600030101010101" pitchFamily="2" charset="-122"/>
            </a:endParaRPr>
          </a:p>
          <a:p>
            <a:pPr indent="560705"/>
            <a:r>
              <a:rPr lang="en-US" sz="2000" b="0">
                <a:latin typeface="Calibri" panose="020F0502020204030204" charset="0"/>
                <a:ea typeface="宋体" panose="02010600030101010101" pitchFamily="2" charset="-122"/>
              </a:rPr>
              <a:t>        DMA</a:t>
            </a:r>
            <a:r>
              <a:rPr lang="zh-CN" sz="2000" b="0">
                <a:latin typeface="Calibri" panose="020F0502020204030204" charset="0"/>
                <a:ea typeface="宋体" panose="02010600030101010101" pitchFamily="2" charset="-122"/>
              </a:rPr>
              <a:t>是一种能够在无需</a:t>
            </a:r>
            <a:r>
              <a:rPr lang="en-US" sz="2000" b="0">
                <a:latin typeface="Calibri" panose="020F0502020204030204" charset="0"/>
                <a:ea typeface="宋体" panose="02010600030101010101" pitchFamily="2" charset="-122"/>
              </a:rPr>
              <a:t>CPU</a:t>
            </a:r>
            <a:r>
              <a:rPr lang="zh-CN" sz="2000" b="0">
                <a:latin typeface="Calibri" panose="020F0502020204030204" charset="0"/>
                <a:ea typeface="宋体" panose="02010600030101010101" pitchFamily="2" charset="-122"/>
              </a:rPr>
              <a:t>参与的情况下，将数据块在内存和外设之间高效传输的硬件机制。实现这种功能的集成电路单元叫做</a:t>
            </a:r>
            <a:r>
              <a:rPr lang="en-US" sz="2000" b="0">
                <a:latin typeface="Calibri" panose="020F0502020204030204" charset="0"/>
                <a:ea typeface="宋体" panose="02010600030101010101" pitchFamily="2" charset="-122"/>
              </a:rPr>
              <a:t>DMA Controller</a:t>
            </a:r>
            <a:r>
              <a:rPr lang="zh-CN" sz="2000" b="0">
                <a:latin typeface="Calibri" panose="020F0502020204030204" charset="0"/>
                <a:ea typeface="宋体" panose="02010600030101010101" pitchFamily="2" charset="-122"/>
              </a:rPr>
              <a:t>，即</a:t>
            </a:r>
            <a:r>
              <a:rPr lang="en-US" sz="2000" b="0">
                <a:latin typeface="Calibri" panose="020F0502020204030204" charset="0"/>
                <a:ea typeface="宋体" panose="02010600030101010101" pitchFamily="2" charset="-122"/>
              </a:rPr>
              <a:t>DMA</a:t>
            </a:r>
            <a:r>
              <a:rPr lang="zh-CN" sz="2000" b="0">
                <a:latin typeface="Calibri" panose="020F0502020204030204" charset="0"/>
                <a:ea typeface="宋体" panose="02010600030101010101" pitchFamily="2" charset="-122"/>
              </a:rPr>
              <a:t>控制器。</a:t>
            </a:r>
            <a:endParaRPr lang="zh-CN" sz="2000" b="0">
              <a:latin typeface="Calibri" panose="020F0502020204030204" charset="0"/>
              <a:ea typeface="宋体" panose="02010600030101010101" pitchFamily="2" charset="-122"/>
            </a:endParaRPr>
          </a:p>
          <a:p>
            <a:pPr indent="560705"/>
            <a:r>
              <a:rPr lang="en-US" sz="2000" b="0">
                <a:latin typeface="Calibri" panose="020F0502020204030204" charset="0"/>
                <a:ea typeface="宋体" panose="02010600030101010101" pitchFamily="2" charset="-122"/>
              </a:rPr>
              <a:t>        DMA</a:t>
            </a:r>
            <a:r>
              <a:rPr lang="zh-CN" sz="2000" b="0">
                <a:latin typeface="Calibri" panose="020F0502020204030204" charset="0"/>
                <a:ea typeface="宋体" panose="02010600030101010101" pitchFamily="2" charset="-122"/>
              </a:rPr>
              <a:t>控制器在没有</a:t>
            </a:r>
            <a:r>
              <a:rPr lang="en-US" sz="2000" b="0">
                <a:latin typeface="Calibri" panose="020F0502020204030204" charset="0"/>
                <a:ea typeface="宋体" panose="02010600030101010101" pitchFamily="2" charset="-122"/>
              </a:rPr>
              <a:t>CPU</a:t>
            </a:r>
            <a:r>
              <a:rPr lang="zh-CN" sz="2000" b="0">
                <a:latin typeface="Calibri" panose="020F0502020204030204" charset="0"/>
                <a:ea typeface="宋体" panose="02010600030101010101" pitchFamily="2" charset="-122"/>
              </a:rPr>
              <a:t>参与的情况下从一个地址向另一个地址传输数据，它支持多种数据宽度，突发类型，地址生成算法，优先级和传输模式，可以灵活的配置以满足应用的需求。</a:t>
            </a:r>
            <a:endParaRPr lang="zh-CN" altLang="en-US" sz="2000"/>
          </a:p>
        </p:txBody>
      </p:sp>
    </p:spTree>
    <p:custDataLst>
      <p:tags r:id="rId3"/>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lang="en-US" altLang="zh-CN" sz="2800">
                <a:sym typeface="+mn-ea"/>
              </a:rPr>
              <a:t>GD32DMA</a:t>
            </a:r>
            <a:r>
              <a:rPr lang="zh-CN" altLang="en-US" sz="2800">
                <a:sym typeface="+mn-ea"/>
              </a:rPr>
              <a:t>了解</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pic>
        <p:nvPicPr>
          <p:cNvPr id="3" name="图片 2"/>
          <p:cNvPicPr>
            <a:picLocks noChangeAspect="1"/>
          </p:cNvPicPr>
          <p:nvPr/>
        </p:nvPicPr>
        <p:blipFill>
          <a:blip r:embed="rId3"/>
          <a:stretch>
            <a:fillRect/>
          </a:stretch>
        </p:blipFill>
        <p:spPr>
          <a:xfrm>
            <a:off x="2363470" y="984250"/>
            <a:ext cx="6548755" cy="5557520"/>
          </a:xfrm>
          <a:prstGeom prst="rect">
            <a:avLst/>
          </a:prstGeom>
          <a:noFill/>
          <a:ln w="9525">
            <a:noFill/>
          </a:ln>
        </p:spPr>
      </p:pic>
    </p:spTree>
    <p:custDataLst>
      <p:tags r:id="rId4"/>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DMA</a:t>
            </a: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传输方式</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927225" y="1287780"/>
            <a:ext cx="7667625" cy="645160"/>
          </a:xfrm>
          <a:prstGeom prst="rect">
            <a:avLst/>
          </a:prstGeom>
          <a:noFill/>
          <a:ln w="9525">
            <a:noFill/>
          </a:ln>
        </p:spPr>
        <p:txBody>
          <a:bodyPr wrap="square">
            <a:spAutoFit/>
          </a:bodyPr>
          <a:p>
            <a:pPr algn="l">
              <a:buClrTx/>
              <a:buSzTx/>
              <a:buNone/>
            </a:pPr>
            <a:r>
              <a:rPr lang="en-US" sz="1800" b="0"/>
              <a:t>        </a:t>
            </a:r>
            <a:r>
              <a:rPr sz="1800" b="0"/>
              <a:t>GD32F450ZGT6单片机的DMA控制器的两个AHB主机接口分别对应存储器和外设的数据访问。</a:t>
            </a:r>
            <a:endParaRPr sz="1800" b="0"/>
          </a:p>
        </p:txBody>
      </p:sp>
      <p:graphicFrame>
        <p:nvGraphicFramePr>
          <p:cNvPr id="5" name="表格 4"/>
          <p:cNvGraphicFramePr/>
          <p:nvPr>
            <p:custDataLst>
              <p:tags r:id="rId3"/>
            </p:custDataLst>
          </p:nvPr>
        </p:nvGraphicFramePr>
        <p:xfrm>
          <a:off x="1829435" y="2546985"/>
          <a:ext cx="8533130" cy="2057400"/>
        </p:xfrm>
        <a:graphic>
          <a:graphicData uri="http://schemas.openxmlformats.org/drawingml/2006/table">
            <a:tbl>
              <a:tblPr firstRow="1" bandRow="1">
                <a:tableStyleId>{5C22544A-7EE6-4342-B048-85BDC9FD1C3A}</a:tableStyleId>
              </a:tblPr>
              <a:tblGrid>
                <a:gridCol w="2332355"/>
                <a:gridCol w="6200775"/>
              </a:tblGrid>
              <a:tr h="381000">
                <a:tc>
                  <a:txBody>
                    <a:bodyPr/>
                    <a:p>
                      <a:pPr algn="ctr">
                        <a:buNone/>
                      </a:pPr>
                      <a:r>
                        <a:rPr lang="zh-CN" altLang="en-US"/>
                        <a:t>传输模式</a:t>
                      </a:r>
                      <a:endParaRPr lang="zh-CN" altLang="en-US"/>
                    </a:p>
                  </a:txBody>
                  <a:tcPr/>
                </a:tc>
                <a:tc>
                  <a:txBody>
                    <a:bodyPr/>
                    <a:p>
                      <a:pPr algn="ctr">
                        <a:buNone/>
                      </a:pPr>
                      <a:r>
                        <a:rPr lang="zh-CN" altLang="en-US"/>
                        <a:t>描述</a:t>
                      </a:r>
                      <a:endParaRPr lang="zh-CN" altLang="en-US"/>
                    </a:p>
                  </a:txBody>
                  <a:tcPr/>
                </a:tc>
              </a:tr>
              <a:tr h="914400">
                <a:tc>
                  <a:txBody>
                    <a:bodyPr/>
                    <a:p>
                      <a:pPr algn="ctr">
                        <a:lnSpc>
                          <a:spcPct val="90000"/>
                        </a:lnSpc>
                        <a:buNone/>
                      </a:pPr>
                      <a:r>
                        <a:rPr lang="zh-CN" altLang="en-US"/>
                        <a:t>外设到存储器</a:t>
                      </a:r>
                      <a:endParaRPr lang="zh-CN" altLang="en-US"/>
                    </a:p>
                  </a:txBody>
                  <a:tcPr/>
                </a:tc>
                <a:tc>
                  <a:txBody>
                    <a:bodyPr/>
                    <a:p>
                      <a:pPr>
                        <a:buNone/>
                      </a:pPr>
                      <a:r>
                        <a:rPr lang="zh-CN" altLang="en-US"/>
                        <a:t>通过</a:t>
                      </a:r>
                      <a:r>
                        <a:rPr lang="en-US" altLang="zh-CN"/>
                        <a:t>AHB</a:t>
                      </a:r>
                      <a:r>
                        <a:rPr lang="zh-CN" altLang="en-US"/>
                        <a:t>外设主机接口从外设读取数据，通过</a:t>
                      </a:r>
                      <a:r>
                        <a:rPr lang="en-US" altLang="zh-CN"/>
                        <a:t>AHB</a:t>
                      </a:r>
                      <a:r>
                        <a:rPr lang="zh-CN" altLang="en-US"/>
                        <a:t>存储器主机接口向存储器写入数据。比如串口的</a:t>
                      </a:r>
                      <a:r>
                        <a:rPr lang="en-US" altLang="zh-CN"/>
                        <a:t>DMA</a:t>
                      </a:r>
                      <a:r>
                        <a:rPr lang="zh-CN" altLang="en-US"/>
                        <a:t>接收，就是从外设到存储器。</a:t>
                      </a:r>
                      <a:endParaRPr lang="zh-CN" altLang="en-US"/>
                    </a:p>
                  </a:txBody>
                  <a:tcPr/>
                </a:tc>
              </a:tr>
              <a:tr h="381000">
                <a:tc>
                  <a:txBody>
                    <a:bodyPr/>
                    <a:p>
                      <a:pPr algn="ctr">
                        <a:lnSpc>
                          <a:spcPct val="90000"/>
                        </a:lnSpc>
                        <a:buNone/>
                      </a:pPr>
                      <a:r>
                        <a:rPr lang="zh-CN" altLang="en-US"/>
                        <a:t>存储器到外设</a:t>
                      </a:r>
                      <a:endParaRPr lang="zh-CN" altLang="en-US"/>
                    </a:p>
                  </a:txBody>
                  <a:tcPr/>
                </a:tc>
                <a:tc>
                  <a:txBody>
                    <a:bodyPr/>
                    <a:p>
                      <a:pPr>
                        <a:buNone/>
                      </a:pPr>
                      <a:r>
                        <a:rPr lang="zh-CN" altLang="en-US"/>
                        <a:t>通过</a:t>
                      </a:r>
                      <a:r>
                        <a:rPr lang="en-US" altLang="zh-CN"/>
                        <a:t>AHB</a:t>
                      </a:r>
                      <a:r>
                        <a:rPr lang="zh-CN" altLang="en-US"/>
                        <a:t>存储器主机接口从存储器读取数据，通过</a:t>
                      </a:r>
                      <a:r>
                        <a:rPr lang="en-US" altLang="zh-CN"/>
                        <a:t>AHB</a:t>
                      </a:r>
                      <a:r>
                        <a:rPr lang="zh-CN" altLang="en-US"/>
                        <a:t>外设主机接口向外设写入数据。比如串口的</a:t>
                      </a:r>
                      <a:r>
                        <a:rPr lang="en-US" altLang="zh-CN"/>
                        <a:t>DMA</a:t>
                      </a:r>
                      <a:r>
                        <a:rPr lang="zh-CN" altLang="en-US"/>
                        <a:t>发送，就是存储器到外设。</a:t>
                      </a:r>
                      <a:endParaRPr lang="zh-CN" altLang="en-US"/>
                    </a:p>
                  </a:txBody>
                  <a:tcPr/>
                </a:tc>
              </a:tr>
              <a:tr h="381000">
                <a:tc>
                  <a:txBody>
                    <a:bodyPr/>
                    <a:p>
                      <a:pPr algn="ctr">
                        <a:lnSpc>
                          <a:spcPct val="90000"/>
                        </a:lnSpc>
                        <a:buNone/>
                      </a:pPr>
                      <a:r>
                        <a:rPr lang="zh-CN" altLang="en-US"/>
                        <a:t>存储器到存储器</a:t>
                      </a:r>
                      <a:endParaRPr lang="zh-CN" altLang="en-US"/>
                    </a:p>
                  </a:txBody>
                  <a:tcPr/>
                </a:tc>
                <a:tc>
                  <a:txBody>
                    <a:bodyPr/>
                    <a:p>
                      <a:pPr>
                        <a:buNone/>
                      </a:pPr>
                      <a:r>
                        <a:rPr lang="zh-CN" altLang="en-US"/>
                        <a:t>通过</a:t>
                      </a:r>
                      <a:r>
                        <a:rPr lang="en-US" altLang="zh-CN"/>
                        <a:t>AHB</a:t>
                      </a:r>
                      <a:r>
                        <a:rPr lang="zh-CN" altLang="en-US"/>
                        <a:t>外设主机接口从存储器读取数据，通过</a:t>
                      </a:r>
                      <a:r>
                        <a:rPr lang="en-US" altLang="zh-CN"/>
                        <a:t>AHB</a:t>
                      </a:r>
                      <a:r>
                        <a:rPr lang="zh-CN" altLang="en-US"/>
                        <a:t>存储器主机接口向存储器写入数据。</a:t>
                      </a:r>
                      <a:endParaRPr lang="zh-CN" altLang="en-US"/>
                    </a:p>
                  </a:txBody>
                  <a:tcPr/>
                </a:tc>
              </a:tr>
            </a:tbl>
          </a:graphicData>
        </a:graphic>
      </p:graphicFrame>
    </p:spTree>
    <p:custDataLst>
      <p:tags r:id="rId4"/>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DMA</a:t>
            </a: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外设映射通道</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663700" y="1202690"/>
            <a:ext cx="7886700" cy="368300"/>
          </a:xfrm>
          <a:prstGeom prst="rect">
            <a:avLst/>
          </a:prstGeom>
          <a:noFill/>
          <a:ln w="9525">
            <a:noFill/>
          </a:ln>
        </p:spPr>
        <p:txBody>
          <a:bodyPr wrap="square">
            <a:spAutoFit/>
          </a:bodyPr>
          <a:p>
            <a:pPr indent="560705"/>
            <a:r>
              <a:rPr sz="1800" b="0"/>
              <a:t>每个DMA控制器有8个通道，每个通道有多个外设请求。</a:t>
            </a:r>
            <a:endParaRPr sz="1800" b="0"/>
          </a:p>
        </p:txBody>
      </p:sp>
      <p:sp>
        <p:nvSpPr>
          <p:cNvPr id="3" name="文本框 2"/>
          <p:cNvSpPr txBox="1"/>
          <p:nvPr/>
        </p:nvSpPr>
        <p:spPr>
          <a:xfrm>
            <a:off x="2365375" y="5872480"/>
            <a:ext cx="4933315" cy="368300"/>
          </a:xfrm>
          <a:prstGeom prst="rect">
            <a:avLst/>
          </a:prstGeom>
          <a:noFill/>
        </p:spPr>
        <p:txBody>
          <a:bodyPr wrap="square" rtlCol="0" anchor="t">
            <a:spAutoFit/>
          </a:bodyPr>
          <a:p>
            <a:r>
              <a:rPr lang="zh-CN" altLang="en-US">
                <a:solidFill>
                  <a:srgbClr val="FF0000"/>
                </a:solidFill>
              </a:rPr>
              <a:t>禁止两个 DMA 通道选择相同的外设请求。</a:t>
            </a:r>
            <a:endParaRPr lang="zh-CN" altLang="en-US">
              <a:solidFill>
                <a:srgbClr val="FF0000"/>
              </a:solidFill>
            </a:endParaRPr>
          </a:p>
        </p:txBody>
      </p:sp>
      <p:pic>
        <p:nvPicPr>
          <p:cNvPr id="4" name="图片 3"/>
          <p:cNvPicPr>
            <a:picLocks noChangeAspect="1"/>
          </p:cNvPicPr>
          <p:nvPr/>
        </p:nvPicPr>
        <p:blipFill>
          <a:blip r:embed="rId3"/>
          <a:stretch>
            <a:fillRect/>
          </a:stretch>
        </p:blipFill>
        <p:spPr>
          <a:xfrm>
            <a:off x="1954530" y="2390140"/>
            <a:ext cx="7884160" cy="3147060"/>
          </a:xfrm>
          <a:prstGeom prst="rect">
            <a:avLst/>
          </a:prstGeom>
        </p:spPr>
      </p:pic>
      <p:sp>
        <p:nvSpPr>
          <p:cNvPr id="5" name="文本框 4"/>
          <p:cNvSpPr txBox="1"/>
          <p:nvPr/>
        </p:nvSpPr>
        <p:spPr>
          <a:xfrm>
            <a:off x="1663700" y="1902460"/>
            <a:ext cx="1659255" cy="368300"/>
          </a:xfrm>
          <a:prstGeom prst="rect">
            <a:avLst/>
          </a:prstGeom>
          <a:noFill/>
          <a:ln w="9525">
            <a:noFill/>
          </a:ln>
        </p:spPr>
        <p:txBody>
          <a:bodyPr wrap="square">
            <a:spAutoFit/>
          </a:bodyPr>
          <a:p>
            <a:pPr indent="560705"/>
            <a:r>
              <a:rPr lang="en-US" sz="1800" b="0"/>
              <a:t>DMA0</a:t>
            </a:r>
            <a:r>
              <a:rPr lang="zh-CN" altLang="en-US" sz="1800" b="0"/>
              <a:t>：</a:t>
            </a:r>
            <a:endParaRPr lang="zh-CN" altLang="en-US" sz="1800" b="0"/>
          </a:p>
        </p:txBody>
      </p:sp>
      <p:sp>
        <p:nvSpPr>
          <p:cNvPr id="6" name="文本框 5"/>
          <p:cNvSpPr txBox="1"/>
          <p:nvPr/>
        </p:nvSpPr>
        <p:spPr>
          <a:xfrm>
            <a:off x="6058535" y="1962150"/>
            <a:ext cx="3423920" cy="368300"/>
          </a:xfrm>
          <a:prstGeom prst="rect">
            <a:avLst/>
          </a:prstGeom>
          <a:noFill/>
          <a:ln w="9525">
            <a:noFill/>
          </a:ln>
        </p:spPr>
        <p:txBody>
          <a:bodyPr wrap="square">
            <a:spAutoFit/>
          </a:bodyPr>
          <a:p>
            <a:pPr indent="560705"/>
            <a:r>
              <a:rPr lang="en-US" sz="1800" b="0"/>
              <a:t>DMA1</a:t>
            </a:r>
            <a:r>
              <a:rPr lang="zh-CN" altLang="en-US" sz="1800" b="0"/>
              <a:t>见用户手册</a:t>
            </a:r>
            <a:r>
              <a:rPr lang="en-US" altLang="zh-CN" sz="1800" b="0"/>
              <a:t>195</a:t>
            </a:r>
            <a:r>
              <a:rPr lang="zh-CN" altLang="en-US" sz="1800" b="0"/>
              <a:t>页：</a:t>
            </a:r>
            <a:endParaRPr lang="zh-CN" altLang="en-US" sz="1800" b="0"/>
          </a:p>
        </p:txBody>
      </p:sp>
    </p:spTree>
    <p:custDataLst>
      <p:tags r:id="rId4"/>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仲裁</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689100" y="1334135"/>
            <a:ext cx="7886700" cy="1337945"/>
          </a:xfrm>
          <a:prstGeom prst="rect">
            <a:avLst/>
          </a:prstGeom>
          <a:noFill/>
          <a:ln w="9525">
            <a:noFill/>
          </a:ln>
        </p:spPr>
        <p:txBody>
          <a:bodyPr wrap="square">
            <a:spAutoFit/>
          </a:bodyPr>
          <a:p>
            <a:pPr indent="560705" fontAlgn="auto">
              <a:lnSpc>
                <a:spcPct val="150000"/>
              </a:lnSpc>
            </a:pPr>
            <a:r>
              <a:rPr lang="zh-CN" sz="1800" b="0"/>
              <a:t>每个</a:t>
            </a:r>
            <a:r>
              <a:rPr lang="en-US" altLang="zh-CN" sz="1800" b="0"/>
              <a:t>DMA</a:t>
            </a:r>
            <a:r>
              <a:rPr lang="zh-CN" altLang="en-US" sz="1800" b="0"/>
              <a:t>控制器有两个分别对应于外设和存储器的仲裁器。当</a:t>
            </a:r>
            <a:r>
              <a:rPr lang="en-US" altLang="zh-CN" sz="1800" b="0"/>
              <a:t>DMA</a:t>
            </a:r>
            <a:r>
              <a:rPr lang="zh-CN" altLang="en-US" sz="1800" b="0"/>
              <a:t>控制器在同一时间接收到多个外设请求时，仲裁器将根据外设请求的优先级来决定响应哪一个外设请求。</a:t>
            </a:r>
            <a:endParaRPr lang="en-US" altLang="zh-CN" sz="1800" b="0"/>
          </a:p>
        </p:txBody>
      </p:sp>
      <p:graphicFrame>
        <p:nvGraphicFramePr>
          <p:cNvPr id="3" name="表格 2"/>
          <p:cNvGraphicFramePr/>
          <p:nvPr>
            <p:custDataLst>
              <p:tags r:id="rId3"/>
            </p:custDataLst>
          </p:nvPr>
        </p:nvGraphicFramePr>
        <p:xfrm>
          <a:off x="1689100" y="3672205"/>
          <a:ext cx="8533130" cy="1151890"/>
        </p:xfrm>
        <a:graphic>
          <a:graphicData uri="http://schemas.openxmlformats.org/drawingml/2006/table">
            <a:tbl>
              <a:tblPr firstRow="1" bandRow="1">
                <a:tableStyleId>{5C22544A-7EE6-4342-B048-85BDC9FD1C3A}</a:tableStyleId>
              </a:tblPr>
              <a:tblGrid>
                <a:gridCol w="1865630"/>
                <a:gridCol w="6667500"/>
              </a:tblGrid>
              <a:tr h="389890">
                <a:tc>
                  <a:txBody>
                    <a:bodyPr/>
                    <a:p>
                      <a:pPr algn="ctr">
                        <a:buNone/>
                      </a:pPr>
                      <a:r>
                        <a:rPr lang="zh-CN" altLang="en-US"/>
                        <a:t>优先级</a:t>
                      </a:r>
                      <a:endParaRPr lang="zh-CN" altLang="en-US"/>
                    </a:p>
                  </a:txBody>
                  <a:tcPr/>
                </a:tc>
                <a:tc>
                  <a:txBody>
                    <a:bodyPr/>
                    <a:p>
                      <a:pPr algn="ctr">
                        <a:buNone/>
                      </a:pPr>
                      <a:r>
                        <a:rPr lang="zh-CN" altLang="en-US"/>
                        <a:t>描述</a:t>
                      </a:r>
                      <a:endParaRPr lang="zh-CN" altLang="en-US"/>
                    </a:p>
                  </a:txBody>
                  <a:tcPr/>
                </a:tc>
              </a:tr>
              <a:tr h="381000">
                <a:tc>
                  <a:txBody>
                    <a:bodyPr/>
                    <a:p>
                      <a:pPr>
                        <a:buNone/>
                      </a:pPr>
                      <a:r>
                        <a:rPr lang="zh-CN" altLang="en-US"/>
                        <a:t>软件优先级</a:t>
                      </a:r>
                      <a:endParaRPr lang="zh-CN" altLang="en-US"/>
                    </a:p>
                  </a:txBody>
                  <a:tcPr/>
                </a:tc>
                <a:tc>
                  <a:txBody>
                    <a:bodyPr/>
                    <a:p>
                      <a:pPr>
                        <a:buNone/>
                      </a:pPr>
                      <a:r>
                        <a:rPr lang="zh-CN" altLang="en-US"/>
                        <a:t>分为</a:t>
                      </a:r>
                      <a:r>
                        <a:rPr lang="en-US" altLang="zh-CN"/>
                        <a:t>4</a:t>
                      </a:r>
                      <a:r>
                        <a:rPr lang="zh-CN" altLang="en-US"/>
                        <a:t>级，低、中、高和超高。</a:t>
                      </a:r>
                      <a:endParaRPr lang="zh-CN" altLang="en-US"/>
                    </a:p>
                  </a:txBody>
                  <a:tcPr/>
                </a:tc>
              </a:tr>
              <a:tr h="381000">
                <a:tc>
                  <a:txBody>
                    <a:bodyPr/>
                    <a:p>
                      <a:pPr>
                        <a:buNone/>
                      </a:pPr>
                      <a:r>
                        <a:rPr lang="zh-CN" altLang="en-US"/>
                        <a:t>硬件优先级</a:t>
                      </a:r>
                      <a:endParaRPr lang="zh-CN" altLang="en-US"/>
                    </a:p>
                  </a:txBody>
                  <a:tcPr/>
                </a:tc>
                <a:tc>
                  <a:txBody>
                    <a:bodyPr/>
                    <a:p>
                      <a:pPr>
                        <a:buNone/>
                      </a:pPr>
                      <a:r>
                        <a:rPr lang="zh-CN" altLang="en-US"/>
                        <a:t>当通道具有相同的软件优先级时，编号低的通道优先级高。</a:t>
                      </a:r>
                      <a:endParaRPr lang="zh-CN" altLang="en-US"/>
                    </a:p>
                  </a:txBody>
                  <a:tcPr/>
                </a:tc>
              </a:tr>
            </a:tbl>
          </a:graphicData>
        </a:graphic>
      </p:graphicFrame>
    </p:spTree>
    <p:custDataLst>
      <p:tags r:id="rId4"/>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FIFO</a:t>
            </a:r>
            <a:endPar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781810" y="1511935"/>
            <a:ext cx="7886700" cy="1753235"/>
          </a:xfrm>
          <a:prstGeom prst="rect">
            <a:avLst/>
          </a:prstGeom>
          <a:noFill/>
          <a:ln w="9525">
            <a:noFill/>
          </a:ln>
        </p:spPr>
        <p:txBody>
          <a:bodyPr wrap="square">
            <a:spAutoFit/>
          </a:bodyPr>
          <a:p>
            <a:pPr indent="560705" fontAlgn="auto">
              <a:lnSpc>
                <a:spcPct val="150000"/>
              </a:lnSpc>
            </a:pPr>
            <a:r>
              <a:rPr sz="1800" b="0"/>
              <a:t>DMA控制器的每个通道都有一个4字深度的FIFO用于缓冲数据，从</a:t>
            </a:r>
            <a:r>
              <a:rPr lang="zh-CN" sz="1800" b="0"/>
              <a:t>源</a:t>
            </a:r>
            <a:r>
              <a:rPr sz="1800" b="0"/>
              <a:t>地址读取的数据会暂时保存在FIFO中，再传输到目的地址。根据FIFO的配置，DMA控制器支持两种数据处理模式：单数据传输模式和多数据传输模式。在存储器到存储器模式下，DMA控制器仅支持多数据传输模式。</a:t>
            </a:r>
            <a:endParaRPr sz="1800" b="0"/>
          </a:p>
        </p:txBody>
      </p:sp>
    </p:spTree>
    <p:custDataLst>
      <p:tags r:id="rId3"/>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地址生成算法</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689100" y="1334135"/>
            <a:ext cx="7886700" cy="506730"/>
          </a:xfrm>
          <a:prstGeom prst="rect">
            <a:avLst/>
          </a:prstGeom>
          <a:noFill/>
          <a:ln w="9525">
            <a:noFill/>
          </a:ln>
        </p:spPr>
        <p:txBody>
          <a:bodyPr wrap="square">
            <a:spAutoFit/>
          </a:bodyPr>
          <a:p>
            <a:pPr indent="560705" fontAlgn="auto">
              <a:lnSpc>
                <a:spcPct val="150000"/>
              </a:lnSpc>
            </a:pPr>
            <a:r>
              <a:rPr sz="1800" b="0"/>
              <a:t>存储器和外设都独立的支持两种地址生成算法：固定模式和增量模式。</a:t>
            </a:r>
            <a:endParaRPr sz="1800" b="0"/>
          </a:p>
        </p:txBody>
      </p:sp>
      <p:sp>
        <p:nvSpPr>
          <p:cNvPr id="4" name="文本框 3"/>
          <p:cNvSpPr txBox="1"/>
          <p:nvPr/>
        </p:nvSpPr>
        <p:spPr>
          <a:xfrm>
            <a:off x="1906270" y="2513330"/>
            <a:ext cx="7886700" cy="922020"/>
          </a:xfrm>
          <a:prstGeom prst="rect">
            <a:avLst/>
          </a:prstGeom>
          <a:noFill/>
          <a:ln w="9525">
            <a:noFill/>
          </a:ln>
        </p:spPr>
        <p:txBody>
          <a:bodyPr wrap="square">
            <a:spAutoFit/>
          </a:bodyPr>
          <a:p>
            <a:pPr indent="0" fontAlgn="auto">
              <a:lnSpc>
                <a:spcPct val="150000"/>
              </a:lnSpc>
            </a:pPr>
            <a:r>
              <a:rPr lang="en-US" sz="1800" b="0"/>
              <a:t>        </a:t>
            </a:r>
            <a:r>
              <a:rPr sz="1800" b="0"/>
              <a:t>在固定模式中，地址一直固定为初始化的基地址。在增量模式中，下一次传输数据的地址是当前地址加1（或2,4），这个值取决于数据传输宽度。</a:t>
            </a:r>
            <a:endParaRPr sz="1800" b="0"/>
          </a:p>
        </p:txBody>
      </p:sp>
    </p:spTree>
    <p:custDataLst>
      <p:tags r:id="rId3"/>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循环模式</a:t>
            </a:r>
            <a:endPar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689100" y="1334135"/>
            <a:ext cx="7886700" cy="1337945"/>
          </a:xfrm>
          <a:prstGeom prst="rect">
            <a:avLst/>
          </a:prstGeom>
          <a:noFill/>
          <a:ln w="9525">
            <a:noFill/>
          </a:ln>
        </p:spPr>
        <p:txBody>
          <a:bodyPr wrap="square">
            <a:spAutoFit/>
          </a:bodyPr>
          <a:p>
            <a:pPr indent="560705" fontAlgn="auto">
              <a:lnSpc>
                <a:spcPct val="150000"/>
              </a:lnSpc>
            </a:pPr>
            <a:r>
              <a:rPr sz="1800" b="0"/>
              <a:t>循环模式用来处理连续的外设请求。在循环模式中，当每次DMA传输完成后，CNT值会被重新载入，且传输完成标志位会被置1。DMA会一直响应外设的请求，直到出现传输错误或者通道使能位被清0。</a:t>
            </a:r>
            <a:endParaRPr sz="1800" b="0"/>
          </a:p>
        </p:txBody>
      </p:sp>
      <p:graphicFrame>
        <p:nvGraphicFramePr>
          <p:cNvPr id="3" name="表格 2"/>
          <p:cNvGraphicFramePr/>
          <p:nvPr>
            <p:custDataLst>
              <p:tags r:id="rId3"/>
            </p:custDataLst>
          </p:nvPr>
        </p:nvGraphicFramePr>
        <p:xfrm>
          <a:off x="1578610" y="3357880"/>
          <a:ext cx="8533130" cy="1151890"/>
        </p:xfrm>
        <a:graphic>
          <a:graphicData uri="http://schemas.openxmlformats.org/drawingml/2006/table">
            <a:tbl>
              <a:tblPr firstRow="1" bandRow="1">
                <a:tableStyleId>{5C22544A-7EE6-4342-B048-85BDC9FD1C3A}</a:tableStyleId>
              </a:tblPr>
              <a:tblGrid>
                <a:gridCol w="1865630"/>
                <a:gridCol w="6667500"/>
              </a:tblGrid>
              <a:tr h="389890">
                <a:tc>
                  <a:txBody>
                    <a:bodyPr/>
                    <a:p>
                      <a:pPr algn="ctr">
                        <a:buNone/>
                      </a:pPr>
                      <a:r>
                        <a:rPr lang="zh-CN" altLang="en-US"/>
                        <a:t>模式</a:t>
                      </a:r>
                      <a:endParaRPr lang="zh-CN" altLang="en-US"/>
                    </a:p>
                  </a:txBody>
                  <a:tcPr/>
                </a:tc>
                <a:tc>
                  <a:txBody>
                    <a:bodyPr/>
                    <a:p>
                      <a:pPr algn="ctr">
                        <a:buNone/>
                      </a:pPr>
                      <a:r>
                        <a:rPr lang="zh-CN" altLang="en-US"/>
                        <a:t>描述</a:t>
                      </a:r>
                      <a:endParaRPr lang="zh-CN" altLang="en-US"/>
                    </a:p>
                  </a:txBody>
                  <a:tcPr/>
                </a:tc>
              </a:tr>
              <a:tr h="381000">
                <a:tc>
                  <a:txBody>
                    <a:bodyPr/>
                    <a:p>
                      <a:pPr>
                        <a:buNone/>
                      </a:pPr>
                      <a:r>
                        <a:rPr lang="zh-CN" altLang="en-US"/>
                        <a:t>单次传输模式</a:t>
                      </a:r>
                      <a:endParaRPr lang="zh-CN" altLang="en-US"/>
                    </a:p>
                  </a:txBody>
                  <a:tcPr/>
                </a:tc>
                <a:tc>
                  <a:txBody>
                    <a:bodyPr/>
                    <a:p>
                      <a:pPr>
                        <a:buNone/>
                      </a:pPr>
                      <a:r>
                        <a:t>当传输结束时，触发DMA中断，在中断程序中首先失能DMA通道，然后修改该通道的传输数据量，最后重新使能DMA通道，注意只有失能的DMA通道才能成功修改传输数据量。</a:t>
                      </a:r>
                    </a:p>
                  </a:txBody>
                  <a:tcPr/>
                </a:tc>
              </a:tr>
              <a:tr h="381000">
                <a:tc>
                  <a:txBody>
                    <a:bodyPr/>
                    <a:p>
                      <a:pPr>
                        <a:buNone/>
                      </a:pPr>
                      <a:r>
                        <a:rPr lang="zh-CN" altLang="en-US"/>
                        <a:t>循环传输模式</a:t>
                      </a:r>
                      <a:endParaRPr lang="zh-CN" altLang="en-US"/>
                    </a:p>
                  </a:txBody>
                  <a:tcPr/>
                </a:tc>
                <a:tc>
                  <a:txBody>
                    <a:bodyPr/>
                    <a:p>
                      <a:pPr>
                        <a:buNone/>
                      </a:pPr>
                      <a:r>
                        <a:rPr lang="zh-CN" altLang="en-US"/>
                        <a:t>当传输结束时，硬件自动会将传输数据量寄存器进行重装，进行下一轮的数据传输。</a:t>
                      </a:r>
                      <a:endParaRPr lang="zh-CN" altLang="en-US"/>
                    </a:p>
                  </a:txBody>
                  <a:tcPr/>
                </a:tc>
              </a:tr>
            </a:tbl>
          </a:graphicData>
        </a:graphic>
      </p:graphicFrame>
    </p:spTree>
    <p:custDataLst>
      <p:tags r:id="rId4"/>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中断</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689100" y="1105535"/>
            <a:ext cx="7886700" cy="1337945"/>
          </a:xfrm>
          <a:prstGeom prst="rect">
            <a:avLst/>
          </a:prstGeom>
          <a:noFill/>
          <a:ln w="9525">
            <a:noFill/>
          </a:ln>
        </p:spPr>
        <p:txBody>
          <a:bodyPr wrap="square">
            <a:spAutoFit/>
          </a:bodyPr>
          <a:p>
            <a:pPr indent="560705" fontAlgn="auto">
              <a:lnSpc>
                <a:spcPct val="150000"/>
              </a:lnSpc>
            </a:pPr>
            <a:r>
              <a:rPr sz="1800" b="0"/>
              <a:t>每个DMA通道都有专有的中断，包括5个中断事件，传输完成中断，半传输完成中断，传输错误中断，单数据传输模式异常中断，FIFO错误和异常中断。任何一个中断事件都可以引发DMA中断。</a:t>
            </a:r>
            <a:endParaRPr sz="1800" b="0"/>
          </a:p>
        </p:txBody>
      </p:sp>
      <p:graphicFrame>
        <p:nvGraphicFramePr>
          <p:cNvPr id="3" name="表格 2"/>
          <p:cNvGraphicFramePr/>
          <p:nvPr>
            <p:custDataLst>
              <p:tags r:id="rId3"/>
            </p:custDataLst>
          </p:nvPr>
        </p:nvGraphicFramePr>
        <p:xfrm>
          <a:off x="1731645" y="3469005"/>
          <a:ext cx="8533130" cy="1532890"/>
        </p:xfrm>
        <a:graphic>
          <a:graphicData uri="http://schemas.openxmlformats.org/drawingml/2006/table">
            <a:tbl>
              <a:tblPr firstRow="1" bandRow="1">
                <a:tableStyleId>{5C22544A-7EE6-4342-B048-85BDC9FD1C3A}</a:tableStyleId>
              </a:tblPr>
              <a:tblGrid>
                <a:gridCol w="1865630"/>
                <a:gridCol w="6667500"/>
              </a:tblGrid>
              <a:tr h="389890">
                <a:tc>
                  <a:txBody>
                    <a:bodyPr/>
                    <a:p>
                      <a:pPr algn="ctr">
                        <a:buNone/>
                      </a:pPr>
                      <a:r>
                        <a:rPr lang="zh-CN" altLang="en-US"/>
                        <a:t>类型</a:t>
                      </a:r>
                      <a:endParaRPr lang="zh-CN" altLang="en-US"/>
                    </a:p>
                  </a:txBody>
                  <a:tcPr/>
                </a:tc>
                <a:tc>
                  <a:txBody>
                    <a:bodyPr/>
                    <a:p>
                      <a:pPr algn="ctr">
                        <a:buNone/>
                      </a:pPr>
                      <a:r>
                        <a:rPr lang="zh-CN" altLang="en-US"/>
                        <a:t>描述</a:t>
                      </a:r>
                      <a:endParaRPr lang="zh-CN" altLang="en-US"/>
                    </a:p>
                  </a:txBody>
                  <a:tcPr/>
                </a:tc>
              </a:tr>
              <a:tr h="381000">
                <a:tc>
                  <a:txBody>
                    <a:bodyPr/>
                    <a:p>
                      <a:pPr>
                        <a:buNone/>
                      </a:pPr>
                      <a:r>
                        <a:rPr lang="zh-CN" altLang="en-US"/>
                        <a:t>标志</a:t>
                      </a:r>
                      <a:endParaRPr lang="zh-CN" altLang="en-US"/>
                    </a:p>
                  </a:txBody>
                  <a:tcPr/>
                </a:tc>
                <a:tc>
                  <a:txBody>
                    <a:bodyPr/>
                    <a:p>
                      <a:pPr>
                        <a:buNone/>
                      </a:pPr>
                      <a:r>
                        <a:rPr lang="zh-CN" altLang="en-US"/>
                        <a:t>传输完成和半传输完成</a:t>
                      </a:r>
                      <a:endParaRPr lang="zh-CN" altLang="en-US"/>
                    </a:p>
                  </a:txBody>
                  <a:tcPr/>
                </a:tc>
              </a:tr>
              <a:tr h="381000">
                <a:tc>
                  <a:txBody>
                    <a:bodyPr/>
                    <a:p>
                      <a:pPr>
                        <a:buNone/>
                      </a:pPr>
                      <a:r>
                        <a:rPr lang="zh-CN" altLang="en-US"/>
                        <a:t>异常</a:t>
                      </a:r>
                      <a:endParaRPr lang="zh-CN" altLang="en-US"/>
                    </a:p>
                  </a:txBody>
                  <a:tcPr/>
                </a:tc>
                <a:tc>
                  <a:txBody>
                    <a:bodyPr/>
                    <a:p>
                      <a:pPr>
                        <a:buNone/>
                      </a:pPr>
                      <a:r>
                        <a:rPr lang="zh-CN" altLang="en-US"/>
                        <a:t>单数据传输模式异常和</a:t>
                      </a:r>
                      <a:r>
                        <a:rPr lang="en-US" altLang="zh-CN"/>
                        <a:t>FIFO</a:t>
                      </a:r>
                      <a:r>
                        <a:rPr lang="zh-CN" altLang="en-US"/>
                        <a:t>异常</a:t>
                      </a:r>
                      <a:endParaRPr lang="zh-CN" altLang="en-US"/>
                    </a:p>
                  </a:txBody>
                  <a:tcPr/>
                </a:tc>
              </a:tr>
              <a:tr h="381000">
                <a:tc>
                  <a:txBody>
                    <a:bodyPr/>
                    <a:p>
                      <a:pPr>
                        <a:buNone/>
                      </a:pPr>
                      <a:r>
                        <a:rPr lang="zh-CN" altLang="en-US"/>
                        <a:t>错误</a:t>
                      </a:r>
                      <a:endParaRPr lang="zh-CN" altLang="en-US"/>
                    </a:p>
                  </a:txBody>
                  <a:tcPr/>
                </a:tc>
                <a:tc>
                  <a:txBody>
                    <a:bodyPr/>
                    <a:p>
                      <a:pPr>
                        <a:buNone/>
                      </a:pPr>
                      <a:r>
                        <a:rPr lang="zh-CN" altLang="en-US"/>
                        <a:t>传输错误和</a:t>
                      </a:r>
                      <a:r>
                        <a:rPr lang="en-US" altLang="zh-CN"/>
                        <a:t>FIFO</a:t>
                      </a:r>
                      <a:r>
                        <a:rPr lang="zh-CN" altLang="en-US"/>
                        <a:t>错误</a:t>
                      </a:r>
                      <a:endParaRPr lang="zh-CN" altLang="en-US"/>
                    </a:p>
                  </a:txBody>
                  <a:tcPr/>
                </a:tc>
              </a:tr>
            </a:tbl>
          </a:graphicData>
        </a:graphic>
      </p:graphicFrame>
      <p:sp>
        <p:nvSpPr>
          <p:cNvPr id="4" name="文本框 3"/>
          <p:cNvSpPr txBox="1"/>
          <p:nvPr/>
        </p:nvSpPr>
        <p:spPr>
          <a:xfrm>
            <a:off x="1271905" y="2898775"/>
            <a:ext cx="3798570" cy="506730"/>
          </a:xfrm>
          <a:prstGeom prst="rect">
            <a:avLst/>
          </a:prstGeom>
          <a:noFill/>
          <a:ln w="9525">
            <a:noFill/>
          </a:ln>
        </p:spPr>
        <p:txBody>
          <a:bodyPr wrap="square">
            <a:spAutoFit/>
          </a:bodyPr>
          <a:p>
            <a:pPr indent="560705" fontAlgn="auto">
              <a:lnSpc>
                <a:spcPct val="150000"/>
              </a:lnSpc>
            </a:pPr>
            <a:r>
              <a:rPr sz="1800" b="0"/>
              <a:t>这5个事件可以分为3种类型：</a:t>
            </a:r>
            <a:endParaRPr sz="1800" b="0"/>
          </a:p>
        </p:txBody>
      </p:sp>
      <p:sp>
        <p:nvSpPr>
          <p:cNvPr id="5" name="文本框 4"/>
          <p:cNvSpPr txBox="1"/>
          <p:nvPr/>
        </p:nvSpPr>
        <p:spPr>
          <a:xfrm>
            <a:off x="1689100" y="5316220"/>
            <a:ext cx="8533130" cy="922020"/>
          </a:xfrm>
          <a:prstGeom prst="rect">
            <a:avLst/>
          </a:prstGeom>
          <a:noFill/>
          <a:ln w="9525">
            <a:noFill/>
          </a:ln>
        </p:spPr>
        <p:txBody>
          <a:bodyPr wrap="square">
            <a:spAutoFit/>
          </a:bodyPr>
          <a:p>
            <a:pPr indent="560705" fontAlgn="auto">
              <a:lnSpc>
                <a:spcPct val="150000"/>
              </a:lnSpc>
            </a:pPr>
            <a:r>
              <a:rPr sz="1800" b="0">
                <a:solidFill>
                  <a:srgbClr val="FF0000"/>
                </a:solidFill>
              </a:rPr>
              <a:t>发生异常事件时，正在进行的DMA传输不会被停止，仍将继续传输。</a:t>
            </a:r>
            <a:endParaRPr sz="1800" b="0">
              <a:solidFill>
                <a:srgbClr val="FF0000"/>
              </a:solidFill>
            </a:endParaRPr>
          </a:p>
          <a:p>
            <a:pPr indent="560705" fontAlgn="auto">
              <a:lnSpc>
                <a:spcPct val="150000"/>
              </a:lnSpc>
            </a:pPr>
            <a:r>
              <a:rPr sz="1800" b="0">
                <a:solidFill>
                  <a:srgbClr val="FF0000"/>
                </a:solidFill>
              </a:rPr>
              <a:t>发生错误事件时，正在进行的DMA传输会被停止。</a:t>
            </a:r>
            <a:endParaRPr sz="1800" b="0">
              <a:solidFill>
                <a:srgbClr val="FF0000"/>
              </a:solidFill>
            </a:endParaRPr>
          </a:p>
        </p:txBody>
      </p:sp>
    </p:spTree>
    <p:custDataLst>
      <p:tags r:id="rId4"/>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custDataLst>
              <p:tags r:id="rId1"/>
            </p:custDataLst>
          </p:nvPr>
        </p:nvSpPr>
        <p:spPr>
          <a:xfrm>
            <a:off x="3533140" y="1372245"/>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02</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8" name="直接连接符 7"/>
          <p:cNvCxnSpPr/>
          <p:nvPr>
            <p:custDataLst>
              <p:tags r:id="rId2"/>
            </p:custDataLst>
          </p:nvPr>
        </p:nvCxnSpPr>
        <p:spPr>
          <a:xfrm>
            <a:off x="3755390" y="2613025"/>
            <a:ext cx="5309235" cy="50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3"/>
            </p:custDataLst>
          </p:nvPr>
        </p:nvCxnSpPr>
        <p:spPr>
          <a:xfrm flipV="1">
            <a:off x="3755390" y="2603500"/>
            <a:ext cx="5847715" cy="50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1"/>
          <p:cNvSpPr>
            <a:spLocks noGrp="1"/>
          </p:cNvSpPr>
          <p:nvPr>
            <p:custDataLst>
              <p:tags r:id="rId4"/>
            </p:custDataLst>
          </p:nvPr>
        </p:nvSpPr>
        <p:spPr>
          <a:xfrm>
            <a:off x="5030470" y="1628775"/>
            <a:ext cx="4854575" cy="705485"/>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en-US" altLang="zh-CN" sz="4800">
                <a:solidFill>
                  <a:srgbClr val="6096E6"/>
                </a:solidFill>
                <a:sym typeface="Arial" panose="020B0604020202020204" pitchFamily="34" charset="0"/>
              </a:rPr>
              <a:t>DMA</a:t>
            </a:r>
            <a:r>
              <a:rPr lang="zh-CN" altLang="en-US" sz="4800">
                <a:solidFill>
                  <a:srgbClr val="6096E6"/>
                </a:solidFill>
                <a:sym typeface="Arial" panose="020B0604020202020204" pitchFamily="34" charset="0"/>
              </a:rPr>
              <a:t>操作流程</a:t>
            </a:r>
            <a:endParaRPr lang="zh-CN" altLang="en-US" sz="4800">
              <a:solidFill>
                <a:srgbClr val="6096E6"/>
              </a:solidFill>
              <a:sym typeface="Arial" panose="020B0604020202020204" pitchFamily="34" charset="0"/>
            </a:endParaRPr>
          </a:p>
        </p:txBody>
      </p:sp>
      <p:pic>
        <p:nvPicPr>
          <p:cNvPr id="102" name="图片 101"/>
          <p:cNvPicPr>
            <a:picLocks noChangeAspect="1"/>
          </p:cNvPicPr>
          <p:nvPr/>
        </p:nvPicPr>
        <p:blipFill>
          <a:blip r:embed="rId5"/>
          <a:stretch>
            <a:fillRect/>
          </a:stretch>
        </p:blipFill>
        <p:spPr>
          <a:xfrm>
            <a:off x="317500" y="144780"/>
            <a:ext cx="2322830" cy="872490"/>
          </a:xfrm>
          <a:prstGeom prst="rect">
            <a:avLst/>
          </a:prstGeom>
          <a:noFill/>
          <a:ln w="9525">
            <a:noFill/>
          </a:ln>
        </p:spPr>
      </p:pic>
    </p:spTree>
    <p:custDataLst>
      <p:tags r:id="rId6"/>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422400" y="330200"/>
            <a:ext cx="308165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串口接收</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4" name="文本框 3"/>
          <p:cNvSpPr txBox="1"/>
          <p:nvPr/>
        </p:nvSpPr>
        <p:spPr>
          <a:xfrm>
            <a:off x="2426970" y="1473835"/>
            <a:ext cx="4013200" cy="521970"/>
          </a:xfrm>
          <a:prstGeom prst="rect">
            <a:avLst/>
          </a:prstGeom>
          <a:noFill/>
        </p:spPr>
        <p:txBody>
          <a:bodyPr wrap="square" rtlCol="0">
            <a:spAutoFit/>
          </a:bodyPr>
          <a:p>
            <a:r>
              <a:rPr lang="en-US" sz="2800"/>
              <a:t>  </a:t>
            </a:r>
            <a:r>
              <a:rPr lang="en-US" sz="2000"/>
              <a:t>  </a:t>
            </a:r>
            <a:r>
              <a:rPr lang="en-US" sz="1600"/>
              <a:t> </a:t>
            </a:r>
            <a:r>
              <a:rPr lang="zh-CN" sz="1600"/>
              <a:t>串口接收可用以下几种方式：</a:t>
            </a:r>
            <a:endParaRPr lang="en-US" altLang="zh-CN" sz="1600"/>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2299335" y="2113280"/>
            <a:ext cx="4832985" cy="1014730"/>
          </a:xfrm>
          <a:prstGeom prst="rect">
            <a:avLst/>
          </a:prstGeom>
          <a:noFill/>
          <a:ln w="9525">
            <a:noFill/>
          </a:ln>
        </p:spPr>
        <p:txBody>
          <a:bodyPr wrap="square">
            <a:spAutoFit/>
          </a:bodyPr>
          <a:p>
            <a:pPr indent="266700"/>
            <a:r>
              <a:rPr lang="en-US" sz="2000" b="0"/>
              <a:t>    1. </a:t>
            </a:r>
            <a:r>
              <a:rPr sz="2000" b="0"/>
              <a:t>通过轮询接收数据</a:t>
            </a:r>
            <a:endParaRPr sz="2000" b="0"/>
          </a:p>
          <a:p>
            <a:pPr indent="266700"/>
            <a:r>
              <a:rPr sz="2000" b="0"/>
              <a:t></a:t>
            </a:r>
            <a:r>
              <a:rPr lang="en-US" sz="2000" b="0"/>
              <a:t>2. </a:t>
            </a:r>
            <a:r>
              <a:rPr sz="2000" b="0"/>
              <a:t>通过中断接收数据</a:t>
            </a:r>
            <a:endParaRPr sz="2000" b="0"/>
          </a:p>
          <a:p>
            <a:pPr indent="266700"/>
            <a:r>
              <a:rPr sz="2000" b="0"/>
              <a:t></a:t>
            </a:r>
            <a:r>
              <a:rPr lang="en-US" sz="2000" b="0"/>
              <a:t>3. </a:t>
            </a:r>
            <a:r>
              <a:rPr sz="2000" b="0"/>
              <a:t>通过DMA接收数据</a:t>
            </a:r>
            <a:endParaRPr sz="2000" b="0"/>
          </a:p>
        </p:txBody>
      </p:sp>
    </p:spTree>
    <p:custDataLst>
      <p:tags r:id="rId3"/>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422400" y="330200"/>
            <a:ext cx="308165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串口</a:t>
            </a:r>
            <a:r>
              <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DMA</a:t>
            </a: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接收</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2087245" y="1783080"/>
            <a:ext cx="7861935" cy="2245360"/>
          </a:xfrm>
          <a:prstGeom prst="rect">
            <a:avLst/>
          </a:prstGeom>
          <a:noFill/>
          <a:ln w="9525">
            <a:noFill/>
          </a:ln>
        </p:spPr>
        <p:txBody>
          <a:bodyPr wrap="square">
            <a:spAutoFit/>
          </a:bodyPr>
          <a:p>
            <a:pPr indent="266700"/>
            <a:r>
              <a:rPr lang="en-US" sz="2000" b="0"/>
              <a:t>    </a:t>
            </a:r>
            <a:r>
              <a:rPr sz="2000" b="0"/>
              <a:t>在串口检测到有数据输入的时候，直接让DMA往准备好的存储器中搬运接收到的数据，在这个过程中，CPU还是在处理自己的事，在一帧数据传输完成后，通过空闲中断告诉主任务一帧数据已经传输完毕，主任务再对接收到的数据进行响应处理。整个过程中，程序代码只会触发一次中断，就是DMA搬移完数据后通知CPU的那一次中断，这种方法无论一帧数据的数据量有多大，都只会触发一次中断，且在传输过程中不占用CPU的时间，大大节省效率。</a:t>
            </a:r>
            <a:endParaRPr sz="2000" b="0"/>
          </a:p>
        </p:txBody>
      </p:sp>
    </p:spTree>
    <p:custDataLst>
      <p:tags r:id="rId3"/>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3329305" y="2525395"/>
            <a:ext cx="5527040" cy="937260"/>
          </a:xfrm>
          <a:prstGeom prst="rect">
            <a:avLst/>
          </a:prstGeom>
          <a:noFill/>
        </p:spPr>
        <p:txBody>
          <a:bodyPr wrap="square" rtlCol="0">
            <a:spAutoFit/>
          </a:bodyPr>
          <a:p>
            <a:pPr algn="dist"/>
            <a:r>
              <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rPr>
              <a:t>谢谢大家</a:t>
            </a:r>
            <a:endPar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9" name="文本框 58"/>
          <p:cNvSpPr txBox="1"/>
          <p:nvPr/>
        </p:nvSpPr>
        <p:spPr>
          <a:xfrm>
            <a:off x="2706370" y="3552825"/>
            <a:ext cx="6771640" cy="337185"/>
          </a:xfrm>
          <a:prstGeom prst="rect">
            <a:avLst/>
          </a:prstGeom>
          <a:noFill/>
        </p:spPr>
        <p:txBody>
          <a:bodyPr wrap="square" rtlCol="0">
            <a:spAutoFit/>
          </a:bodyPr>
          <a:p>
            <a:pPr algn="dist"/>
            <a:r>
              <a:rPr lang="zh-CN" altLang="en-US" sz="1600" cap="all">
                <a:solidFill>
                  <a:srgbClr val="35729C">
                    <a:alpha val="50000"/>
                  </a:srgbClr>
                </a:solidFill>
                <a:uFillTx/>
                <a:cs typeface="微软雅黑" panose="020B0503020204020204" pitchFamily="34" charset="-122"/>
              </a:rPr>
              <a:t>Thank you for your attention</a:t>
            </a:r>
            <a:endParaRPr lang="zh-CN" altLang="en-US" sz="1600" cap="all">
              <a:solidFill>
                <a:srgbClr val="35729C">
                  <a:alpha val="50000"/>
                </a:srgbClr>
              </a:solidFill>
              <a:uFillTx/>
              <a:cs typeface="微软雅黑" panose="020B0503020204020204" pitchFamily="34" charset="-122"/>
            </a:endParaRPr>
          </a:p>
        </p:txBody>
      </p:sp>
      <p:sp>
        <p:nvSpPr>
          <p:cNvPr id="2" name="文本框 1"/>
          <p:cNvSpPr txBox="1"/>
          <p:nvPr/>
        </p:nvSpPr>
        <p:spPr>
          <a:xfrm>
            <a:off x="3469005" y="1702435"/>
            <a:ext cx="5527040" cy="937260"/>
          </a:xfrm>
          <a:prstGeom prst="rect">
            <a:avLst/>
          </a:prstGeom>
          <a:noFill/>
        </p:spPr>
        <p:txBody>
          <a:bodyPr wrap="square" rtlCol="0">
            <a:spAutoFit/>
          </a:bodyPr>
          <a:p>
            <a:pPr algn="dist"/>
            <a:endPar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2706370" y="3554095"/>
            <a:ext cx="6771640" cy="337185"/>
          </a:xfrm>
          <a:prstGeom prst="rect">
            <a:avLst/>
          </a:prstGeom>
          <a:noFill/>
        </p:spPr>
        <p:txBody>
          <a:bodyPr wrap="square" rtlCol="0">
            <a:spAutoFit/>
          </a:bodyPr>
          <a:p>
            <a:pPr algn="dist"/>
            <a:r>
              <a:rPr lang="zh-CN" altLang="en-US" sz="1600" cap="all">
                <a:solidFill>
                  <a:srgbClr val="35729C">
                    <a:alpha val="50000"/>
                  </a:srgbClr>
                </a:solidFill>
                <a:uFillTx/>
                <a:cs typeface="微软雅黑" panose="020B0503020204020204" pitchFamily="34" charset="-122"/>
              </a:rPr>
              <a:t>Thank you for your attention</a:t>
            </a:r>
            <a:endParaRPr lang="zh-CN" altLang="en-US" sz="1600" cap="all">
              <a:solidFill>
                <a:srgbClr val="35729C">
                  <a:alpha val="50000"/>
                </a:srgbClr>
              </a:solidFill>
              <a:uFillTx/>
              <a:cs typeface="微软雅黑" panose="020B0503020204020204" pitchFamily="34" charset="-122"/>
            </a:endParaRPr>
          </a:p>
        </p:txBody>
      </p:sp>
      <p:pic>
        <p:nvPicPr>
          <p:cNvPr id="102" name="图片 101"/>
          <p:cNvPicPr>
            <a:picLocks noChangeAspect="1"/>
          </p:cNvPicPr>
          <p:nvPr/>
        </p:nvPicPr>
        <p:blipFill>
          <a:blip r:embed="rId1"/>
          <a:stretch>
            <a:fillRect/>
          </a:stretch>
        </p:blipFill>
        <p:spPr>
          <a:xfrm>
            <a:off x="306705" y="187325"/>
            <a:ext cx="2322830" cy="872490"/>
          </a:xfrm>
          <a:prstGeom prst="rect">
            <a:avLst/>
          </a:prstGeom>
          <a:noFill/>
          <a:ln w="9525">
            <a:noFill/>
          </a:ln>
        </p:spPr>
      </p:pic>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1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6.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17.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8924_4*l_h_i*1_2_1"/>
  <p:tag name="KSO_WM_TEMPLATE_CATEGORY" val="diagram"/>
  <p:tag name="KSO_WM_TEMPLATE_INDEX" val="2019892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18.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8924_4*l_h_i*1_2_2"/>
  <p:tag name="KSO_WM_TEMPLATE_CATEGORY" val="diagram"/>
  <p:tag name="KSO_WM_TEMPLATE_INDEX" val="2019892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19.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20.xml><?xml version="1.0" encoding="utf-8"?>
<p:tagLst xmlns:p="http://schemas.openxmlformats.org/presentationml/2006/main">
  <p:tag name="KSO_WM_BEAUTIFY_FLAG" val="#wm#"/>
  <p:tag name="KSO_WM_TEMPLATE_CATEGORY" val="diagram"/>
  <p:tag name="KSO_WM_TEMPLATE_INDEX" val="20198924"/>
  <p:tag name="KSO_WM_SLIDE_ID" val="diagram20198924_3"/>
  <p:tag name="KSO_WM_TEMPLATE_SUBCATEGORY" val="22"/>
  <p:tag name="KSO_WM_TEMPLATE_MASTER_TYPE" val="0"/>
  <p:tag name="KSO_WM_TEMPLATE_COLOR_TYPE" val="1"/>
  <p:tag name="KSO_WM_SLIDE_TYPE" val="text"/>
  <p:tag name="KSO_WM_SLIDE_SUBTYPE" val="diag"/>
  <p:tag name="KSO_WM_SLIDE_ITEM_CNT" val="5"/>
  <p:tag name="KSO_WM_SLIDE_INDEX" val="3"/>
  <p:tag name="KSO_WM_SLIDE_SIZE" val="900.387*205.958"/>
  <p:tag name="KSO_WM_SLIDE_POSITION" val="29.8064*167.021"/>
  <p:tag name="KSO_WM_DIAGRAM_GROUP_CODE" val="l1-1"/>
  <p:tag name="KSO_WM_SLIDE_DIAGTYPE" val="l"/>
  <p:tag name="KSO_WM_TAG_VERSION" val="1.0"/>
  <p:tag name="KSO_WM_SLIDE_LAYOUT" val="l"/>
  <p:tag name="KSO_WM_SLIDE_LAYOUT_CNT" val="1"/>
</p:tagLst>
</file>

<file path=ppt/tags/tag121.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23.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2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7.xml><?xml version="1.0" encoding="utf-8"?>
<p:tagLst xmlns:p="http://schemas.openxmlformats.org/presentationml/2006/main">
  <p:tag name="KSO_WM_UNIT_TABLE_BEAUTIFY" val="smartTable{1d4c1c67-1639-4a1d-8a34-a195845e15a1}"/>
</p:tagLst>
</file>

<file path=ppt/tags/tag12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1.xml><?xml version="1.0" encoding="utf-8"?>
<p:tagLst xmlns:p="http://schemas.openxmlformats.org/presentationml/2006/main">
  <p:tag name="KSO_WM_UNIT_TABLE_BEAUTIFY" val="smartTable{c4ee1fdc-f112-44c7-b135-118861a44760}"/>
</p:tagLst>
</file>

<file path=ppt/tags/tag1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4.xml><?xml version="1.0" encoding="utf-8"?>
<p:tagLst xmlns:p="http://schemas.openxmlformats.org/presentationml/2006/main">
  <p:tag name="KSO_WM_UNIT_TABLE_BEAUTIFY" val="smartTable{8f13d9e5-3163-42dc-8eb8-4647a661b2da}"/>
</p:tagLst>
</file>

<file path=ppt/tags/tag13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8.xml><?xml version="1.0" encoding="utf-8"?>
<p:tagLst xmlns:p="http://schemas.openxmlformats.org/presentationml/2006/main">
  <p:tag name="KSO_WM_UNIT_TABLE_BEAUTIFY" val="smartTable{8f13d9e5-3163-42dc-8eb8-4647a661b2da}"/>
</p:tagLst>
</file>

<file path=ppt/tags/tag13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0.xml><?xml version="1.0" encoding="utf-8"?>
<p:tagLst xmlns:p="http://schemas.openxmlformats.org/presentationml/2006/main">
  <p:tag name="KSO_WM_UNIT_TABLE_BEAUTIFY" val="smartTable{8f13d9e5-3163-42dc-8eb8-4647a661b2da}"/>
</p:tagLst>
</file>

<file path=ppt/tags/tag14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2.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4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2296</Words>
  <Application>WPS 演示</Application>
  <PresentationFormat>宽屏</PresentationFormat>
  <Paragraphs>170</Paragraphs>
  <Slides>17</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17</vt:i4>
      </vt:variant>
    </vt:vector>
  </HeadingPairs>
  <TitlesOfParts>
    <vt:vector size="27" baseType="lpstr">
      <vt:lpstr>Arial</vt:lpstr>
      <vt:lpstr>宋体</vt:lpstr>
      <vt:lpstr>Wingdings</vt:lpstr>
      <vt:lpstr>微软雅黑</vt:lpstr>
      <vt:lpstr>Wingdings</vt:lpstr>
      <vt:lpstr>Arial</vt:lpstr>
      <vt:lpstr>Calibri</vt:lpstr>
      <vt:lpstr>Arial Unicode MS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冷月枫</cp:lastModifiedBy>
  <cp:revision>441</cp:revision>
  <dcterms:created xsi:type="dcterms:W3CDTF">2019-06-19T02:08:00Z</dcterms:created>
  <dcterms:modified xsi:type="dcterms:W3CDTF">2022-05-24T02:56:30Z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2052-11.1.0.11372</vt:lpwstr>
  </property>
  <property fmtid="{D5CDD505-2E9C-101B-9397-08002B2CF9AE}" pid="3" name="KSOTemplateUUID">
    <vt:lpwstr>v1.0_mb_UVDUVYxfrMBBv8iemHXVyg==</vt:lpwstr>
  </property>
  <property fmtid="{D5CDD505-2E9C-101B-9397-08002B2CF9AE}" pid="4" name="ICV">
    <vt:lpwstr>F4FD8076E9E2473C85D3F1F44504090E</vt:lpwstr>
  </property>
  <property fmtid="{D5CDD505-2E9C-101B-9397-08002B2CF9AE}" pid="5" name="KSOSaveFontToCloudKey">
    <vt:lpwstr>203183318_embed</vt:lpwstr>
  </property>
</Properties>
</file>