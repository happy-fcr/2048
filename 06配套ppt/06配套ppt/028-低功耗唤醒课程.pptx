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3"/>
  </p:sldMasterIdLst>
  <p:notesMasterIdLst>
    <p:notesMasterId r:id="rId5"/>
  </p:notesMasterIdLst>
  <p:handoutMasterIdLst>
    <p:handoutMasterId r:id="rId12"/>
  </p:handoutMasterIdLst>
  <p:sldIdLst>
    <p:sldId id="409" r:id="rId4"/>
    <p:sldId id="497" r:id="rId6"/>
    <p:sldId id="722" r:id="rId7"/>
    <p:sldId id="751" r:id="rId8"/>
    <p:sldId id="716" r:id="rId9"/>
    <p:sldId id="755" r:id="rId10"/>
    <p:sldId id="427" r:id="rId11"/>
  </p:sldIdLst>
  <p:sldSz cx="12192000" cy="6858000"/>
  <p:notesSz cx="6858000" cy="9144000"/>
  <p:embeddedFontLst>
    <p:embeddedFont>
      <p:font typeface="微软雅黑" panose="020B0503020204020204" pitchFamily="34" charset="-122"/>
      <p:regular r:id="rId17"/>
    </p:embeddedFont>
    <p:embeddedFont>
      <p:font typeface="黑体" panose="02010609060101010101" charset="-122"/>
      <p:regular r:id="rId18"/>
    </p:embeddedFont>
    <p:embeddedFont>
      <p:font typeface="Calibri" panose="020F0502020204030204" charset="0"/>
      <p:regular r:id="rId19"/>
      <p:bold r:id="rId20"/>
      <p:italic r:id="rId21"/>
      <p:boldItalic r:id="rId22"/>
    </p:embeddedFont>
  </p:embeddedFontLst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90" userDrawn="1">
          <p15:clr>
            <a:srgbClr val="A4A3A4"/>
          </p15:clr>
        </p15:guide>
        <p15:guide id="2" pos="367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  <p:cmAuthor id="1" name="幸全" initials="幸全" lastIdx="1" clrIdx="0"/>
  <p:cmAuthor id="3" name="Author" initials="A" lastIdx="0" clrIdx="2"/>
  <p:cmAuthor id="4" name="USER" initials="U" lastIdx="2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B6E5"/>
    <a:srgbClr val="F18870"/>
    <a:srgbClr val="FFBA55"/>
    <a:srgbClr val="56CA95"/>
    <a:srgbClr val="6096E6"/>
    <a:srgbClr val="4691C0"/>
    <a:srgbClr val="70AACE"/>
    <a:srgbClr val="79C5D9"/>
    <a:srgbClr val="35729C"/>
    <a:srgbClr val="174A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490"/>
        <p:guide pos="367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gs" Target="tags/tag139.xml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指的是用3000mA的电流可以持续放电1h。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内核停止了，但是时钟还在给其他外设运行着。</a:t>
            </a:r>
            <a:br>
              <a:rPr lang="zh-CN" altLang="en-US">
                <a:sym typeface="+mn-ea"/>
              </a:rPr>
            </a:br>
            <a:r>
              <a:rPr lang="en-US" altLang="zh-CN">
                <a:sym typeface="+mn-ea"/>
              </a:rPr>
              <a:t>1.2V</a:t>
            </a:r>
            <a:r>
              <a:rPr lang="zh-CN" altLang="en-US">
                <a:sym typeface="+mn-ea"/>
              </a:rPr>
              <a:t>包括</a:t>
            </a:r>
            <a:r>
              <a:rPr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Cortex®-M4</a:t>
            </a:r>
            <a:r>
              <a:rPr lang="zh-CN" altLang="en-US">
                <a:sym typeface="+mn-ea"/>
              </a:rPr>
              <a:t>内核，时钟总线。我们的外设都是通过时钟总线进行通信的。</a:t>
            </a:r>
            <a:br>
              <a:rPr lang="en-US" altLang="zh-CN">
                <a:sym typeface="+mn-ea"/>
              </a:rPr>
            </a:br>
            <a:br>
              <a:rPr lang="en-US" altLang="zh-CN">
                <a:sym typeface="+mn-ea"/>
              </a:rPr>
            </a:br>
            <a:r>
              <a:rPr lang="en-US" altLang="zh-CN">
                <a:sym typeface="+mn-ea"/>
              </a:rPr>
              <a:t>WFI:</a:t>
            </a:r>
            <a:r>
              <a:rPr lang="zh-CN" altLang="en-US">
                <a:sym typeface="+mn-ea"/>
              </a:rPr>
              <a:t>当执行WFI指令时，处理器将进入低功耗模式，等待直到发生中断，如外部中断或定时器中断等。在等待中断期间，处理器会暂停执行，以降低功耗，从而实现省电的效果。一旦发生中断事件，处理器会被唤醒，并继续执行中断服务程序。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WFE:当执行WFE指令时，处理器将进入低功耗模式，并等待事件的发生。与WFI指令不同的是，WFE指令在等待期间，处理器是可以被某些特定的事件唤醒的。这些事件可以是外部中断、数据缓存的加载/存储事件等。一旦发生唤醒事件，处理器将被立即唤醒，并继续执行指令。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 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4" Type="http://schemas.openxmlformats.org/officeDocument/2006/relationships/tags" Target="../tags/tag106.xml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schemeClr val="tx1">
                <a:lumMod val="75000"/>
                <a:lumOff val="25000"/>
                <a:alpha val="6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654050" y="640715"/>
            <a:ext cx="10884535" cy="55765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27000" algn="ctr" rotWithShape="0">
              <a:schemeClr val="tx1">
                <a:lumMod val="75000"/>
                <a:lumOff val="25000"/>
                <a:alpha val="76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资源 3"/>
          <p:cNvPicPr>
            <a:picLocks noChangeAspect="1"/>
          </p:cNvPicPr>
          <p:nvPr userDrawn="1"/>
        </p:nvPicPr>
        <p:blipFill>
          <a:blip r:embed="rId2"/>
          <a:srcRect l="15332" b="25762"/>
          <a:stretch>
            <a:fillRect/>
          </a:stretch>
        </p:blipFill>
        <p:spPr>
          <a:xfrm flipV="1">
            <a:off x="0" y="-635"/>
            <a:ext cx="12192635" cy="6858635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255270" y="253365"/>
            <a:ext cx="11682095" cy="6351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algn="ctr" rotWithShape="0">
              <a:schemeClr val="tx1">
                <a:lumMod val="75000"/>
                <a:lumOff val="2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9" Type="http://schemas.openxmlformats.org/officeDocument/2006/relationships/tags" Target="../tags/tag114.xml"/><Relationship Id="rId18" Type="http://schemas.openxmlformats.org/officeDocument/2006/relationships/tags" Target="../tags/tag113.xml"/><Relationship Id="rId17" Type="http://schemas.openxmlformats.org/officeDocument/2006/relationships/tags" Target="../tags/tag112.xml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tags" Target="../tags/tag109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40000"/>
            <a:lumOff val="60000"/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16.xml"/><Relationship Id="rId3" Type="http://schemas.openxmlformats.org/officeDocument/2006/relationships/image" Target="../media/image3.png"/><Relationship Id="rId2" Type="http://schemas.openxmlformats.org/officeDocument/2006/relationships/tags" Target="../tags/tag115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8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23.xml"/><Relationship Id="rId3" Type="http://schemas.openxmlformats.org/officeDocument/2006/relationships/image" Target="../media/image3.png"/><Relationship Id="rId2" Type="http://schemas.openxmlformats.org/officeDocument/2006/relationships/tags" Target="../tags/tag12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5.xml"/><Relationship Id="rId7" Type="http://schemas.openxmlformats.org/officeDocument/2006/relationships/tags" Target="../tags/tag127.xml"/><Relationship Id="rId6" Type="http://schemas.openxmlformats.org/officeDocument/2006/relationships/image" Target="../media/image5.png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image" Target="../media/image3.png"/><Relationship Id="rId2" Type="http://schemas.openxmlformats.org/officeDocument/2006/relationships/tags" Target="../tags/tag124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133.xml"/><Relationship Id="rId6" Type="http://schemas.openxmlformats.org/officeDocument/2006/relationships/image" Target="../media/image3.png"/><Relationship Id="rId5" Type="http://schemas.openxmlformats.org/officeDocument/2006/relationships/tags" Target="../tags/tag132.xml"/><Relationship Id="rId4" Type="http://schemas.openxmlformats.org/officeDocument/2006/relationships/tags" Target="../tags/tag131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136.xml"/><Relationship Id="rId4" Type="http://schemas.openxmlformats.org/officeDocument/2006/relationships/image" Target="../media/image3.png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38.xml"/><Relationship Id="rId2" Type="http://schemas.openxmlformats.org/officeDocument/2006/relationships/image" Target="../media/image3.png"/><Relationship Id="rId1" Type="http://schemas.openxmlformats.org/officeDocument/2006/relationships/tags" Target="../tags/tag1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6096000" y="2839720"/>
            <a:ext cx="49822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省电模式唤醒</a:t>
            </a:r>
            <a:endParaRPr lang="zh-CN" altLang="en-US" sz="54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 descr="专业版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1143000"/>
            <a:ext cx="4572000" cy="4572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42595" y="227965"/>
            <a:ext cx="1912620" cy="4972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" name="文本框 56"/>
          <p:cNvSpPr txBox="1"/>
          <p:nvPr>
            <p:custDataLst>
              <p:tags r:id="rId1"/>
            </p:custDataLst>
          </p:nvPr>
        </p:nvSpPr>
        <p:spPr>
          <a:xfrm>
            <a:off x="6939280" y="3676015"/>
            <a:ext cx="2867025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省电模式配置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6" name="任意形状 55" descr="A0"/>
          <p:cNvSpPr/>
          <p:nvPr>
            <p:custDataLst>
              <p:tags r:id="rId2"/>
            </p:custDataLst>
          </p:nvPr>
        </p:nvSpPr>
        <p:spPr>
          <a:xfrm>
            <a:off x="7796530" y="1435259"/>
            <a:ext cx="817200" cy="1058400"/>
          </a:xfrm>
          <a:custGeom>
            <a:avLst/>
            <a:gdLst>
              <a:gd name="connsiteX0" fmla="*/ 316687 w 631918"/>
              <a:gd name="connsiteY0" fmla="*/ 0 h 736299"/>
              <a:gd name="connsiteX1" fmla="*/ 631918 w 631918"/>
              <a:gd name="connsiteY1" fmla="*/ 309389 h 736299"/>
              <a:gd name="connsiteX2" fmla="*/ 631918 w 631918"/>
              <a:gd name="connsiteY2" fmla="*/ 736299 h 736299"/>
              <a:gd name="connsiteX3" fmla="*/ 442195 w 631918"/>
              <a:gd name="connsiteY3" fmla="*/ 736299 h 736299"/>
              <a:gd name="connsiteX4" fmla="*/ 442195 w 631918"/>
              <a:gd name="connsiteY4" fmla="*/ 312322 h 736299"/>
              <a:gd name="connsiteX5" fmla="*/ 316687 w 631918"/>
              <a:gd name="connsiteY5" fmla="*/ 170751 h 736299"/>
              <a:gd name="connsiteX6" fmla="*/ 189723 w 631918"/>
              <a:gd name="connsiteY6" fmla="*/ 312311 h 736299"/>
              <a:gd name="connsiteX7" fmla="*/ 189723 w 631918"/>
              <a:gd name="connsiteY7" fmla="*/ 736299 h 736299"/>
              <a:gd name="connsiteX8" fmla="*/ 0 w 631918"/>
              <a:gd name="connsiteY8" fmla="*/ 736299 h 736299"/>
              <a:gd name="connsiteX9" fmla="*/ 0 w 631918"/>
              <a:gd name="connsiteY9" fmla="*/ 309389 h 736299"/>
              <a:gd name="connsiteX10" fmla="*/ 316687 w 631918"/>
              <a:gd name="connsiteY10" fmla="*/ 0 h 736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1918" h="736299">
                <a:moveTo>
                  <a:pt x="316687" y="0"/>
                </a:moveTo>
                <a:cubicBezTo>
                  <a:pt x="485970" y="0"/>
                  <a:pt x="631918" y="110913"/>
                  <a:pt x="631918" y="309389"/>
                </a:cubicBezTo>
                <a:lnTo>
                  <a:pt x="631918" y="736299"/>
                </a:lnTo>
                <a:lnTo>
                  <a:pt x="442195" y="736299"/>
                </a:lnTo>
                <a:lnTo>
                  <a:pt x="442195" y="312322"/>
                </a:lnTo>
                <a:cubicBezTo>
                  <a:pt x="442195" y="224747"/>
                  <a:pt x="391121" y="170751"/>
                  <a:pt x="316687" y="170751"/>
                </a:cubicBezTo>
                <a:cubicBezTo>
                  <a:pt x="242264" y="170751"/>
                  <a:pt x="189723" y="224747"/>
                  <a:pt x="189723" y="312311"/>
                </a:cubicBezTo>
                <a:lnTo>
                  <a:pt x="189723" y="736299"/>
                </a:lnTo>
                <a:lnTo>
                  <a:pt x="0" y="736299"/>
                </a:lnTo>
                <a:lnTo>
                  <a:pt x="0" y="309389"/>
                </a:lnTo>
                <a:cubicBezTo>
                  <a:pt x="0" y="110913"/>
                  <a:pt x="147402" y="0"/>
                  <a:pt x="316687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sz="800"/>
          </a:p>
        </p:txBody>
      </p:sp>
      <p:sp>
        <p:nvSpPr>
          <p:cNvPr id="63" name="任意形状 62" descr="A2"/>
          <p:cNvSpPr/>
          <p:nvPr>
            <p:custDataLst>
              <p:tags r:id="rId3"/>
            </p:custDataLst>
          </p:nvPr>
        </p:nvSpPr>
        <p:spPr>
          <a:xfrm>
            <a:off x="8882223" y="1435259"/>
            <a:ext cx="817200" cy="1058400"/>
          </a:xfrm>
          <a:custGeom>
            <a:avLst/>
            <a:gdLst>
              <a:gd name="connsiteX0" fmla="*/ 319975 w 638478"/>
              <a:gd name="connsiteY0" fmla="*/ 0 h 715701"/>
              <a:gd name="connsiteX1" fmla="*/ 638478 w 638478"/>
              <a:gd name="connsiteY1" fmla="*/ 305251 h 715701"/>
              <a:gd name="connsiteX2" fmla="*/ 526415 w 638478"/>
              <a:gd name="connsiteY2" fmla="*/ 545598 h 715701"/>
              <a:gd name="connsiteX3" fmla="*/ 379875 w 638478"/>
              <a:gd name="connsiteY3" fmla="*/ 715701 h 715701"/>
              <a:gd name="connsiteX4" fmla="*/ 146785 w 638478"/>
              <a:gd name="connsiteY4" fmla="*/ 715701 h 715701"/>
              <a:gd name="connsiteX5" fmla="*/ 392230 w 638478"/>
              <a:gd name="connsiteY5" fmla="*/ 430582 h 715701"/>
              <a:gd name="connsiteX6" fmla="*/ 446798 w 638478"/>
              <a:gd name="connsiteY6" fmla="*/ 303769 h 715701"/>
              <a:gd name="connsiteX7" fmla="*/ 319975 w 638478"/>
              <a:gd name="connsiteY7" fmla="*/ 172535 h 715701"/>
              <a:gd name="connsiteX8" fmla="*/ 191693 w 638478"/>
              <a:gd name="connsiteY8" fmla="*/ 306721 h 715701"/>
              <a:gd name="connsiteX9" fmla="*/ 0 w 638478"/>
              <a:gd name="connsiteY9" fmla="*/ 306721 h 715701"/>
              <a:gd name="connsiteX10" fmla="*/ 319975 w 638478"/>
              <a:gd name="connsiteY10" fmla="*/ 0 h 715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38478" h="715701">
                <a:moveTo>
                  <a:pt x="319975" y="0"/>
                </a:moveTo>
                <a:cubicBezTo>
                  <a:pt x="505776" y="0"/>
                  <a:pt x="638478" y="116486"/>
                  <a:pt x="638478" y="305251"/>
                </a:cubicBezTo>
                <a:cubicBezTo>
                  <a:pt x="638478" y="406990"/>
                  <a:pt x="598670" y="461547"/>
                  <a:pt x="526415" y="545598"/>
                </a:cubicBezTo>
                <a:lnTo>
                  <a:pt x="379875" y="715701"/>
                </a:lnTo>
                <a:lnTo>
                  <a:pt x="146785" y="715701"/>
                </a:lnTo>
                <a:lnTo>
                  <a:pt x="392230" y="430582"/>
                </a:lnTo>
                <a:cubicBezTo>
                  <a:pt x="430568" y="384870"/>
                  <a:pt x="446798" y="352422"/>
                  <a:pt x="446798" y="303769"/>
                </a:cubicBezTo>
                <a:cubicBezTo>
                  <a:pt x="446798" y="225622"/>
                  <a:pt x="401073" y="172535"/>
                  <a:pt x="319975" y="172535"/>
                </a:cubicBezTo>
                <a:cubicBezTo>
                  <a:pt x="256563" y="172535"/>
                  <a:pt x="191693" y="204982"/>
                  <a:pt x="191693" y="306721"/>
                </a:cubicBezTo>
                <a:lnTo>
                  <a:pt x="0" y="306721"/>
                </a:lnTo>
                <a:cubicBezTo>
                  <a:pt x="0" y="115028"/>
                  <a:pt x="140089" y="12"/>
                  <a:pt x="319975" y="0"/>
                </a:cubicBezTo>
                <a:close/>
              </a:path>
            </a:pathLst>
          </a:custGeom>
          <a:solidFill>
            <a:schemeClr val="accent2"/>
          </a:solidFill>
          <a:ln w="1032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>
            <a:off x="2633285" y="1494314"/>
            <a:ext cx="1825200" cy="109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505" h="1365">
                <a:moveTo>
                  <a:pt x="2198" y="0"/>
                </a:moveTo>
                <a:lnTo>
                  <a:pt x="2505" y="0"/>
                </a:lnTo>
                <a:lnTo>
                  <a:pt x="2505" y="1365"/>
                </a:lnTo>
                <a:lnTo>
                  <a:pt x="2127" y="1365"/>
                </a:lnTo>
                <a:lnTo>
                  <a:pt x="2127" y="557"/>
                </a:lnTo>
                <a:cubicBezTo>
                  <a:pt x="1988" y="686"/>
                  <a:pt x="1825" y="782"/>
                  <a:pt x="1637" y="844"/>
                </a:cubicBezTo>
                <a:lnTo>
                  <a:pt x="1637" y="500"/>
                </a:lnTo>
                <a:cubicBezTo>
                  <a:pt x="1736" y="468"/>
                  <a:pt x="1844" y="406"/>
                  <a:pt x="1960" y="316"/>
                </a:cubicBezTo>
                <a:cubicBezTo>
                  <a:pt x="2075" y="226"/>
                  <a:pt x="2155" y="120"/>
                  <a:pt x="2198" y="0"/>
                </a:cubicBezTo>
                <a:close/>
                <a:moveTo>
                  <a:pt x="641" y="0"/>
                </a:moveTo>
                <a:cubicBezTo>
                  <a:pt x="833" y="0"/>
                  <a:pt x="982" y="68"/>
                  <a:pt x="1090" y="205"/>
                </a:cubicBezTo>
                <a:cubicBezTo>
                  <a:pt x="1219" y="367"/>
                  <a:pt x="1283" y="635"/>
                  <a:pt x="1283" y="1009"/>
                </a:cubicBezTo>
                <a:cubicBezTo>
                  <a:pt x="1283" y="1138"/>
                  <a:pt x="1275" y="1254"/>
                  <a:pt x="1260" y="1358"/>
                </a:cubicBezTo>
                <a:lnTo>
                  <a:pt x="1259" y="1365"/>
                </a:lnTo>
                <a:lnTo>
                  <a:pt x="872" y="1365"/>
                </a:lnTo>
                <a:lnTo>
                  <a:pt x="873" y="1351"/>
                </a:lnTo>
                <a:cubicBezTo>
                  <a:pt x="882" y="1261"/>
                  <a:pt x="887" y="1147"/>
                  <a:pt x="887" y="1009"/>
                </a:cubicBezTo>
                <a:cubicBezTo>
                  <a:pt x="887" y="778"/>
                  <a:pt x="875" y="618"/>
                  <a:pt x="852" y="532"/>
                </a:cubicBezTo>
                <a:cubicBezTo>
                  <a:pt x="828" y="445"/>
                  <a:pt x="799" y="387"/>
                  <a:pt x="763" y="358"/>
                </a:cubicBezTo>
                <a:cubicBezTo>
                  <a:pt x="728" y="329"/>
                  <a:pt x="687" y="314"/>
                  <a:pt x="641" y="314"/>
                </a:cubicBezTo>
                <a:cubicBezTo>
                  <a:pt x="596" y="314"/>
                  <a:pt x="555" y="329"/>
                  <a:pt x="519" y="358"/>
                </a:cubicBezTo>
                <a:cubicBezTo>
                  <a:pt x="483" y="387"/>
                  <a:pt x="455" y="439"/>
                  <a:pt x="435" y="515"/>
                </a:cubicBezTo>
                <a:cubicBezTo>
                  <a:pt x="409" y="613"/>
                  <a:pt x="396" y="778"/>
                  <a:pt x="396" y="1009"/>
                </a:cubicBezTo>
                <a:cubicBezTo>
                  <a:pt x="396" y="1154"/>
                  <a:pt x="401" y="1271"/>
                  <a:pt x="410" y="1359"/>
                </a:cubicBezTo>
                <a:lnTo>
                  <a:pt x="411" y="1365"/>
                </a:lnTo>
                <a:lnTo>
                  <a:pt x="22" y="1365"/>
                </a:lnTo>
                <a:lnTo>
                  <a:pt x="21" y="1355"/>
                </a:lnTo>
                <a:cubicBezTo>
                  <a:pt x="7" y="1252"/>
                  <a:pt x="0" y="1136"/>
                  <a:pt x="0" y="1005"/>
                </a:cubicBezTo>
                <a:cubicBezTo>
                  <a:pt x="0" y="633"/>
                  <a:pt x="65" y="366"/>
                  <a:pt x="194" y="202"/>
                </a:cubicBezTo>
                <a:cubicBezTo>
                  <a:pt x="301" y="67"/>
                  <a:pt x="450" y="0"/>
                  <a:pt x="641" y="0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2383790" y="3676015"/>
            <a:ext cx="2324100" cy="1116965"/>
          </a:xfrm>
          <a:prstGeom prst="rect">
            <a:avLst/>
          </a:prstGeom>
          <a:noFill/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10000"/>
              </a:lnSpc>
            </a:pPr>
            <a:r>
              <a:rPr lang="zh-CN" altLang="en-US" sz="2400" b="1" spc="3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Arial" panose="020B0604020202020204" pitchFamily="34" charset="0"/>
              </a:rPr>
              <a:t>省电模式介绍</a:t>
            </a:r>
            <a:endParaRPr lang="zh-CN" altLang="en-US" sz="2400" b="1" spc="30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111885" y="330200"/>
            <a:ext cx="346392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lang="zh-CN" altLang="en-US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Arial" panose="020B0604020202020204" pitchFamily="34" charset="0"/>
              </a:rPr>
              <a:t>省电模式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介绍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16915" y="1054735"/>
            <a:ext cx="10427335" cy="12693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170000"/>
              </a:lnSpc>
            </a:pP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省电模式的主要目的是降低设备的功耗，通常在依赖电池供电</a:t>
            </a:r>
            <a:r>
              <a:rPr 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的</a:t>
            </a: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、资源有限</a:t>
            </a:r>
            <a:r>
              <a:rPr 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的</a:t>
            </a: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、需要长期运行的设备中使用。通过减少功耗和延长电池寿命，可以提高设备的稳定性、可靠性和能效性能。</a:t>
            </a:r>
            <a:endParaRPr sz="18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02815" y="2657475"/>
            <a:ext cx="7785735" cy="283273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noAutofit/>
          </a:bodyPr>
          <a:p>
            <a:pPr indent="0" algn="ctr" fontAlgn="t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如果电池是</a:t>
            </a:r>
            <a:r>
              <a:rPr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3000mAh</a:t>
            </a:r>
            <a:r>
              <a:rPr lang="zh-CN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的容量</a:t>
            </a:r>
            <a:r>
              <a:rPr lang="en-US" sz="24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endParaRPr lang="en-US" sz="18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0" algn="ctr" fontAlgn="t">
              <a:lnSpc>
                <a:spcPct val="120000"/>
              </a:lnSpc>
              <a:buFont typeface="Arial" panose="020B0604020202020204" pitchFamily="34" charset="0"/>
              <a:buNone/>
            </a:pPr>
            <a:endParaRPr lang="en-US" sz="18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0" algn="ctr" fontAlgn="t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假设</a:t>
            </a: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正常工作模式功耗有50mA，那么</a:t>
            </a:r>
            <a:r>
              <a:rPr 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该</a:t>
            </a: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电池可以用</a:t>
            </a:r>
            <a:r>
              <a:rPr 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br>
              <a:rPr 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</a:b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3000mAh</a:t>
            </a:r>
            <a:r>
              <a:rPr 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/</a:t>
            </a:r>
            <a:r>
              <a:rPr 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50mA</a:t>
            </a:r>
            <a:r>
              <a:rPr 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=</a:t>
            </a:r>
            <a:r>
              <a:rPr 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60</a:t>
            </a:r>
            <a:r>
              <a:rPr 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h</a:t>
            </a:r>
            <a:r>
              <a:rPr 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= </a:t>
            </a:r>
            <a:r>
              <a:rPr lang="en-US" sz="18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2.5</a:t>
            </a:r>
            <a:r>
              <a:rPr lang="zh-CN" altLang="en-US" sz="18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天</a:t>
            </a:r>
            <a:r>
              <a:rPr lang="en-US" sz="18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endParaRPr lang="en-US" sz="18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0" algn="ctr" fontAlgn="t">
              <a:lnSpc>
                <a:spcPct val="120000"/>
              </a:lnSpc>
              <a:buFont typeface="Arial" panose="020B0604020202020204" pitchFamily="34" charset="0"/>
              <a:buNone/>
            </a:pPr>
            <a:endParaRPr sz="18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0" algn="ctr" fontAlgn="t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如果</a:t>
            </a:r>
            <a:r>
              <a:rPr 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是</a:t>
            </a: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省电模式，功耗</a:t>
            </a:r>
            <a:r>
              <a:rPr 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降</a:t>
            </a: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低为了1mA，那么</a:t>
            </a:r>
            <a:r>
              <a:rPr 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该</a:t>
            </a: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电池</a:t>
            </a: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可以用</a:t>
            </a:r>
            <a:r>
              <a:rPr 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br>
              <a:rPr 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</a:b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3000mAh</a:t>
            </a:r>
            <a:r>
              <a:rPr 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/</a:t>
            </a:r>
            <a:r>
              <a:rPr 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1mA</a:t>
            </a:r>
            <a:r>
              <a:rPr 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=</a:t>
            </a:r>
            <a:r>
              <a:rPr 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3000</a:t>
            </a:r>
            <a:r>
              <a:rPr 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</a:t>
            </a: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h</a:t>
            </a:r>
            <a:r>
              <a:rPr 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 = </a:t>
            </a:r>
            <a:r>
              <a:rPr lang="en-US" sz="18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125</a:t>
            </a:r>
            <a:r>
              <a:rPr lang="zh-CN" altLang="en-US" sz="1800" b="1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天</a:t>
            </a:r>
            <a:endParaRPr sz="18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  <a:p>
            <a:pPr indent="457200" algn="l" fontAlgn="t">
              <a:lnSpc>
                <a:spcPct val="90000"/>
              </a:lnSpc>
            </a:pP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824230" y="330200"/>
            <a:ext cx="3463925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lang="zh-CN" altLang="en-US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Arial" panose="020B0604020202020204" pitchFamily="34" charset="0"/>
              </a:rPr>
              <a:t>省电模式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介绍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31495" y="1038860"/>
            <a:ext cx="10605135" cy="954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457200" algn="l" fontAlgn="t">
              <a:lnSpc>
                <a:spcPct val="130000"/>
              </a:lnSpc>
            </a:pPr>
            <a:r>
              <a:rPr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GD32F4系列的MCU</a:t>
            </a: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系统复位或电源复位后，默认处于全功能状态且电源域全部处于供电状态。</a:t>
            </a:r>
            <a:r>
              <a:rPr lang="zh-CN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可以通过</a:t>
            </a:r>
            <a:r>
              <a:rPr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三种省电模式可以实现更低的功耗，它们</a:t>
            </a:r>
            <a:r>
              <a:rPr 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分别是</a:t>
            </a:r>
            <a:r>
              <a:rPr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是睡眠模式、深度睡眠模式和待机模式</a:t>
            </a:r>
            <a:r>
              <a:rPr lang="zh-CN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。</a:t>
            </a:r>
            <a:endParaRPr sz="18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762625" y="1821815"/>
            <a:ext cx="5904865" cy="473392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99415" y="2477770"/>
            <a:ext cx="4733925" cy="5803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t">
              <a:lnSpc>
                <a:spcPct val="90000"/>
              </a:lnSpc>
            </a:pP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在睡眠模式下，仅关闭Cortex®-M4的时钟</a:t>
            </a:r>
            <a:endParaRPr sz="18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53695" y="3429000"/>
            <a:ext cx="5408930" cy="1280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t">
              <a:lnSpc>
                <a:spcPct val="90000"/>
              </a:lnSpc>
            </a:pP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在深度睡眠模式下，1.2V 域中的所有时钟全部关闭，IRC16M、HXTAL 及 PLL 也全部被禁用。但是SRAM和寄存器中的内容被保留。</a:t>
            </a:r>
            <a:r>
              <a:rPr sz="1800">
                <a:highlight>
                  <a:srgbClr val="FFFF00"/>
                </a:highligh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刚退出深度睡眠模式时，IRC16M 被选中作为系统时钟</a:t>
            </a:r>
            <a:r>
              <a:rPr lang="zh-CN" altLang="en-US" sz="140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。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indent="457200" algn="l" fontAlgn="t">
              <a:lnSpc>
                <a:spcPct val="90000"/>
              </a:lnSpc>
            </a:pP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23215" y="5080000"/>
            <a:ext cx="5439410" cy="6146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t">
              <a:lnSpc>
                <a:spcPct val="90000"/>
              </a:lnSpc>
            </a:pP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在待机模式下，整个1.2V域全部停止供电，同时LD</a:t>
            </a:r>
            <a:r>
              <a:rPr lang="en-US"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O</a:t>
            </a:r>
            <a:r>
              <a:rPr sz="18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和包括IRC16M、HXTAL 和 PLL 也会被关闭。</a:t>
            </a:r>
            <a:endParaRPr sz="1800">
              <a:latin typeface="黑体" panose="02010609060101010101" charset="-122"/>
              <a:ea typeface="黑体" panose="02010609060101010101" charset="-122"/>
              <a:cs typeface="黑体" panose="02010609060101010101" charset="-122"/>
              <a:sym typeface="+mn-ea"/>
            </a:endParaRPr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/>
          <p:cNvSpPr txBox="1"/>
          <p:nvPr>
            <p:custDataLst>
              <p:tags r:id="rId1"/>
            </p:custDataLst>
          </p:nvPr>
        </p:nvSpPr>
        <p:spPr>
          <a:xfrm>
            <a:off x="2718435" y="2531755"/>
            <a:ext cx="1487170" cy="1240790"/>
          </a:xfrm>
          <a:prstGeom prst="rect">
            <a:avLst/>
          </a:prstGeom>
          <a:noFill/>
        </p:spPr>
        <p:txBody>
          <a:bodyPr wrap="square" lIns="90170" tIns="46990" rIns="90170" bIns="46990" rtlCol="0" anchor="ctr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7200" b="1" spc="200" dirty="0">
                <a:solidFill>
                  <a:srgbClr val="6096E6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02</a:t>
            </a:r>
            <a:endParaRPr lang="en-US" altLang="zh-CN" sz="7200" b="1" spc="200" dirty="0">
              <a:solidFill>
                <a:srgbClr val="6096E6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8" name="直接连接符 7"/>
          <p:cNvCxnSpPr/>
          <p:nvPr>
            <p:custDataLst>
              <p:tags r:id="rId2"/>
            </p:custDataLst>
          </p:nvPr>
        </p:nvCxnSpPr>
        <p:spPr>
          <a:xfrm>
            <a:off x="2940685" y="3772535"/>
            <a:ext cx="5309235" cy="508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>
            <p:custDataLst>
              <p:tags r:id="rId3"/>
            </p:custDataLst>
          </p:nvPr>
        </p:nvCxnSpPr>
        <p:spPr>
          <a:xfrm flipV="1">
            <a:off x="2940685" y="3763010"/>
            <a:ext cx="5847715" cy="508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1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4215765" y="2788285"/>
            <a:ext cx="5628640" cy="705485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4800">
                <a:solidFill>
                  <a:srgbClr val="6096E6"/>
                </a:solidFill>
                <a:sym typeface="Arial" panose="020B0604020202020204" pitchFamily="34" charset="0"/>
              </a:rPr>
              <a:t>省电模式操作流程</a:t>
            </a:r>
            <a:endParaRPr lang="zh-CN" altLang="en-US" sz="4800">
              <a:solidFill>
                <a:srgbClr val="6096E6"/>
              </a:solidFill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42595" y="227965"/>
            <a:ext cx="1912620" cy="49720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940685" y="39293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以板载按键</a:t>
            </a:r>
            <a:r>
              <a:rPr lang="en-US" altLang="zh-CN"/>
              <a:t>KEY_UP</a:t>
            </a:r>
            <a:r>
              <a:rPr lang="zh-CN" altLang="en-US"/>
              <a:t>作为唤醒案例</a:t>
            </a:r>
            <a:endParaRPr lang="zh-CN" altLang="en-US"/>
          </a:p>
        </p:txBody>
      </p:sp>
    </p:spTree>
    <p:custDataLst>
      <p:tags r:id="rId7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 descr="32313535353437353b32313535353435333bc8cecef1c6ecd6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" y="213360"/>
            <a:ext cx="664210" cy="664210"/>
          </a:xfrm>
          <a:prstGeom prst="rect">
            <a:avLst/>
          </a:prstGeom>
        </p:spPr>
      </p:pic>
      <p:cxnSp>
        <p:nvCxnSpPr>
          <p:cNvPr id="33" name="直接连接符 32"/>
          <p:cNvCxnSpPr/>
          <p:nvPr/>
        </p:nvCxnSpPr>
        <p:spPr>
          <a:xfrm>
            <a:off x="531495" y="873125"/>
            <a:ext cx="4044315" cy="57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808990" y="355600"/>
            <a:ext cx="3766820" cy="52197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>
              <a:defRPr/>
            </a:pPr>
            <a:r>
              <a:rPr lang="zh-CN" altLang="en-US" sz="2800" b="1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sym typeface="Arial" panose="020B0604020202020204" pitchFamily="34" charset="0"/>
              </a:rPr>
              <a:t>省电模式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的操作</a:t>
            </a:r>
            <a:r>
              <a:rPr kumimoji="0" lang="zh-CN" altLang="en-US" sz="2800" b="1" i="0" kern="1200" cap="none" spc="0" normalizeH="0" baseline="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微软雅黑" panose="020B0503020204020204" pitchFamily="34" charset="-122"/>
                <a:cs typeface="+mn-cs"/>
              </a:rPr>
              <a:t>流程</a:t>
            </a:r>
            <a:endParaRPr kumimoji="0" lang="zh-CN" altLang="en-US" sz="2800" b="1" i="0" kern="1200" cap="none" spc="0" normalizeH="0" baseline="0" noProof="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1" name="圆角矩形 230"/>
          <p:cNvSpPr/>
          <p:nvPr>
            <p:custDataLst>
              <p:tags r:id="rId2"/>
            </p:custDataLst>
          </p:nvPr>
        </p:nvSpPr>
        <p:spPr>
          <a:xfrm>
            <a:off x="4575810" y="1116965"/>
            <a:ext cx="2865120" cy="91249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3200"/>
              <a:t>配置省电模式</a:t>
            </a:r>
            <a:endParaRPr lang="zh-CN" altLang="en-US" sz="3200"/>
          </a:p>
        </p:txBody>
      </p:sp>
      <p:pic>
        <p:nvPicPr>
          <p:cNvPr id="234" name="图片 23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638030" y="381635"/>
            <a:ext cx="1912620" cy="4972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54050" y="2029460"/>
            <a:ext cx="10447020" cy="46697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0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void PMU_config(char mode)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{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rcu_periph_clock_enable(RCU_PMU);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switch(mode)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{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case 0: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    //睡眠模式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    pmu_to_sleepmode(WFI_CMD);  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    break;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case 1: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    //深度睡眠模式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    pmu_to_deepsleepmode(PMU_LDO_LOWPOWER, PMU_LOWDRIVER_ENABLE, WFI_CMD);  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    break;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case 2: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	//使用WKUP(PA0)引脚为唤醒引脚，只有待机模式使用到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    pmu_wakeup_pin_enable();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    //待机模式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    pmu_to_standbymode(WFI_CMD);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        break;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    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    }   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00000"/>
              </a:lnSpc>
            </a:pPr>
            <a:r>
              <a:rPr sz="1200" spc="15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sym typeface="+mn-ea"/>
              </a:rPr>
              <a:t>}</a:t>
            </a:r>
            <a:endParaRPr sz="1200" spc="150">
              <a:solidFill>
                <a:schemeClr val="tx1">
                  <a:lumMod val="75000"/>
                  <a:lumOff val="2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文本框 57"/>
          <p:cNvSpPr txBox="1"/>
          <p:nvPr/>
        </p:nvSpPr>
        <p:spPr>
          <a:xfrm>
            <a:off x="3329305" y="252539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5500" b="1">
                <a:solidFill>
                  <a:srgbClr val="3572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谢谢大家</a:t>
            </a:r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2706370" y="355282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69005" y="1702435"/>
            <a:ext cx="5527040" cy="937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endParaRPr lang="zh-CN" altLang="en-US" sz="5500" b="1">
              <a:solidFill>
                <a:srgbClr val="35729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6370" y="3554095"/>
            <a:ext cx="67716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1600" cap="all">
                <a:solidFill>
                  <a:srgbClr val="35729C">
                    <a:alpha val="50000"/>
                  </a:srgbClr>
                </a:solidFill>
                <a:uFillTx/>
                <a:cs typeface="微软雅黑" panose="020B0503020204020204" pitchFamily="34" charset="-122"/>
              </a:rPr>
              <a:t>Thank you for your attention</a:t>
            </a:r>
            <a:endParaRPr lang="zh-CN" altLang="en-US" sz="1600" cap="all">
              <a:solidFill>
                <a:srgbClr val="35729C">
                  <a:alpha val="50000"/>
                </a:srgbClr>
              </a:solidFill>
              <a:uFillTx/>
              <a:cs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12115" y="381635"/>
            <a:ext cx="1912620" cy="4972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7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18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198924_4*l_h_i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19.xml><?xml version="1.0" encoding="utf-8"?>
<p:tagLst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198924_4*l_h_i*1_2_2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20.xml><?xml version="1.0" encoding="utf-8"?>
<p:tagLst xmlns:p="http://schemas.openxmlformats.org/presentationml/2006/main">
  <p:tag name="KSO_WM_UNIT_DIAGRAM_MODELTYPE" val="stripeEnum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PLACING_PICTURE_MD4" val="0"/>
  <p:tag name="KSO_WM_DIAGRAM_GROUP_CODE" val="l1-1"/>
  <p:tag name="KSO_WM_UNIT_TYPE" val="l_h_a"/>
  <p:tag name="KSO_WM_UNIT_INDEX" val="1_2_1"/>
  <p:tag name="KSO_WM_UNIT_ID" val="diagram20198924_4*l_h_a*1_2_1"/>
  <p:tag name="KSO_WM_TEMPLATE_CATEGORY" val="diagram"/>
  <p:tag name="KSO_WM_TEMPLATE_INDEX" val="20198924"/>
  <p:tag name="KSO_WM_UNIT_LAYERLEVEL" val="1_1_1"/>
  <p:tag name="KSO_WM_TAG_VERSION" val="1.0"/>
  <p:tag name="KSO_WM_BEAUTIFY_FLAG" val="#wm#"/>
  <p:tag name="KSO_WM_UNIT_PRESET_TEXT" val="添加标题"/>
  <p:tag name="KSO_WM_UNIT_TEXT_FILL_FORE_SCHEMECOLOR_INDEX_BRIGHTNESS" val="0.35"/>
  <p:tag name="KSO_WM_UNIT_TEXT_FILL_FORE_SCHEMECOLOR_INDEX" val="13"/>
  <p:tag name="KSO_WM_UNIT_TEXT_FILL_TYPE" val="1"/>
  <p:tag name="KSO_WM_UNIT_USESOURCEFORMAT_APPLY" val="1"/>
</p:tagLst>
</file>

<file path=ppt/tags/tag121.xml><?xml version="1.0" encoding="utf-8"?>
<p:tagLst xmlns:p="http://schemas.openxmlformats.org/presentationml/2006/main">
  <p:tag name="KSO_WM_BEAUTIFY_FLAG" val="#wm#"/>
  <p:tag name="KSO_WM_TEMPLATE_CATEGORY" val="diagram"/>
  <p:tag name="KSO_WM_TEMPLATE_INDEX" val="20198924"/>
  <p:tag name="KSO_WM_SLIDE_ID" val="diagram20198924_3"/>
  <p:tag name="KSO_WM_TEMPLATE_SUBCATEGORY" val="22"/>
  <p:tag name="KSO_WM_TEMPLATE_MASTER_TYPE" val="0"/>
  <p:tag name="KSO_WM_TEMPLATE_COLOR_TYPE" val="1"/>
  <p:tag name="KSO_WM_SLIDE_TYPE" val="text"/>
  <p:tag name="KSO_WM_SLIDE_SUBTYPE" val="diag"/>
  <p:tag name="KSO_WM_SLIDE_ITEM_CNT" val="5"/>
  <p:tag name="KSO_WM_SLIDE_INDEX" val="3"/>
  <p:tag name="KSO_WM_SLIDE_SIZE" val="900.387*205.958"/>
  <p:tag name="KSO_WM_SLIDE_POSITION" val="29.8064*167.021"/>
  <p:tag name="KSO_WM_DIAGRAM_GROUP_CODE" val="l1-1"/>
  <p:tag name="KSO_WM_SLIDE_DIAGTYPE" val="l"/>
  <p:tag name="KSO_WM_TAG_VERSION" val="1.0"/>
  <p:tag name="KSO_WM_SLIDE_LAYOUT" val="l"/>
  <p:tag name="KSO_WM_SLIDE_LAYOUT_CNT" val="1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8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  <p:tag name="KSO_WM_TEMPLATE_CATEGORY" val="custom"/>
  <p:tag name="KSO_WM_TEMPLATE_INDEX" val="20204357"/>
  <p:tag name="KSO_WM_UNIT_ID" val="custom20204357_7*e*1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TEMPLATE_CATEGORY" val="custom"/>
  <p:tag name="KSO_WM_TEMPLATE_INDEX" val="20204357"/>
  <p:tag name="KSO_WM_UNIT_ID" val="custom20204357_7*i*2"/>
  <p:tag name="KSO_WM_UNIT_TYPE" val="i"/>
  <p:tag name="KSO_WM_UNIT_INDEX" val="2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SCONTENTSTITLE" val="0"/>
  <p:tag name="KSO_WM_UNIT_NOCLEAR" val="0"/>
  <p:tag name="KSO_WM_UNIT_VALUE" val="9"/>
  <p:tag name="KSO_WM_UNIT_TYPE" val="a"/>
  <p:tag name="KSO_WM_UNIT_INDEX" val="1"/>
  <p:tag name="KSO_WM_UNIT_PRESET_TEXT" val="单击此处添加标题"/>
  <p:tag name="KSO_WM_TEMPLATE_CATEGORY" val="custom"/>
  <p:tag name="KSO_WM_TEMPLATE_INDEX" val="20204357"/>
  <p:tag name="KSO_WM_UNIT_ID" val="custom20204357_7*a*1"/>
  <p:tag name="KSO_WM_UNIT_ISNUMDGMTITLE" val="0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9.xml><?xml version="1.0" encoding="utf-8"?>
<p:tagLst xmlns:p="http://schemas.openxmlformats.org/presentationml/2006/main">
  <p:tag name="KSO_WPP_MARK_KEY" val="20655751-83b5-4141-9554-5e7661096423"/>
  <p:tag name="COMMONDATA" val="eyJjb3VudCI6OTksImhkaWQiOiIxYTQ5ZDdmMGZmNTU3NmU5NzgyYjI3MGJhMjAxODg2NCIsInVzZXJDb3VudCI6NH0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t">
        <a:noAutofit/>
      </a:bodyPr>
      <a:lstStyle>
        <a:defPPr indent="457200" algn="l" fontAlgn="t">
          <a:lnSpc>
            <a:spcPct val="90000"/>
          </a:lnSpc>
          <a:defRPr lang="zh-CN" altLang="en-US" sz="1400">
            <a:latin typeface="Arial" panose="020B0604020202020204" pitchFamily="34" charset="0"/>
            <a:cs typeface="Arial" panose="020B0604020202020204" pitchFamily="34" charset="0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1135</Words>
  <Application>WPS 演示</Application>
  <PresentationFormat>宽屏</PresentationFormat>
  <Paragraphs>67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Wingdings</vt:lpstr>
      <vt:lpstr>Arial</vt:lpstr>
      <vt:lpstr>黑体</vt:lpstr>
      <vt:lpstr>Arial Unicode MS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莫志宏</cp:lastModifiedBy>
  <cp:revision>485</cp:revision>
  <dcterms:created xsi:type="dcterms:W3CDTF">2019-06-19T02:08:00Z</dcterms:created>
  <dcterms:modified xsi:type="dcterms:W3CDTF">2023-07-19T12:50:54Z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2052-12.1.0.15120</vt:lpwstr>
  </property>
  <property fmtid="{D5CDD505-2E9C-101B-9397-08002B2CF9AE}" pid="3" name="KSOTemplateUUID">
    <vt:lpwstr>v1.0_mb_UVDUVYxfrMBBv8iemHXVyg==</vt:lpwstr>
  </property>
  <property fmtid="{D5CDD505-2E9C-101B-9397-08002B2CF9AE}" pid="4" name="ICV">
    <vt:lpwstr>F4FD8076E9E2473C85D3F1F44504090E</vt:lpwstr>
  </property>
  <property fmtid="{D5CDD505-2E9C-101B-9397-08002B2CF9AE}" pid="5" name="KSOSaveFontToCloudKey">
    <vt:lpwstr>203183318_embed</vt:lpwstr>
  </property>
</Properties>
</file>