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3"/>
  </p:handoutMasterIdLst>
  <p:sldIdLst>
    <p:sldId id="409" r:id="rId4"/>
    <p:sldId id="497" r:id="rId6"/>
    <p:sldId id="722" r:id="rId7"/>
    <p:sldId id="751" r:id="rId8"/>
    <p:sldId id="716" r:id="rId9"/>
    <p:sldId id="795" r:id="rId10"/>
    <p:sldId id="822" r:id="rId11"/>
    <p:sldId id="427" r:id="rId12"/>
  </p:sldIdLst>
  <p:sldSz cx="12192000" cy="6858000"/>
  <p:notesSz cx="6858000" cy="9144000"/>
  <p:embeddedFontLst>
    <p:embeddedFont>
      <p:font typeface="微软雅黑" panose="020B0503020204020204" pitchFamily="34" charset="-122"/>
      <p:regular r:id="rId18"/>
    </p:embeddedFont>
    <p:embeddedFont>
      <p:font typeface="黑体" panose="02010609060101010101" charset="-122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0" userDrawn="1">
          <p15:clr>
            <a:srgbClr val="A4A3A4"/>
          </p15:clr>
        </p15:guide>
        <p15:guide id="2" pos="37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6E6"/>
    <a:srgbClr val="58B6E5"/>
    <a:srgbClr val="F18870"/>
    <a:srgbClr val="FFBA55"/>
    <a:srgbClr val="56CA95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520"/>
        <p:guide pos="372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40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6.xml"/><Relationship Id="rId3" Type="http://schemas.openxmlformats.org/officeDocument/2006/relationships/image" Target="../media/image3.png"/><Relationship Id="rId2" Type="http://schemas.openxmlformats.org/officeDocument/2006/relationships/tags" Target="../tags/tag11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image" Target="../media/image3.png"/><Relationship Id="rId2" Type="http://schemas.openxmlformats.org/officeDocument/2006/relationships/tags" Target="../tags/tag12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27.xml"/><Relationship Id="rId5" Type="http://schemas.openxmlformats.org/officeDocument/2006/relationships/image" Target="../media/image5.png"/><Relationship Id="rId4" Type="http://schemas.openxmlformats.org/officeDocument/2006/relationships/tags" Target="../tags/tag126.xml"/><Relationship Id="rId3" Type="http://schemas.openxmlformats.org/officeDocument/2006/relationships/image" Target="../media/image3.png"/><Relationship Id="rId2" Type="http://schemas.openxmlformats.org/officeDocument/2006/relationships/tags" Target="../tags/tag12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33.xml"/><Relationship Id="rId6" Type="http://schemas.openxmlformats.org/officeDocument/2006/relationships/image" Target="../media/image3.png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5.xml"/><Relationship Id="rId3" Type="http://schemas.openxmlformats.org/officeDocument/2006/relationships/image" Target="../media/image3.png"/><Relationship Id="rId2" Type="http://schemas.openxmlformats.org/officeDocument/2006/relationships/tags" Target="../tags/tag13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7.xml"/><Relationship Id="rId3" Type="http://schemas.openxmlformats.org/officeDocument/2006/relationships/image" Target="../media/image3.png"/><Relationship Id="rId2" Type="http://schemas.openxmlformats.org/officeDocument/2006/relationships/tags" Target="../tags/tag13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9.xml"/><Relationship Id="rId2" Type="http://schemas.openxmlformats.org/officeDocument/2006/relationships/image" Target="../media/image3.png"/><Relationship Id="rId1" Type="http://schemas.openxmlformats.org/officeDocument/2006/relationships/tags" Target="../tags/tag1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628640" y="2771775"/>
            <a:ext cx="53981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真随机数生成器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832600" y="3676015"/>
            <a:ext cx="28670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随机数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应用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626235" y="3676015"/>
            <a:ext cx="28962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随机数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介绍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随机数介绍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1495" y="899795"/>
            <a:ext cx="10835005" cy="1479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50000"/>
              </a:lnSpc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随机数是在某个范围内以不可预测的方式产生的数值，并且没有明显的模式或趋势。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随机数分有真随机数和伪随机数。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相比软件生成的伪随机数，硬件随机数生成器具有更高的随机性和安全性，适用于加密、安全认证以及其他需要真随机数的应用场景。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4850" y="2667000"/>
            <a:ext cx="4684395" cy="287083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softEdge rad="76200"/>
          </a:effectLst>
        </p:spPr>
        <p:txBody>
          <a:bodyPr wrap="square" rtlCol="0" anchor="ctr" anchorCtr="0">
            <a:noAutofit/>
          </a:bodyPr>
          <a:p>
            <a:pPr indent="457200" algn="ctr" fontAlgn="t">
              <a:lnSpc>
                <a:spcPct val="140000"/>
              </a:lnSpc>
            </a:pPr>
            <a:r>
              <a:rPr lang="zh-CN" altLang="en-US" sz="1600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真随机数是通过物理过程或自然现象中的真实随机事件生成的</a:t>
            </a:r>
            <a:r>
              <a:rPr lang="zh-CN" altLang="en-US" sz="1600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随机种子</a:t>
            </a:r>
            <a:r>
              <a:rPr lang="zh-CN" altLang="en-US" sz="1600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。这些事件可能包括放射性衰变、电子噪声、温度变化等。真随机数具有完全的随机性，每个数值都是</a:t>
            </a:r>
            <a:r>
              <a:rPr lang="zh-CN" altLang="en-US" sz="16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独立且不可预测</a:t>
            </a:r>
            <a:r>
              <a:rPr lang="zh-CN" altLang="en-US" sz="1600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的。真随机数在密码学、模拟仿真和随机化算法等领域中非常重要。</a:t>
            </a:r>
            <a:endParaRPr lang="zh-CN" altLang="en-US" sz="1600"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72580" y="2667000"/>
            <a:ext cx="3837940" cy="2668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20000"/>
              </a:lnSpc>
            </a:pP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6443345" y="2667000"/>
            <a:ext cx="4923155" cy="287083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softEdge rad="76200"/>
          </a:effectLst>
        </p:spPr>
        <p:txBody>
          <a:bodyPr wrap="square" rtlCol="0" anchor="ctr" anchorCtr="0">
            <a:noAutofit/>
          </a:bodyPr>
          <a:p>
            <a:pPr indent="457200" algn="ctr" fontAlgn="t">
              <a:lnSpc>
                <a:spcPct val="120000"/>
              </a:lnSpc>
            </a:pPr>
            <a:r>
              <a:rPr lang="zh-CN" altLang="en-US" sz="1600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伪随机数是通过确定性算法生成的数列，其看起来是随机的，但实际上是由算法根据一个或多个种子值计算得出的。相同的种子值将会产生相同的数列，因此</a:t>
            </a:r>
            <a:r>
              <a:rPr lang="zh-CN" altLang="en-US" sz="16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伪随机数是可预测的</a:t>
            </a:r>
            <a:r>
              <a:rPr lang="zh-CN" altLang="en-US" sz="1600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。在计算机科学和大多数应用场景中，伪随机数已经足够满足需求。伪随机数生成器使用的算法通常以高效性和重现性为目标。</a:t>
            </a:r>
            <a:endParaRPr lang="zh-CN" altLang="en-US" sz="1600"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81990" y="330200"/>
            <a:ext cx="395224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真随机数生成器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058275" y="349059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664960" y="1270635"/>
            <a:ext cx="4977130" cy="38258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39725" y="2097405"/>
            <a:ext cx="5805805" cy="1088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30000"/>
              </a:lnSpc>
            </a:pP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随机数种子由模拟电路实现。模拟种子信号输出到一个线性反馈移位寄存器（LFSR）之后在该寄存器中转化成一个32位宽度的随机数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种子。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295" y="1122680"/>
            <a:ext cx="6096000" cy="730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t">
              <a:lnSpc>
                <a:spcPct val="130000"/>
              </a:lnSpc>
            </a:pP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硬件随机数生成器利用芯片内部的物理噪声源，如电源和温度波动等，通过噪声采样和处理来生成</a:t>
            </a:r>
            <a:r>
              <a:rPr lang="en-US" altLang="zh-CN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lang="en-US" altLang="zh-CN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32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位的真随机数</a:t>
            </a: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值。</a:t>
            </a:r>
            <a:endParaRPr lang="zh-CN" altLang="en-US" sz="16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9725" y="3352165"/>
            <a:ext cx="5895340" cy="2445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30000"/>
              </a:lnSpc>
              <a:buClrTx/>
              <a:buSzTx/>
              <a:buFontTx/>
            </a:pP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当有足够数量的种子被输入 LFSR 之后，LFSR 会输出 32 位数据到 TRNG_DATA 寄存器。</a:t>
            </a:r>
            <a:endParaRPr lang="zh-CN" altLang="en-US" sz="16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  <a:buClrTx/>
              <a:buSzTx/>
              <a:buFontTx/>
            </a:pP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同时，系统会监视模拟种子和 TRNG_CLK 时钟。一旦模拟种子发生错误或者时钟产生错误，TRNG_STAT 寄存器的相关状态位将被置 1。</a:t>
            </a:r>
            <a:endParaRPr lang="zh-CN" altLang="en-US" sz="16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  <a:buClrTx/>
              <a:buSzTx/>
              <a:buFontTx/>
            </a:pPr>
            <a:r>
              <a:rPr lang="zh-CN" altLang="en-US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 TRNG_CTL 寄存器的 IE 位同时被置 1 还将产生中断。</a:t>
            </a:r>
            <a:endParaRPr lang="zh-CN" altLang="en-US" sz="16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562864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随机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数操作流程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0685" y="395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以串口</a:t>
            </a:r>
            <a:r>
              <a:rPr lang="zh-CN"/>
              <a:t>打印随机</a:t>
            </a:r>
            <a:r>
              <a:rPr lang="zh-CN"/>
              <a:t>数</a:t>
            </a:r>
            <a:r>
              <a:rPr lang="zh-CN" altLang="en-US"/>
              <a:t>作为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随机数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的配置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4230" y="1083945"/>
            <a:ext cx="5271770" cy="4690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随机数初始化配置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ErrStatus trng_configuration(void)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ErrStatus reval = SUCCESS;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/* TRNG模块时钟使能 */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rcu_periph_clock_enable(RCU_TRNG);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/* TRNG寄存器复位 */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trng_deinit();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/* 使能TRNG */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trng_enable();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/* 检查TRNG工作状态 */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reval = trng_ready_check();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return reval;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21095" y="1083945"/>
            <a:ext cx="5720715" cy="5555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判断随机数状态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ErrStatus trng_ready_check(void)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uint32_t timeout = 0;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FlagStatus trng_flag = RESET;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ErrStatus reval = SUCCESS;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/* 检查随机数据是否有效 */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do {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timeout++;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trng_flag = trng_flag_get(TRNG_FLAG_DRDY);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} while((RESET == trng_flag) &amp;&amp; (0xFFFF &gt; timeout));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if(RESET == trng_flag) {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/* 就绪检查超时 */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reval = ERROR;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}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/* 返回检查状态 */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return reval;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t">
              <a:lnSpc>
                <a:spcPct val="90000"/>
              </a:lnSpc>
              <a:buClrTx/>
              <a:buSzTx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随机数的获取</a:t>
            </a:r>
            <a:endParaRPr kumimoji="0" lang="en-US" alt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98295" y="1610360"/>
            <a:ext cx="9142095" cy="4150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uint8_t trng_random_range_get(uint8_t min, uint8_t max)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if(SUCCESS == trng_ready_check()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 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return (trng_get_true_random_data() % (max - min + 1) + min);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} 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else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return 0;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2115" y="381635"/>
            <a:ext cx="1912620" cy="49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5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PP_MARK_KEY" val="20655751-83b5-4141-9554-5e7661096423"/>
  <p:tag name="COMMONDATA" val="eyJjb3VudCI6MTEyLCJoZGlkIjoiMWE0OWQ3ZjBmZjU1NzZlOTc4MmIyNzBiYTIwMTg4NjQiLCJ1c2VyQ291bnQiOjF9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1641</Words>
  <Application>WPS 演示</Application>
  <PresentationFormat>宽屏</PresentationFormat>
  <Paragraphs>94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莫志宏</cp:lastModifiedBy>
  <cp:revision>497</cp:revision>
  <dcterms:created xsi:type="dcterms:W3CDTF">2019-06-19T02:08:00Z</dcterms:created>
  <dcterms:modified xsi:type="dcterms:W3CDTF">2023-07-25T07:30:25Z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