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1" r:id="rId3"/>
  </p:sldMasterIdLst>
  <p:notesMasterIdLst>
    <p:notesMasterId r:id="rId5"/>
  </p:notesMasterIdLst>
  <p:handoutMasterIdLst>
    <p:handoutMasterId r:id="rId16"/>
  </p:handoutMasterIdLst>
  <p:sldIdLst>
    <p:sldId id="409" r:id="rId4"/>
    <p:sldId id="497" r:id="rId6"/>
    <p:sldId id="720" r:id="rId7"/>
    <p:sldId id="722" r:id="rId8"/>
    <p:sldId id="730" r:id="rId9"/>
    <p:sldId id="738" r:id="rId10"/>
    <p:sldId id="744" r:id="rId11"/>
    <p:sldId id="751" r:id="rId12"/>
    <p:sldId id="716" r:id="rId13"/>
    <p:sldId id="719" r:id="rId14"/>
    <p:sldId id="427" r:id="rId15"/>
  </p:sldIdLst>
  <p:sldSz cx="12192000" cy="6858000"/>
  <p:notesSz cx="6858000" cy="9144000"/>
  <p:embeddedFontLst>
    <p:embeddedFont>
      <p:font typeface="微软雅黑" panose="020B0503020204020204" pitchFamily="34" charset="-122"/>
      <p:regular r:id="rId21"/>
    </p:embeddedFont>
    <p:embeddedFont>
      <p:font typeface="Calibri" panose="020F0502020204030204" charset="0"/>
      <p:regular r:id="rId22"/>
      <p:bold r:id="rId23"/>
      <p:italic r:id="rId24"/>
      <p:boldItalic r:id="rId25"/>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 id="1" name="幸全" initials="幸全" lastIdx="1" clrIdx="0"/>
  <p:cmAuthor id="3" name="Author" initials="A" lastIdx="0" clrIdx="2"/>
  <p:cmAuthor id="4" name="USER" initials="U" lastIdx="2" clrIdx="3"/>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8B6E5"/>
    <a:srgbClr val="F18870"/>
    <a:srgbClr val="FFBA55"/>
    <a:srgbClr val="56CA95"/>
    <a:srgbClr val="6096E6"/>
    <a:srgbClr val="4691C0"/>
    <a:srgbClr val="70AACE"/>
    <a:srgbClr val="79C5D9"/>
    <a:srgbClr val="35729C"/>
    <a:srgbClr val="174A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99" d="100"/>
          <a:sy n="99" d="100"/>
        </p:scale>
        <p:origin x="84" y="582"/>
      </p:cViewPr>
      <p:guideLst>
        <p:guide orient="horz" pos="2494"/>
        <p:guide pos="388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5" Type="http://schemas.openxmlformats.org/officeDocument/2006/relationships/font" Target="fonts/font5.fntdata"/><Relationship Id="rId24" Type="http://schemas.openxmlformats.org/officeDocument/2006/relationships/font" Target="fonts/font4.fntdata"/><Relationship Id="rId23" Type="http://schemas.openxmlformats.org/officeDocument/2006/relationships/font" Target="fonts/font3.fntdata"/><Relationship Id="rId22" Type="http://schemas.openxmlformats.org/officeDocument/2006/relationships/font" Target="fonts/font2.fntdata"/><Relationship Id="rId21" Type="http://schemas.openxmlformats.org/officeDocument/2006/relationships/font" Target="fonts/font1.fntdata"/><Relationship Id="rId20" Type="http://schemas.openxmlformats.org/officeDocument/2006/relationships/commentAuthors" Target="commentAuthors.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handoutMaster" Target="handoutMasters/handoutMaster1.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7" Type="http://schemas.openxmlformats.org/officeDocument/2006/relationships/tags" Target="../tags/tag37.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6" Type="http://schemas.openxmlformats.org/officeDocument/2006/relationships/tags" Target="../tags/tag62.xml"/><Relationship Id="rId5" Type="http://schemas.openxmlformats.org/officeDocument/2006/relationships/tags" Target="../tags/tag61.xml"/><Relationship Id="rId4" Type="http://schemas.openxmlformats.org/officeDocument/2006/relationships/tags" Target="../tags/tag60.xml"/><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7" Type="http://schemas.openxmlformats.org/officeDocument/2006/relationships/tags" Target="../tags/tag73.xml"/><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9" Type="http://schemas.openxmlformats.org/officeDocument/2006/relationships/tags" Target="../tags/tag81.xml"/><Relationship Id="rId8" Type="http://schemas.openxmlformats.org/officeDocument/2006/relationships/tags" Target="../tags/tag80.xml"/><Relationship Id="rId7" Type="http://schemas.openxmlformats.org/officeDocument/2006/relationships/tags" Target="../tags/tag79.xml"/><Relationship Id="rId6" Type="http://schemas.openxmlformats.org/officeDocument/2006/relationships/tags" Target="../tags/tag78.xml"/><Relationship Id="rId5" Type="http://schemas.openxmlformats.org/officeDocument/2006/relationships/tags" Target="../tags/tag77.xml"/><Relationship Id="rId4" Type="http://schemas.openxmlformats.org/officeDocument/2006/relationships/tags" Target="../tags/tag76.xml"/><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4" Type="http://schemas.openxmlformats.org/officeDocument/2006/relationships/tags" Target="../tags/tag88.xml"/><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7" Type="http://schemas.openxmlformats.org/officeDocument/2006/relationships/tags" Target="../tags/tag94.xml"/><Relationship Id="rId6" Type="http://schemas.openxmlformats.org/officeDocument/2006/relationships/tags" Target="../tags/tag93.xml"/><Relationship Id="rId5" Type="http://schemas.openxmlformats.org/officeDocument/2006/relationships/tags" Target="../tags/tag92.xml"/><Relationship Id="rId4" Type="http://schemas.openxmlformats.org/officeDocument/2006/relationships/tags" Target="../tags/tag91.xml"/><Relationship Id="rId3" Type="http://schemas.openxmlformats.org/officeDocument/2006/relationships/tags" Target="../tags/tag90.xml"/><Relationship Id="rId2" Type="http://schemas.openxmlformats.org/officeDocument/2006/relationships/tags" Target="../tags/tag89.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6" Type="http://schemas.openxmlformats.org/officeDocument/2006/relationships/tags" Target="../tags/tag99.xml"/><Relationship Id="rId5" Type="http://schemas.openxmlformats.org/officeDocument/2006/relationships/tags" Target="../tags/tag98.xml"/><Relationship Id="rId4" Type="http://schemas.openxmlformats.org/officeDocument/2006/relationships/tags" Target="../tags/tag97.xml"/><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5" Type="http://schemas.openxmlformats.org/officeDocument/2006/relationships/tags" Target="../tags/tag103.xml"/><Relationship Id="rId4" Type="http://schemas.openxmlformats.org/officeDocument/2006/relationships/tags" Target="../tags/tag102.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6" Type="http://schemas.openxmlformats.org/officeDocument/2006/relationships/tags" Target="../tags/tag108.xml"/><Relationship Id="rId5" Type="http://schemas.openxmlformats.org/officeDocument/2006/relationships/tags" Target="../tags/tag107.xml"/><Relationship Id="rId4" Type="http://schemas.openxmlformats.org/officeDocument/2006/relationships/tags" Target="../tags/tag106.xml"/><Relationship Id="rId3" Type="http://schemas.openxmlformats.org/officeDocument/2006/relationships/tags" Target="../tags/tag105.xml"/><Relationship Id="rId2" Type="http://schemas.openxmlformats.org/officeDocument/2006/relationships/tags" Target="../tags/tag104.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14" name="图片 13" descr="资源 3"/>
          <p:cNvPicPr>
            <a:picLocks noChangeAspect="1"/>
          </p:cNvPicPr>
          <p:nvPr userDrawn="1"/>
        </p:nvPicPr>
        <p:blipFill>
          <a:blip r:embed="rId2"/>
          <a:srcRect l="15332" b="25762"/>
          <a:stretch>
            <a:fillRect/>
          </a:stretch>
        </p:blipFill>
        <p:spPr>
          <a:xfrm flipV="1">
            <a:off x="0" y="-635"/>
            <a:ext cx="12192635" cy="685863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pic>
        <p:nvPicPr>
          <p:cNvPr id="14" name="图片 13" descr="资源 3"/>
          <p:cNvPicPr>
            <a:picLocks noChangeAspect="1"/>
          </p:cNvPicPr>
          <p:nvPr userDrawn="1"/>
        </p:nvPicPr>
        <p:blipFill>
          <a:blip r:embed="rId2"/>
          <a:srcRect l="15332" b="25762"/>
          <a:stretch>
            <a:fillRect/>
          </a:stretch>
        </p:blipFill>
        <p:spPr>
          <a:xfrm flipV="1">
            <a:off x="0" y="-635"/>
            <a:ext cx="12192635" cy="6858635"/>
          </a:xfrm>
          <a:prstGeom prst="rect">
            <a:avLst/>
          </a:prstGeom>
        </p:spPr>
      </p:pic>
      <p:sp>
        <p:nvSpPr>
          <p:cNvPr id="2" name="矩形 1"/>
          <p:cNvSpPr/>
          <p:nvPr userDrawn="1"/>
        </p:nvSpPr>
        <p:spPr>
          <a:xfrm>
            <a:off x="255270" y="253365"/>
            <a:ext cx="11682095" cy="6351270"/>
          </a:xfrm>
          <a:prstGeom prst="rect">
            <a:avLst/>
          </a:prstGeom>
          <a:solidFill>
            <a:schemeClr val="bg1"/>
          </a:solidFill>
          <a:ln>
            <a:noFill/>
          </a:ln>
          <a:effectLst>
            <a:outerShdw blurRad="63500" algn="ctr" rotWithShape="0">
              <a:schemeClr val="tx1">
                <a:lumMod val="75000"/>
                <a:lumOff val="25000"/>
                <a:alpha val="6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Font typeface="Arial" panose="020B0604020202020204" pitchFamily="34" charset="0"/>
              <a:buNone/>
              <a:tabLst>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buFont typeface="Arial" panose="020B0604020202020204" pitchFamily="34" charset="0"/>
              <a:buChar char="●"/>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lvl1pPr>
              <a:defRPr baseline="0"/>
            </a:lvl1pPr>
          </a:lstStyle>
          <a:p>
            <a:r>
              <a:rPr lang="zh-CN" altLang="en-US"/>
              <a:t>单击此处编辑母版标题样式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14" name="图片 13" descr="资源 3"/>
          <p:cNvPicPr>
            <a:picLocks noChangeAspect="1"/>
          </p:cNvPicPr>
          <p:nvPr userDrawn="1"/>
        </p:nvPicPr>
        <p:blipFill>
          <a:blip r:embed="rId2"/>
          <a:srcRect l="15332" b="25762"/>
          <a:stretch>
            <a:fillRect/>
          </a:stretch>
        </p:blipFill>
        <p:spPr>
          <a:xfrm flipV="1">
            <a:off x="0" y="-635"/>
            <a:ext cx="12192635" cy="6858635"/>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pic>
        <p:nvPicPr>
          <p:cNvPr id="14" name="图片 13" descr="资源 3"/>
          <p:cNvPicPr>
            <a:picLocks noChangeAspect="1"/>
          </p:cNvPicPr>
          <p:nvPr userDrawn="1"/>
        </p:nvPicPr>
        <p:blipFill>
          <a:blip r:embed="rId2"/>
          <a:srcRect l="15332" b="25762"/>
          <a:stretch>
            <a:fillRect/>
          </a:stretch>
        </p:blipFill>
        <p:spPr>
          <a:xfrm flipV="1">
            <a:off x="0" y="-635"/>
            <a:ext cx="12192635" cy="6858635"/>
          </a:xfrm>
          <a:prstGeom prst="rect">
            <a:avLst/>
          </a:prstGeom>
        </p:spPr>
      </p:pic>
      <p:sp>
        <p:nvSpPr>
          <p:cNvPr id="2" name="矩形 1"/>
          <p:cNvSpPr/>
          <p:nvPr userDrawn="1"/>
        </p:nvSpPr>
        <p:spPr>
          <a:xfrm>
            <a:off x="654050" y="640715"/>
            <a:ext cx="10884535" cy="5576570"/>
          </a:xfrm>
          <a:prstGeom prst="rect">
            <a:avLst/>
          </a:prstGeom>
          <a:solidFill>
            <a:schemeClr val="bg1"/>
          </a:solidFill>
          <a:ln>
            <a:noFill/>
          </a:ln>
          <a:effectLst>
            <a:outerShdw blurRad="127000" algn="ctr" rotWithShape="0">
              <a:schemeClr val="tx1">
                <a:lumMod val="75000"/>
                <a:lumOff val="25000"/>
                <a:alpha val="7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pic>
        <p:nvPicPr>
          <p:cNvPr id="14" name="图片 13" descr="资源 3"/>
          <p:cNvPicPr>
            <a:picLocks noChangeAspect="1"/>
          </p:cNvPicPr>
          <p:nvPr userDrawn="1"/>
        </p:nvPicPr>
        <p:blipFill>
          <a:blip r:embed="rId2"/>
          <a:srcRect l="15332" b="25762"/>
          <a:stretch>
            <a:fillRect/>
          </a:stretch>
        </p:blipFill>
        <p:spPr>
          <a:xfrm flipV="1">
            <a:off x="0" y="-635"/>
            <a:ext cx="12192635" cy="6858635"/>
          </a:xfrm>
          <a:prstGeom prst="rect">
            <a:avLst/>
          </a:prstGeom>
        </p:spPr>
      </p:pic>
      <p:sp>
        <p:nvSpPr>
          <p:cNvPr id="2" name="矩形 1"/>
          <p:cNvSpPr/>
          <p:nvPr userDrawn="1"/>
        </p:nvSpPr>
        <p:spPr>
          <a:xfrm>
            <a:off x="255270" y="253365"/>
            <a:ext cx="11682095" cy="6351270"/>
          </a:xfrm>
          <a:prstGeom prst="rect">
            <a:avLst/>
          </a:prstGeom>
          <a:solidFill>
            <a:schemeClr val="bg1"/>
          </a:solidFill>
          <a:ln>
            <a:noFill/>
          </a:ln>
          <a:effectLst>
            <a:outerShdw blurRad="76200" algn="ctr" rotWithShape="0">
              <a:schemeClr val="tx1">
                <a:lumMod val="75000"/>
                <a:lumOff val="25000"/>
                <a:alpha val="4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Font typeface="Arial" panose="020B0604020202020204" pitchFamily="34" charset="0"/>
              <a:buNone/>
              <a:tabLst>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buFont typeface="Arial" panose="020B0604020202020204" pitchFamily="34" charset="0"/>
              <a:buChar char="●"/>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lvl1pPr>
              <a:defRPr baseline="0"/>
            </a:lvl1pPr>
          </a:lstStyle>
          <a:p>
            <a:r>
              <a:rPr lang="zh-CN" altLang="en-US"/>
              <a:t>单击此处编辑母版标题样式</a:t>
            </a:r>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tags" Target="../tags/tag57.xml"/><Relationship Id="rId17" Type="http://schemas.openxmlformats.org/officeDocument/2006/relationships/tags" Target="../tags/tag56.xml"/><Relationship Id="rId16" Type="http://schemas.openxmlformats.org/officeDocument/2006/relationships/tags" Target="../tags/tag55.xml"/><Relationship Id="rId15" Type="http://schemas.openxmlformats.org/officeDocument/2006/relationships/tags" Target="../tags/tag54.xml"/><Relationship Id="rId14" Type="http://schemas.openxmlformats.org/officeDocument/2006/relationships/tags" Target="../tags/tag53.xml"/><Relationship Id="rId13" Type="http://schemas.openxmlformats.org/officeDocument/2006/relationships/tags" Target="../tags/tag52.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0" Type="http://schemas.openxmlformats.org/officeDocument/2006/relationships/theme" Target="../theme/theme2.xml"/><Relationship Id="rId2" Type="http://schemas.openxmlformats.org/officeDocument/2006/relationships/slideLayout" Target="../slideLayouts/slideLayout14.xml"/><Relationship Id="rId19" Type="http://schemas.openxmlformats.org/officeDocument/2006/relationships/tags" Target="../tags/tag114.xml"/><Relationship Id="rId18" Type="http://schemas.openxmlformats.org/officeDocument/2006/relationships/tags" Target="../tags/tag113.xml"/><Relationship Id="rId17" Type="http://schemas.openxmlformats.org/officeDocument/2006/relationships/tags" Target="../tags/tag112.xml"/><Relationship Id="rId16" Type="http://schemas.openxmlformats.org/officeDocument/2006/relationships/tags" Target="../tags/tag111.xml"/><Relationship Id="rId15" Type="http://schemas.openxmlformats.org/officeDocument/2006/relationships/tags" Target="../tags/tag110.xml"/><Relationship Id="rId14" Type="http://schemas.openxmlformats.org/officeDocument/2006/relationships/tags" Target="../tags/tag109.xml"/><Relationship Id="rId13" Type="http://schemas.openxmlformats.org/officeDocument/2006/relationships/slideLayout" Target="../slideLayouts/slideLayout25.xml"/><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40000"/>
            <a:lumOff val="60000"/>
            <a:alpha val="51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Tree>
    <p:custDataLst>
      <p:tags r:id="rId18"/>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2">
            <a:lumMod val="40000"/>
            <a:lumOff val="60000"/>
            <a:alpha val="51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Tree>
    <p:custDataLst>
      <p:tags r:id="rId19"/>
    </p:custData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tags" Target="../tags/tag115.xml"/><Relationship Id="rId2" Type="http://schemas.openxmlformats.org/officeDocument/2006/relationships/image" Target="../media/image3.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8.xml"/><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tags" Target="../tags/tag116.xml"/></Relationships>
</file>

<file path=ppt/slides/_rels/slide3.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slideLayout" Target="../slideLayouts/slideLayout1.xml"/><Relationship Id="rId7" Type="http://schemas.openxmlformats.org/officeDocument/2006/relationships/tags" Target="../tags/tag126.xml"/><Relationship Id="rId6" Type="http://schemas.openxmlformats.org/officeDocument/2006/relationships/image" Target="../media/image3.png"/><Relationship Id="rId5" Type="http://schemas.openxmlformats.org/officeDocument/2006/relationships/tags" Target="../tags/tag125.xml"/><Relationship Id="rId4" Type="http://schemas.openxmlformats.org/officeDocument/2006/relationships/tags" Target="../tags/tag124.xml"/><Relationship Id="rId3" Type="http://schemas.openxmlformats.org/officeDocument/2006/relationships/tags" Target="../tags/tag123.xml"/><Relationship Id="rId2" Type="http://schemas.openxmlformats.org/officeDocument/2006/relationships/tags" Target="../tags/tag122.xml"/><Relationship Id="rId1" Type="http://schemas.openxmlformats.org/officeDocument/2006/relationships/tags" Target="../tags/tag121.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5.xml"/><Relationship Id="rId3" Type="http://schemas.openxmlformats.org/officeDocument/2006/relationships/tags" Target="../tags/tag127.xml"/><Relationship Id="rId2" Type="http://schemas.openxmlformats.org/officeDocument/2006/relationships/image" Target="../media/image3.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5.xml"/><Relationship Id="rId4" Type="http://schemas.openxmlformats.org/officeDocument/2006/relationships/tags" Target="../tags/tag129.xml"/><Relationship Id="rId3" Type="http://schemas.openxmlformats.org/officeDocument/2006/relationships/tags" Target="../tags/tag128.xml"/><Relationship Id="rId2" Type="http://schemas.openxmlformats.org/officeDocument/2006/relationships/image" Target="../media/image3.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5.xml"/><Relationship Id="rId4" Type="http://schemas.openxmlformats.org/officeDocument/2006/relationships/tags" Target="../tags/tag131.xml"/><Relationship Id="rId3" Type="http://schemas.openxmlformats.org/officeDocument/2006/relationships/tags" Target="../tags/tag130.xml"/><Relationship Id="rId2" Type="http://schemas.openxmlformats.org/officeDocument/2006/relationships/image" Target="../media/image3.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5.xml"/><Relationship Id="rId3" Type="http://schemas.openxmlformats.org/officeDocument/2006/relationships/tags" Target="../tags/tag132.xml"/><Relationship Id="rId2" Type="http://schemas.openxmlformats.org/officeDocument/2006/relationships/image" Target="../media/image3.pn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5.xml"/><Relationship Id="rId3" Type="http://schemas.openxmlformats.org/officeDocument/2006/relationships/tags" Target="../tags/tag133.xml"/><Relationship Id="rId2" Type="http://schemas.openxmlformats.org/officeDocument/2006/relationships/image" Target="../media/image3.png"/><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1.xml"/><Relationship Id="rId6" Type="http://schemas.openxmlformats.org/officeDocument/2006/relationships/tags" Target="../tags/tag138.xml"/><Relationship Id="rId5" Type="http://schemas.openxmlformats.org/officeDocument/2006/relationships/image" Target="../media/image3.png"/><Relationship Id="rId4" Type="http://schemas.openxmlformats.org/officeDocument/2006/relationships/tags" Target="../tags/tag137.xml"/><Relationship Id="rId3" Type="http://schemas.openxmlformats.org/officeDocument/2006/relationships/tags" Target="../tags/tag136.xml"/><Relationship Id="rId2" Type="http://schemas.openxmlformats.org/officeDocument/2006/relationships/tags" Target="../tags/tag135.xml"/><Relationship Id="rId1" Type="http://schemas.openxmlformats.org/officeDocument/2006/relationships/tags" Target="../tags/tag134.xml"/></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5.xml"/><Relationship Id="rId3" Type="http://schemas.openxmlformats.org/officeDocument/2006/relationships/tags" Target="../tags/tag139.xml"/><Relationship Id="rId2" Type="http://schemas.openxmlformats.org/officeDocument/2006/relationships/image" Target="../media/image3.png"/><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40.xml"/><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文本框 57"/>
          <p:cNvSpPr txBox="1"/>
          <p:nvPr/>
        </p:nvSpPr>
        <p:spPr>
          <a:xfrm>
            <a:off x="5126355" y="2529205"/>
            <a:ext cx="5905500" cy="922020"/>
          </a:xfrm>
          <a:prstGeom prst="rect">
            <a:avLst/>
          </a:prstGeom>
          <a:noFill/>
        </p:spPr>
        <p:txBody>
          <a:bodyPr wrap="square" rtlCol="0">
            <a:spAutoFit/>
          </a:bodyPr>
          <a:p>
            <a:r>
              <a:rPr lang="en-US" altLang="zh-CN" sz="5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PWM</a:t>
            </a:r>
            <a:r>
              <a:rPr lang="zh-CN" altLang="en-US" sz="5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原理介绍</a:t>
            </a:r>
            <a:endParaRPr lang="zh-CN" altLang="en-US" sz="5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6" name="图片 5" descr="专业版03"/>
          <p:cNvPicPr>
            <a:picLocks noChangeAspect="1"/>
          </p:cNvPicPr>
          <p:nvPr/>
        </p:nvPicPr>
        <p:blipFill>
          <a:blip r:embed="rId1"/>
          <a:stretch>
            <a:fillRect/>
          </a:stretch>
        </p:blipFill>
        <p:spPr>
          <a:xfrm>
            <a:off x="306705" y="1143000"/>
            <a:ext cx="4572000" cy="4572000"/>
          </a:xfrm>
          <a:prstGeom prst="rect">
            <a:avLst/>
          </a:prstGeom>
        </p:spPr>
      </p:pic>
      <p:pic>
        <p:nvPicPr>
          <p:cNvPr id="102" name="图片 101"/>
          <p:cNvPicPr>
            <a:picLocks noChangeAspect="1"/>
          </p:cNvPicPr>
          <p:nvPr/>
        </p:nvPicPr>
        <p:blipFill>
          <a:blip r:embed="rId2"/>
          <a:stretch>
            <a:fillRect/>
          </a:stretch>
        </p:blipFill>
        <p:spPr>
          <a:xfrm>
            <a:off x="306705" y="187325"/>
            <a:ext cx="2322830" cy="872490"/>
          </a:xfrm>
          <a:prstGeom prst="rect">
            <a:avLst/>
          </a:prstGeom>
          <a:noFill/>
          <a:ln w="9525">
            <a:noFill/>
          </a:ln>
        </p:spPr>
      </p:pic>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 name="文本框 56"/>
          <p:cNvSpPr txBox="1"/>
          <p:nvPr>
            <p:custDataLst>
              <p:tags r:id="rId1"/>
            </p:custDataLst>
          </p:nvPr>
        </p:nvSpPr>
        <p:spPr>
          <a:xfrm>
            <a:off x="6898640" y="3676015"/>
            <a:ext cx="3061335" cy="1116965"/>
          </a:xfrm>
          <a:prstGeom prst="rect">
            <a:avLst/>
          </a:prstGeom>
          <a:noFill/>
        </p:spPr>
        <p:txBody>
          <a:bodyPr wrap="square" lIns="90000" tIns="46800" rIns="90000" bIns="46800" anchor="t"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gn="r">
              <a:lnSpc>
                <a:spcPct val="110000"/>
              </a:lnSpc>
            </a:pPr>
            <a:r>
              <a:rPr lang="en-US" altLang="zh-CN" sz="2400" b="1" spc="300">
                <a:solidFill>
                  <a:schemeClr val="tx1">
                    <a:lumMod val="65000"/>
                    <a:lumOff val="35000"/>
                  </a:schemeClr>
                </a:solidFill>
                <a:latin typeface="Arial" panose="020B0604020202020204" pitchFamily="34" charset="0"/>
                <a:ea typeface="微软雅黑" panose="020B0503020204020204" pitchFamily="34" charset="-122"/>
                <a:cs typeface="+mj-cs"/>
                <a:sym typeface="Arial" panose="020B0604020202020204" pitchFamily="34" charset="0"/>
              </a:rPr>
              <a:t>PWM</a:t>
            </a:r>
            <a:r>
              <a:rPr lang="zh-CN" altLang="en-US" sz="2400" b="1" spc="300">
                <a:solidFill>
                  <a:schemeClr val="tx1">
                    <a:lumMod val="65000"/>
                    <a:lumOff val="35000"/>
                  </a:schemeClr>
                </a:solidFill>
                <a:latin typeface="Arial" panose="020B0604020202020204" pitchFamily="34" charset="0"/>
                <a:ea typeface="微软雅黑" panose="020B0503020204020204" pitchFamily="34" charset="-122"/>
                <a:cs typeface="+mj-cs"/>
                <a:sym typeface="Arial" panose="020B0604020202020204" pitchFamily="34" charset="0"/>
              </a:rPr>
              <a:t>操作流程</a:t>
            </a:r>
            <a:endParaRPr lang="zh-CN" altLang="en-US" sz="2400" b="1" spc="300">
              <a:solidFill>
                <a:schemeClr val="tx1">
                  <a:lumMod val="65000"/>
                  <a:lumOff val="35000"/>
                </a:schemeClr>
              </a:solidFill>
              <a:latin typeface="Arial" panose="020B0604020202020204" pitchFamily="34" charset="0"/>
              <a:ea typeface="微软雅黑" panose="020B0503020204020204" pitchFamily="34" charset="-122"/>
              <a:cs typeface="+mj-cs"/>
              <a:sym typeface="Arial" panose="020B0604020202020204" pitchFamily="34" charset="0"/>
            </a:endParaRPr>
          </a:p>
        </p:txBody>
      </p:sp>
      <p:sp>
        <p:nvSpPr>
          <p:cNvPr id="56" name="任意形状 55" descr="A0"/>
          <p:cNvSpPr/>
          <p:nvPr>
            <p:custDataLst>
              <p:tags r:id="rId2"/>
            </p:custDataLst>
          </p:nvPr>
        </p:nvSpPr>
        <p:spPr>
          <a:xfrm>
            <a:off x="7796530" y="1435259"/>
            <a:ext cx="817200" cy="1058400"/>
          </a:xfrm>
          <a:custGeom>
            <a:avLst/>
            <a:gdLst>
              <a:gd name="connsiteX0" fmla="*/ 316687 w 631918"/>
              <a:gd name="connsiteY0" fmla="*/ 0 h 736299"/>
              <a:gd name="connsiteX1" fmla="*/ 631918 w 631918"/>
              <a:gd name="connsiteY1" fmla="*/ 309389 h 736299"/>
              <a:gd name="connsiteX2" fmla="*/ 631918 w 631918"/>
              <a:gd name="connsiteY2" fmla="*/ 736299 h 736299"/>
              <a:gd name="connsiteX3" fmla="*/ 442195 w 631918"/>
              <a:gd name="connsiteY3" fmla="*/ 736299 h 736299"/>
              <a:gd name="connsiteX4" fmla="*/ 442195 w 631918"/>
              <a:gd name="connsiteY4" fmla="*/ 312322 h 736299"/>
              <a:gd name="connsiteX5" fmla="*/ 316687 w 631918"/>
              <a:gd name="connsiteY5" fmla="*/ 170751 h 736299"/>
              <a:gd name="connsiteX6" fmla="*/ 189723 w 631918"/>
              <a:gd name="connsiteY6" fmla="*/ 312311 h 736299"/>
              <a:gd name="connsiteX7" fmla="*/ 189723 w 631918"/>
              <a:gd name="connsiteY7" fmla="*/ 736299 h 736299"/>
              <a:gd name="connsiteX8" fmla="*/ 0 w 631918"/>
              <a:gd name="connsiteY8" fmla="*/ 736299 h 736299"/>
              <a:gd name="connsiteX9" fmla="*/ 0 w 631918"/>
              <a:gd name="connsiteY9" fmla="*/ 309389 h 736299"/>
              <a:gd name="connsiteX10" fmla="*/ 316687 w 631918"/>
              <a:gd name="connsiteY10" fmla="*/ 0 h 736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1918" h="736299">
                <a:moveTo>
                  <a:pt x="316687" y="0"/>
                </a:moveTo>
                <a:cubicBezTo>
                  <a:pt x="485970" y="0"/>
                  <a:pt x="631918" y="110913"/>
                  <a:pt x="631918" y="309389"/>
                </a:cubicBezTo>
                <a:lnTo>
                  <a:pt x="631918" y="736299"/>
                </a:lnTo>
                <a:lnTo>
                  <a:pt x="442195" y="736299"/>
                </a:lnTo>
                <a:lnTo>
                  <a:pt x="442195" y="312322"/>
                </a:lnTo>
                <a:cubicBezTo>
                  <a:pt x="442195" y="224747"/>
                  <a:pt x="391121" y="170751"/>
                  <a:pt x="316687" y="170751"/>
                </a:cubicBezTo>
                <a:cubicBezTo>
                  <a:pt x="242264" y="170751"/>
                  <a:pt x="189723" y="224747"/>
                  <a:pt x="189723" y="312311"/>
                </a:cubicBezTo>
                <a:lnTo>
                  <a:pt x="189723" y="736299"/>
                </a:lnTo>
                <a:lnTo>
                  <a:pt x="0" y="736299"/>
                </a:lnTo>
                <a:lnTo>
                  <a:pt x="0" y="309389"/>
                </a:lnTo>
                <a:cubicBezTo>
                  <a:pt x="0" y="110913"/>
                  <a:pt x="147402" y="0"/>
                  <a:pt x="316687" y="0"/>
                </a:cubicBezTo>
                <a:close/>
              </a:path>
            </a:pathLst>
          </a:custGeom>
          <a:solidFill>
            <a:schemeClr val="accent2"/>
          </a:solidFill>
          <a:ln w="1032" cap="flat">
            <a:noFill/>
            <a:prstDash val="solid"/>
            <a:miter/>
          </a:ln>
        </p:spPr>
        <p:txBody>
          <a:bodyPr rtlCol="0" anchor="ctr"/>
          <a:lstStyle/>
          <a:p>
            <a:endParaRPr lang="zh-CN" altLang="en-US" sz="800"/>
          </a:p>
        </p:txBody>
      </p:sp>
      <p:sp>
        <p:nvSpPr>
          <p:cNvPr id="63" name="任意形状 62" descr="A2"/>
          <p:cNvSpPr/>
          <p:nvPr>
            <p:custDataLst>
              <p:tags r:id="rId3"/>
            </p:custDataLst>
          </p:nvPr>
        </p:nvSpPr>
        <p:spPr>
          <a:xfrm>
            <a:off x="8882223" y="1435259"/>
            <a:ext cx="817200" cy="1058400"/>
          </a:xfrm>
          <a:custGeom>
            <a:avLst/>
            <a:gdLst>
              <a:gd name="connsiteX0" fmla="*/ 319975 w 638478"/>
              <a:gd name="connsiteY0" fmla="*/ 0 h 715701"/>
              <a:gd name="connsiteX1" fmla="*/ 638478 w 638478"/>
              <a:gd name="connsiteY1" fmla="*/ 305251 h 715701"/>
              <a:gd name="connsiteX2" fmla="*/ 526415 w 638478"/>
              <a:gd name="connsiteY2" fmla="*/ 545598 h 715701"/>
              <a:gd name="connsiteX3" fmla="*/ 379875 w 638478"/>
              <a:gd name="connsiteY3" fmla="*/ 715701 h 715701"/>
              <a:gd name="connsiteX4" fmla="*/ 146785 w 638478"/>
              <a:gd name="connsiteY4" fmla="*/ 715701 h 715701"/>
              <a:gd name="connsiteX5" fmla="*/ 392230 w 638478"/>
              <a:gd name="connsiteY5" fmla="*/ 430582 h 715701"/>
              <a:gd name="connsiteX6" fmla="*/ 446798 w 638478"/>
              <a:gd name="connsiteY6" fmla="*/ 303769 h 715701"/>
              <a:gd name="connsiteX7" fmla="*/ 319975 w 638478"/>
              <a:gd name="connsiteY7" fmla="*/ 172535 h 715701"/>
              <a:gd name="connsiteX8" fmla="*/ 191693 w 638478"/>
              <a:gd name="connsiteY8" fmla="*/ 306721 h 715701"/>
              <a:gd name="connsiteX9" fmla="*/ 0 w 638478"/>
              <a:gd name="connsiteY9" fmla="*/ 306721 h 715701"/>
              <a:gd name="connsiteX10" fmla="*/ 319975 w 638478"/>
              <a:gd name="connsiteY10" fmla="*/ 0 h 715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8478" h="715701">
                <a:moveTo>
                  <a:pt x="319975" y="0"/>
                </a:moveTo>
                <a:cubicBezTo>
                  <a:pt x="505776" y="0"/>
                  <a:pt x="638478" y="116486"/>
                  <a:pt x="638478" y="305251"/>
                </a:cubicBezTo>
                <a:cubicBezTo>
                  <a:pt x="638478" y="406990"/>
                  <a:pt x="598670" y="461547"/>
                  <a:pt x="526415" y="545598"/>
                </a:cubicBezTo>
                <a:lnTo>
                  <a:pt x="379875" y="715701"/>
                </a:lnTo>
                <a:lnTo>
                  <a:pt x="146785" y="715701"/>
                </a:lnTo>
                <a:lnTo>
                  <a:pt x="392230" y="430582"/>
                </a:lnTo>
                <a:cubicBezTo>
                  <a:pt x="430568" y="384870"/>
                  <a:pt x="446798" y="352422"/>
                  <a:pt x="446798" y="303769"/>
                </a:cubicBezTo>
                <a:cubicBezTo>
                  <a:pt x="446798" y="225622"/>
                  <a:pt x="401073" y="172535"/>
                  <a:pt x="319975" y="172535"/>
                </a:cubicBezTo>
                <a:cubicBezTo>
                  <a:pt x="256563" y="172535"/>
                  <a:pt x="191693" y="204982"/>
                  <a:pt x="191693" y="306721"/>
                </a:cubicBezTo>
                <a:lnTo>
                  <a:pt x="0" y="306721"/>
                </a:lnTo>
                <a:cubicBezTo>
                  <a:pt x="0" y="115028"/>
                  <a:pt x="140089" y="12"/>
                  <a:pt x="319975" y="0"/>
                </a:cubicBezTo>
                <a:close/>
              </a:path>
            </a:pathLst>
          </a:custGeom>
          <a:solidFill>
            <a:schemeClr val="accent2"/>
          </a:solidFill>
          <a:ln w="1032" cap="flat">
            <a:noFill/>
            <a:prstDash val="solid"/>
            <a:miter/>
          </a:ln>
        </p:spPr>
        <p:txBody>
          <a:bodyPr rtlCol="0" anchor="ctr"/>
          <a:lstStyle/>
          <a:p>
            <a:endParaRPr lang="zh-CN" altLang="en-US"/>
          </a:p>
        </p:txBody>
      </p:sp>
      <p:sp>
        <p:nvSpPr>
          <p:cNvPr id="14" name="任意多边形 13"/>
          <p:cNvSpPr/>
          <p:nvPr/>
        </p:nvSpPr>
        <p:spPr>
          <a:xfrm>
            <a:off x="2633285" y="1494314"/>
            <a:ext cx="1825200" cy="1098000"/>
          </a:xfrm>
          <a:custGeom>
            <a:avLst/>
            <a:gdLst/>
            <a:ahLst/>
            <a:cxnLst>
              <a:cxn ang="3">
                <a:pos x="hc" y="t"/>
              </a:cxn>
              <a:cxn ang="cd2">
                <a:pos x="l" y="vc"/>
              </a:cxn>
              <a:cxn ang="cd4">
                <a:pos x="hc" y="b"/>
              </a:cxn>
              <a:cxn ang="0">
                <a:pos x="r" y="vc"/>
              </a:cxn>
            </a:cxnLst>
            <a:rect l="l" t="t" r="r" b="b"/>
            <a:pathLst>
              <a:path w="2505" h="1365">
                <a:moveTo>
                  <a:pt x="2198" y="0"/>
                </a:moveTo>
                <a:lnTo>
                  <a:pt x="2505" y="0"/>
                </a:lnTo>
                <a:lnTo>
                  <a:pt x="2505" y="1365"/>
                </a:lnTo>
                <a:lnTo>
                  <a:pt x="2127" y="1365"/>
                </a:lnTo>
                <a:lnTo>
                  <a:pt x="2127" y="557"/>
                </a:lnTo>
                <a:cubicBezTo>
                  <a:pt x="1988" y="686"/>
                  <a:pt x="1825" y="782"/>
                  <a:pt x="1637" y="844"/>
                </a:cubicBezTo>
                <a:lnTo>
                  <a:pt x="1637" y="500"/>
                </a:lnTo>
                <a:cubicBezTo>
                  <a:pt x="1736" y="468"/>
                  <a:pt x="1844" y="406"/>
                  <a:pt x="1960" y="316"/>
                </a:cubicBezTo>
                <a:cubicBezTo>
                  <a:pt x="2075" y="226"/>
                  <a:pt x="2155" y="120"/>
                  <a:pt x="2198" y="0"/>
                </a:cubicBezTo>
                <a:close/>
                <a:moveTo>
                  <a:pt x="641" y="0"/>
                </a:moveTo>
                <a:cubicBezTo>
                  <a:pt x="833" y="0"/>
                  <a:pt x="982" y="68"/>
                  <a:pt x="1090" y="205"/>
                </a:cubicBezTo>
                <a:cubicBezTo>
                  <a:pt x="1219" y="367"/>
                  <a:pt x="1283" y="635"/>
                  <a:pt x="1283" y="1009"/>
                </a:cubicBezTo>
                <a:cubicBezTo>
                  <a:pt x="1283" y="1138"/>
                  <a:pt x="1275" y="1254"/>
                  <a:pt x="1260" y="1358"/>
                </a:cubicBezTo>
                <a:lnTo>
                  <a:pt x="1259" y="1365"/>
                </a:lnTo>
                <a:lnTo>
                  <a:pt x="872" y="1365"/>
                </a:lnTo>
                <a:lnTo>
                  <a:pt x="873" y="1351"/>
                </a:lnTo>
                <a:cubicBezTo>
                  <a:pt x="882" y="1261"/>
                  <a:pt x="887" y="1147"/>
                  <a:pt x="887" y="1009"/>
                </a:cubicBezTo>
                <a:cubicBezTo>
                  <a:pt x="887" y="778"/>
                  <a:pt x="875" y="618"/>
                  <a:pt x="852" y="532"/>
                </a:cubicBezTo>
                <a:cubicBezTo>
                  <a:pt x="828" y="445"/>
                  <a:pt x="799" y="387"/>
                  <a:pt x="763" y="358"/>
                </a:cubicBezTo>
                <a:cubicBezTo>
                  <a:pt x="728" y="329"/>
                  <a:pt x="687" y="314"/>
                  <a:pt x="641" y="314"/>
                </a:cubicBezTo>
                <a:cubicBezTo>
                  <a:pt x="596" y="314"/>
                  <a:pt x="555" y="329"/>
                  <a:pt x="519" y="358"/>
                </a:cubicBezTo>
                <a:cubicBezTo>
                  <a:pt x="483" y="387"/>
                  <a:pt x="455" y="439"/>
                  <a:pt x="435" y="515"/>
                </a:cubicBezTo>
                <a:cubicBezTo>
                  <a:pt x="409" y="613"/>
                  <a:pt x="396" y="778"/>
                  <a:pt x="396" y="1009"/>
                </a:cubicBezTo>
                <a:cubicBezTo>
                  <a:pt x="396" y="1154"/>
                  <a:pt x="401" y="1271"/>
                  <a:pt x="410" y="1359"/>
                </a:cubicBezTo>
                <a:lnTo>
                  <a:pt x="411" y="1365"/>
                </a:lnTo>
                <a:lnTo>
                  <a:pt x="22" y="1365"/>
                </a:lnTo>
                <a:lnTo>
                  <a:pt x="21" y="1355"/>
                </a:lnTo>
                <a:cubicBezTo>
                  <a:pt x="7" y="1252"/>
                  <a:pt x="0" y="1136"/>
                  <a:pt x="0" y="1005"/>
                </a:cubicBezTo>
                <a:cubicBezTo>
                  <a:pt x="0" y="633"/>
                  <a:pt x="65" y="366"/>
                  <a:pt x="194" y="202"/>
                </a:cubicBezTo>
                <a:cubicBezTo>
                  <a:pt x="301" y="67"/>
                  <a:pt x="450" y="0"/>
                  <a:pt x="641" y="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 name="文本框 1"/>
          <p:cNvSpPr txBox="1"/>
          <p:nvPr>
            <p:custDataLst>
              <p:tags r:id="rId4"/>
            </p:custDataLst>
          </p:nvPr>
        </p:nvSpPr>
        <p:spPr>
          <a:xfrm>
            <a:off x="1781175" y="3676015"/>
            <a:ext cx="3221990" cy="1116965"/>
          </a:xfrm>
          <a:prstGeom prst="rect">
            <a:avLst/>
          </a:prstGeom>
          <a:noFill/>
        </p:spPr>
        <p:txBody>
          <a:bodyPr wrap="square" lIns="90000" tIns="46800" rIns="90000" bIns="46800" anchor="t"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gn="r">
              <a:lnSpc>
                <a:spcPct val="110000"/>
              </a:lnSpc>
            </a:pPr>
            <a:r>
              <a:rPr lang="en-US" altLang="zh-CN" sz="2400" b="1" spc="300">
                <a:solidFill>
                  <a:schemeClr val="tx1">
                    <a:lumMod val="65000"/>
                    <a:lumOff val="35000"/>
                  </a:schemeClr>
                </a:solidFill>
                <a:latin typeface="Arial" panose="020B0604020202020204" pitchFamily="34" charset="0"/>
                <a:ea typeface="微软雅黑" panose="020B0503020204020204" pitchFamily="34" charset="-122"/>
                <a:cs typeface="+mj-cs"/>
                <a:sym typeface="Arial" panose="020B0604020202020204" pitchFamily="34" charset="0"/>
              </a:rPr>
              <a:t>PWM</a:t>
            </a:r>
            <a:r>
              <a:rPr lang="zh-CN" altLang="en-US" sz="2400" b="1" spc="300">
                <a:solidFill>
                  <a:schemeClr val="tx1">
                    <a:lumMod val="65000"/>
                    <a:lumOff val="35000"/>
                  </a:schemeClr>
                </a:solidFill>
                <a:latin typeface="Arial" panose="020B0604020202020204" pitchFamily="34" charset="0"/>
                <a:ea typeface="微软雅黑" panose="020B0503020204020204" pitchFamily="34" charset="-122"/>
                <a:cs typeface="+mj-cs"/>
                <a:sym typeface="Arial" panose="020B0604020202020204" pitchFamily="34" charset="0"/>
              </a:rPr>
              <a:t>基础知识</a:t>
            </a:r>
            <a:endParaRPr lang="zh-CN" altLang="en-US" sz="2400" b="1" spc="300">
              <a:solidFill>
                <a:schemeClr val="tx1">
                  <a:lumMod val="65000"/>
                  <a:lumOff val="35000"/>
                </a:schemeClr>
              </a:solidFill>
              <a:latin typeface="Arial" panose="020B0604020202020204" pitchFamily="34" charset="0"/>
              <a:ea typeface="微软雅黑" panose="020B0503020204020204" pitchFamily="34" charset="-122"/>
              <a:cs typeface="+mj-cs"/>
              <a:sym typeface="Arial" panose="020B0604020202020204" pitchFamily="34" charset="0"/>
            </a:endParaRPr>
          </a:p>
        </p:txBody>
      </p:sp>
    </p:spTree>
    <p:custDataLst>
      <p:tags r:id="rId5"/>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p:nvPr>
            <p:custDataLst>
              <p:tags r:id="rId1"/>
            </p:custDataLst>
          </p:nvPr>
        </p:nvSpPr>
        <p:spPr>
          <a:xfrm>
            <a:off x="3533140" y="1372245"/>
            <a:ext cx="1487170" cy="1240790"/>
          </a:xfrm>
          <a:prstGeom prst="rect">
            <a:avLst/>
          </a:prstGeom>
          <a:noFill/>
        </p:spPr>
        <p:txBody>
          <a:bodyPr wrap="square" lIns="90170" tIns="46990" rIns="90170" bIns="4699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algn="ctr" defTabSz="914400" fontAlgn="auto">
              <a:lnSpc>
                <a:spcPct val="100000"/>
              </a:lnSpc>
              <a:spcBef>
                <a:spcPts val="0"/>
              </a:spcBef>
              <a:spcAft>
                <a:spcPts val="0"/>
              </a:spcAft>
              <a:buClrTx/>
              <a:buSzTx/>
              <a:buFontTx/>
            </a:pPr>
            <a:r>
              <a:rPr lang="en-US" altLang="zh-CN" sz="7200" b="1" spc="200" dirty="0">
                <a:solidFill>
                  <a:srgbClr val="6096E6"/>
                </a:solidFill>
                <a:latin typeface="Arial" panose="020B0604020202020204" pitchFamily="34" charset="0"/>
                <a:ea typeface="微软雅黑" panose="020B0503020204020204" pitchFamily="34" charset="-122"/>
                <a:cs typeface="+mn-ea"/>
                <a:sym typeface="Arial" panose="020B0604020202020204" pitchFamily="34" charset="0"/>
              </a:rPr>
              <a:t>01</a:t>
            </a:r>
            <a:endParaRPr lang="en-US" altLang="zh-CN" sz="7200" b="1" spc="200" dirty="0">
              <a:solidFill>
                <a:srgbClr val="6096E6"/>
              </a:solidFill>
              <a:latin typeface="Arial" panose="020B0604020202020204" pitchFamily="34" charset="0"/>
              <a:ea typeface="微软雅黑" panose="020B0503020204020204" pitchFamily="34" charset="-122"/>
              <a:cs typeface="+mn-ea"/>
              <a:sym typeface="Arial" panose="020B0604020202020204" pitchFamily="34" charset="0"/>
            </a:endParaRPr>
          </a:p>
        </p:txBody>
      </p:sp>
      <p:cxnSp>
        <p:nvCxnSpPr>
          <p:cNvPr id="8" name="直接连接符 7"/>
          <p:cNvCxnSpPr/>
          <p:nvPr>
            <p:custDataLst>
              <p:tags r:id="rId2"/>
            </p:custDataLst>
          </p:nvPr>
        </p:nvCxnSpPr>
        <p:spPr>
          <a:xfrm flipV="1">
            <a:off x="3765550" y="2606675"/>
            <a:ext cx="6508115" cy="635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extBox 2"/>
          <p:cNvSpPr txBox="1"/>
          <p:nvPr>
            <p:custDataLst>
              <p:tags r:id="rId3"/>
            </p:custDataLst>
          </p:nvPr>
        </p:nvSpPr>
        <p:spPr>
          <a:xfrm>
            <a:off x="3543300" y="1362720"/>
            <a:ext cx="1487170" cy="1240790"/>
          </a:xfrm>
          <a:prstGeom prst="rect">
            <a:avLst/>
          </a:prstGeom>
          <a:noFill/>
        </p:spPr>
        <p:txBody>
          <a:bodyPr wrap="square" lIns="90170" tIns="46990" rIns="90170" bIns="4699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algn="ctr" defTabSz="914400" fontAlgn="auto">
              <a:lnSpc>
                <a:spcPct val="100000"/>
              </a:lnSpc>
              <a:spcBef>
                <a:spcPts val="0"/>
              </a:spcBef>
              <a:spcAft>
                <a:spcPts val="0"/>
              </a:spcAft>
              <a:buClrTx/>
              <a:buSzTx/>
              <a:buFontTx/>
            </a:pPr>
            <a:r>
              <a:rPr lang="en-US" altLang="zh-CN" sz="7200" b="1" spc="200" dirty="0">
                <a:solidFill>
                  <a:srgbClr val="6096E6"/>
                </a:solidFill>
                <a:latin typeface="Arial" panose="020B0604020202020204" pitchFamily="34" charset="0"/>
                <a:ea typeface="微软雅黑" panose="020B0503020204020204" pitchFamily="34" charset="-122"/>
                <a:cs typeface="+mn-ea"/>
                <a:sym typeface="Arial" panose="020B0604020202020204" pitchFamily="34" charset="0"/>
              </a:rPr>
              <a:t>01</a:t>
            </a:r>
            <a:endParaRPr lang="en-US" altLang="zh-CN" sz="7200" b="1" spc="200" dirty="0">
              <a:solidFill>
                <a:srgbClr val="6096E6"/>
              </a:solidFill>
              <a:latin typeface="Arial" panose="020B0604020202020204" pitchFamily="34" charset="0"/>
              <a:ea typeface="微软雅黑" panose="020B0503020204020204" pitchFamily="34" charset="-122"/>
              <a:cs typeface="+mn-ea"/>
              <a:sym typeface="Arial" panose="020B0604020202020204" pitchFamily="34" charset="0"/>
            </a:endParaRPr>
          </a:p>
        </p:txBody>
      </p:sp>
      <p:cxnSp>
        <p:nvCxnSpPr>
          <p:cNvPr id="4" name="直接连接符 3"/>
          <p:cNvCxnSpPr/>
          <p:nvPr>
            <p:custDataLst>
              <p:tags r:id="rId4"/>
            </p:custDataLst>
          </p:nvPr>
        </p:nvCxnSpPr>
        <p:spPr>
          <a:xfrm flipV="1">
            <a:off x="3765550" y="2596515"/>
            <a:ext cx="4558030" cy="6985"/>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标题 11"/>
          <p:cNvSpPr>
            <a:spLocks noGrp="1"/>
          </p:cNvSpPr>
          <p:nvPr>
            <p:custDataLst>
              <p:tags r:id="rId5"/>
            </p:custDataLst>
          </p:nvPr>
        </p:nvSpPr>
        <p:spPr>
          <a:xfrm>
            <a:off x="5030470" y="1628775"/>
            <a:ext cx="5367655" cy="705485"/>
          </a:xfrm>
          <a:prstGeom prst="rect">
            <a:avLst/>
          </a:prstGeom>
        </p:spPr>
        <p:txBody>
          <a:bodyPr vert="horz" lIns="90170" tIns="46990" rIns="90170" bIns="46990" rtlCol="0" anchor="ctr" anchorCtr="0">
            <a:no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a:lstStyle>
          <a:p>
            <a:r>
              <a:rPr lang="en-US" altLang="zh-CN" sz="4800">
                <a:solidFill>
                  <a:srgbClr val="6096E6"/>
                </a:solidFill>
                <a:sym typeface="Arial" panose="020B0604020202020204" pitchFamily="34" charset="0"/>
              </a:rPr>
              <a:t>PWM</a:t>
            </a:r>
            <a:r>
              <a:rPr lang="zh-CN" altLang="en-US" sz="4800">
                <a:solidFill>
                  <a:srgbClr val="6096E6"/>
                </a:solidFill>
                <a:sym typeface="Arial" panose="020B0604020202020204" pitchFamily="34" charset="0"/>
              </a:rPr>
              <a:t>基础知识</a:t>
            </a:r>
            <a:endParaRPr lang="zh-CN" altLang="en-US" sz="4800">
              <a:solidFill>
                <a:srgbClr val="6096E6"/>
              </a:solidFill>
              <a:sym typeface="Arial" panose="020B0604020202020204" pitchFamily="34" charset="0"/>
            </a:endParaRPr>
          </a:p>
        </p:txBody>
      </p:sp>
      <p:sp>
        <p:nvSpPr>
          <p:cNvPr id="10" name="文本框 9"/>
          <p:cNvSpPr txBox="1"/>
          <p:nvPr/>
        </p:nvSpPr>
        <p:spPr>
          <a:xfrm>
            <a:off x="4140835" y="2885440"/>
            <a:ext cx="4551680" cy="2553335"/>
          </a:xfrm>
          <a:prstGeom prst="rect">
            <a:avLst/>
          </a:prstGeom>
          <a:noFill/>
        </p:spPr>
        <p:txBody>
          <a:bodyPr wrap="square" rtlCol="0">
            <a:spAutoFit/>
          </a:bodyPr>
          <a:p>
            <a:r>
              <a:rPr lang="en-US" altLang="zh-CN" sz="3200"/>
              <a:t>1.PWM</a:t>
            </a:r>
            <a:r>
              <a:rPr lang="zh-CN" altLang="en-US" sz="3200"/>
              <a:t>介绍</a:t>
            </a:r>
            <a:endParaRPr lang="zh-CN" altLang="en-US" sz="3200"/>
          </a:p>
          <a:p>
            <a:r>
              <a:rPr lang="en-US" altLang="zh-CN" sz="3200">
                <a:sym typeface="+mn-ea"/>
              </a:rPr>
              <a:t>2.GD32PWM</a:t>
            </a:r>
            <a:r>
              <a:rPr lang="zh-CN" altLang="en-US" sz="3200">
                <a:sym typeface="+mn-ea"/>
              </a:rPr>
              <a:t>了解</a:t>
            </a:r>
            <a:endParaRPr lang="zh-CN" altLang="en-US" sz="3200"/>
          </a:p>
          <a:p>
            <a:r>
              <a:rPr lang="en-US" altLang="zh-CN" sz="3200"/>
              <a:t>3.PWM</a:t>
            </a:r>
            <a:r>
              <a:rPr lang="zh-CN" altLang="en-US" sz="3200"/>
              <a:t>基本参数</a:t>
            </a:r>
            <a:endParaRPr lang="zh-CN" altLang="en-US" sz="3200"/>
          </a:p>
          <a:p>
            <a:r>
              <a:rPr lang="en-US" altLang="zh-CN" sz="3200"/>
              <a:t>4.PWM</a:t>
            </a:r>
            <a:r>
              <a:rPr lang="zh-CN" altLang="en-US" sz="3200"/>
              <a:t>控制方法</a:t>
            </a:r>
            <a:endParaRPr lang="zh-CN" altLang="en-US" sz="3200"/>
          </a:p>
          <a:p>
            <a:r>
              <a:rPr lang="en-US" altLang="zh-CN" sz="3200"/>
              <a:t>5.PWM</a:t>
            </a:r>
            <a:r>
              <a:rPr lang="zh-CN" altLang="en-US" sz="3200"/>
              <a:t>应用</a:t>
            </a:r>
            <a:endParaRPr lang="zh-CN" altLang="en-US" sz="3200"/>
          </a:p>
        </p:txBody>
      </p:sp>
      <p:pic>
        <p:nvPicPr>
          <p:cNvPr id="102" name="图片 101"/>
          <p:cNvPicPr>
            <a:picLocks noChangeAspect="1"/>
          </p:cNvPicPr>
          <p:nvPr/>
        </p:nvPicPr>
        <p:blipFill>
          <a:blip r:embed="rId6"/>
          <a:stretch>
            <a:fillRect/>
          </a:stretch>
        </p:blipFill>
        <p:spPr>
          <a:xfrm>
            <a:off x="317500" y="144780"/>
            <a:ext cx="2322830" cy="872490"/>
          </a:xfrm>
          <a:prstGeom prst="rect">
            <a:avLst/>
          </a:prstGeom>
          <a:noFill/>
          <a:ln w="9525">
            <a:noFill/>
          </a:ln>
        </p:spPr>
      </p:pic>
    </p:spTree>
    <p:custDataLst>
      <p:tags r:id="rId7"/>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cxnSp>
        <p:nvCxnSpPr>
          <p:cNvPr id="33" name="直接连接符 32"/>
          <p:cNvCxnSpPr/>
          <p:nvPr/>
        </p:nvCxnSpPr>
        <p:spPr>
          <a:xfrm>
            <a:off x="531495" y="873125"/>
            <a:ext cx="4044315" cy="571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1111885" y="330200"/>
            <a:ext cx="3190875" cy="521970"/>
          </a:xfrm>
          <a:prstGeom prst="rect">
            <a:avLst/>
          </a:prstGeom>
          <a:noFill/>
        </p:spPr>
        <p:txBody>
          <a:bodyPr wrap="square" rtlCol="0">
            <a:spAutoFit/>
            <a:scene3d>
              <a:camera prst="orthographicFront"/>
              <a:lightRig rig="threePt" dir="t"/>
            </a:scene3d>
          </a:bodyPr>
          <a:p>
            <a:pPr algn="ctr">
              <a:defRPr/>
            </a:pPr>
            <a:r>
              <a:rPr kumimoji="0" lang="en-US" altLang="zh-CN"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PWM</a:t>
            </a:r>
            <a:r>
              <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介绍</a:t>
            </a:r>
            <a:endPar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pic>
        <p:nvPicPr>
          <p:cNvPr id="102" name="图片 101"/>
          <p:cNvPicPr>
            <a:picLocks noChangeAspect="1"/>
          </p:cNvPicPr>
          <p:nvPr/>
        </p:nvPicPr>
        <p:blipFill>
          <a:blip r:embed="rId2"/>
          <a:stretch>
            <a:fillRect/>
          </a:stretch>
        </p:blipFill>
        <p:spPr>
          <a:xfrm>
            <a:off x="9391015" y="330200"/>
            <a:ext cx="2322830" cy="872490"/>
          </a:xfrm>
          <a:prstGeom prst="rect">
            <a:avLst/>
          </a:prstGeom>
          <a:noFill/>
          <a:ln w="9525">
            <a:noFill/>
          </a:ln>
        </p:spPr>
      </p:pic>
      <p:sp>
        <p:nvSpPr>
          <p:cNvPr id="5" name="文本框 4"/>
          <p:cNvSpPr txBox="1"/>
          <p:nvPr/>
        </p:nvSpPr>
        <p:spPr>
          <a:xfrm>
            <a:off x="2192655" y="1631950"/>
            <a:ext cx="7638415" cy="2030095"/>
          </a:xfrm>
          <a:prstGeom prst="rect">
            <a:avLst/>
          </a:prstGeom>
          <a:noFill/>
        </p:spPr>
        <p:txBody>
          <a:bodyPr wrap="square" rtlCol="0" anchor="t">
            <a:spAutoFit/>
          </a:bodyPr>
          <a:p>
            <a:r>
              <a:rPr lang="en-US"/>
              <a:t>       </a:t>
            </a:r>
            <a:r>
              <a:t>PWM（Pulse Width Modulation脉宽调制）是利用微处理器的数字输出来对模拟电路进行控制的一种非常有效的技术。PWM是一种对模拟信号电平进行数字编码的方法。通过高分辨率计数器的使用，方波占空比被调制用来对一个具体模拟信号的电平进行编码。PWM信号任然是数字的，因为在给定的任何时刻，满幅值的直流供电要么完全有，要么完全无。比如我们的电压输出是5v的，那么经过改变PWM的占空比，可以达到在一定时间内输出3.3V或者1.3V的效果。</a:t>
            </a:r>
          </a:p>
        </p:txBody>
      </p:sp>
    </p:spTree>
    <p:custDataLst>
      <p:tags r:id="rId3"/>
    </p:custData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cxnSp>
        <p:nvCxnSpPr>
          <p:cNvPr id="33" name="直接连接符 32"/>
          <p:cNvCxnSpPr/>
          <p:nvPr/>
        </p:nvCxnSpPr>
        <p:spPr>
          <a:xfrm>
            <a:off x="531495" y="873125"/>
            <a:ext cx="4044315" cy="571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1111885" y="330200"/>
            <a:ext cx="3190875" cy="521970"/>
          </a:xfrm>
          <a:prstGeom prst="rect">
            <a:avLst/>
          </a:prstGeom>
          <a:noFill/>
        </p:spPr>
        <p:txBody>
          <a:bodyPr wrap="square" rtlCol="0">
            <a:spAutoFit/>
            <a:scene3d>
              <a:camera prst="orthographicFront"/>
              <a:lightRig rig="threePt" dir="t"/>
            </a:scene3d>
          </a:bodyPr>
          <a:p>
            <a:pPr algn="ctr">
              <a:defRPr/>
            </a:pPr>
            <a:r>
              <a:rPr lang="en-US" altLang="zh-CN" sz="2800">
                <a:sym typeface="+mn-ea"/>
              </a:rPr>
              <a:t>GD32PWM</a:t>
            </a:r>
            <a:r>
              <a:rPr lang="zh-CN" altLang="en-US" sz="2800">
                <a:sym typeface="+mn-ea"/>
              </a:rPr>
              <a:t>了解</a:t>
            </a:r>
            <a:endPar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pic>
        <p:nvPicPr>
          <p:cNvPr id="102" name="图片 101"/>
          <p:cNvPicPr>
            <a:picLocks noChangeAspect="1"/>
          </p:cNvPicPr>
          <p:nvPr/>
        </p:nvPicPr>
        <p:blipFill>
          <a:blip r:embed="rId2"/>
          <a:stretch>
            <a:fillRect/>
          </a:stretch>
        </p:blipFill>
        <p:spPr>
          <a:xfrm>
            <a:off x="9391015" y="330200"/>
            <a:ext cx="2322830" cy="872490"/>
          </a:xfrm>
          <a:prstGeom prst="rect">
            <a:avLst/>
          </a:prstGeom>
          <a:noFill/>
          <a:ln w="9525">
            <a:noFill/>
          </a:ln>
        </p:spPr>
      </p:pic>
      <p:sp>
        <p:nvSpPr>
          <p:cNvPr id="100" name="文本框 99"/>
          <p:cNvSpPr txBox="1"/>
          <p:nvPr/>
        </p:nvSpPr>
        <p:spPr>
          <a:xfrm>
            <a:off x="1689735" y="1325880"/>
            <a:ext cx="7886700" cy="922020"/>
          </a:xfrm>
          <a:prstGeom prst="rect">
            <a:avLst/>
          </a:prstGeom>
          <a:noFill/>
          <a:ln w="9525">
            <a:noFill/>
          </a:ln>
        </p:spPr>
        <p:txBody>
          <a:bodyPr wrap="square">
            <a:spAutoFit/>
          </a:bodyPr>
          <a:p>
            <a:pPr indent="560705"/>
            <a:r>
              <a:rPr sz="1800" b="0"/>
              <a:t>GD32F450ZGT6一共有14个定时器，可以分为五种类型，高级定时器0/7、通用定时器(L0)1-4、通用定时器(L1)8/11、通用定时器(L2)9/10/12/13和基本定时器5/6</a:t>
            </a:r>
            <a:r>
              <a:rPr lang="zh-CN" sz="1800" b="0"/>
              <a:t>。</a:t>
            </a:r>
            <a:endParaRPr lang="zh-CN" sz="1800" b="0"/>
          </a:p>
        </p:txBody>
      </p:sp>
      <p:graphicFrame>
        <p:nvGraphicFramePr>
          <p:cNvPr id="4" name="表格 3"/>
          <p:cNvGraphicFramePr/>
          <p:nvPr>
            <p:custDataLst>
              <p:tags r:id="rId3"/>
            </p:custDataLst>
          </p:nvPr>
        </p:nvGraphicFramePr>
        <p:xfrm>
          <a:off x="1348105" y="2727325"/>
          <a:ext cx="9326880" cy="1902460"/>
        </p:xfrm>
        <a:graphic>
          <a:graphicData uri="http://schemas.openxmlformats.org/drawingml/2006/table">
            <a:tbl>
              <a:tblPr firstRow="1" bandRow="1">
                <a:tableStyleId>{5C22544A-7EE6-4342-B048-85BDC9FD1C3A}</a:tableStyleId>
              </a:tblPr>
              <a:tblGrid>
                <a:gridCol w="1554480"/>
                <a:gridCol w="1554480"/>
                <a:gridCol w="1554480"/>
                <a:gridCol w="1554480"/>
                <a:gridCol w="1554480"/>
                <a:gridCol w="1554480"/>
              </a:tblGrid>
              <a:tr h="1292225">
                <a:tc>
                  <a:txBody>
                    <a:bodyPr/>
                    <a:p>
                      <a:pPr>
                        <a:buNone/>
                      </a:pPr>
                      <a:r>
                        <a:rPr lang="zh-CN" altLang="en-US"/>
                        <a:t>定时器类型</a:t>
                      </a:r>
                      <a:endParaRPr lang="zh-CN" altLang="en-US"/>
                    </a:p>
                  </a:txBody>
                  <a:tcPr/>
                </a:tc>
                <a:tc>
                  <a:txBody>
                    <a:bodyPr/>
                    <a:p>
                      <a:pPr>
                        <a:buNone/>
                      </a:pPr>
                      <a:r>
                        <a:rPr lang="zh-CN" altLang="en-US"/>
                        <a:t>高级定时器</a:t>
                      </a:r>
                      <a:r>
                        <a:rPr lang="en-US" altLang="zh-CN"/>
                        <a:t>0/7</a:t>
                      </a:r>
                      <a:endParaRPr lang="zh-CN" altLang="en-US"/>
                    </a:p>
                  </a:txBody>
                  <a:tcPr/>
                </a:tc>
                <a:tc>
                  <a:txBody>
                    <a:bodyPr/>
                    <a:p>
                      <a:pPr>
                        <a:buNone/>
                      </a:pPr>
                      <a:r>
                        <a:rPr lang="zh-CN" altLang="en-US"/>
                        <a:t>通用定时器(L0)1-4</a:t>
                      </a:r>
                      <a:endParaRPr lang="zh-CN" altLang="en-US"/>
                    </a:p>
                  </a:txBody>
                  <a:tcPr/>
                </a:tc>
                <a:tc>
                  <a:txBody>
                    <a:bodyPr/>
                    <a:p>
                      <a:pPr>
                        <a:buNone/>
                      </a:pPr>
                      <a:r>
                        <a:rPr lang="zh-CN" altLang="en-US"/>
                        <a:t>通用定时器(L1)8/11</a:t>
                      </a:r>
                      <a:endParaRPr lang="zh-CN" altLang="en-US"/>
                    </a:p>
                  </a:txBody>
                  <a:tcPr/>
                </a:tc>
                <a:tc>
                  <a:txBody>
                    <a:bodyPr/>
                    <a:p>
                      <a:pPr>
                        <a:buNone/>
                      </a:pPr>
                      <a:r>
                        <a:rPr lang="zh-CN" altLang="en-US"/>
                        <a:t>通用定时器(L2)9/10/12/13</a:t>
                      </a:r>
                      <a:endParaRPr lang="zh-CN" altLang="en-US"/>
                    </a:p>
                  </a:txBody>
                  <a:tcPr/>
                </a:tc>
                <a:tc>
                  <a:txBody>
                    <a:bodyPr/>
                    <a:p>
                      <a:pPr>
                        <a:buNone/>
                      </a:pPr>
                      <a:r>
                        <a:rPr lang="zh-CN" altLang="en-US"/>
                        <a:t>基本定时器5/6</a:t>
                      </a:r>
                      <a:endParaRPr lang="zh-CN" altLang="en-US"/>
                    </a:p>
                  </a:txBody>
                  <a:tcPr/>
                </a:tc>
              </a:tr>
              <a:tr h="610235">
                <a:tc>
                  <a:txBody>
                    <a:bodyPr/>
                    <a:p>
                      <a:pPr>
                        <a:buNone/>
                      </a:pPr>
                      <a:r>
                        <a:rPr lang="zh-CN" altLang="en-US"/>
                        <a:t>通道数</a:t>
                      </a:r>
                      <a:endParaRPr lang="zh-CN" altLang="en-US"/>
                    </a:p>
                  </a:txBody>
                  <a:tcPr/>
                </a:tc>
                <a:tc>
                  <a:txBody>
                    <a:bodyPr/>
                    <a:p>
                      <a:pPr>
                        <a:buNone/>
                      </a:pPr>
                      <a:r>
                        <a:rPr lang="en-US" altLang="zh-CN"/>
                        <a:t>4</a:t>
                      </a:r>
                      <a:endParaRPr lang="en-US" altLang="zh-CN"/>
                    </a:p>
                  </a:txBody>
                  <a:tcPr/>
                </a:tc>
                <a:tc>
                  <a:txBody>
                    <a:bodyPr/>
                    <a:p>
                      <a:pPr>
                        <a:buNone/>
                      </a:pPr>
                      <a:r>
                        <a:rPr lang="en-US" altLang="zh-CN"/>
                        <a:t>4</a:t>
                      </a:r>
                      <a:endParaRPr lang="en-US" altLang="zh-CN"/>
                    </a:p>
                  </a:txBody>
                  <a:tcPr/>
                </a:tc>
                <a:tc>
                  <a:txBody>
                    <a:bodyPr/>
                    <a:p>
                      <a:pPr>
                        <a:buNone/>
                      </a:pPr>
                      <a:r>
                        <a:rPr lang="en-US" altLang="zh-CN"/>
                        <a:t>2</a:t>
                      </a:r>
                      <a:endParaRPr lang="en-US" altLang="zh-CN"/>
                    </a:p>
                  </a:txBody>
                  <a:tcPr/>
                </a:tc>
                <a:tc>
                  <a:txBody>
                    <a:bodyPr/>
                    <a:p>
                      <a:pPr>
                        <a:buNone/>
                      </a:pPr>
                      <a:r>
                        <a:rPr lang="en-US" altLang="zh-CN"/>
                        <a:t>1</a:t>
                      </a:r>
                      <a:endParaRPr lang="en-US" altLang="zh-CN"/>
                    </a:p>
                  </a:txBody>
                  <a:tcPr/>
                </a:tc>
                <a:tc>
                  <a:txBody>
                    <a:bodyPr/>
                    <a:p>
                      <a:pPr>
                        <a:buNone/>
                      </a:pPr>
                      <a:r>
                        <a:rPr lang="en-US" altLang="zh-CN"/>
                        <a:t>0</a:t>
                      </a:r>
                      <a:endParaRPr lang="en-US" altLang="zh-CN"/>
                    </a:p>
                  </a:txBody>
                  <a:tcPr/>
                </a:tc>
              </a:tr>
            </a:tbl>
          </a:graphicData>
        </a:graphic>
      </p:graphicFrame>
      <p:sp>
        <p:nvSpPr>
          <p:cNvPr id="5" name="文本框 4"/>
          <p:cNvSpPr txBox="1"/>
          <p:nvPr/>
        </p:nvSpPr>
        <p:spPr>
          <a:xfrm>
            <a:off x="1689735" y="5109210"/>
            <a:ext cx="7886700" cy="368300"/>
          </a:xfrm>
          <a:prstGeom prst="rect">
            <a:avLst/>
          </a:prstGeom>
          <a:noFill/>
          <a:ln w="9525">
            <a:noFill/>
          </a:ln>
        </p:spPr>
        <p:txBody>
          <a:bodyPr wrap="square">
            <a:spAutoFit/>
          </a:bodyPr>
          <a:p>
            <a:pPr indent="560705"/>
            <a:r>
              <a:rPr lang="zh-CN" altLang="en-US" sz="1800" b="0">
                <a:solidFill>
                  <a:srgbClr val="FF0000"/>
                </a:solidFill>
              </a:rPr>
              <a:t>定时器的通道可能映射多个管脚。</a:t>
            </a:r>
            <a:endParaRPr lang="zh-CN" altLang="en-US" sz="1800" b="0">
              <a:solidFill>
                <a:srgbClr val="FF0000"/>
              </a:solidFill>
            </a:endParaRPr>
          </a:p>
        </p:txBody>
      </p:sp>
    </p:spTree>
    <p:custDataLst>
      <p:tags r:id="rId4"/>
    </p:custData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cxnSp>
        <p:nvCxnSpPr>
          <p:cNvPr id="33" name="直接连接符 32"/>
          <p:cNvCxnSpPr/>
          <p:nvPr/>
        </p:nvCxnSpPr>
        <p:spPr>
          <a:xfrm>
            <a:off x="531495" y="873125"/>
            <a:ext cx="4044315" cy="571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1111885" y="330200"/>
            <a:ext cx="3190875" cy="521970"/>
          </a:xfrm>
          <a:prstGeom prst="rect">
            <a:avLst/>
          </a:prstGeom>
          <a:noFill/>
        </p:spPr>
        <p:txBody>
          <a:bodyPr wrap="square" rtlCol="0">
            <a:spAutoFit/>
            <a:scene3d>
              <a:camera prst="orthographicFront"/>
              <a:lightRig rig="threePt" dir="t"/>
            </a:scene3d>
          </a:bodyPr>
          <a:p>
            <a:pPr algn="ctr">
              <a:defRPr/>
            </a:pPr>
            <a:r>
              <a:rPr kumimoji="0" lang="en-US" altLang="zh-CN"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PWM</a:t>
            </a:r>
            <a:r>
              <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基本参数</a:t>
            </a:r>
            <a:endPar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pic>
        <p:nvPicPr>
          <p:cNvPr id="102" name="图片 101"/>
          <p:cNvPicPr>
            <a:picLocks noChangeAspect="1"/>
          </p:cNvPicPr>
          <p:nvPr/>
        </p:nvPicPr>
        <p:blipFill>
          <a:blip r:embed="rId2"/>
          <a:stretch>
            <a:fillRect/>
          </a:stretch>
        </p:blipFill>
        <p:spPr>
          <a:xfrm>
            <a:off x="9391015" y="330200"/>
            <a:ext cx="2322830" cy="872490"/>
          </a:xfrm>
          <a:prstGeom prst="rect">
            <a:avLst/>
          </a:prstGeom>
          <a:noFill/>
          <a:ln w="9525">
            <a:noFill/>
          </a:ln>
        </p:spPr>
      </p:pic>
      <p:sp>
        <p:nvSpPr>
          <p:cNvPr id="100" name="文本框 99"/>
          <p:cNvSpPr txBox="1"/>
          <p:nvPr/>
        </p:nvSpPr>
        <p:spPr>
          <a:xfrm>
            <a:off x="1723390" y="1270635"/>
            <a:ext cx="7667625" cy="368300"/>
          </a:xfrm>
          <a:prstGeom prst="rect">
            <a:avLst/>
          </a:prstGeom>
          <a:noFill/>
          <a:ln w="9525">
            <a:noFill/>
          </a:ln>
        </p:spPr>
        <p:txBody>
          <a:bodyPr wrap="square">
            <a:spAutoFit/>
          </a:bodyPr>
          <a:p>
            <a:pPr algn="l">
              <a:buClrTx/>
              <a:buSzTx/>
              <a:buNone/>
            </a:pPr>
            <a:r>
              <a:rPr sz="1800" b="0"/>
              <a:t>PWM是脉冲宽度调制，具有</a:t>
            </a:r>
            <a:r>
              <a:rPr lang="zh-CN" sz="1800" b="0"/>
              <a:t>三</a:t>
            </a:r>
            <a:r>
              <a:rPr sz="1800" b="0"/>
              <a:t>个非常重要的参数：频率</a:t>
            </a:r>
            <a:r>
              <a:rPr lang="zh-CN" sz="1800" b="0"/>
              <a:t>、</a:t>
            </a:r>
            <a:r>
              <a:rPr sz="1800" b="0"/>
              <a:t>占空比</a:t>
            </a:r>
            <a:r>
              <a:rPr lang="zh-CN" sz="1800" b="0"/>
              <a:t>和周期</a:t>
            </a:r>
            <a:endParaRPr lang="zh-CN" sz="1800" b="0"/>
          </a:p>
        </p:txBody>
      </p:sp>
      <p:graphicFrame>
        <p:nvGraphicFramePr>
          <p:cNvPr id="5" name="表格 4"/>
          <p:cNvGraphicFramePr/>
          <p:nvPr>
            <p:custDataLst>
              <p:tags r:id="rId3"/>
            </p:custDataLst>
          </p:nvPr>
        </p:nvGraphicFramePr>
        <p:xfrm>
          <a:off x="1828800" y="3048000"/>
          <a:ext cx="8533130" cy="1524000"/>
        </p:xfrm>
        <a:graphic>
          <a:graphicData uri="http://schemas.openxmlformats.org/drawingml/2006/table">
            <a:tbl>
              <a:tblPr firstRow="1" bandRow="1">
                <a:tableStyleId>{5C22544A-7EE6-4342-B048-85BDC9FD1C3A}</a:tableStyleId>
              </a:tblPr>
              <a:tblGrid>
                <a:gridCol w="2332355"/>
                <a:gridCol w="6200775"/>
              </a:tblGrid>
              <a:tr h="381000">
                <a:tc>
                  <a:txBody>
                    <a:bodyPr/>
                    <a:p>
                      <a:pPr algn="ctr">
                        <a:buNone/>
                      </a:pPr>
                      <a:r>
                        <a:rPr lang="zh-CN" altLang="en-US"/>
                        <a:t>参数</a:t>
                      </a:r>
                      <a:endParaRPr lang="zh-CN" altLang="en-US"/>
                    </a:p>
                  </a:txBody>
                  <a:tcPr/>
                </a:tc>
                <a:tc>
                  <a:txBody>
                    <a:bodyPr/>
                    <a:p>
                      <a:pPr algn="ctr">
                        <a:buNone/>
                      </a:pPr>
                      <a:r>
                        <a:rPr lang="zh-CN" altLang="en-US"/>
                        <a:t>描述</a:t>
                      </a:r>
                      <a:endParaRPr lang="zh-CN" altLang="en-US"/>
                    </a:p>
                  </a:txBody>
                  <a:tcPr/>
                </a:tc>
              </a:tr>
              <a:tr h="381000">
                <a:tc>
                  <a:txBody>
                    <a:bodyPr/>
                    <a:p>
                      <a:pPr algn="ctr">
                        <a:buNone/>
                      </a:pPr>
                      <a:r>
                        <a:rPr lang="zh-CN" altLang="en-US"/>
                        <a:t>频率</a:t>
                      </a:r>
                      <a:endParaRPr lang="zh-CN" altLang="en-US"/>
                    </a:p>
                  </a:txBody>
                  <a:tcPr/>
                </a:tc>
                <a:tc>
                  <a:txBody>
                    <a:bodyPr/>
                    <a:p>
                      <a:pPr>
                        <a:buNone/>
                      </a:pPr>
                      <a:r>
                        <a:rPr lang="zh-CN" altLang="en-US"/>
                        <a:t>频率是值每秒钟信号从高电平到低电平再回到高电平的次数。</a:t>
                      </a:r>
                      <a:endParaRPr lang="zh-CN" altLang="en-US"/>
                    </a:p>
                  </a:txBody>
                  <a:tcPr/>
                </a:tc>
              </a:tr>
              <a:tr h="381000">
                <a:tc>
                  <a:txBody>
                    <a:bodyPr/>
                    <a:p>
                      <a:pPr algn="ctr">
                        <a:buNone/>
                      </a:pPr>
                      <a:r>
                        <a:rPr lang="zh-CN" altLang="en-US"/>
                        <a:t>占空比</a:t>
                      </a:r>
                      <a:endParaRPr lang="zh-CN" altLang="en-US"/>
                    </a:p>
                  </a:txBody>
                  <a:tcPr/>
                </a:tc>
                <a:tc>
                  <a:txBody>
                    <a:bodyPr/>
                    <a:p>
                      <a:pPr>
                        <a:buNone/>
                      </a:pPr>
                      <a:r>
                        <a:rPr lang="zh-CN" altLang="en-US"/>
                        <a:t>占空比是指一个周期内高电平所占的比例。</a:t>
                      </a:r>
                      <a:endParaRPr lang="zh-CN" altLang="en-US"/>
                    </a:p>
                  </a:txBody>
                  <a:tcPr/>
                </a:tc>
              </a:tr>
              <a:tr h="381000">
                <a:tc>
                  <a:txBody>
                    <a:bodyPr/>
                    <a:p>
                      <a:pPr algn="ctr">
                        <a:buNone/>
                      </a:pPr>
                      <a:r>
                        <a:rPr lang="zh-CN" altLang="en-US"/>
                        <a:t>周期</a:t>
                      </a:r>
                      <a:endParaRPr lang="zh-CN" altLang="en-US"/>
                    </a:p>
                  </a:txBody>
                  <a:tcPr/>
                </a:tc>
                <a:tc>
                  <a:txBody>
                    <a:bodyPr/>
                    <a:p>
                      <a:pPr>
                        <a:buNone/>
                      </a:pPr>
                      <a:r>
                        <a:rPr lang="zh-CN" altLang="en-US"/>
                        <a:t>周期是指一个完整</a:t>
                      </a:r>
                      <a:r>
                        <a:rPr lang="en-US" altLang="zh-CN"/>
                        <a:t>PWM</a:t>
                      </a:r>
                      <a:r>
                        <a:rPr lang="zh-CN" altLang="en-US"/>
                        <a:t>信号持续的时间。</a:t>
                      </a:r>
                      <a:endParaRPr lang="zh-CN" altLang="en-US"/>
                    </a:p>
                  </a:txBody>
                  <a:tcPr/>
                </a:tc>
              </a:tr>
            </a:tbl>
          </a:graphicData>
        </a:graphic>
      </p:graphicFrame>
    </p:spTree>
    <p:custDataLst>
      <p:tags r:id="rId4"/>
    </p:custData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cxnSp>
        <p:nvCxnSpPr>
          <p:cNvPr id="33" name="直接连接符 32"/>
          <p:cNvCxnSpPr/>
          <p:nvPr/>
        </p:nvCxnSpPr>
        <p:spPr>
          <a:xfrm>
            <a:off x="531495" y="873125"/>
            <a:ext cx="4044315" cy="571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1111885" y="330200"/>
            <a:ext cx="3190875" cy="521970"/>
          </a:xfrm>
          <a:prstGeom prst="rect">
            <a:avLst/>
          </a:prstGeom>
          <a:noFill/>
        </p:spPr>
        <p:txBody>
          <a:bodyPr wrap="square" rtlCol="0">
            <a:spAutoFit/>
            <a:scene3d>
              <a:camera prst="orthographicFront"/>
              <a:lightRig rig="threePt" dir="t"/>
            </a:scene3d>
          </a:bodyPr>
          <a:p>
            <a:pPr algn="ctr">
              <a:defRPr/>
            </a:pPr>
            <a:r>
              <a:rPr kumimoji="0" lang="en-US" altLang="zh-CN"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PWM</a:t>
            </a:r>
            <a:r>
              <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的控制方法</a:t>
            </a:r>
            <a:endPar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pic>
        <p:nvPicPr>
          <p:cNvPr id="102" name="图片 101"/>
          <p:cNvPicPr>
            <a:picLocks noChangeAspect="1"/>
          </p:cNvPicPr>
          <p:nvPr/>
        </p:nvPicPr>
        <p:blipFill>
          <a:blip r:embed="rId2"/>
          <a:stretch>
            <a:fillRect/>
          </a:stretch>
        </p:blipFill>
        <p:spPr>
          <a:xfrm>
            <a:off x="9391015" y="330200"/>
            <a:ext cx="2322830" cy="872490"/>
          </a:xfrm>
          <a:prstGeom prst="rect">
            <a:avLst/>
          </a:prstGeom>
          <a:noFill/>
          <a:ln w="9525">
            <a:noFill/>
          </a:ln>
        </p:spPr>
      </p:pic>
      <p:sp>
        <p:nvSpPr>
          <p:cNvPr id="100" name="文本框 99"/>
          <p:cNvSpPr txBox="1"/>
          <p:nvPr/>
        </p:nvSpPr>
        <p:spPr>
          <a:xfrm>
            <a:off x="1663700" y="1325880"/>
            <a:ext cx="7886700" cy="1753235"/>
          </a:xfrm>
          <a:prstGeom prst="rect">
            <a:avLst/>
          </a:prstGeom>
          <a:noFill/>
          <a:ln w="9525">
            <a:noFill/>
          </a:ln>
        </p:spPr>
        <p:txBody>
          <a:bodyPr wrap="square">
            <a:spAutoFit/>
          </a:bodyPr>
          <a:p>
            <a:pPr indent="560705"/>
            <a:r>
              <a:rPr sz="1800" b="0"/>
              <a:t>采样控制理论中有一个重要结论：冲量相等而形状不同的窄脉冲加在具有惯性的环节上时，其效果基本相同。</a:t>
            </a:r>
            <a:endParaRPr sz="1800" b="0"/>
          </a:p>
          <a:p>
            <a:pPr indent="560705"/>
            <a:endParaRPr sz="1800" b="0"/>
          </a:p>
          <a:p>
            <a:pPr indent="560705"/>
            <a:r>
              <a:rPr sz="1800" b="0"/>
              <a:t>PWM控制技术就是以该结论为理论基础，对半导体开关器件的导通和关断进行控制，使输出端得到一系列幅值相等而宽度不相等的脉冲，用这些脉冲来代替正弦波或其他所需要的波形。</a:t>
            </a:r>
            <a:endParaRPr sz="1800" b="0"/>
          </a:p>
        </p:txBody>
      </p:sp>
    </p:spTree>
    <p:custDataLst>
      <p:tags r:id="rId3"/>
    </p:custData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cxnSp>
        <p:nvCxnSpPr>
          <p:cNvPr id="33" name="直接连接符 32"/>
          <p:cNvCxnSpPr/>
          <p:nvPr/>
        </p:nvCxnSpPr>
        <p:spPr>
          <a:xfrm>
            <a:off x="531495" y="873125"/>
            <a:ext cx="4044315" cy="571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1111885" y="330200"/>
            <a:ext cx="3190875" cy="521970"/>
          </a:xfrm>
          <a:prstGeom prst="rect">
            <a:avLst/>
          </a:prstGeom>
          <a:noFill/>
        </p:spPr>
        <p:txBody>
          <a:bodyPr wrap="square" rtlCol="0">
            <a:spAutoFit/>
            <a:scene3d>
              <a:camera prst="orthographicFront"/>
              <a:lightRig rig="threePt" dir="t"/>
            </a:scene3d>
          </a:bodyPr>
          <a:p>
            <a:pPr algn="ctr">
              <a:defRPr/>
            </a:pPr>
            <a:r>
              <a:rPr kumimoji="0" lang="en-US" altLang="zh-CN"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PWM</a:t>
            </a:r>
            <a:r>
              <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应用</a:t>
            </a:r>
            <a:endPar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pic>
        <p:nvPicPr>
          <p:cNvPr id="102" name="图片 101"/>
          <p:cNvPicPr>
            <a:picLocks noChangeAspect="1"/>
          </p:cNvPicPr>
          <p:nvPr/>
        </p:nvPicPr>
        <p:blipFill>
          <a:blip r:embed="rId2"/>
          <a:stretch>
            <a:fillRect/>
          </a:stretch>
        </p:blipFill>
        <p:spPr>
          <a:xfrm>
            <a:off x="9391015" y="330200"/>
            <a:ext cx="2322830" cy="872490"/>
          </a:xfrm>
          <a:prstGeom prst="rect">
            <a:avLst/>
          </a:prstGeom>
          <a:noFill/>
          <a:ln w="9525">
            <a:noFill/>
          </a:ln>
        </p:spPr>
      </p:pic>
      <p:sp>
        <p:nvSpPr>
          <p:cNvPr id="100" name="文本框 99"/>
          <p:cNvSpPr txBox="1"/>
          <p:nvPr/>
        </p:nvSpPr>
        <p:spPr>
          <a:xfrm>
            <a:off x="1663700" y="1325880"/>
            <a:ext cx="7886700" cy="1753235"/>
          </a:xfrm>
          <a:prstGeom prst="rect">
            <a:avLst/>
          </a:prstGeom>
          <a:noFill/>
          <a:ln w="9525">
            <a:noFill/>
          </a:ln>
        </p:spPr>
        <p:txBody>
          <a:bodyPr wrap="square">
            <a:spAutoFit/>
          </a:bodyPr>
          <a:p>
            <a:pPr indent="560705" fontAlgn="auto">
              <a:lnSpc>
                <a:spcPct val="150000"/>
              </a:lnSpc>
            </a:pPr>
            <a:r>
              <a:rPr sz="1800" b="0"/>
              <a:t>PWM可应用于电机调速、功率调制、PID调节、通信等，配置简单、抗干扰能力强。可以通过PWM来控制LED灯的亮暗变化，可以通过PWM信号来控制无源蜂鸣器发出简单的声音以及实现功率继电器的线圈节能等。PWM用来驱动电机和调节电机转速是非常重要的内容。</a:t>
            </a:r>
            <a:endParaRPr sz="1800" b="0"/>
          </a:p>
        </p:txBody>
      </p:sp>
    </p:spTree>
    <p:custDataLst>
      <p:tags r:id="rId3"/>
    </p:custData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p:nvPr>
            <p:custDataLst>
              <p:tags r:id="rId1"/>
            </p:custDataLst>
          </p:nvPr>
        </p:nvSpPr>
        <p:spPr>
          <a:xfrm>
            <a:off x="3533140" y="1372245"/>
            <a:ext cx="1487170" cy="1240790"/>
          </a:xfrm>
          <a:prstGeom prst="rect">
            <a:avLst/>
          </a:prstGeom>
          <a:noFill/>
        </p:spPr>
        <p:txBody>
          <a:bodyPr wrap="square" lIns="90170" tIns="46990" rIns="90170" bIns="4699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algn="ctr" defTabSz="914400" fontAlgn="auto">
              <a:lnSpc>
                <a:spcPct val="100000"/>
              </a:lnSpc>
              <a:spcBef>
                <a:spcPts val="0"/>
              </a:spcBef>
              <a:spcAft>
                <a:spcPts val="0"/>
              </a:spcAft>
              <a:buClrTx/>
              <a:buSzTx/>
              <a:buFontTx/>
            </a:pPr>
            <a:r>
              <a:rPr lang="en-US" altLang="zh-CN" sz="7200" b="1" spc="200" dirty="0">
                <a:solidFill>
                  <a:srgbClr val="6096E6"/>
                </a:solidFill>
                <a:latin typeface="Arial" panose="020B0604020202020204" pitchFamily="34" charset="0"/>
                <a:ea typeface="微软雅黑" panose="020B0503020204020204" pitchFamily="34" charset="-122"/>
                <a:cs typeface="+mn-ea"/>
                <a:sym typeface="Arial" panose="020B0604020202020204" pitchFamily="34" charset="0"/>
              </a:rPr>
              <a:t>02</a:t>
            </a:r>
            <a:endParaRPr lang="en-US" altLang="zh-CN" sz="7200" b="1" spc="200" dirty="0">
              <a:solidFill>
                <a:srgbClr val="6096E6"/>
              </a:solidFill>
              <a:latin typeface="Arial" panose="020B0604020202020204" pitchFamily="34" charset="0"/>
              <a:ea typeface="微软雅黑" panose="020B0503020204020204" pitchFamily="34" charset="-122"/>
              <a:cs typeface="+mn-ea"/>
              <a:sym typeface="Arial" panose="020B0604020202020204" pitchFamily="34" charset="0"/>
            </a:endParaRPr>
          </a:p>
        </p:txBody>
      </p:sp>
      <p:cxnSp>
        <p:nvCxnSpPr>
          <p:cNvPr id="8" name="直接连接符 7"/>
          <p:cNvCxnSpPr/>
          <p:nvPr>
            <p:custDataLst>
              <p:tags r:id="rId2"/>
            </p:custDataLst>
          </p:nvPr>
        </p:nvCxnSpPr>
        <p:spPr>
          <a:xfrm>
            <a:off x="3755390" y="2613025"/>
            <a:ext cx="5309235" cy="508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3"/>
            </p:custDataLst>
          </p:nvPr>
        </p:nvCxnSpPr>
        <p:spPr>
          <a:xfrm flipV="1">
            <a:off x="3755390" y="2603500"/>
            <a:ext cx="5847715" cy="508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标题 11"/>
          <p:cNvSpPr>
            <a:spLocks noGrp="1"/>
          </p:cNvSpPr>
          <p:nvPr>
            <p:custDataLst>
              <p:tags r:id="rId4"/>
            </p:custDataLst>
          </p:nvPr>
        </p:nvSpPr>
        <p:spPr>
          <a:xfrm>
            <a:off x="5030470" y="1628775"/>
            <a:ext cx="4854575" cy="705485"/>
          </a:xfrm>
          <a:prstGeom prst="rect">
            <a:avLst/>
          </a:prstGeom>
        </p:spPr>
        <p:txBody>
          <a:bodyPr vert="horz" lIns="90170" tIns="46990" rIns="90170" bIns="46990" rtlCol="0" anchor="ctr" anchorCtr="0">
            <a:no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a:lstStyle>
          <a:p>
            <a:r>
              <a:rPr lang="en-US" altLang="zh-CN" sz="4800">
                <a:solidFill>
                  <a:srgbClr val="6096E6"/>
                </a:solidFill>
                <a:sym typeface="Arial" panose="020B0604020202020204" pitchFamily="34" charset="0"/>
              </a:rPr>
              <a:t>PWM</a:t>
            </a:r>
            <a:r>
              <a:rPr lang="zh-CN" altLang="en-US" sz="4800">
                <a:solidFill>
                  <a:srgbClr val="6096E6"/>
                </a:solidFill>
                <a:sym typeface="Arial" panose="020B0604020202020204" pitchFamily="34" charset="0"/>
              </a:rPr>
              <a:t>操作流程</a:t>
            </a:r>
            <a:endParaRPr lang="zh-CN" altLang="en-US" sz="4800">
              <a:solidFill>
                <a:srgbClr val="6096E6"/>
              </a:solidFill>
              <a:sym typeface="Arial" panose="020B0604020202020204" pitchFamily="34" charset="0"/>
            </a:endParaRPr>
          </a:p>
        </p:txBody>
      </p:sp>
      <p:pic>
        <p:nvPicPr>
          <p:cNvPr id="102" name="图片 101"/>
          <p:cNvPicPr>
            <a:picLocks noChangeAspect="1"/>
          </p:cNvPicPr>
          <p:nvPr/>
        </p:nvPicPr>
        <p:blipFill>
          <a:blip r:embed="rId5"/>
          <a:stretch>
            <a:fillRect/>
          </a:stretch>
        </p:blipFill>
        <p:spPr>
          <a:xfrm>
            <a:off x="317500" y="144780"/>
            <a:ext cx="2322830" cy="872490"/>
          </a:xfrm>
          <a:prstGeom prst="rect">
            <a:avLst/>
          </a:prstGeom>
          <a:noFill/>
          <a:ln w="9525">
            <a:noFill/>
          </a:ln>
        </p:spPr>
      </p:pic>
    </p:spTree>
    <p:custDataLst>
      <p:tags r:id="rId6"/>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cxnSp>
        <p:nvCxnSpPr>
          <p:cNvPr id="33" name="直接连接符 32"/>
          <p:cNvCxnSpPr/>
          <p:nvPr/>
        </p:nvCxnSpPr>
        <p:spPr>
          <a:xfrm>
            <a:off x="531495" y="873125"/>
            <a:ext cx="4044315" cy="571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1422400" y="330200"/>
            <a:ext cx="3081655" cy="521970"/>
          </a:xfrm>
          <a:prstGeom prst="rect">
            <a:avLst/>
          </a:prstGeom>
          <a:noFill/>
        </p:spPr>
        <p:txBody>
          <a:bodyPr wrap="square" rtlCol="0">
            <a:spAutoFit/>
            <a:scene3d>
              <a:camera prst="orthographicFront"/>
              <a:lightRig rig="threePt" dir="t"/>
            </a:scene3d>
          </a:bodyPr>
          <a:p>
            <a:pPr algn="ctr">
              <a:defRPr/>
            </a:pPr>
            <a:r>
              <a:rPr kumimoji="0" lang="en-US" altLang="zh-CN"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PWM</a:t>
            </a:r>
            <a:r>
              <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操作流程</a:t>
            </a:r>
            <a:endPar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sp>
        <p:nvSpPr>
          <p:cNvPr id="4" name="文本框 3"/>
          <p:cNvSpPr txBox="1"/>
          <p:nvPr/>
        </p:nvSpPr>
        <p:spPr>
          <a:xfrm>
            <a:off x="1510665" y="1397635"/>
            <a:ext cx="8662035" cy="829945"/>
          </a:xfrm>
          <a:prstGeom prst="rect">
            <a:avLst/>
          </a:prstGeom>
          <a:noFill/>
        </p:spPr>
        <p:txBody>
          <a:bodyPr wrap="square" rtlCol="0">
            <a:spAutoFit/>
          </a:bodyPr>
          <a:p>
            <a:r>
              <a:rPr lang="en-US" sz="2800"/>
              <a:t>  </a:t>
            </a:r>
            <a:r>
              <a:rPr lang="en-US" sz="2000"/>
              <a:t>     </a:t>
            </a:r>
            <a:r>
              <a:rPr sz="2000"/>
              <a:t>通过驱动PWM实现一个呼吸灯的效果，通过PWM信号占空比的变化，可以实现流过LED电流的不同，实现LED亮暗的渐变。</a:t>
            </a:r>
            <a:endParaRPr sz="2000"/>
          </a:p>
        </p:txBody>
      </p:sp>
      <p:pic>
        <p:nvPicPr>
          <p:cNvPr id="102" name="图片 101"/>
          <p:cNvPicPr>
            <a:picLocks noChangeAspect="1"/>
          </p:cNvPicPr>
          <p:nvPr/>
        </p:nvPicPr>
        <p:blipFill>
          <a:blip r:embed="rId2"/>
          <a:stretch>
            <a:fillRect/>
          </a:stretch>
        </p:blipFill>
        <p:spPr>
          <a:xfrm>
            <a:off x="9391015" y="330200"/>
            <a:ext cx="2322830" cy="872490"/>
          </a:xfrm>
          <a:prstGeom prst="rect">
            <a:avLst/>
          </a:prstGeom>
          <a:noFill/>
          <a:ln w="9525">
            <a:noFill/>
          </a:ln>
        </p:spPr>
      </p:pic>
      <p:sp>
        <p:nvSpPr>
          <p:cNvPr id="100" name="文本框 99"/>
          <p:cNvSpPr txBox="1"/>
          <p:nvPr/>
        </p:nvSpPr>
        <p:spPr>
          <a:xfrm>
            <a:off x="1510665" y="3131820"/>
            <a:ext cx="8506460" cy="1322070"/>
          </a:xfrm>
          <a:prstGeom prst="rect">
            <a:avLst/>
          </a:prstGeom>
          <a:noFill/>
          <a:ln w="9525">
            <a:noFill/>
          </a:ln>
        </p:spPr>
        <p:txBody>
          <a:bodyPr wrap="square">
            <a:spAutoFit/>
          </a:bodyPr>
          <a:p>
            <a:pPr indent="266700"/>
            <a:r>
              <a:rPr lang="en-US" sz="2000" b="0"/>
              <a:t>    </a:t>
            </a:r>
            <a:r>
              <a:rPr sz="2000" b="0"/>
              <a:t>一般人眼睛对于80HZ以上刷新频率则完全没有闪烁感，由于频率很高时看不到闪烁，占空比越大LED越亮，占空比越小LED越暗。所以在频率一定时，可以用不同占空比改变LED灯的亮度，使其达到一个呼吸灯的效果。</a:t>
            </a:r>
            <a:endParaRPr sz="2000"/>
          </a:p>
        </p:txBody>
      </p:sp>
    </p:spTree>
    <p:custDataLst>
      <p:tags r:id="rId3"/>
    </p:custData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文本框 57"/>
          <p:cNvSpPr txBox="1"/>
          <p:nvPr/>
        </p:nvSpPr>
        <p:spPr>
          <a:xfrm>
            <a:off x="3329305" y="2525395"/>
            <a:ext cx="5527040" cy="937260"/>
          </a:xfrm>
          <a:prstGeom prst="rect">
            <a:avLst/>
          </a:prstGeom>
          <a:noFill/>
        </p:spPr>
        <p:txBody>
          <a:bodyPr wrap="square" rtlCol="0">
            <a:spAutoFit/>
          </a:bodyPr>
          <a:p>
            <a:pPr algn="dist"/>
            <a:r>
              <a:rPr lang="zh-CN" altLang="en-US" sz="5500" b="1">
                <a:solidFill>
                  <a:srgbClr val="35729C"/>
                </a:solidFill>
                <a:latin typeface="微软雅黑" panose="020B0503020204020204" pitchFamily="34" charset="-122"/>
                <a:ea typeface="微软雅黑" panose="020B0503020204020204" pitchFamily="34" charset="-122"/>
                <a:cs typeface="微软雅黑" panose="020B0503020204020204" pitchFamily="34" charset="-122"/>
              </a:rPr>
              <a:t>谢谢大家</a:t>
            </a:r>
            <a:endParaRPr lang="zh-CN" altLang="en-US" sz="5500" b="1">
              <a:solidFill>
                <a:srgbClr val="35729C"/>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9" name="文本框 58"/>
          <p:cNvSpPr txBox="1"/>
          <p:nvPr/>
        </p:nvSpPr>
        <p:spPr>
          <a:xfrm>
            <a:off x="2706370" y="3552825"/>
            <a:ext cx="6771640" cy="337185"/>
          </a:xfrm>
          <a:prstGeom prst="rect">
            <a:avLst/>
          </a:prstGeom>
          <a:noFill/>
        </p:spPr>
        <p:txBody>
          <a:bodyPr wrap="square" rtlCol="0">
            <a:spAutoFit/>
          </a:bodyPr>
          <a:p>
            <a:pPr algn="dist"/>
            <a:r>
              <a:rPr lang="zh-CN" altLang="en-US" sz="1600" cap="all">
                <a:solidFill>
                  <a:srgbClr val="35729C">
                    <a:alpha val="50000"/>
                  </a:srgbClr>
                </a:solidFill>
                <a:uFillTx/>
                <a:cs typeface="微软雅黑" panose="020B0503020204020204" pitchFamily="34" charset="-122"/>
              </a:rPr>
              <a:t>Thank you for your attention</a:t>
            </a:r>
            <a:endParaRPr lang="zh-CN" altLang="en-US" sz="1600" cap="all">
              <a:solidFill>
                <a:srgbClr val="35729C">
                  <a:alpha val="50000"/>
                </a:srgbClr>
              </a:solidFill>
              <a:uFillTx/>
              <a:cs typeface="微软雅黑" panose="020B0503020204020204" pitchFamily="34" charset="-122"/>
            </a:endParaRPr>
          </a:p>
        </p:txBody>
      </p:sp>
      <p:sp>
        <p:nvSpPr>
          <p:cNvPr id="2" name="文本框 1"/>
          <p:cNvSpPr txBox="1"/>
          <p:nvPr/>
        </p:nvSpPr>
        <p:spPr>
          <a:xfrm>
            <a:off x="3469005" y="1702435"/>
            <a:ext cx="5527040" cy="937260"/>
          </a:xfrm>
          <a:prstGeom prst="rect">
            <a:avLst/>
          </a:prstGeom>
          <a:noFill/>
        </p:spPr>
        <p:txBody>
          <a:bodyPr wrap="square" rtlCol="0">
            <a:spAutoFit/>
          </a:bodyPr>
          <a:p>
            <a:pPr algn="dist"/>
            <a:endParaRPr lang="zh-CN" altLang="en-US" sz="5500" b="1">
              <a:solidFill>
                <a:srgbClr val="35729C"/>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p:cNvSpPr txBox="1"/>
          <p:nvPr/>
        </p:nvSpPr>
        <p:spPr>
          <a:xfrm>
            <a:off x="2706370" y="3554095"/>
            <a:ext cx="6771640" cy="337185"/>
          </a:xfrm>
          <a:prstGeom prst="rect">
            <a:avLst/>
          </a:prstGeom>
          <a:noFill/>
        </p:spPr>
        <p:txBody>
          <a:bodyPr wrap="square" rtlCol="0">
            <a:spAutoFit/>
          </a:bodyPr>
          <a:p>
            <a:pPr algn="dist"/>
            <a:r>
              <a:rPr lang="zh-CN" altLang="en-US" sz="1600" cap="all">
                <a:solidFill>
                  <a:srgbClr val="35729C">
                    <a:alpha val="50000"/>
                  </a:srgbClr>
                </a:solidFill>
                <a:uFillTx/>
                <a:cs typeface="微软雅黑" panose="020B0503020204020204" pitchFamily="34" charset="-122"/>
              </a:rPr>
              <a:t>Thank you for your attention</a:t>
            </a:r>
            <a:endParaRPr lang="zh-CN" altLang="en-US" sz="1600" cap="all">
              <a:solidFill>
                <a:srgbClr val="35729C">
                  <a:alpha val="50000"/>
                </a:srgbClr>
              </a:solidFill>
              <a:uFillTx/>
              <a:cs typeface="微软雅黑" panose="020B0503020204020204" pitchFamily="34" charset="-122"/>
            </a:endParaRPr>
          </a:p>
        </p:txBody>
      </p:sp>
      <p:pic>
        <p:nvPicPr>
          <p:cNvPr id="102" name="图片 101"/>
          <p:cNvPicPr>
            <a:picLocks noChangeAspect="1"/>
          </p:cNvPicPr>
          <p:nvPr/>
        </p:nvPicPr>
        <p:blipFill>
          <a:blip r:embed="rId1"/>
          <a:stretch>
            <a:fillRect/>
          </a:stretch>
        </p:blipFill>
        <p:spPr>
          <a:xfrm>
            <a:off x="306705" y="187325"/>
            <a:ext cx="2322830" cy="872490"/>
          </a:xfrm>
          <a:prstGeom prst="rect">
            <a:avLst/>
          </a:prstGeom>
          <a:noFill/>
          <a:ln w="9525">
            <a:noFill/>
          </a:ln>
        </p:spPr>
      </p:pic>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7.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14.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1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16.xml><?xml version="1.0" encoding="utf-8"?>
<p:tagLst xmlns:p="http://schemas.openxmlformats.org/presentationml/2006/main">
  <p:tag name="KSO_WM_UNIT_DIAGRAM_MODELTYPE" val="stripeEnum"/>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l_h_a"/>
  <p:tag name="KSO_WM_UNIT_INDEX" val="1_2_1"/>
  <p:tag name="KSO_WM_UNIT_ID" val="diagram20198924_4*l_h_a*1_2_1"/>
  <p:tag name="KSO_WM_TEMPLATE_CATEGORY" val="diagram"/>
  <p:tag name="KSO_WM_TEMPLATE_INDEX" val="20198924"/>
  <p:tag name="KSO_WM_UNIT_LAYERLEVEL" val="1_1_1"/>
  <p:tag name="KSO_WM_TAG_VERSION" val="1.0"/>
  <p:tag name="KSO_WM_BEAUTIFY_FLAG" val="#wm#"/>
  <p:tag name="KSO_WM_UNIT_PRESET_TEXT" val="添加标题"/>
  <p:tag name="KSO_WM_UNIT_TEXT_FILL_FORE_SCHEMECOLOR_INDEX_BRIGHTNESS" val="0.35"/>
  <p:tag name="KSO_WM_UNIT_TEXT_FILL_FORE_SCHEMECOLOR_INDEX" val="13"/>
  <p:tag name="KSO_WM_UNIT_TEXT_FILL_TYPE" val="1"/>
  <p:tag name="KSO_WM_UNIT_USESOURCEFORMAT_APPLY" val="1"/>
</p:tagLst>
</file>

<file path=ppt/tags/tag117.xml><?xml version="1.0" encoding="utf-8"?>
<p:tagLst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198924_4*l_h_i*1_2_1"/>
  <p:tag name="KSO_WM_TEMPLATE_CATEGORY" val="diagram"/>
  <p:tag name="KSO_WM_TEMPLATE_INDEX" val="20198924"/>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18.xml><?xml version="1.0" encoding="utf-8"?>
<p:tagLst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198924_4*l_h_i*1_2_2"/>
  <p:tag name="KSO_WM_TEMPLATE_CATEGORY" val="diagram"/>
  <p:tag name="KSO_WM_TEMPLATE_INDEX" val="20198924"/>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19.xml><?xml version="1.0" encoding="utf-8"?>
<p:tagLst xmlns:p="http://schemas.openxmlformats.org/presentationml/2006/main">
  <p:tag name="KSO_WM_UNIT_DIAGRAM_MODELTYPE" val="stripeEnum"/>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l_h_a"/>
  <p:tag name="KSO_WM_UNIT_INDEX" val="1_2_1"/>
  <p:tag name="KSO_WM_UNIT_ID" val="diagram20198924_4*l_h_a*1_2_1"/>
  <p:tag name="KSO_WM_TEMPLATE_CATEGORY" val="diagram"/>
  <p:tag name="KSO_WM_TEMPLATE_INDEX" val="20198924"/>
  <p:tag name="KSO_WM_UNIT_LAYERLEVEL" val="1_1_1"/>
  <p:tag name="KSO_WM_TAG_VERSION" val="1.0"/>
  <p:tag name="KSO_WM_BEAUTIFY_FLAG" val="#wm#"/>
  <p:tag name="KSO_WM_UNIT_PRESET_TEXT" val="添加标题"/>
  <p:tag name="KSO_WM_UNIT_TEXT_FILL_FORE_SCHEMECOLOR_INDEX_BRIGHTNESS" val="0.35"/>
  <p:tag name="KSO_WM_UNIT_TEXT_FILL_FORE_SCHEMECOLOR_INDEX" val="13"/>
  <p:tag name="KSO_WM_UNIT_TEXT_FILL_TYPE" val="1"/>
  <p:tag name="KSO_WM_UNIT_USESOURCEFORMAT_APPLY" val="1"/>
</p:tagLst>
</file>

<file path=ppt/tags/tag120.xml><?xml version="1.0" encoding="utf-8"?>
<p:tagLst xmlns:p="http://schemas.openxmlformats.org/presentationml/2006/main">
  <p:tag name="KSO_WM_BEAUTIFY_FLAG" val="#wm#"/>
  <p:tag name="KSO_WM_TEMPLATE_CATEGORY" val="diagram"/>
  <p:tag name="KSO_WM_TEMPLATE_INDEX" val="20198924"/>
  <p:tag name="KSO_WM_SLIDE_ID" val="diagram20198924_3"/>
  <p:tag name="KSO_WM_TEMPLATE_SUBCATEGORY" val="22"/>
  <p:tag name="KSO_WM_TEMPLATE_MASTER_TYPE" val="0"/>
  <p:tag name="KSO_WM_TEMPLATE_COLOR_TYPE" val="1"/>
  <p:tag name="KSO_WM_SLIDE_TYPE" val="text"/>
  <p:tag name="KSO_WM_SLIDE_SUBTYPE" val="diag"/>
  <p:tag name="KSO_WM_SLIDE_ITEM_CNT" val="5"/>
  <p:tag name="KSO_WM_SLIDE_INDEX" val="3"/>
  <p:tag name="KSO_WM_SLIDE_SIZE" val="900.387*205.958"/>
  <p:tag name="KSO_WM_SLIDE_POSITION" val="29.8064*167.021"/>
  <p:tag name="KSO_WM_DIAGRAM_GROUP_CODE" val="l1-1"/>
  <p:tag name="KSO_WM_SLIDE_DIAGTYPE" val="l"/>
  <p:tag name="KSO_WM_TAG_VERSION" val="1.0"/>
  <p:tag name="KSO_WM_SLIDE_LAYOUT" val="l"/>
  <p:tag name="KSO_WM_SLIDE_LAYOUT_CNT" val="1"/>
</p:tagLst>
</file>

<file path=ppt/tags/tag121.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LAYERLEVEL" val="1"/>
  <p:tag name="KSO_WM_TAG_VERSION" val="1.0"/>
  <p:tag name="KSO_WM_BEAUTIFY_FLAG" val="#wm#"/>
  <p:tag name="KSO_WM_UNIT_NOCLEAR" val="0"/>
  <p:tag name="KSO_WM_UNIT_VALUE" val="1"/>
  <p:tag name="KSO_WM_UNIT_TYPE" val="e"/>
  <p:tag name="KSO_WM_UNIT_INDEX" val="1"/>
  <p:tag name="KSO_WM_UNIT_PRESET_TEXT" val="01"/>
  <p:tag name="KSO_WM_TEMPLATE_CATEGORY" val="custom"/>
  <p:tag name="KSO_WM_TEMPLATE_INDEX" val="20204357"/>
  <p:tag name="KSO_WM_UNIT_ID" val="custom20204357_7*e*1"/>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TEMPLATE_CATEGORY" val="custom"/>
  <p:tag name="KSO_WM_TEMPLATE_INDEX" val="20204357"/>
  <p:tag name="KSO_WM_UNIT_ID" val="custom20204357_7*i*2"/>
  <p:tag name="KSO_WM_UNIT_TYPE" val="i"/>
  <p:tag name="KSO_WM_UNIT_INDEX" val="2"/>
</p:tagLst>
</file>

<file path=ppt/tags/tag123.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LAYERLEVEL" val="1"/>
  <p:tag name="KSO_WM_TAG_VERSION" val="1.0"/>
  <p:tag name="KSO_WM_BEAUTIFY_FLAG" val="#wm#"/>
  <p:tag name="KSO_WM_UNIT_NOCLEAR" val="0"/>
  <p:tag name="KSO_WM_UNIT_VALUE" val="1"/>
  <p:tag name="KSO_WM_UNIT_TYPE" val="e"/>
  <p:tag name="KSO_WM_UNIT_INDEX" val="1"/>
  <p:tag name="KSO_WM_UNIT_PRESET_TEXT" val="01"/>
  <p:tag name="KSO_WM_TEMPLATE_CATEGORY" val="custom"/>
  <p:tag name="KSO_WM_TEMPLATE_INDEX" val="20204357"/>
  <p:tag name="KSO_WM_UNIT_ID" val="custom20204357_7*e*1"/>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TEMPLATE_CATEGORY" val="custom"/>
  <p:tag name="KSO_WM_TEMPLATE_INDEX" val="20204357"/>
  <p:tag name="KSO_WM_UNIT_ID" val="custom20204357_7*i*2"/>
  <p:tag name="KSO_WM_UNIT_TYPE" val="i"/>
  <p:tag name="KSO_WM_UNIT_INDEX" val="2"/>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ISCONTENTSTITLE" val="0"/>
  <p:tag name="KSO_WM_UNIT_NOCLEAR" val="0"/>
  <p:tag name="KSO_WM_UNIT_VALUE" val="9"/>
  <p:tag name="KSO_WM_UNIT_TYPE" val="a"/>
  <p:tag name="KSO_WM_UNIT_INDEX" val="1"/>
  <p:tag name="KSO_WM_UNIT_PRESET_TEXT" val="单击此处添加标题"/>
  <p:tag name="KSO_WM_TEMPLATE_CATEGORY" val="custom"/>
  <p:tag name="KSO_WM_TEMPLATE_INDEX" val="20204357"/>
  <p:tag name="KSO_WM_UNIT_ID" val="custom20204357_7*a*1"/>
  <p:tag name="KSO_WM_UNIT_ISNUMDGMTITLE" val="0"/>
</p:tagLst>
</file>

<file path=ppt/tags/tag12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8.xml><?xml version="1.0" encoding="utf-8"?>
<p:tagLst xmlns:p="http://schemas.openxmlformats.org/presentationml/2006/main">
  <p:tag name="KSO_WM_UNIT_TABLE_BEAUTIFY" val="smartTable{eb5a2b25-3143-4e48-8e16-6394f162d511}"/>
  <p:tag name="TABLE_ENDDRAG_ORIGIN_RECT" val="734*149"/>
  <p:tag name="TABLE_ENDDRAG_RECT" val="101*242*734*149"/>
</p:tagLst>
</file>

<file path=ppt/tags/tag12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0.xml><?xml version="1.0" encoding="utf-8"?>
<p:tagLst xmlns:p="http://schemas.openxmlformats.org/presentationml/2006/main">
  <p:tag name="KSO_WM_UNIT_TABLE_BEAUTIFY" val="smartTable{c4ee1fdc-f112-44c7-b135-118861a44760}"/>
</p:tagLst>
</file>

<file path=ppt/tags/tag13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4.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LAYERLEVEL" val="1"/>
  <p:tag name="KSO_WM_TAG_VERSION" val="1.0"/>
  <p:tag name="KSO_WM_BEAUTIFY_FLAG" val="#wm#"/>
  <p:tag name="KSO_WM_UNIT_NOCLEAR" val="0"/>
  <p:tag name="KSO_WM_UNIT_VALUE" val="1"/>
  <p:tag name="KSO_WM_UNIT_TYPE" val="e"/>
  <p:tag name="KSO_WM_UNIT_INDEX" val="1"/>
  <p:tag name="KSO_WM_UNIT_PRESET_TEXT" val="01"/>
  <p:tag name="KSO_WM_TEMPLATE_CATEGORY" val="custom"/>
  <p:tag name="KSO_WM_TEMPLATE_INDEX" val="20204357"/>
  <p:tag name="KSO_WM_UNIT_ID" val="custom20204357_7*e*1"/>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TEMPLATE_CATEGORY" val="custom"/>
  <p:tag name="KSO_WM_TEMPLATE_INDEX" val="20204357"/>
  <p:tag name="KSO_WM_UNIT_ID" val="custom20204357_7*i*2"/>
  <p:tag name="KSO_WM_UNIT_TYPE" val="i"/>
  <p:tag name="KSO_WM_UNIT_INDEX" val="2"/>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TEMPLATE_CATEGORY" val="custom"/>
  <p:tag name="KSO_WM_TEMPLATE_INDEX" val="20204357"/>
  <p:tag name="KSO_WM_UNIT_ID" val="custom20204357_7*i*2"/>
  <p:tag name="KSO_WM_UNIT_TYPE" val="i"/>
  <p:tag name="KSO_WM_UNIT_INDEX" val="2"/>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ISCONTENTSTITLE" val="0"/>
  <p:tag name="KSO_WM_UNIT_NOCLEAR" val="0"/>
  <p:tag name="KSO_WM_UNIT_VALUE" val="9"/>
  <p:tag name="KSO_WM_UNIT_TYPE" val="a"/>
  <p:tag name="KSO_WM_UNIT_INDEX" val="1"/>
  <p:tag name="KSO_WM_UNIT_PRESET_TEXT" val="单击此处添加标题"/>
  <p:tag name="KSO_WM_TEMPLATE_CATEGORY" val="custom"/>
  <p:tag name="KSO_WM_TEMPLATE_INDEX" val="20204357"/>
  <p:tag name="KSO_WM_UNIT_ID" val="custom20204357_7*a*1"/>
  <p:tag name="KSO_WM_UNIT_ISNUMDGMTITLE" val="0"/>
</p:tagLst>
</file>

<file path=ppt/tags/tag13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4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1132</Words>
  <Application>WPS 演示</Application>
  <PresentationFormat>宽屏</PresentationFormat>
  <Paragraphs>98</Paragraphs>
  <Slides>11</Slides>
  <Notes>4</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11</vt:i4>
      </vt:variant>
    </vt:vector>
  </HeadingPairs>
  <TitlesOfParts>
    <vt:vector size="21" baseType="lpstr">
      <vt:lpstr>Arial</vt:lpstr>
      <vt:lpstr>宋体</vt:lpstr>
      <vt:lpstr>Wingdings</vt:lpstr>
      <vt:lpstr>微软雅黑</vt:lpstr>
      <vt:lpstr>Wingdings</vt:lpstr>
      <vt:lpstr>Arial</vt:lpstr>
      <vt:lpstr>Arial Unicode MS</vt:lpstr>
      <vt:lpstr>Calibri</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冷月枫</cp:lastModifiedBy>
  <cp:revision>387</cp:revision>
  <dcterms:created xsi:type="dcterms:W3CDTF">2019-06-19T02:08:00Z</dcterms:created>
  <dcterms:modified xsi:type="dcterms:W3CDTF">2022-05-23T05:26:38Z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2052-11.1.0.11372</vt:lpwstr>
  </property>
  <property fmtid="{D5CDD505-2E9C-101B-9397-08002B2CF9AE}" pid="3" name="KSOTemplateUUID">
    <vt:lpwstr>v1.0_mb_UVDUVYxfrMBBv8iemHXVyg==</vt:lpwstr>
  </property>
  <property fmtid="{D5CDD505-2E9C-101B-9397-08002B2CF9AE}" pid="4" name="ICV">
    <vt:lpwstr>F4FD8076E9E2473C85D3F1F44504090E</vt:lpwstr>
  </property>
  <property fmtid="{D5CDD505-2E9C-101B-9397-08002B2CF9AE}" pid="5" name="KSOSaveFontToCloudKey">
    <vt:lpwstr>203183318_embed</vt:lpwstr>
  </property>
</Properties>
</file>