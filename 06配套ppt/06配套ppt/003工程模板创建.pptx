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6"/>
  </p:handoutMasterIdLst>
  <p:sldIdLst>
    <p:sldId id="409" r:id="rId4"/>
    <p:sldId id="497" r:id="rId5"/>
    <p:sldId id="490" r:id="rId6"/>
    <p:sldId id="606" r:id="rId8"/>
    <p:sldId id="678" r:id="rId9"/>
    <p:sldId id="607" r:id="rId10"/>
    <p:sldId id="673" r:id="rId11"/>
    <p:sldId id="674" r:id="rId12"/>
    <p:sldId id="679" r:id="rId13"/>
    <p:sldId id="680" r:id="rId14"/>
    <p:sldId id="427" r:id="rId15"/>
  </p:sldIdLst>
  <p:sldSz cx="12192000" cy="6858000"/>
  <p:notesSz cx="6858000" cy="9144000"/>
  <p:embeddedFontLst>
    <p:embeddedFont>
      <p:font typeface="微软雅黑" panose="020B0503020204020204" pitchFamily="34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26"/>
        <p:guide pos="3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3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4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5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2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3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334000" y="2529205"/>
            <a:ext cx="6508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工程模板创建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139065"/>
            <a:ext cx="2322830" cy="459740"/>
          </a:xfrm>
          <a:prstGeom prst="rect">
            <a:avLst/>
          </a:prstGeom>
        </p:spPr>
      </p:pic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1931706" y="3320576"/>
            <a:ext cx="3410854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资料下载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2264410" y="4495800"/>
            <a:ext cx="3014980" cy="899795"/>
          </a:xfrm>
          <a:prstGeom prst="rect">
            <a:avLst/>
          </a:prstGeom>
          <a:noFill/>
        </p:spPr>
        <p:txBody>
          <a:bodyPr wrap="square" lIns="90000" tIns="0" rIns="90000" bIns="46800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器件包下载安装和标准固件库下载介绍</a:t>
            </a:r>
            <a:endParaRPr lang="zh-CN" altLang="en-US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492607" y="3370005"/>
            <a:ext cx="4141987" cy="1106679"/>
          </a:xfrm>
          <a:prstGeom prst="rect">
            <a:avLst/>
          </a:prstGeom>
          <a:noFill/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工程模板创建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7516495" y="4384040"/>
            <a:ext cx="3180715" cy="2473960"/>
          </a:xfrm>
          <a:prstGeom prst="rect">
            <a:avLst/>
          </a:prstGeom>
          <a:noFill/>
        </p:spPr>
        <p:txBody>
          <a:bodyPr wrap="square" lIns="90000" tIns="0" rIns="90000" bIns="4680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000" spc="15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构建工程模板文件夹，配置工程，编译。</a:t>
            </a:r>
            <a:endParaRPr lang="zh-CN" altLang="en-US" sz="2000" spc="1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5"/>
            </p:custDataLst>
          </p:nvPr>
        </p:nvSpPr>
        <p:spPr>
          <a:xfrm>
            <a:off x="6983654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形状 62" descr="A2"/>
          <p:cNvSpPr/>
          <p:nvPr>
            <p:custDataLst>
              <p:tags r:id="rId6"/>
            </p:custDataLst>
          </p:nvPr>
        </p:nvSpPr>
        <p:spPr>
          <a:xfrm>
            <a:off x="8657006" y="1694981"/>
            <a:ext cx="1350413" cy="1513743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形状 52" descr="A1"/>
          <p:cNvSpPr/>
          <p:nvPr>
            <p:custDataLst>
              <p:tags r:id="rId7"/>
            </p:custDataLst>
          </p:nvPr>
        </p:nvSpPr>
        <p:spPr>
          <a:xfrm>
            <a:off x="4178347" y="1687692"/>
            <a:ext cx="867668" cy="1521030"/>
          </a:xfrm>
          <a:custGeom>
            <a:avLst/>
            <a:gdLst>
              <a:gd name="connsiteX0" fmla="*/ 216296 w 410235"/>
              <a:gd name="connsiteY0" fmla="*/ 0 h 719146"/>
              <a:gd name="connsiteX1" fmla="*/ 410235 w 410235"/>
              <a:gd name="connsiteY1" fmla="*/ 0 h 719146"/>
              <a:gd name="connsiteX2" fmla="*/ 410235 w 410235"/>
              <a:gd name="connsiteY2" fmla="*/ 719146 h 719146"/>
              <a:gd name="connsiteX3" fmla="*/ 216319 w 410235"/>
              <a:gd name="connsiteY3" fmla="*/ 719146 h 719146"/>
              <a:gd name="connsiteX4" fmla="*/ 216319 w 410235"/>
              <a:gd name="connsiteY4" fmla="*/ 208872 h 719146"/>
              <a:gd name="connsiteX5" fmla="*/ 0 w 410235"/>
              <a:gd name="connsiteY5" fmla="*/ 396828 h 719146"/>
              <a:gd name="connsiteX6" fmla="*/ 0 w 410235"/>
              <a:gd name="connsiteY6" fmla="*/ 187979 h 719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0235" h="719146">
                <a:moveTo>
                  <a:pt x="216296" y="0"/>
                </a:moveTo>
                <a:lnTo>
                  <a:pt x="410235" y="0"/>
                </a:lnTo>
                <a:lnTo>
                  <a:pt x="410235" y="719146"/>
                </a:lnTo>
                <a:lnTo>
                  <a:pt x="216319" y="719146"/>
                </a:lnTo>
                <a:lnTo>
                  <a:pt x="216319" y="208872"/>
                </a:lnTo>
                <a:lnTo>
                  <a:pt x="0" y="396828"/>
                </a:lnTo>
                <a:lnTo>
                  <a:pt x="0" y="187979"/>
                </a:ln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形状 50" descr="A0"/>
          <p:cNvSpPr/>
          <p:nvPr>
            <p:custDataLst>
              <p:tags r:id="rId8"/>
            </p:custDataLst>
          </p:nvPr>
        </p:nvSpPr>
        <p:spPr>
          <a:xfrm>
            <a:off x="2264153" y="1693595"/>
            <a:ext cx="1336538" cy="1557309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3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1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755390" y="2609215"/>
            <a:ext cx="3973830" cy="381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5020310" y="1638300"/>
            <a:ext cx="3206115" cy="705485"/>
          </a:xfrm>
        </p:spPr>
        <p:txBody>
          <a:bodyPr>
            <a:noAutofit/>
          </a:bodyPr>
          <a:lstStyle/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资料下载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TextBox 2"/>
          <p:cNvSpPr txBox="1"/>
          <p:nvPr>
            <p:custDataLst>
              <p:tags r:id="rId5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3765550" y="2599690"/>
            <a:ext cx="3973830" cy="381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30470" y="1628775"/>
            <a:ext cx="320611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资料下载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6" name="标题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639570" y="4023995"/>
            <a:ext cx="37249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  <a:scene3d>
              <a:camera prst="orthographicFront"/>
              <a:lightRig rig="threePt" dir="t"/>
            </a:scene3d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Arial" panose="020B0604020202020204" pitchFamily="34" charset="0"/>
              </a:rPr>
              <a:t>器件包安装</a:t>
            </a:r>
            <a:endParaRPr lang="zh-CN" altLang="en-US" sz="48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sym typeface="Arial" panose="020B0604020202020204" pitchFamily="34" charset="0"/>
            </a:endParaRPr>
          </a:p>
        </p:txBody>
      </p:sp>
      <p:sp>
        <p:nvSpPr>
          <p:cNvPr id="9" name="标题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106285" y="4023995"/>
            <a:ext cx="358521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  <a:scene3d>
              <a:camera prst="orthographicFront"/>
              <a:lightRig rig="threePt" dir="t"/>
            </a:scene3d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Arial" panose="020B0604020202020204" pitchFamily="34" charset="0"/>
              </a:rPr>
              <a:t>固件库介绍</a:t>
            </a:r>
            <a:endParaRPr lang="zh-CN" altLang="en-US" sz="48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230060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器件包安装</a:t>
            </a:r>
            <a:endParaRPr kumimoji="0" lang="zh-CN" altLang="en-US" sz="2800" b="1" i="0" kern="1200" cap="none" spc="0" normalizeH="0" baseline="0" noProof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67535" y="5529580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50"/>
                </a:solidFill>
              </a:rPr>
              <a:t>官网链接：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76370" y="5606415"/>
            <a:ext cx="6055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</a:rPr>
              <a:t>http://www.gd32mcu.com/cn/download/7?kw=GD32F4</a:t>
            </a:r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48155" y="2169795"/>
            <a:ext cx="82842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en-US" altLang="zh-CN" sz="5400"/>
              <a:t>Keil</a:t>
            </a:r>
            <a:r>
              <a:rPr lang="zh-CN" altLang="en-US" sz="5400"/>
              <a:t>在线安装</a:t>
            </a:r>
            <a:endParaRPr lang="zh-CN" altLang="en-US" sz="5400"/>
          </a:p>
          <a:p>
            <a:pPr marL="342900" indent="-342900">
              <a:buFont typeface="+mj-lt"/>
              <a:buAutoNum type="arabicPeriod"/>
            </a:pPr>
            <a:r>
              <a:rPr lang="zh-CN" altLang="en-US" sz="5400"/>
              <a:t>官网</a:t>
            </a:r>
            <a:r>
              <a:rPr lang="zh-CN" altLang="en-US" sz="5400"/>
              <a:t>下载手动安装</a:t>
            </a:r>
            <a:endParaRPr lang="zh-CN" altLang="en-US" sz="5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31534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标准固件库介绍</a:t>
            </a:r>
            <a:endParaRPr kumimoji="0" lang="zh-CN" altLang="en-US" sz="2800" b="1" i="0" kern="1200" cap="none" spc="0" normalizeH="0" baseline="0" noProof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7045" y="5179695"/>
            <a:ext cx="2108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B050"/>
                </a:solidFill>
              </a:rPr>
              <a:t>官网链接：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65880" y="5256530"/>
            <a:ext cx="6055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2060"/>
                </a:solidFill>
              </a:rPr>
              <a:t>http://www.gd32mcu.com/cn/download/7?kw=</a:t>
            </a:r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7045" y="2153920"/>
            <a:ext cx="82842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5400"/>
              <a:t>官网下载标准固件库</a:t>
            </a:r>
            <a:endParaRPr lang="zh-CN" altLang="en-US" sz="5400"/>
          </a:p>
          <a:p>
            <a:pPr marL="342900" indent="-342900">
              <a:buFont typeface="+mj-lt"/>
              <a:buAutoNum type="arabicPeriod"/>
            </a:pPr>
            <a:r>
              <a:rPr lang="zh-CN" altLang="en-US" sz="5400"/>
              <a:t>标准固件库文件夹介绍</a:t>
            </a:r>
            <a:endParaRPr lang="zh-CN" altLang="en-US" sz="5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75260"/>
            <a:ext cx="2556510" cy="506095"/>
          </a:xfrm>
          <a:prstGeom prst="rect">
            <a:avLst/>
          </a:prstGeom>
        </p:spPr>
      </p:pic>
      <p:sp>
        <p:nvSpPr>
          <p:cNvPr id="7" name="TextBox 2"/>
          <p:cNvSpPr txBox="1"/>
          <p:nvPr>
            <p:custDataLst>
              <p:tags r:id="rId2"/>
            </p:custDataLst>
          </p:nvPr>
        </p:nvSpPr>
        <p:spPr>
          <a:xfrm>
            <a:off x="3068955" y="87758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58B6E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58B6E5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V="1">
            <a:off x="3291205" y="2068830"/>
            <a:ext cx="5203190" cy="49530"/>
          </a:xfrm>
          <a:prstGeom prst="line">
            <a:avLst/>
          </a:prstGeom>
          <a:ln w="25400">
            <a:solidFill>
              <a:srgbClr val="58B6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1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4556125" y="1143635"/>
            <a:ext cx="4074795" cy="705485"/>
          </a:xfrm>
        </p:spPr>
        <p:txBody>
          <a:bodyPr>
            <a:noAutofit/>
          </a:bodyPr>
          <a:lstStyle/>
          <a:p>
            <a:r>
              <a:rPr lang="zh-CN" altLang="en-US" sz="4800">
                <a:solidFill>
                  <a:srgbClr val="58B6E5"/>
                </a:solidFill>
                <a:sym typeface="Arial" panose="020B0604020202020204" pitchFamily="34" charset="0"/>
              </a:rPr>
              <a:t>工程模板创建</a:t>
            </a:r>
            <a:endParaRPr lang="zh-CN" altLang="en-US" sz="4800">
              <a:solidFill>
                <a:srgbClr val="58B6E5"/>
              </a:solidFill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8565" y="3205480"/>
            <a:ext cx="406781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 b="1">
                <a:solidFill>
                  <a:schemeClr val="accent2"/>
                </a:solidFill>
              </a:rPr>
              <a:t>1.</a:t>
            </a:r>
            <a:r>
              <a:rPr lang="zh-CN" altLang="en-US" sz="2800" b="1">
                <a:solidFill>
                  <a:schemeClr val="accent2"/>
                </a:solidFill>
              </a:rPr>
              <a:t>新建工程目录</a:t>
            </a:r>
            <a:endParaRPr lang="zh-CN" altLang="en-US" sz="2800" b="1">
              <a:solidFill>
                <a:schemeClr val="accent2"/>
              </a:solidFill>
            </a:endParaRPr>
          </a:p>
          <a:p>
            <a:pPr algn="l"/>
            <a:r>
              <a:rPr lang="en-US" altLang="zh-CN" sz="2800" b="1">
                <a:solidFill>
                  <a:schemeClr val="accent2"/>
                </a:solidFill>
              </a:rPr>
              <a:t>2.</a:t>
            </a:r>
            <a:r>
              <a:rPr lang="zh-CN" altLang="en-US" sz="2800" b="1">
                <a:solidFill>
                  <a:schemeClr val="accent2"/>
                </a:solidFill>
              </a:rPr>
              <a:t>拷贝工程文件</a:t>
            </a:r>
            <a:endParaRPr lang="zh-CN" altLang="en-US" sz="2800" b="1">
              <a:solidFill>
                <a:schemeClr val="accent2"/>
              </a:solidFill>
            </a:endParaRPr>
          </a:p>
          <a:p>
            <a:pPr algn="l"/>
            <a:r>
              <a:rPr lang="en-US" altLang="zh-CN" sz="2800" b="1">
                <a:solidFill>
                  <a:schemeClr val="accent2"/>
                </a:solidFill>
              </a:rPr>
              <a:t>3.</a:t>
            </a:r>
            <a:r>
              <a:rPr lang="zh-CN" altLang="en-US" sz="2800" b="1">
                <a:solidFill>
                  <a:schemeClr val="accent2"/>
                </a:solidFill>
              </a:rPr>
              <a:t>新建</a:t>
            </a:r>
            <a:r>
              <a:rPr lang="en-US" altLang="zh-CN" sz="2800" b="1">
                <a:solidFill>
                  <a:schemeClr val="accent2"/>
                </a:solidFill>
              </a:rPr>
              <a:t>Keil</a:t>
            </a:r>
            <a:r>
              <a:rPr lang="zh-CN" altLang="en-US" sz="2800" b="1">
                <a:solidFill>
                  <a:schemeClr val="accent2"/>
                </a:solidFill>
              </a:rPr>
              <a:t>工程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85156" y="359251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新建工程目录</a:t>
            </a:r>
            <a:endParaRPr kumimoji="0" lang="zh-CN" altLang="en-US" sz="2800" b="1" i="0" kern="1200" cap="none" spc="0" normalizeH="0" baseline="0" noProof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7045" y="2153920"/>
            <a:ext cx="82842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Project:存放工程文件，编译文件等。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Firmware：存放ARM内核文件，标准外设库文件等。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Hardware：存放开发板的硬件驱动文件。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App: 存放应用层文件。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User：存放main函数，gd32f4xx_it文件，systick文件。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Doc: 存放readme.txt文件，工程说明文件。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85156" y="359251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拷贝工程文件</a:t>
            </a:r>
            <a:endParaRPr kumimoji="0" lang="zh-CN" sz="2800" b="1" i="0" kern="1200" cap="none" spc="0" normalizeH="0" baseline="0" noProof="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7045" y="2153920"/>
            <a:ext cx="8284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lt"/>
              <a:buNone/>
            </a:pPr>
            <a:r>
              <a:rPr lang="zh-CN" altLang="en-US" sz="2400"/>
              <a:t>从标准固件库中拷贝需要的文件到新建的工程模板目录下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14683" y="359251"/>
            <a:ext cx="2257425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新建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Keil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工程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53895" y="1684020"/>
            <a:ext cx="82842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新建工程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器件选择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组件选择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创建分组并添加源文件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修改工程代码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添加宏和头文件路径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配置工程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编译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pic>
        <p:nvPicPr>
          <p:cNvPr id="30" name="图片 29" descr="lceda-logo-左右透底蓝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780" y="300355"/>
            <a:ext cx="2933700" cy="581025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49630"/>
            <a:ext cx="2385695" cy="23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40756" y="359251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配置工程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0" y="2153920"/>
            <a:ext cx="82842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勾选Use MicroLIB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勾选生成</a:t>
            </a:r>
            <a:r>
              <a:rPr lang="en-US" altLang="zh-CN" sz="2400"/>
              <a:t>HEX</a:t>
            </a:r>
            <a:r>
              <a:rPr lang="zh-CN" altLang="en-US" sz="2400"/>
              <a:t>文件</a:t>
            </a:r>
            <a:endParaRPr lang="zh-CN" altLang="en-US" sz="240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/>
              <a:t>修改</a:t>
            </a:r>
            <a:r>
              <a:rPr lang="en-US" altLang="zh-CN" sz="2400"/>
              <a:t>ARM Compiler</a:t>
            </a:r>
            <a:endParaRPr lang="en-US" altLang="zh-CN" sz="24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 descr="lceda-logo-左右透底蓝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25" y="205105"/>
            <a:ext cx="2322830" cy="459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1_1"/>
  <p:tag name="KSO_WM_UNIT_ID" val="diagram20198924_4*l_h_a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1_1"/>
  <p:tag name="KSO_WM_UNIT_ID" val="diagram20198924_4*l_h_f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f"/>
  <p:tag name="KSO_WM_UNIT_INDEX" val="1_2_1"/>
  <p:tag name="KSO_WM_UNIT_ID" val="diagram20198924_4*l_h_f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_BRIGHTNESS" val="-0.5"/>
  <p:tag name="KSO_WM_UNIT_TEXT_FILL_FORE_SCHEMECOLOR_INDEX" val="14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98924_4*l_h_i*1_1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98924_4*l_h_i*1_1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WPS 演示</Application>
  <PresentationFormat>宽屏</PresentationFormat>
  <Paragraphs>84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资料下载</vt:lpstr>
      <vt:lpstr>PowerPoint 演示文稿</vt:lpstr>
      <vt:lpstr>PowerPoint 演示文稿</vt:lpstr>
      <vt:lpstr>下载方式介绍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195</cp:revision>
  <dcterms:created xsi:type="dcterms:W3CDTF">2019-06-19T02:08:00Z</dcterms:created>
  <dcterms:modified xsi:type="dcterms:W3CDTF">2022-04-26T05:49:35Z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2052-11.1.0.11369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