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8"/>
  </p:handoutMasterIdLst>
  <p:sldIdLst>
    <p:sldId id="409" r:id="rId4"/>
    <p:sldId id="497" r:id="rId6"/>
    <p:sldId id="722" r:id="rId7"/>
    <p:sldId id="751" r:id="rId8"/>
    <p:sldId id="738" r:id="rId9"/>
    <p:sldId id="716" r:id="rId10"/>
    <p:sldId id="795" r:id="rId11"/>
    <p:sldId id="755" r:id="rId12"/>
    <p:sldId id="805" r:id="rId13"/>
    <p:sldId id="806" r:id="rId14"/>
    <p:sldId id="807" r:id="rId15"/>
    <p:sldId id="808" r:id="rId16"/>
    <p:sldId id="427" r:id="rId17"/>
  </p:sldIdLst>
  <p:sldSz cx="12192000" cy="6858000"/>
  <p:notesSz cx="6858000" cy="9144000"/>
  <p:embeddedFontLst>
    <p:embeddedFont>
      <p:font typeface="微软雅黑" panose="020B0503020204020204" pitchFamily="34" charset="-122"/>
      <p:regular r:id="rId23"/>
    </p:embeddedFont>
    <p:embeddedFont>
      <p:font typeface="黑体" panose="02010609060101010101" charset="-122"/>
      <p:regular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90" userDrawn="1">
          <p15:clr>
            <a:srgbClr val="A4A3A4"/>
          </p15:clr>
        </p15:guide>
        <p15:guide id="2" pos="369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490"/>
        <p:guide pos="369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gs" Target="tags/tag186.xml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（当然下降沿也可以，为了方便，我统一用上升沿）讲一下它的上升沿计数工作流程，计数器不断自增，每来一个上升沿，计数器就把计数的值锁存在CCR里,每计一个上升沿就是一个周期,一般闸门时间选一秒,一秒有多少个上升沿,频率就算出来了 </a:t>
            </a:r>
            <a:r>
              <a:rPr 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。</a:t>
            </a:r>
            <a:br>
              <a:rPr 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</a:br>
            <a:endParaRPr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r>
              <a:rPr lang="zh-CN" altLang="en-US">
                <a:sym typeface="+mn-ea"/>
              </a:rPr>
              <a:t>捕获信号的两个上升沿，然后测量一下这两个上升沿中间持续的时间就行了，实际上，我们没有一个精度无穷大的秒表来测量时间，那么我们就用一个已知标准频率Fc的记次时钟来驱动计数器，计数从一个上升沿开始，计数器从0一直到下一个上升沿结束，记一个标准频率的时间是Fc的倒数，就是1/Fc，记N个，就是N/Fc，时间是N/Fc，那么频率fx就是N/Fc的倒数，所以fx=Fc/N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即在引脚上检测到触发事件时立即触发输入捕获。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即在引脚上检测到触发事件时立即触发输入捕获。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即在引脚上检测到触发事件时立即触发输入捕获。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6.xml"/><Relationship Id="rId3" Type="http://schemas.openxmlformats.org/officeDocument/2006/relationships/image" Target="../media/image3.png"/><Relationship Id="rId2" Type="http://schemas.openxmlformats.org/officeDocument/2006/relationships/tags" Target="../tags/tag115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125.xml"/><Relationship Id="rId7" Type="http://schemas.openxmlformats.org/officeDocument/2006/relationships/image" Target="../media/image6.png"/><Relationship Id="rId6" Type="http://schemas.openxmlformats.org/officeDocument/2006/relationships/tags" Target="../tags/tag124.xml"/><Relationship Id="rId5" Type="http://schemas.openxmlformats.org/officeDocument/2006/relationships/image" Target="../media/image5.png"/><Relationship Id="rId4" Type="http://schemas.openxmlformats.org/officeDocument/2006/relationships/tags" Target="../tags/tag123.xml"/><Relationship Id="rId3" Type="http://schemas.openxmlformats.org/officeDocument/2006/relationships/image" Target="../media/image3.png"/><Relationship Id="rId2" Type="http://schemas.openxmlformats.org/officeDocument/2006/relationships/tags" Target="../tags/tag122.xml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129.xml"/><Relationship Id="rId7" Type="http://schemas.openxmlformats.org/officeDocument/2006/relationships/image" Target="../media/image8.png"/><Relationship Id="rId6" Type="http://schemas.openxmlformats.org/officeDocument/2006/relationships/tags" Target="../tags/tag128.xml"/><Relationship Id="rId5" Type="http://schemas.openxmlformats.org/officeDocument/2006/relationships/image" Target="../media/image7.png"/><Relationship Id="rId4" Type="http://schemas.openxmlformats.org/officeDocument/2006/relationships/tags" Target="../tags/tag127.xml"/><Relationship Id="rId3" Type="http://schemas.openxmlformats.org/officeDocument/2006/relationships/image" Target="../media/image3.png"/><Relationship Id="rId2" Type="http://schemas.openxmlformats.org/officeDocument/2006/relationships/tags" Target="../tags/tag126.xml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32.xml"/><Relationship Id="rId4" Type="http://schemas.openxmlformats.org/officeDocument/2006/relationships/image" Target="../media/image3.png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38.xml"/><Relationship Id="rId6" Type="http://schemas.openxmlformats.org/officeDocument/2006/relationships/image" Target="../media/image3.png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147.xml"/><Relationship Id="rId11" Type="http://schemas.openxmlformats.org/officeDocument/2006/relationships/image" Target="../media/image9.png"/><Relationship Id="rId10" Type="http://schemas.openxmlformats.org/officeDocument/2006/relationships/tags" Target="../tags/tag146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154.xml"/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55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image" Target="../media/image3.png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image" Target="../media/image4.png"/><Relationship Id="rId2" Type="http://schemas.openxmlformats.org/officeDocument/2006/relationships/tags" Target="../tags/tag157.xml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5.xml"/><Relationship Id="rId1" Type="http://schemas.openxmlformats.org/officeDocument/2006/relationships/tags" Target="../tags/tag15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image" Target="../media/image3.png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image" Target="../media/image4.png"/><Relationship Id="rId2" Type="http://schemas.openxmlformats.org/officeDocument/2006/relationships/tags" Target="../tags/tag164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5.xml"/><Relationship Id="rId1" Type="http://schemas.openxmlformats.org/officeDocument/2006/relationships/tags" Target="../tags/tag16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image" Target="../media/image3.png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image" Target="../media/image4.png"/><Relationship Id="rId2" Type="http://schemas.openxmlformats.org/officeDocument/2006/relationships/tags" Target="../tags/tag171.xml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15.xml"/><Relationship Id="rId1" Type="http://schemas.openxmlformats.org/officeDocument/2006/relationships/tags" Target="../tags/tag17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83.xml"/><Relationship Id="rId8" Type="http://schemas.openxmlformats.org/officeDocument/2006/relationships/image" Target="../media/image3.png"/><Relationship Id="rId7" Type="http://schemas.openxmlformats.org/officeDocument/2006/relationships/tags" Target="../tags/tag182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image" Target="../media/image4.png"/><Relationship Id="rId2" Type="http://schemas.openxmlformats.org/officeDocument/2006/relationships/tags" Target="../tags/tag178.xml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5.xml"/><Relationship Id="rId1" Type="http://schemas.openxmlformats.org/officeDocument/2006/relationships/tags" Target="../tags/tag17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85.xml"/><Relationship Id="rId2" Type="http://schemas.openxmlformats.org/officeDocument/2006/relationships/image" Target="../media/image3.png"/><Relationship Id="rId1" Type="http://schemas.openxmlformats.org/officeDocument/2006/relationships/tags" Target="../tags/tag1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628640" y="2771775"/>
            <a:ext cx="53981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定时器输入</a:t>
            </a:r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捕获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6898640" y="3676015"/>
            <a:ext cx="286702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输入捕获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配置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7796530" y="143525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8882223" y="143525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2633285" y="1494314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1781175" y="3676015"/>
            <a:ext cx="289623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输入捕获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原理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输入捕获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介绍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16915" y="899795"/>
            <a:ext cx="10427335" cy="1997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20000"/>
              </a:lnSpc>
            </a:pP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输入捕获是一种用于测量外部信号的频率、脉冲宽度和时间间隔的技术。</a:t>
            </a:r>
            <a:r>
              <a:rPr 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它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基本原理是在特定的触发条件下，通过检测到外部信号的边沿（上升沿或下降沿），记录捕获时刻的计数器值。通过对两个连续捕获时刻的计数器值进行计算，可以得到信号的频率、脉冲宽度或时间间隔等参数。</a:t>
            </a:r>
            <a:endParaRPr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 algn="l" fontAlgn="t">
              <a:lnSpc>
                <a:spcPct val="120000"/>
              </a:lnSpc>
            </a:pPr>
            <a:r>
              <a:rPr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GD32F4系列提供了多个引脚用于输入捕获功能。它集成了多个输入捕获模块，每个模块都可以独立地捕获外部信号。每个输入捕获模块包含一个16位的捕获寄存器用于存储捕获到的值。</a:t>
            </a:r>
            <a:endParaRPr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121650" y="2945130"/>
            <a:ext cx="3796030" cy="36106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35990" y="2802890"/>
            <a:ext cx="6553200" cy="375285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频率测量方法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31495" y="1022350"/>
            <a:ext cx="5864860" cy="3095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110000"/>
              </a:lnSpc>
            </a:pPr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测频法</a:t>
            </a:r>
            <a:endParaRPr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 algn="l" fontAlgn="t">
              <a:lnSpc>
                <a:spcPct val="110000"/>
              </a:lnSpc>
            </a:pP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给一个闸门时间</a:t>
            </a: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T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，对上升沿计次，得到上升沿次数</a:t>
            </a: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N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</a:t>
            </a:r>
            <a:r>
              <a:rPr 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那么频率</a:t>
            </a:r>
            <a:endParaRPr lang="zh-CN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 algn="ctr" fontAlgn="t">
              <a:lnSpc>
                <a:spcPct val="110000"/>
              </a:lnSpc>
            </a:pPr>
            <a:r>
              <a:rPr lang="en-US" altLang="zh-CN" sz="18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f = N / T</a:t>
            </a:r>
            <a:endParaRPr lang="en-US" altLang="zh-CN" sz="18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110000"/>
              </a:lnSpc>
            </a:pPr>
            <a:endParaRPr lang="en-US" altLang="zh-CN"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l" fontAlgn="t">
              <a:lnSpc>
                <a:spcPct val="110000"/>
              </a:lnSpc>
            </a:pPr>
            <a:r>
              <a:rPr lang="en-US" altLang="zh-CN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测周法</a:t>
            </a:r>
            <a:endParaRPr lang="en-US" altLang="zh-CN"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 algn="l" fontAlgn="t">
              <a:lnSpc>
                <a:spcPct val="110000"/>
              </a:lnSpc>
            </a:pP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捕获信号的两个上升沿，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以标准频率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fc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计次，得到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N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，那么频率</a:t>
            </a:r>
            <a:endParaRPr lang="zh-CN" alt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 algn="ctr" fontAlgn="t">
              <a:lnSpc>
                <a:spcPct val="110000"/>
              </a:lnSpc>
            </a:pPr>
            <a:r>
              <a:rPr lang="en-US" altLang="zh-CN" sz="18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f = fc / N</a:t>
            </a:r>
            <a:endParaRPr lang="en-US" altLang="zh-CN" sz="18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 algn="l" fontAlgn="t">
              <a:lnSpc>
                <a:spcPct val="110000"/>
              </a:lnSpc>
            </a:pPr>
            <a:endParaRPr lang="en-US" altLang="zh-CN" sz="18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763770" y="5135245"/>
            <a:ext cx="7180580" cy="14573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878320" y="1022350"/>
            <a:ext cx="4620260" cy="247840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输入捕获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基本参数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1654175" y="1471930"/>
          <a:ext cx="8533130" cy="3851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355"/>
                <a:gridCol w="620077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参数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描述</a:t>
                      </a:r>
                      <a:endParaRPr lang="zh-CN" altLang="en-US"/>
                    </a:p>
                  </a:txBody>
                  <a:tcPr/>
                </a:tc>
              </a:tr>
              <a:tr h="11569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触发边沿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可以通过配置触发边沿（上升沿、下降沿或双边沿）来控制捕获时机。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11569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计数器和时钟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输入捕获功能通常与定时器模块配合使用。</a:t>
                      </a:r>
                      <a:r>
                        <a:rPr lang="zh-CN" altLang="en-US" sz="1800">
                          <a:sym typeface="+mn-ea"/>
                        </a:rPr>
                        <a:t>用于提供计数功能和时间基准，</a:t>
                      </a:r>
                      <a:r>
                        <a:rPr lang="zh-CN" altLang="en-US" sz="1800">
                          <a:sym typeface="+mn-ea"/>
                        </a:rPr>
                        <a:t>利用其计数功能和时钟源来实现精确的输入捕获和时间测量。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 anchor="ctr" anchorCtr="0"/>
                </a:tc>
              </a:tr>
              <a:tr h="11569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预分频器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GD32的输入捕获功能支持预分频器的设置，可以通过预分频器来调整输入信号的测量范围和捕获的精度。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2718435" y="253175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2940685" y="3772535"/>
            <a:ext cx="530923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 flipV="1">
            <a:off x="2940685" y="3763010"/>
            <a:ext cx="584771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215765" y="2788285"/>
            <a:ext cx="562864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输入捕获操作流程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40685" y="39528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以</a:t>
            </a:r>
            <a:r>
              <a:rPr lang="zh-CN"/>
              <a:t>测量频率</a:t>
            </a:r>
            <a:r>
              <a:rPr lang="zh-CN" altLang="en-US"/>
              <a:t>作为</a:t>
            </a:r>
            <a:r>
              <a:rPr lang="zh-CN" altLang="en-US"/>
              <a:t>案例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7093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输入捕获的操作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6" name="圆角矩形 225"/>
          <p:cNvSpPr/>
          <p:nvPr>
            <p:custDataLst>
              <p:tags r:id="rId2"/>
            </p:custDataLst>
          </p:nvPr>
        </p:nvSpPr>
        <p:spPr>
          <a:xfrm>
            <a:off x="734695" y="939736"/>
            <a:ext cx="7906385" cy="5566328"/>
          </a:xfrm>
          <a:prstGeom prst="roundRect">
            <a:avLst>
              <a:gd name="adj" fmla="val 346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7" name="圆角矩形 226"/>
          <p:cNvSpPr/>
          <p:nvPr>
            <p:custDataLst>
              <p:tags r:id="rId3"/>
            </p:custDataLst>
          </p:nvPr>
        </p:nvSpPr>
        <p:spPr>
          <a:xfrm>
            <a:off x="1227273" y="907415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8" name="直接连接符 227"/>
          <p:cNvCxnSpPr/>
          <p:nvPr>
            <p:custDataLst>
              <p:tags r:id="rId4"/>
            </p:custDataLst>
          </p:nvPr>
        </p:nvCxnSpPr>
        <p:spPr>
          <a:xfrm>
            <a:off x="734695" y="2302405"/>
            <a:ext cx="790638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文本框 228"/>
          <p:cNvSpPr txBox="1"/>
          <p:nvPr>
            <p:custDataLst>
              <p:tags r:id="rId5"/>
            </p:custDataLst>
          </p:nvPr>
        </p:nvSpPr>
        <p:spPr>
          <a:xfrm>
            <a:off x="799465" y="2324735"/>
            <a:ext cx="7842250" cy="4384675"/>
          </a:xfrm>
          <a:prstGeom prst="rect">
            <a:avLst/>
          </a:prstGeom>
          <a:noFill/>
        </p:spPr>
        <p:txBody>
          <a:bodyPr wrap="square" rtlCol="0" anchor="t" anchorCtr="0"/>
          <a:p>
            <a:pPr>
              <a:lnSpc>
                <a:spcPct val="15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/*************************** 输入捕获 ***************************/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//引脚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INPUT_CAPTURE_RCU                       </a:t>
            </a: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RCU_GPIOB                       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INPUT_CAPTURE_PORT                      </a:t>
            </a: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GPIOB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INPUT_CAPTURE_PIN                       </a:t>
            </a: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GPIO_PIN_4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INPUT_CAPTURE_AF                        </a:t>
            </a: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GPIO_AF_2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//定时器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INPUT_CAPTURE_TIMER_RCU  		RCU_TIMER2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INPUT_CAPTURE_TIMER  		TIMER2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INPUT_CAPTURE_TIMER_CHANNEL  </a:t>
            </a: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TIMER_CH_0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//中断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INPUT_CAPTURE_TIMER_INT_FLAG  	TIMER_INT_CH0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INPUT_CAPTURE_TIMER_INT_IRQn            TIMER2_IRQn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#define INPUT_CAPTURE_TIMER_INT_RQHandler    TIMER2_IRQHandler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0" name="圆角矩形 229"/>
          <p:cNvSpPr/>
          <p:nvPr>
            <p:custDataLst>
              <p:tags r:id="rId6"/>
            </p:custDataLst>
          </p:nvPr>
        </p:nvSpPr>
        <p:spPr>
          <a:xfrm>
            <a:off x="1227273" y="2253209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1" name="圆角矩形 230"/>
          <p:cNvSpPr/>
          <p:nvPr>
            <p:custDataLst>
              <p:tags r:id="rId7"/>
            </p:custDataLst>
          </p:nvPr>
        </p:nvSpPr>
        <p:spPr>
          <a:xfrm>
            <a:off x="3393440" y="1119505"/>
            <a:ext cx="2506980" cy="912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分配</a:t>
            </a:r>
            <a:r>
              <a:rPr lang="zh-CN" altLang="en-US" sz="3200"/>
              <a:t>引脚</a:t>
            </a:r>
            <a:endParaRPr lang="zh-CN" altLang="en-US" sz="3200"/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3363"/>
          <a:stretch>
            <a:fillRect/>
          </a:stretch>
        </p:blipFill>
        <p:spPr>
          <a:xfrm>
            <a:off x="8710930" y="4198620"/>
            <a:ext cx="3051175" cy="230505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46329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输入捕获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6" name="圆角矩形 225"/>
          <p:cNvSpPr/>
          <p:nvPr>
            <p:custDataLst>
              <p:tags r:id="rId2"/>
            </p:custDataLst>
          </p:nvPr>
        </p:nvSpPr>
        <p:spPr>
          <a:xfrm>
            <a:off x="1917065" y="937196"/>
            <a:ext cx="7906385" cy="5566328"/>
          </a:xfrm>
          <a:prstGeom prst="roundRect">
            <a:avLst>
              <a:gd name="adj" fmla="val 346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7" name="圆角矩形 226"/>
          <p:cNvSpPr/>
          <p:nvPr>
            <p:custDataLst>
              <p:tags r:id="rId3"/>
            </p:custDataLst>
          </p:nvPr>
        </p:nvSpPr>
        <p:spPr>
          <a:xfrm>
            <a:off x="2409643" y="904875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8" name="直接连接符 227"/>
          <p:cNvCxnSpPr/>
          <p:nvPr>
            <p:custDataLst>
              <p:tags r:id="rId4"/>
            </p:custDataLst>
          </p:nvPr>
        </p:nvCxnSpPr>
        <p:spPr>
          <a:xfrm>
            <a:off x="1917065" y="2299865"/>
            <a:ext cx="790638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文本框 228"/>
          <p:cNvSpPr txBox="1"/>
          <p:nvPr>
            <p:custDataLst>
              <p:tags r:id="rId5"/>
            </p:custDataLst>
          </p:nvPr>
        </p:nvSpPr>
        <p:spPr>
          <a:xfrm>
            <a:off x="1981200" y="2720975"/>
            <a:ext cx="7842250" cy="3413125"/>
          </a:xfrm>
          <a:prstGeom prst="rect">
            <a:avLst/>
          </a:prstGeom>
          <a:noFill/>
        </p:spPr>
        <p:txBody>
          <a:bodyPr wrap="square" rtlCol="0" anchor="t" anchorCtr="0"/>
          <a:p>
            <a:pPr>
              <a:lnSpc>
                <a:spcPct val="19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void gpio_configuration(void)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9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{</a:t>
            </a:r>
            <a:b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</a:b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//</a:t>
            </a:r>
            <a:r>
              <a:rPr lang="zh-CN" alt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开启引脚时钟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9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rcu_periph_clock_enable(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INPUT_CAPTURE_RCU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);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9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</a:t>
            </a:r>
            <a:r>
              <a:rPr lang="zh-CN" alt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配置引脚为复用浮空模式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9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gpio_mode_set(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INPUT_CAPTURE_PORT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, GPIO_MODE_AF, GPIO_PUPD_NONE, </a:t>
            </a: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</a:t>
            </a:r>
            <a:endParaRPr lang="en-US"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90000"/>
              </a:lnSpc>
            </a:pP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INPUT_CAPTURE_PIN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);</a:t>
            </a:r>
            <a:b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</a:b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//</a:t>
            </a:r>
            <a:r>
              <a:rPr lang="zh-CN" alt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配置引脚复用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9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gpio_af_set(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INPUT_CAPTURE_PORT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, INPUT_CAPTURE_AF,</a:t>
            </a: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INPUT_CAPTURE_PIN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);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9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}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0" name="圆角矩形 229"/>
          <p:cNvSpPr/>
          <p:nvPr>
            <p:custDataLst>
              <p:tags r:id="rId6"/>
            </p:custDataLst>
          </p:nvPr>
        </p:nvSpPr>
        <p:spPr>
          <a:xfrm>
            <a:off x="2409643" y="2250669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1" name="圆角矩形 230"/>
          <p:cNvSpPr/>
          <p:nvPr>
            <p:custDataLst>
              <p:tags r:id="rId7"/>
            </p:custDataLst>
          </p:nvPr>
        </p:nvSpPr>
        <p:spPr>
          <a:xfrm>
            <a:off x="4575810" y="1116965"/>
            <a:ext cx="2506980" cy="912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配置</a:t>
            </a:r>
            <a:r>
              <a:rPr lang="zh-CN" altLang="en-US" sz="3200"/>
              <a:t>引脚</a:t>
            </a:r>
            <a:endParaRPr lang="zh-CN" altLang="en-US" sz="3200"/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4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1111885" y="330200"/>
            <a:ext cx="365315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输入捕获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1" name="圆角矩形 230"/>
          <p:cNvSpPr/>
          <p:nvPr>
            <p:custDataLst>
              <p:tags r:id="rId6"/>
            </p:custDataLst>
          </p:nvPr>
        </p:nvSpPr>
        <p:spPr>
          <a:xfrm>
            <a:off x="4575810" y="1116965"/>
            <a:ext cx="2564130" cy="654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定时器</a:t>
            </a:r>
            <a:r>
              <a:rPr lang="zh-CN" altLang="en-US" sz="3200"/>
              <a:t>配置</a:t>
            </a:r>
            <a:endParaRPr lang="zh-CN" altLang="en-US" sz="32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3048000" y="1543685"/>
            <a:ext cx="3671570" cy="2844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35710" y="1828165"/>
            <a:ext cx="10033635" cy="46259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30000"/>
              </a:lnSpc>
            </a:pPr>
            <a: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</a:t>
            </a: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timer_parameter_struct timer_initpara;</a:t>
            </a:r>
            <a:br>
              <a:rPr lang="zh-CN" altLang="en-US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</a:t>
            </a: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rcu_periph_clock_enable(INPUT_CAPTURE_TIMER_RCU);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rcu_timer_clock_prescaler_config(RCU_TIMER_PSC_MUL4);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//复位定时器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timer_deinit(INPUT_CAPTURE_TIMER);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//定时器配置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//PSC(prescaler)决定了测周法的标准频率fc = 200MHz/(PSC+1) = 200M / 200 = 1M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timer_initpara.prescaler             = 199;                                       //预分频值</a:t>
            </a:r>
            <a:b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</a:b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timer_initpara.alignedmode       </a:t>
            </a:r>
            <a:r>
              <a:rPr lang="en-US"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= TIMER_COUNTER_EDGE;  </a:t>
            </a:r>
            <a:r>
              <a:rPr lang="en-US"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</a:t>
            </a: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//边沿对齐模式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timer_initpara.counterdirection  </a:t>
            </a:r>
            <a:r>
              <a:rPr lang="en-US"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= TIMER_COUNTER_UP;       </a:t>
            </a:r>
            <a:r>
              <a:rPr lang="en-US"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</a:t>
            </a: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//向上计数模式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timer_initpara.period                 = 65535;                                   //自动重装载值</a:t>
            </a:r>
            <a:b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</a:b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timer_initpara.clockdivision       = TIMER_CKDIV_DIV1;          </a:t>
            </a:r>
            <a:r>
              <a:rPr lang="en-US"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</a:t>
            </a: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//不分频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timer_initpara.repetitioncounter = 0;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457200" algn="l" fontAlgn="t">
              <a:lnSpc>
                <a:spcPct val="130000"/>
              </a:lnSpc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timer_init(</a:t>
            </a: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INPUT_CAPTURE_TIMER</a:t>
            </a: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,&amp;timer_initpara);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4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1111885" y="330200"/>
            <a:ext cx="340042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输入捕获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1" name="圆角矩形 230"/>
          <p:cNvSpPr/>
          <p:nvPr>
            <p:custDataLst>
              <p:tags r:id="rId6"/>
            </p:custDataLst>
          </p:nvPr>
        </p:nvSpPr>
        <p:spPr>
          <a:xfrm>
            <a:off x="4575810" y="1116965"/>
            <a:ext cx="2564130" cy="654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定时器</a:t>
            </a:r>
            <a:r>
              <a:rPr lang="zh-CN" altLang="en-US" sz="3200"/>
              <a:t>配置</a:t>
            </a:r>
            <a:endParaRPr lang="zh-CN" altLang="en-US" sz="32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3048000" y="1543685"/>
            <a:ext cx="3671570" cy="2844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35710" y="1828165"/>
            <a:ext cx="10062845" cy="4025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160000"/>
              </a:lnSpc>
              <a:buClrTx/>
              <a:buSzTx/>
              <a:buNone/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timer_ic_parameter_struct timer_icinitpara;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60000"/>
              </a:lnSpc>
              <a:buClrTx/>
              <a:buSzTx/>
              <a:buNone/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//定时器输入捕获配置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60000"/>
              </a:lnSpc>
              <a:buClrTx/>
              <a:buSzTx/>
              <a:buNone/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timer_icinitpara.icpolarity  </a:t>
            </a:r>
            <a:r>
              <a:rPr lang="en-US"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</a:t>
            </a: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= TIMER_IC_POLARITY_RISING;    	//上升沿捕获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60000"/>
              </a:lnSpc>
              <a:buClrTx/>
              <a:buSzTx/>
              <a:buNone/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timer_icinitpara.icselection </a:t>
            </a:r>
            <a:r>
              <a:rPr lang="en-US"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= TIMER_IC_SELECTION_DIRECTTI; </a:t>
            </a:r>
            <a:r>
              <a:rPr lang="en-US"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//直接输入捕获触发模式</a:t>
            </a: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timer_icinitpara.icprescaler = TIMER_IC_PSC_DIV1;           	//不分频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60000"/>
              </a:lnSpc>
              <a:buClrTx/>
              <a:buSzTx/>
              <a:buNone/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timer_icinitpara.icfilter    </a:t>
            </a:r>
            <a:r>
              <a:rPr lang="en-US"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</a:t>
            </a: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= 0x00;                         		//不滤波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60000"/>
              </a:lnSpc>
              <a:buClrTx/>
              <a:buSzTx/>
              <a:buNone/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timer_input_capture_config(INPUT_CAPTURE_TIMER,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60000"/>
              </a:lnSpc>
              <a:buClrTx/>
              <a:buSzTx/>
              <a:buNone/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INPUT_CAPTURE_TIMER_CHANNEL,&amp;timer_icinitpara);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4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1111885" y="330200"/>
            <a:ext cx="352298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输入捕获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1" name="圆角矩形 230"/>
          <p:cNvSpPr/>
          <p:nvPr>
            <p:custDataLst>
              <p:tags r:id="rId6"/>
            </p:custDataLst>
          </p:nvPr>
        </p:nvSpPr>
        <p:spPr>
          <a:xfrm>
            <a:off x="4575810" y="1116965"/>
            <a:ext cx="2564130" cy="654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使能定时器</a:t>
            </a:r>
            <a:endParaRPr lang="zh-CN" altLang="en-US" sz="32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3048000" y="1543685"/>
            <a:ext cx="3671570" cy="2844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35710" y="1828165"/>
            <a:ext cx="10062845" cy="4025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lang="en-US"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</a:t>
            </a: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启用自动重载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timer_auto_reload_shadow_enable(TIMER2);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lang="en-US"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</a:t>
            </a: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清除通道0中断位 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timer_interrupt_flag_clear(TIMER2,TIMER_INT_CH0);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timer_interrupt_flag_clear(TIMER2,TIMER_INT_UP);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lang="en-US"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</a:t>
            </a:r>
            <a:r>
              <a:rPr lang="zh-CN"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定时器通道</a:t>
            </a: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中断使能 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timer_interrupt_enable(TIMER2,TIMER_INT_CH0);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lang="en-US"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</a:t>
            </a:r>
            <a:r>
              <a:rPr lang="zh-CN" altLang="en-US"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定时器</a:t>
            </a: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更新中断使能 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timer_interrupt_enable(TIMER2,TIMER_INT_UP);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lang="en-US"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</a:t>
            </a: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使能定时器 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6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timer_enable(TIMER2);</a:t>
            </a:r>
            <a:endParaRPr sz="16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4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1111885" y="330200"/>
            <a:ext cx="358330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输入捕获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1" name="圆角矩形 230"/>
          <p:cNvSpPr/>
          <p:nvPr>
            <p:custDataLst>
              <p:tags r:id="rId6"/>
            </p:custDataLst>
          </p:nvPr>
        </p:nvSpPr>
        <p:spPr>
          <a:xfrm>
            <a:off x="4071620" y="1116965"/>
            <a:ext cx="3803650" cy="654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编写中断服务</a:t>
            </a:r>
            <a:r>
              <a:rPr lang="zh-CN" altLang="en-US" sz="3200"/>
              <a:t>函数</a:t>
            </a:r>
            <a:endParaRPr lang="zh-CN" altLang="en-US" sz="32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3048000" y="1543685"/>
            <a:ext cx="3671570" cy="2844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4230" y="1828165"/>
            <a:ext cx="9744710" cy="41421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void TIMER2_IRQHandler(void)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{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static char edgeFlag = 0;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static unsigned int count = 0;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unsigned int readValue = 0;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//更新中断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if(SET == timer_interrupt_flag_get(TIMER2,TIMER_INT_UP))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{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457200" algn="l" fontAlgn="t">
              <a:lnSpc>
                <a:spcPct val="130000"/>
              </a:lnSpc>
              <a:buClrTx/>
              <a:buSzTx/>
              <a:buNone/>
            </a:pP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</a:t>
            </a:r>
            <a:r>
              <a:rPr lang="zh-CN" alt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清除更新中断标志位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timer_interrupt_flag_clear(TIMER2,TIMER_INT_UP);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} 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457200" algn="l" fontAlgn="t">
              <a:lnSpc>
                <a:spcPct val="130000"/>
              </a:lnSpc>
              <a:buClrTx/>
              <a:buSzTx/>
              <a:buNone/>
            </a:pP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</a:t>
            </a:r>
            <a:r>
              <a:rPr lang="zh-CN" alt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通道中断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if(SET == timer_interrupt_flag_get(TIMER2,TIMER_INT_CH0))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{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</a:t>
            </a: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</a:t>
            </a: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清除通道中断标志位 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timer_interrupt_flag_clear(TIMER2,TIMER_INT_CH0);</a:t>
            </a:r>
            <a:b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</a:b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}</a:t>
            </a:r>
            <a:b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</a:br>
            <a:r>
              <a:rPr lang="en-US"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}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algn="l" fontAlgn="t">
              <a:lnSpc>
                <a:spcPct val="130000"/>
              </a:lnSpc>
              <a:buClrTx/>
              <a:buSzTx/>
              <a:buNone/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2115" y="381635"/>
            <a:ext cx="1912620" cy="4972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7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UNIT_TABLE_BEAUTIFY" val="smartTable{f8f3cce9-d6ff-4ba2-9ac6-3914eeedc81a}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5955_1*l_i*1_1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05955_1*l_h_i*1_1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05955_1*l_i*1_2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USESOURCEFORMAT_APPLY" val="0"/>
</p:tagLst>
</file>

<file path=ppt/tags/tag142.xml><?xml version="1.0" encoding="utf-8"?>
<p:tagLst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&#13;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5955_1*l_h_f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05955_1*l_h_i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5955_1*l_i*1_1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05955_1*l_h_i*1_1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05955_1*l_i*1_2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USESOURCEFORMAT_APPLY" val="0"/>
</p:tagLst>
</file>

<file path=ppt/tags/tag151.xml><?xml version="1.0" encoding="utf-8"?>
<p:tagLst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&#13;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5955_1*l_h_f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05955_1*l_h_i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1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1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6.xml><?xml version="1.0" encoding="utf-8"?>
<p:tagLst xmlns:p="http://schemas.openxmlformats.org/presentationml/2006/main">
  <p:tag name="KSO_WPP_MARK_KEY" val="20655751-83b5-4141-9554-5e7661096423"/>
  <p:tag name="COMMONDATA" val="eyJjb3VudCI6OTQsImhkaWQiOiIxYTQ5ZDdmMGZmNTU3NmU5NzgyYjI3MGJhMjAxODg2NCIsInVzZXJDb3VudCI6M30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noAutofit/>
      </a:bodyPr>
      <a:lstStyle>
        <a:defPPr indent="457200" algn="l" fontAlgn="t">
          <a:lnSpc>
            <a:spcPct val="90000"/>
          </a:lnSpc>
          <a:defRPr lang="zh-CN" altLang="en-US" sz="1400">
            <a:latin typeface="Arial" panose="020B0604020202020204" pitchFamily="34" charset="0"/>
            <a:cs typeface="Arial" panose="020B0604020202020204" pitchFamily="34" charset="0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3592</Words>
  <Application>WPS 演示</Application>
  <PresentationFormat>宽屏</PresentationFormat>
  <Paragraphs>160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Wingdings</vt:lpstr>
      <vt:lpstr>Arial</vt:lpstr>
      <vt:lpstr>黑体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莫志宏</cp:lastModifiedBy>
  <cp:revision>480</cp:revision>
  <dcterms:created xsi:type="dcterms:W3CDTF">2019-06-19T02:08:00Z</dcterms:created>
  <dcterms:modified xsi:type="dcterms:W3CDTF">2023-07-18T12:42:05Z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