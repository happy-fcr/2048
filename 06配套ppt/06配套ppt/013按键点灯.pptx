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18"/>
  </p:handoutMasterIdLst>
  <p:sldIdLst>
    <p:sldId id="409" r:id="rId4"/>
    <p:sldId id="497" r:id="rId6"/>
    <p:sldId id="720" r:id="rId7"/>
    <p:sldId id="724" r:id="rId8"/>
    <p:sldId id="722" r:id="rId9"/>
    <p:sldId id="732" r:id="rId10"/>
    <p:sldId id="733" r:id="rId11"/>
    <p:sldId id="716" r:id="rId12"/>
    <p:sldId id="734" r:id="rId13"/>
    <p:sldId id="739" r:id="rId14"/>
    <p:sldId id="717" r:id="rId15"/>
    <p:sldId id="735" r:id="rId16"/>
    <p:sldId id="427" r:id="rId17"/>
  </p:sldIdLst>
  <p:sldSz cx="12192000" cy="6858000"/>
  <p:notesSz cx="6858000" cy="9144000"/>
  <p:embeddedFontLst>
    <p:embeddedFont>
      <p:font typeface="微软雅黑" panose="020B0503020204020204" pitchFamily="34" charset="-122"/>
      <p:regular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  <p:cmAuthor id="3" name="Author" initials="A" lastIdx="0" clrIdx="2"/>
  <p:cmAuthor id="4" name="USER" initials="U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B6E5"/>
    <a:srgbClr val="F18870"/>
    <a:srgbClr val="FFBA55"/>
    <a:srgbClr val="56CA95"/>
    <a:srgbClr val="6096E6"/>
    <a:srgbClr val="4691C0"/>
    <a:srgbClr val="70AACE"/>
    <a:srgbClr val="79C5D9"/>
    <a:srgbClr val="35729C"/>
    <a:srgbClr val="17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494"/>
        <p:guide pos="391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tx1">
                <a:lumMod val="75000"/>
                <a:lumOff val="25000"/>
                <a:alpha val="6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54050" y="640715"/>
            <a:ext cx="10884535" cy="5576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lumMod val="75000"/>
                <a:lumOff val="25000"/>
                <a:alpha val="7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8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26.xml"/><Relationship Id="rId5" Type="http://schemas.openxmlformats.org/officeDocument/2006/relationships/image" Target="../media/image3.png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27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8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9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0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34.xml"/><Relationship Id="rId4" Type="http://schemas.openxmlformats.org/officeDocument/2006/relationships/image" Target="../media/image3.png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5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6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40.xml"/><Relationship Id="rId4" Type="http://schemas.openxmlformats.org/officeDocument/2006/relationships/image" Target="../media/image3.png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41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5227955" y="2529205"/>
            <a:ext cx="53549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按键点灯</a:t>
            </a:r>
            <a:endParaRPr lang="en-US" altLang="zh-CN" sz="5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专业版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143000"/>
            <a:ext cx="4572000" cy="4572000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文本框 56"/>
          <p:cNvSpPr txBox="1"/>
          <p:nvPr>
            <p:custDataLst>
              <p:tags r:id="rId1"/>
            </p:custDataLst>
          </p:nvPr>
        </p:nvSpPr>
        <p:spPr>
          <a:xfrm>
            <a:off x="4461510" y="3761105"/>
            <a:ext cx="282892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检测按键状态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6" name="任意形状 55" descr="A0"/>
          <p:cNvSpPr/>
          <p:nvPr>
            <p:custDataLst>
              <p:tags r:id="rId2"/>
            </p:custDataLst>
          </p:nvPr>
        </p:nvSpPr>
        <p:spPr>
          <a:xfrm>
            <a:off x="4970780" y="1520349"/>
            <a:ext cx="817200" cy="1058400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4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/>
          </a:p>
        </p:txBody>
      </p:sp>
      <p:sp>
        <p:nvSpPr>
          <p:cNvPr id="63" name="任意形状 62" descr="A2"/>
          <p:cNvSpPr/>
          <p:nvPr>
            <p:custDataLst>
              <p:tags r:id="rId3"/>
            </p:custDataLst>
          </p:nvPr>
        </p:nvSpPr>
        <p:spPr>
          <a:xfrm>
            <a:off x="6056473" y="1520349"/>
            <a:ext cx="817200" cy="1058400"/>
          </a:xfrm>
          <a:custGeom>
            <a:avLst/>
            <a:gdLst>
              <a:gd name="connsiteX0" fmla="*/ 319975 w 638478"/>
              <a:gd name="connsiteY0" fmla="*/ 0 h 715701"/>
              <a:gd name="connsiteX1" fmla="*/ 638478 w 638478"/>
              <a:gd name="connsiteY1" fmla="*/ 305251 h 715701"/>
              <a:gd name="connsiteX2" fmla="*/ 526415 w 638478"/>
              <a:gd name="connsiteY2" fmla="*/ 545598 h 715701"/>
              <a:gd name="connsiteX3" fmla="*/ 379875 w 638478"/>
              <a:gd name="connsiteY3" fmla="*/ 715701 h 715701"/>
              <a:gd name="connsiteX4" fmla="*/ 146785 w 638478"/>
              <a:gd name="connsiteY4" fmla="*/ 715701 h 715701"/>
              <a:gd name="connsiteX5" fmla="*/ 392230 w 638478"/>
              <a:gd name="connsiteY5" fmla="*/ 430582 h 715701"/>
              <a:gd name="connsiteX6" fmla="*/ 446798 w 638478"/>
              <a:gd name="connsiteY6" fmla="*/ 303769 h 715701"/>
              <a:gd name="connsiteX7" fmla="*/ 319975 w 638478"/>
              <a:gd name="connsiteY7" fmla="*/ 172535 h 715701"/>
              <a:gd name="connsiteX8" fmla="*/ 191693 w 638478"/>
              <a:gd name="connsiteY8" fmla="*/ 306721 h 715701"/>
              <a:gd name="connsiteX9" fmla="*/ 0 w 638478"/>
              <a:gd name="connsiteY9" fmla="*/ 306721 h 715701"/>
              <a:gd name="connsiteX10" fmla="*/ 319975 w 638478"/>
              <a:gd name="connsiteY10" fmla="*/ 0 h 7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8478" h="715701">
                <a:moveTo>
                  <a:pt x="319975" y="0"/>
                </a:moveTo>
                <a:cubicBezTo>
                  <a:pt x="505776" y="0"/>
                  <a:pt x="638478" y="116486"/>
                  <a:pt x="638478" y="305251"/>
                </a:cubicBezTo>
                <a:cubicBezTo>
                  <a:pt x="638478" y="406990"/>
                  <a:pt x="598670" y="461547"/>
                  <a:pt x="526415" y="545598"/>
                </a:cubicBezTo>
                <a:lnTo>
                  <a:pt x="379875" y="715701"/>
                </a:lnTo>
                <a:lnTo>
                  <a:pt x="146785" y="715701"/>
                </a:lnTo>
                <a:lnTo>
                  <a:pt x="392230" y="430582"/>
                </a:lnTo>
                <a:cubicBezTo>
                  <a:pt x="430568" y="384870"/>
                  <a:pt x="446798" y="352422"/>
                  <a:pt x="446798" y="303769"/>
                </a:cubicBezTo>
                <a:cubicBezTo>
                  <a:pt x="446798" y="225622"/>
                  <a:pt x="401073" y="172535"/>
                  <a:pt x="319975" y="172535"/>
                </a:cubicBezTo>
                <a:cubicBezTo>
                  <a:pt x="256563" y="172535"/>
                  <a:pt x="191693" y="204982"/>
                  <a:pt x="191693" y="306721"/>
                </a:cubicBezTo>
                <a:lnTo>
                  <a:pt x="0" y="306721"/>
                </a:lnTo>
                <a:cubicBezTo>
                  <a:pt x="0" y="115028"/>
                  <a:pt x="140089" y="12"/>
                  <a:pt x="319975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7981315" y="3692525"/>
            <a:ext cx="2576830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按键实验效果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8302625" y="1520349"/>
            <a:ext cx="1825625" cy="1099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04" h="2292">
                <a:moveTo>
                  <a:pt x="3741" y="0"/>
                </a:moveTo>
                <a:cubicBezTo>
                  <a:pt x="4063" y="0"/>
                  <a:pt x="4321" y="103"/>
                  <a:pt x="4516" y="308"/>
                </a:cubicBezTo>
                <a:cubicBezTo>
                  <a:pt x="4676" y="476"/>
                  <a:pt x="4756" y="666"/>
                  <a:pt x="4756" y="878"/>
                </a:cubicBezTo>
                <a:cubicBezTo>
                  <a:pt x="4756" y="1178"/>
                  <a:pt x="4592" y="1418"/>
                  <a:pt x="4264" y="1596"/>
                </a:cubicBezTo>
                <a:cubicBezTo>
                  <a:pt x="4460" y="1638"/>
                  <a:pt x="4617" y="1733"/>
                  <a:pt x="4734" y="1879"/>
                </a:cubicBezTo>
                <a:cubicBezTo>
                  <a:pt x="4822" y="1989"/>
                  <a:pt x="4877" y="2115"/>
                  <a:pt x="4899" y="2259"/>
                </a:cubicBezTo>
                <a:lnTo>
                  <a:pt x="4904" y="2292"/>
                </a:lnTo>
                <a:lnTo>
                  <a:pt x="4233" y="2292"/>
                </a:lnTo>
                <a:lnTo>
                  <a:pt x="4233" y="2291"/>
                </a:lnTo>
                <a:cubicBezTo>
                  <a:pt x="4220" y="2168"/>
                  <a:pt x="4177" y="2067"/>
                  <a:pt x="4105" y="1989"/>
                </a:cubicBezTo>
                <a:cubicBezTo>
                  <a:pt x="4016" y="1892"/>
                  <a:pt x="3908" y="1844"/>
                  <a:pt x="3781" y="1844"/>
                </a:cubicBezTo>
                <a:cubicBezTo>
                  <a:pt x="3697" y="1844"/>
                  <a:pt x="3596" y="1860"/>
                  <a:pt x="3480" y="1893"/>
                </a:cubicBezTo>
                <a:lnTo>
                  <a:pt x="3552" y="1358"/>
                </a:lnTo>
                <a:cubicBezTo>
                  <a:pt x="3729" y="1363"/>
                  <a:pt x="3865" y="1325"/>
                  <a:pt x="3958" y="1243"/>
                </a:cubicBezTo>
                <a:cubicBezTo>
                  <a:pt x="4051" y="1161"/>
                  <a:pt x="4098" y="1053"/>
                  <a:pt x="4098" y="917"/>
                </a:cubicBezTo>
                <a:cubicBezTo>
                  <a:pt x="4098" y="802"/>
                  <a:pt x="4064" y="710"/>
                  <a:pt x="3995" y="642"/>
                </a:cubicBezTo>
                <a:cubicBezTo>
                  <a:pt x="3927" y="573"/>
                  <a:pt x="3836" y="539"/>
                  <a:pt x="3722" y="539"/>
                </a:cubicBezTo>
                <a:cubicBezTo>
                  <a:pt x="3610" y="539"/>
                  <a:pt x="3515" y="578"/>
                  <a:pt x="3435" y="656"/>
                </a:cubicBezTo>
                <a:cubicBezTo>
                  <a:pt x="3356" y="734"/>
                  <a:pt x="3308" y="847"/>
                  <a:pt x="3291" y="997"/>
                </a:cubicBezTo>
                <a:lnTo>
                  <a:pt x="2686" y="894"/>
                </a:lnTo>
                <a:cubicBezTo>
                  <a:pt x="2728" y="687"/>
                  <a:pt x="2791" y="522"/>
                  <a:pt x="2876" y="398"/>
                </a:cubicBezTo>
                <a:cubicBezTo>
                  <a:pt x="2961" y="274"/>
                  <a:pt x="3079" y="177"/>
                  <a:pt x="3231" y="106"/>
                </a:cubicBezTo>
                <a:cubicBezTo>
                  <a:pt x="3383" y="35"/>
                  <a:pt x="3553" y="0"/>
                  <a:pt x="3741" y="0"/>
                </a:cubicBezTo>
                <a:close/>
                <a:moveTo>
                  <a:pt x="1111" y="0"/>
                </a:moveTo>
                <a:cubicBezTo>
                  <a:pt x="1442" y="0"/>
                  <a:pt x="1701" y="118"/>
                  <a:pt x="1888" y="355"/>
                </a:cubicBezTo>
                <a:cubicBezTo>
                  <a:pt x="2111" y="635"/>
                  <a:pt x="2222" y="1099"/>
                  <a:pt x="2222" y="1748"/>
                </a:cubicBezTo>
                <a:cubicBezTo>
                  <a:pt x="2222" y="1930"/>
                  <a:pt x="2213" y="2098"/>
                  <a:pt x="2195" y="2251"/>
                </a:cubicBezTo>
                <a:lnTo>
                  <a:pt x="2190" y="2292"/>
                </a:lnTo>
                <a:lnTo>
                  <a:pt x="1516" y="2292"/>
                </a:lnTo>
                <a:lnTo>
                  <a:pt x="1517" y="2289"/>
                </a:lnTo>
                <a:cubicBezTo>
                  <a:pt x="1529" y="2142"/>
                  <a:pt x="1536" y="1961"/>
                  <a:pt x="1536" y="1748"/>
                </a:cubicBezTo>
                <a:cubicBezTo>
                  <a:pt x="1536" y="1347"/>
                  <a:pt x="1516" y="1071"/>
                  <a:pt x="1475" y="921"/>
                </a:cubicBezTo>
                <a:cubicBezTo>
                  <a:pt x="1435" y="771"/>
                  <a:pt x="1384" y="670"/>
                  <a:pt x="1322" y="620"/>
                </a:cubicBezTo>
                <a:cubicBezTo>
                  <a:pt x="1261" y="569"/>
                  <a:pt x="1190" y="544"/>
                  <a:pt x="1111" y="544"/>
                </a:cubicBezTo>
                <a:cubicBezTo>
                  <a:pt x="1032" y="544"/>
                  <a:pt x="961" y="569"/>
                  <a:pt x="899" y="620"/>
                </a:cubicBezTo>
                <a:cubicBezTo>
                  <a:pt x="836" y="670"/>
                  <a:pt x="788" y="761"/>
                  <a:pt x="754" y="892"/>
                </a:cubicBezTo>
                <a:cubicBezTo>
                  <a:pt x="709" y="1061"/>
                  <a:pt x="686" y="1347"/>
                  <a:pt x="686" y="1748"/>
                </a:cubicBezTo>
                <a:cubicBezTo>
                  <a:pt x="686" y="1961"/>
                  <a:pt x="692" y="2139"/>
                  <a:pt x="703" y="2282"/>
                </a:cubicBezTo>
                <a:lnTo>
                  <a:pt x="704" y="2292"/>
                </a:lnTo>
                <a:lnTo>
                  <a:pt x="29" y="2292"/>
                </a:lnTo>
                <a:lnTo>
                  <a:pt x="24" y="2248"/>
                </a:lnTo>
                <a:cubicBezTo>
                  <a:pt x="8" y="2095"/>
                  <a:pt x="0" y="1926"/>
                  <a:pt x="0" y="1741"/>
                </a:cubicBezTo>
                <a:cubicBezTo>
                  <a:pt x="0" y="1097"/>
                  <a:pt x="112" y="633"/>
                  <a:pt x="336" y="350"/>
                </a:cubicBezTo>
                <a:cubicBezTo>
                  <a:pt x="521" y="117"/>
                  <a:pt x="780" y="0"/>
                  <a:pt x="111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1537910" y="1520349"/>
            <a:ext cx="1825200" cy="109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05" h="1365">
                <a:moveTo>
                  <a:pt x="2198" y="0"/>
                </a:moveTo>
                <a:lnTo>
                  <a:pt x="2505" y="0"/>
                </a:lnTo>
                <a:lnTo>
                  <a:pt x="2505" y="1365"/>
                </a:lnTo>
                <a:lnTo>
                  <a:pt x="2127" y="1365"/>
                </a:lnTo>
                <a:lnTo>
                  <a:pt x="2127" y="557"/>
                </a:lnTo>
                <a:cubicBezTo>
                  <a:pt x="1988" y="686"/>
                  <a:pt x="1825" y="782"/>
                  <a:pt x="1637" y="844"/>
                </a:cubicBezTo>
                <a:lnTo>
                  <a:pt x="1637" y="500"/>
                </a:lnTo>
                <a:cubicBezTo>
                  <a:pt x="1736" y="468"/>
                  <a:pt x="1844" y="406"/>
                  <a:pt x="1960" y="316"/>
                </a:cubicBezTo>
                <a:cubicBezTo>
                  <a:pt x="2075" y="226"/>
                  <a:pt x="2155" y="120"/>
                  <a:pt x="2198" y="0"/>
                </a:cubicBezTo>
                <a:close/>
                <a:moveTo>
                  <a:pt x="641" y="0"/>
                </a:moveTo>
                <a:cubicBezTo>
                  <a:pt x="833" y="0"/>
                  <a:pt x="982" y="68"/>
                  <a:pt x="1090" y="205"/>
                </a:cubicBezTo>
                <a:cubicBezTo>
                  <a:pt x="1219" y="367"/>
                  <a:pt x="1283" y="635"/>
                  <a:pt x="1283" y="1009"/>
                </a:cubicBezTo>
                <a:cubicBezTo>
                  <a:pt x="1283" y="1138"/>
                  <a:pt x="1275" y="1254"/>
                  <a:pt x="1260" y="1358"/>
                </a:cubicBezTo>
                <a:lnTo>
                  <a:pt x="1259" y="1365"/>
                </a:lnTo>
                <a:lnTo>
                  <a:pt x="872" y="1365"/>
                </a:lnTo>
                <a:lnTo>
                  <a:pt x="873" y="1351"/>
                </a:lnTo>
                <a:cubicBezTo>
                  <a:pt x="882" y="1261"/>
                  <a:pt x="887" y="1147"/>
                  <a:pt x="887" y="1009"/>
                </a:cubicBezTo>
                <a:cubicBezTo>
                  <a:pt x="887" y="778"/>
                  <a:pt x="875" y="618"/>
                  <a:pt x="852" y="532"/>
                </a:cubicBezTo>
                <a:cubicBezTo>
                  <a:pt x="828" y="445"/>
                  <a:pt x="799" y="387"/>
                  <a:pt x="763" y="358"/>
                </a:cubicBezTo>
                <a:cubicBezTo>
                  <a:pt x="728" y="329"/>
                  <a:pt x="687" y="314"/>
                  <a:pt x="641" y="314"/>
                </a:cubicBezTo>
                <a:cubicBezTo>
                  <a:pt x="596" y="314"/>
                  <a:pt x="555" y="329"/>
                  <a:pt x="519" y="358"/>
                </a:cubicBezTo>
                <a:cubicBezTo>
                  <a:pt x="483" y="387"/>
                  <a:pt x="455" y="439"/>
                  <a:pt x="435" y="515"/>
                </a:cubicBezTo>
                <a:cubicBezTo>
                  <a:pt x="409" y="613"/>
                  <a:pt x="396" y="778"/>
                  <a:pt x="396" y="1009"/>
                </a:cubicBezTo>
                <a:cubicBezTo>
                  <a:pt x="396" y="1154"/>
                  <a:pt x="401" y="1271"/>
                  <a:pt x="410" y="1359"/>
                </a:cubicBezTo>
                <a:lnTo>
                  <a:pt x="411" y="1365"/>
                </a:lnTo>
                <a:lnTo>
                  <a:pt x="22" y="1365"/>
                </a:lnTo>
                <a:lnTo>
                  <a:pt x="21" y="1355"/>
                </a:lnTo>
                <a:cubicBezTo>
                  <a:pt x="7" y="1252"/>
                  <a:pt x="0" y="1136"/>
                  <a:pt x="0" y="1005"/>
                </a:cubicBezTo>
                <a:cubicBezTo>
                  <a:pt x="0" y="633"/>
                  <a:pt x="65" y="366"/>
                  <a:pt x="194" y="202"/>
                </a:cubicBezTo>
                <a:cubicBezTo>
                  <a:pt x="301" y="67"/>
                  <a:pt x="450" y="0"/>
                  <a:pt x="64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404495" y="3761105"/>
            <a:ext cx="3510280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配置</a:t>
            </a:r>
            <a:r>
              <a:rPr lang="en-US" alt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GPIO</a:t>
            </a:r>
            <a:r>
              <a:rPr 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流程</a:t>
            </a:r>
            <a:endParaRPr lang="zh-CN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3726815" y="2613025"/>
            <a:ext cx="566864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3"/>
            </p:custDataLst>
          </p:nvPr>
        </p:nvCxnSpPr>
        <p:spPr>
          <a:xfrm>
            <a:off x="3733800" y="2593340"/>
            <a:ext cx="5674360" cy="825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030470" y="1628775"/>
            <a:ext cx="495300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配置</a:t>
            </a:r>
            <a:r>
              <a:rPr lang="en-US" altLang="zh-CN" sz="4800">
                <a:solidFill>
                  <a:srgbClr val="6096E6"/>
                </a:solidFill>
                <a:sym typeface="Arial" panose="020B0604020202020204" pitchFamily="34" charset="0"/>
              </a:rPr>
              <a:t>GPIO</a:t>
            </a:r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流程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166235" y="3249295"/>
            <a:ext cx="581723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1.</a:t>
            </a:r>
            <a:r>
              <a:rPr lang="zh-CN" altLang="en-US" sz="3200"/>
              <a:t>开启</a:t>
            </a:r>
            <a:r>
              <a:rPr lang="en-US" altLang="zh-CN" sz="3200"/>
              <a:t>GPIO</a:t>
            </a:r>
            <a:r>
              <a:rPr lang="zh-CN" altLang="en-US" sz="3200"/>
              <a:t>的端口时钟</a:t>
            </a:r>
            <a:endParaRPr lang="zh-CN" altLang="en-US" sz="3200"/>
          </a:p>
          <a:p>
            <a:r>
              <a:rPr lang="en-US" altLang="zh-CN" sz="3200">
                <a:sym typeface="+mn-ea"/>
              </a:rPr>
              <a:t>2.</a:t>
            </a:r>
            <a:r>
              <a:rPr lang="zh-CN" altLang="en-US" sz="3200">
                <a:sym typeface="+mn-ea"/>
              </a:rPr>
              <a:t>配置</a:t>
            </a:r>
            <a:r>
              <a:rPr lang="en-US" altLang="zh-CN" sz="3200">
                <a:sym typeface="+mn-ea"/>
              </a:rPr>
              <a:t>GPIO</a:t>
            </a:r>
            <a:r>
              <a:rPr lang="zh-CN" altLang="en-US" sz="3200">
                <a:sym typeface="+mn-ea"/>
              </a:rPr>
              <a:t>的模式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2.</a:t>
            </a:r>
            <a:r>
              <a:rPr lang="zh-CN" altLang="en-US" sz="3200">
                <a:sym typeface="+mn-ea"/>
              </a:rPr>
              <a:t>配置</a:t>
            </a:r>
            <a:r>
              <a:rPr lang="en-US" altLang="zh-CN" sz="3200">
                <a:sym typeface="+mn-ea"/>
              </a:rPr>
              <a:t>GPIO</a:t>
            </a:r>
            <a:r>
              <a:rPr lang="zh-CN" altLang="en-US" sz="3200">
                <a:sym typeface="+mn-ea"/>
              </a:rPr>
              <a:t>的输出</a:t>
            </a:r>
            <a:endParaRPr lang="en-US" altLang="zh-CN" sz="3200">
              <a:sym typeface="+mn-ea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26739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独立按键原理图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710" y="1468120"/>
            <a:ext cx="7992110" cy="39217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开启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GPIO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的端口时钟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2032000" y="1035050"/>
            <a:ext cx="8839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按键接到了单片机的PA0引脚上，首先要使能GPIOA端口的时钟。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894205" y="1768475"/>
            <a:ext cx="8063230" cy="20612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3200"/>
              <a:t>/* 定义key的引脚 */</a:t>
            </a:r>
            <a:endParaRPr lang="zh-CN" altLang="en-US" sz="3200"/>
          </a:p>
          <a:p>
            <a:pPr algn="l"/>
            <a:r>
              <a:rPr lang="zh-CN" altLang="en-US" sz="3200"/>
              <a:t>#define BSP_KEY_RCU   	RCU_GPIOA</a:t>
            </a:r>
            <a:endParaRPr lang="zh-CN" altLang="en-US" sz="3200"/>
          </a:p>
          <a:p>
            <a:pPr algn="l"/>
            <a:r>
              <a:rPr lang="zh-CN" altLang="en-US" sz="3200"/>
              <a:t>#define BSP_KEY_PORT     </a:t>
            </a:r>
            <a:r>
              <a:rPr lang="en-US" altLang="zh-CN" sz="3200"/>
              <a:t>	</a:t>
            </a:r>
            <a:r>
              <a:rPr lang="zh-CN" altLang="en-US" sz="3200"/>
              <a:t>GPIOA</a:t>
            </a:r>
            <a:endParaRPr lang="zh-CN" altLang="en-US" sz="3200"/>
          </a:p>
          <a:p>
            <a:pPr algn="l"/>
            <a:r>
              <a:rPr lang="zh-CN" altLang="en-US" sz="3200"/>
              <a:t>#define BSP_KEY_PIN   </a:t>
            </a:r>
            <a:r>
              <a:rPr lang="en-US" altLang="zh-CN" sz="3200"/>
              <a:t>	</a:t>
            </a:r>
            <a:r>
              <a:rPr lang="zh-CN" altLang="en-US" sz="3200"/>
              <a:t>	GPIO_PIN_0</a:t>
            </a:r>
            <a:endParaRPr lang="zh-CN" altLang="en-US" sz="3200"/>
          </a:p>
        </p:txBody>
      </p:sp>
      <p:sp>
        <p:nvSpPr>
          <p:cNvPr id="4" name="文本框 3"/>
          <p:cNvSpPr txBox="1"/>
          <p:nvPr/>
        </p:nvSpPr>
        <p:spPr>
          <a:xfrm>
            <a:off x="1903730" y="4395470"/>
            <a:ext cx="8044180" cy="107632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3200"/>
              <a:t>/* 开启时钟 */</a:t>
            </a:r>
            <a:endParaRPr lang="zh-CN" altLang="en-US" sz="3200"/>
          </a:p>
          <a:p>
            <a:pPr algn="l"/>
            <a:r>
              <a:rPr lang="zh-CN" altLang="en-US" sz="3200"/>
              <a:t>rcu_periph_clock_enable(BSP_KEY_RCU);</a:t>
            </a:r>
            <a:endParaRPr lang="zh-CN" altLang="en-US" sz="32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配置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GPIO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的模式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590675" y="1028700"/>
            <a:ext cx="88392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要检测电平引脚的状态，就需要将按键配置为输入模式。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开发板上的按键默认接的是低电平，也就按键松开的状态需要是低电平，在默认状态下需要将按键的状态保持为低电平。开发板上已经做了下拉处理，代码中可以配置为无上下拉也可以配置为下拉。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223010" y="3223895"/>
            <a:ext cx="941895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sz="2800"/>
              <a:t>/* 配置为输出模式 浮空模式 */</a:t>
            </a:r>
            <a:endParaRPr sz="2800"/>
          </a:p>
          <a:p>
            <a:pPr algn="l"/>
            <a:r>
              <a:rPr sz="2800"/>
              <a:t>gpio_mode_set(BSP_KEY_PORT,GPIO_MODE_INPUT, </a:t>
            </a:r>
            <a:endParaRPr sz="2800"/>
          </a:p>
          <a:p>
            <a:pPr algn="l"/>
            <a:r>
              <a:rPr lang="en-US" sz="2800"/>
              <a:t>		  </a:t>
            </a:r>
            <a:r>
              <a:rPr sz="2800"/>
              <a:t>GPIO_PUPD_PULLDOWN, BSP_KEY_PIN);  </a:t>
            </a:r>
            <a:endParaRPr sz="2800"/>
          </a:p>
          <a:p>
            <a:pPr algn="l"/>
            <a:r>
              <a:rPr sz="2800"/>
              <a:t>// 按键默认状态是低电平，配置为下拉</a:t>
            </a:r>
            <a:endParaRPr sz="28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配置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GPIO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的输出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545590" y="2670810"/>
            <a:ext cx="9330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/>
              <a:t>输入模式不用配置输出，这一步可以省略。</a:t>
            </a:r>
            <a:endParaRPr lang="zh-CN" altLang="en-US" sz="40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>
            <p:custDataLst>
              <p:tags r:id="rId2"/>
            </p:custDataLst>
          </p:nvPr>
        </p:nvCxnSpPr>
        <p:spPr>
          <a:xfrm flipV="1">
            <a:off x="3778250" y="2526665"/>
            <a:ext cx="5265420" cy="444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30470" y="1628775"/>
            <a:ext cx="521017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sz="4800">
                <a:solidFill>
                  <a:srgbClr val="6096E6"/>
                </a:solidFill>
                <a:sym typeface="Arial" panose="020B0604020202020204" pitchFamily="34" charset="0"/>
              </a:rPr>
              <a:t>检测按键状态</a:t>
            </a:r>
            <a:endParaRPr lang="zh-CN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获取按键状态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934845" y="2517775"/>
            <a:ext cx="2018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获取引脚的状态：</a:t>
            </a:r>
            <a:endParaRPr lang="zh-CN"/>
          </a:p>
        </p:txBody>
      </p:sp>
      <p:sp>
        <p:nvSpPr>
          <p:cNvPr id="4" name="文本框 3"/>
          <p:cNvSpPr txBox="1"/>
          <p:nvPr/>
        </p:nvSpPr>
        <p:spPr>
          <a:xfrm>
            <a:off x="1934845" y="2886075"/>
            <a:ext cx="8189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2000"/>
              <a:t>FlagStatus gpio_input_bit_get(uint32_t gpio_periph, uint32_t pin);</a:t>
            </a:r>
            <a:endParaRPr sz="2000"/>
          </a:p>
        </p:txBody>
      </p:sp>
      <p:sp>
        <p:nvSpPr>
          <p:cNvPr id="7" name="文本框 6"/>
          <p:cNvSpPr txBox="1"/>
          <p:nvPr/>
        </p:nvSpPr>
        <p:spPr>
          <a:xfrm>
            <a:off x="1934845" y="3664585"/>
            <a:ext cx="2976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获取PA0引脚的电平状态：</a:t>
            </a:r>
            <a:endParaRPr lang="zh-CN"/>
          </a:p>
        </p:txBody>
      </p:sp>
      <p:sp>
        <p:nvSpPr>
          <p:cNvPr id="8" name="文本框 7"/>
          <p:cNvSpPr txBox="1"/>
          <p:nvPr/>
        </p:nvSpPr>
        <p:spPr>
          <a:xfrm>
            <a:off x="1934845" y="4032885"/>
            <a:ext cx="8189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2000"/>
              <a:t>gpio_input_bit_get(BSP_KEY_PORT,BSP_KEY_PIN)</a:t>
            </a:r>
            <a:endParaRPr sz="2000"/>
          </a:p>
        </p:txBody>
      </p:sp>
      <p:sp>
        <p:nvSpPr>
          <p:cNvPr id="100" name="文本框 99"/>
          <p:cNvSpPr txBox="1"/>
          <p:nvPr/>
        </p:nvSpPr>
        <p:spPr>
          <a:xfrm>
            <a:off x="1850390" y="1499235"/>
            <a:ext cx="69119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sz="2000" b="0"/>
              <a:t>判断按键是否按下只需要判断检测的引脚电平是高电平即可。</a:t>
            </a:r>
            <a:endParaRPr sz="20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检测按键按下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850390" y="2103755"/>
            <a:ext cx="9087485" cy="3230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void key_scan(void)</a:t>
            </a:r>
            <a:endParaRPr lang="zh-CN" sz="1200"/>
          </a:p>
          <a:p>
            <a:r>
              <a:rPr lang="zh-CN" sz="1200"/>
              <a:t>{</a:t>
            </a:r>
            <a:endParaRPr lang="zh-CN" sz="1200"/>
          </a:p>
          <a:p>
            <a:r>
              <a:rPr lang="zh-CN" sz="1200"/>
              <a:t>	/* 先读取按键引脚的电平 如果高电平，按键按下 */</a:t>
            </a:r>
            <a:endParaRPr lang="zh-CN" sz="1200"/>
          </a:p>
          <a:p>
            <a:r>
              <a:rPr lang="zh-CN" sz="1200"/>
              <a:t>	if(gpio_input_bit_get(BSP_KEY_PORT,BSP_KEY_PIN) == SET) // 按键按下</a:t>
            </a:r>
            <a:endParaRPr lang="zh-CN" sz="1200"/>
          </a:p>
          <a:p>
            <a:r>
              <a:rPr lang="zh-CN" sz="1200"/>
              <a:t>	{</a:t>
            </a:r>
            <a:endParaRPr lang="zh-CN" sz="1200"/>
          </a:p>
          <a:p>
            <a:r>
              <a:rPr lang="zh-CN" sz="1200"/>
              <a:t>		/* 延迟消抖 */</a:t>
            </a:r>
            <a:endParaRPr lang="zh-CN" sz="1200"/>
          </a:p>
          <a:p>
            <a:r>
              <a:rPr lang="zh-CN" sz="1200"/>
              <a:t>		delay_1ms(20); </a:t>
            </a:r>
            <a:endParaRPr lang="zh-CN" sz="1200"/>
          </a:p>
          <a:p>
            <a:r>
              <a:rPr lang="zh-CN" sz="1200"/>
              <a:t>		if(gpio_input_bit_get(BSP_KEY_PORT,BSP_KEY_PIN) == SET) // 再次检测按键是否按下 </a:t>
            </a:r>
            <a:endParaRPr lang="zh-CN" sz="1200"/>
          </a:p>
          <a:p>
            <a:r>
              <a:rPr lang="zh-CN" sz="1200"/>
              <a:t>		{</a:t>
            </a:r>
            <a:endParaRPr lang="zh-CN" sz="1200"/>
          </a:p>
          <a:p>
            <a:r>
              <a:rPr lang="zh-CN" sz="1200"/>
              <a:t>			/* 执行功能 */</a:t>
            </a:r>
            <a:endParaRPr lang="zh-CN" sz="1200"/>
          </a:p>
          <a:p>
            <a:r>
              <a:rPr lang="zh-CN" sz="1200"/>
              <a:t>			gpio_bit_toggle(BSP_LED2_PORT,BSP_LED2_PIN); // led电平状态翻转</a:t>
            </a:r>
            <a:endParaRPr lang="zh-CN" sz="1200"/>
          </a:p>
          <a:p>
            <a:r>
              <a:rPr lang="zh-CN" sz="1200"/>
              <a:t>			printf("key press!\r\n");</a:t>
            </a:r>
            <a:endParaRPr lang="zh-CN" sz="1200"/>
          </a:p>
          <a:p>
            <a:r>
              <a:rPr lang="zh-CN" sz="1200"/>
              <a:t>			while(gpio_input_bit_get(BSP_KEY_PORT,BSP_KEY_PIN) == SET); // 等待按键松开</a:t>
            </a:r>
            <a:endParaRPr lang="zh-CN" sz="1200"/>
          </a:p>
          <a:p>
            <a:r>
              <a:rPr lang="zh-CN" sz="1200"/>
              <a:t>			printf("key release!\r\n");</a:t>
            </a:r>
            <a:endParaRPr lang="zh-CN" sz="1200"/>
          </a:p>
          <a:p>
            <a:r>
              <a:rPr lang="zh-CN" sz="1200"/>
              <a:t>		}</a:t>
            </a:r>
            <a:endParaRPr lang="zh-CN" sz="1200"/>
          </a:p>
          <a:p>
            <a:r>
              <a:rPr lang="zh-CN" sz="1200"/>
              <a:t>	}</a:t>
            </a:r>
            <a:endParaRPr lang="zh-CN" sz="1200"/>
          </a:p>
          <a:p>
            <a:r>
              <a:rPr lang="zh-CN" sz="1200"/>
              <a:t>}</a:t>
            </a:r>
            <a:endParaRPr lang="zh-CN" sz="1200"/>
          </a:p>
        </p:txBody>
      </p:sp>
      <p:sp>
        <p:nvSpPr>
          <p:cNvPr id="100" name="文本框 99"/>
          <p:cNvSpPr txBox="1"/>
          <p:nvPr/>
        </p:nvSpPr>
        <p:spPr>
          <a:xfrm>
            <a:off x="1799590" y="1363345"/>
            <a:ext cx="69119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sz="2000" b="0"/>
              <a:t>判断按键是否按下只需要判断检测的引脚电平是高电平即可。</a:t>
            </a:r>
            <a:endParaRPr sz="20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03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3755390" y="2613025"/>
            <a:ext cx="4040505" cy="190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30470" y="1628775"/>
            <a:ext cx="290449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sz="4800">
                <a:solidFill>
                  <a:srgbClr val="6096E6"/>
                </a:solidFill>
                <a:sym typeface="Arial" panose="020B0604020202020204" pitchFamily="34" charset="0"/>
              </a:rPr>
              <a:t>实验现象</a:t>
            </a:r>
            <a:endParaRPr lang="zh-CN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21410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实验现象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2125980" y="1109345"/>
            <a:ext cx="72650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2000"/>
              <a:t>烧写我们的代码之后，按下一次按键，</a:t>
            </a:r>
            <a:r>
              <a:rPr lang="zh-CN" sz="2000"/>
              <a:t>会打开</a:t>
            </a:r>
            <a:r>
              <a:rPr lang="en-US" altLang="zh-CN" sz="2000"/>
              <a:t>LED</a:t>
            </a:r>
            <a:r>
              <a:rPr lang="en-US" sz="2000"/>
              <a:t>2</a:t>
            </a:r>
            <a:r>
              <a:rPr sz="2000"/>
              <a:t>，再按下一次按键，</a:t>
            </a:r>
            <a:r>
              <a:rPr lang="zh-CN" sz="2000"/>
              <a:t>会</a:t>
            </a:r>
            <a:r>
              <a:rPr sz="2000"/>
              <a:t>关闭</a:t>
            </a:r>
            <a:r>
              <a:rPr lang="en-US" sz="2000"/>
              <a:t>LED2</a:t>
            </a:r>
            <a:r>
              <a:rPr sz="2000"/>
              <a:t>，以此类推。每次按下按键都会打印press!，松开按键会打印release!。</a:t>
            </a:r>
            <a:endParaRPr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980" y="2526030"/>
            <a:ext cx="7821295" cy="32689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329305" y="252539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500" b="1">
                <a:solidFill>
                  <a:srgbClr val="3572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谢谢大家</a:t>
            </a:r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06370" y="355282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9005" y="170243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6370" y="355409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6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8924_4*l_h_i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8924_4*l_h_i*1_2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BEAUTIFY_FLAG" val="#wm#"/>
  <p:tag name="KSO_WM_TEMPLATE_CATEGORY" val="diagram"/>
  <p:tag name="KSO_WM_TEMPLATE_INDEX" val="20198924"/>
  <p:tag name="KSO_WM_SLIDE_ID" val="diagram20198924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3"/>
  <p:tag name="KSO_WM_SLIDE_SIZE" val="900.387*205.958"/>
  <p:tag name="KSO_WM_SLIDE_POSITION" val="29.8064*167.021"/>
  <p:tag name="KSO_WM_DIAGRAM_GROUP_CODE" val="l1-1"/>
  <p:tag name="KSO_WM_SLIDE_DIAGTYPE" val="l"/>
  <p:tag name="KSO_WM_TAG_VERSION" val="1.0"/>
  <p:tag name="KSO_WM_SLIDE_LAYOUT" val="l"/>
  <p:tag name="KSO_WM_SLIDE_LAYOUT_CNT" val="1"/>
</p:tagLst>
</file>

<file path=ppt/tags/tag12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4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1327</Words>
  <Application>WPS 演示</Application>
  <PresentationFormat>宽屏</PresentationFormat>
  <Paragraphs>97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Wingdings</vt:lpstr>
      <vt:lpstr>Arial</vt:lpstr>
      <vt:lpstr>Arial Unicode MS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冷月枫</cp:lastModifiedBy>
  <cp:revision>295</cp:revision>
  <dcterms:created xsi:type="dcterms:W3CDTF">2019-06-19T02:08:00Z</dcterms:created>
  <dcterms:modified xsi:type="dcterms:W3CDTF">2022-05-13T02:49:51Z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2052-11.1.0.11372</vt:lpwstr>
  </property>
  <property fmtid="{D5CDD505-2E9C-101B-9397-08002B2CF9AE}" pid="3" name="KSOTemplateUUID">
    <vt:lpwstr>v1.0_mb_UVDUVYxfrMBBv8iemHXVyg==</vt:lpwstr>
  </property>
  <property fmtid="{D5CDD505-2E9C-101B-9397-08002B2CF9AE}" pid="4" name="ICV">
    <vt:lpwstr>F4FD8076E9E2473C85D3F1F44504090E</vt:lpwstr>
  </property>
  <property fmtid="{D5CDD505-2E9C-101B-9397-08002B2CF9AE}" pid="5" name="KSOSaveFontToCloudKey">
    <vt:lpwstr>203183318_embed</vt:lpwstr>
  </property>
</Properties>
</file>