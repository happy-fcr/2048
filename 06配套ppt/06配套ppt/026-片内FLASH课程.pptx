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  <p:sldMasterId id="2147483675" r:id="rId4"/>
  </p:sldMasterIdLst>
  <p:notesMasterIdLst>
    <p:notesMasterId r:id="rId6"/>
  </p:notesMasterIdLst>
  <p:handoutMasterIdLst>
    <p:handoutMasterId r:id="rId16"/>
  </p:handoutMasterIdLst>
  <p:sldIdLst>
    <p:sldId id="409" r:id="rId5"/>
    <p:sldId id="497" r:id="rId7"/>
    <p:sldId id="845" r:id="rId8"/>
    <p:sldId id="722" r:id="rId9"/>
    <p:sldId id="806" r:id="rId10"/>
    <p:sldId id="716" r:id="rId11"/>
    <p:sldId id="827" r:id="rId12"/>
    <p:sldId id="821" r:id="rId13"/>
    <p:sldId id="820" r:id="rId14"/>
    <p:sldId id="427" r:id="rId15"/>
  </p:sldIdLst>
  <p:sldSz cx="12192000" cy="6858000"/>
  <p:notesSz cx="6858000" cy="9144000"/>
  <p:embeddedFontLst>
    <p:embeddedFont>
      <p:font typeface="微软雅黑" panose="020B0503020204020204" pitchFamily="34" charset="-122"/>
      <p:regular r:id="rId21"/>
    </p:embeddedFont>
    <p:embeddedFont>
      <p:font typeface="黑体" panose="02010609060101010101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  <p:cmAuthor id="5" name="win" initials="w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57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gs" Target="tags/tag166.xml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5" dt="2023-07-04T19:17:17.655" idx="1">
    <p:pos x="10" y="1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/>
          <a:p>
            <a:r>
              <a:t>主设备通过控制时钟线的电平来同步数据传输。时钟线的上升沿和下降沿用于控制数据的传输和采样。</a:t>
            </a:r>
          </a:p>
          <a:p>
            <a:r>
              <a:t>主设备通过片选线选择要与之通信的从设备。每个从设备都有一个片选线，当片选线为低电平时，表示该从设备被选中。</a:t>
            </a:r>
          </a:p>
          <a:p>
            <a:r>
              <a:t>主设备通过MOSI线向从设备发送数据，从设备通过MISO线向主设备发送数据。在每个时钟周期中，主设备将一个位发送到MOSI线上，从设备在下一个时钟周期中读取该位。同时，从设备将一个位发送到MISO线上，主设备在下一个时钟周期中读取该位。</a:t>
            </a:r>
          </a:p>
          <a:p>
            <a:r>
              <a:t>SPI通信可以是全双工的，即主设备和从设备可以同时发送和接收数据。数据传输的长度可以是可变的，通常以字节为单位。数据传输可以是单向的，即主设备只发送数据或只接收数据。同时，SPI支持多主设备，即多个主设备可以与多个从设备进行通信。</a:t>
            </a:r>
          </a:p>
          <a:p/>
          <a:p>
            <a:r>
              <a:t>SPI协议具有高速传输、低成本、简单实现等优点，被广泛应用于各种领域，如通信、嵌入式系统、传感器等。在使用SPI时，需要根据具体的硬件设备和通信需求来配置相应的时钟频率、数据格式和传输模式等参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indent="457200" algn="l">
              <a:lnSpc>
                <a:spcPct val="140000"/>
              </a:lnSpc>
              <a:buClrTx/>
              <a:buSzTx/>
              <a:buNone/>
            </a:pPr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heme" Target="../theme/theme3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5.xml"/><Relationship Id="rId3" Type="http://schemas.openxmlformats.org/officeDocument/2006/relationships/image" Target="../media/image3.png"/><Relationship Id="rId2" Type="http://schemas.openxmlformats.org/officeDocument/2006/relationships/tags" Target="../tags/tag124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36.xml"/><Relationship Id="rId6" Type="http://schemas.openxmlformats.org/officeDocument/2006/relationships/image" Target="../media/image3.png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1.xml"/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39.xml"/><Relationship Id="rId5" Type="http://schemas.openxmlformats.org/officeDocument/2006/relationships/image" Target="../media/image5.png"/><Relationship Id="rId4" Type="http://schemas.openxmlformats.org/officeDocument/2006/relationships/tags" Target="../tags/tag138.xml"/><Relationship Id="rId3" Type="http://schemas.openxmlformats.org/officeDocument/2006/relationships/image" Target="../media/image3.png"/><Relationship Id="rId2" Type="http://schemas.openxmlformats.org/officeDocument/2006/relationships/tags" Target="../tags/tag13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image" Target="../media/image6.png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image" Target="../media/image4.png"/><Relationship Id="rId3" Type="http://schemas.openxmlformats.org/officeDocument/2006/relationships/tags" Target="../tags/tag141.xml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26.xml"/><Relationship Id="rId13" Type="http://schemas.openxmlformats.org/officeDocument/2006/relationships/tags" Target="../tags/tag147.xml"/><Relationship Id="rId12" Type="http://schemas.openxmlformats.org/officeDocument/2006/relationships/image" Target="../media/image8.png"/><Relationship Id="rId11" Type="http://schemas.openxmlformats.org/officeDocument/2006/relationships/tags" Target="../tags/tag146.xml"/><Relationship Id="rId10" Type="http://schemas.openxmlformats.org/officeDocument/2006/relationships/image" Target="../media/image7.png"/><Relationship Id="rId1" Type="http://schemas.openxmlformats.org/officeDocument/2006/relationships/tags" Target="../tags/tag14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53.xml"/><Relationship Id="rId6" Type="http://schemas.openxmlformats.org/officeDocument/2006/relationships/image" Target="../media/image3.png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57.xml"/><Relationship Id="rId7" Type="http://schemas.openxmlformats.org/officeDocument/2006/relationships/image" Target="../media/image10.png"/><Relationship Id="rId6" Type="http://schemas.openxmlformats.org/officeDocument/2006/relationships/tags" Target="../tags/tag156.xml"/><Relationship Id="rId5" Type="http://schemas.openxmlformats.org/officeDocument/2006/relationships/image" Target="../media/image9.png"/><Relationship Id="rId4" Type="http://schemas.openxmlformats.org/officeDocument/2006/relationships/tags" Target="../tags/tag155.xml"/><Relationship Id="rId3" Type="http://schemas.openxmlformats.org/officeDocument/2006/relationships/image" Target="../media/image3.png"/><Relationship Id="rId2" Type="http://schemas.openxmlformats.org/officeDocument/2006/relationships/tags" Target="../tags/tag154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58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61.xml"/><Relationship Id="rId5" Type="http://schemas.openxmlformats.org/officeDocument/2006/relationships/image" Target="../media/image12.png"/><Relationship Id="rId4" Type="http://schemas.openxmlformats.org/officeDocument/2006/relationships/tags" Target="../tags/tag160.xml"/><Relationship Id="rId3" Type="http://schemas.openxmlformats.org/officeDocument/2006/relationships/image" Target="../media/image3.png"/><Relationship Id="rId2" Type="http://schemas.openxmlformats.org/officeDocument/2006/relationships/tags" Target="../tags/tag159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63.xml"/><Relationship Id="rId3" Type="http://schemas.openxmlformats.org/officeDocument/2006/relationships/image" Target="../media/image3.png"/><Relationship Id="rId2" Type="http://schemas.openxmlformats.org/officeDocument/2006/relationships/tags" Target="../tags/tag16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5.xml"/><Relationship Id="rId2" Type="http://schemas.openxmlformats.org/officeDocument/2006/relationships/image" Target="../media/image3.png"/><Relationship Id="rId1" Type="http://schemas.openxmlformats.org/officeDocument/2006/relationships/tags" Target="../tags/tag1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744845" y="2529205"/>
            <a:ext cx="41090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片内</a:t>
            </a:r>
            <a:r>
              <a:rPr lang="en-US" altLang="zh-CN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FLASH</a:t>
            </a:r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介绍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7266940" y="3676015"/>
            <a:ext cx="28670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FLASH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操作流程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7796530" y="143525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8882223" y="143525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2633285" y="1494314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2098040" y="3676015"/>
            <a:ext cx="28962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FLASH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基础知识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2718435" y="253175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940685" y="377253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2940685" y="376301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5765" y="2788285"/>
            <a:ext cx="529209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sz="4800">
                <a:solidFill>
                  <a:srgbClr val="6096E6"/>
                </a:solidFill>
                <a:sym typeface="Arial" panose="020B0604020202020204" pitchFamily="34" charset="0"/>
              </a:rPr>
              <a:t>FLASH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基础知识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FLASH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4230" y="1174750"/>
            <a:ext cx="10611485" cy="2253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20000"/>
              </a:lnSpc>
            </a:pPr>
            <a:r>
              <a:rPr lang="zh-CN" altLang="en-US" sz="180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FLASH是一种非易失性存储器，它可以在断电后仍然保持数据。在GD32F470微控制器中，FLASH主要用于存储程序代码，以便在上电后可以执行相应的操作。它还可以用于存储数据，例如变量、配置信息等。GD32F470的FLASH通常具有较大的存储容量，例如512KB、1MB等，可以根据不同的型号和配置进行选择。</a:t>
            </a:r>
            <a:endParaRPr lang="zh-CN" altLang="en-US" sz="1800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3212465"/>
            <a:ext cx="12181205" cy="300926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638030" y="507365"/>
            <a:ext cx="1912620" cy="497205"/>
          </a:xfrm>
          <a:prstGeom prst="rect">
            <a:avLst/>
          </a:prstGeom>
        </p:spPr>
      </p:pic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5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FLASH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结构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2930" y="1106805"/>
            <a:ext cx="4970780" cy="1536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GD32F4xx 的内存结构由：主存储器、系统信息存储器、一次性编程区域和选项字节等 4 部分组成。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主存储器是用来存放代码和数据常数（如 const 类型的数据）。分为 2 个块，块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0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分为 12 个扇区，前 4 个扇区为 16KB 大小，第五个扇区是 64KB 大小，剩下的 7 个扇区都是 128K 大小，总共 1M 字节。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主存储闪存的每个扇区都可以单独擦除。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24230" y="4234180"/>
            <a:ext cx="4729480" cy="21336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728970" y="213360"/>
            <a:ext cx="3201035" cy="579691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704205" y="6010275"/>
            <a:ext cx="3216910" cy="46164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693420" y="2778760"/>
            <a:ext cx="4860925" cy="1083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系统信息存储器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，这个主要用来存放 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GD32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的 bootloader 代码，此代码是出厂的时候就固化在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GD32F470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里面了，专门来给主存储器下载代码的。当 B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OOT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0 接 V3.3，B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OOT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 接 GND 的时候，从该存储器启动（即进入串口下载模式）。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022080" y="4234180"/>
            <a:ext cx="2950210" cy="843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一次性编程区域，共 528 字节。可以用来存储一些用户数据。一次性的，写入之后，无法擦除。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930005" y="5546725"/>
            <a:ext cx="2950210" cy="925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选项字节，用于配置读保护、软件/硬件看门狗以及器件处于待机或停止模式下的复位。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2718435" y="253175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940685" y="377253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2940685" y="376301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5765" y="2788285"/>
            <a:ext cx="502602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FLASH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操作流程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56285" y="330200"/>
            <a:ext cx="3916680" cy="54229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FLASH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擦除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56285" y="879475"/>
            <a:ext cx="3103245" cy="56394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33875" y="976630"/>
            <a:ext cx="3185795" cy="55289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388985" y="976630"/>
            <a:ext cx="3161665" cy="543433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FLASH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写操作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557770" y="852170"/>
            <a:ext cx="3133725" cy="57550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1495" y="1056005"/>
            <a:ext cx="6590665" cy="4798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fmc_state_enum fmc_word_program(uint32_t address, uint32_t data)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fmc_state_enum fmc_state = FMC_READY;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/* wait for the FMC ready */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fmc_state = fmc_ready_wait(FMC_TIMEOUT_COUNT);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if(FMC_READY == fmc_state) {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/* set the PG bit to start program */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FMC_CTL &amp;= ~FMC_CTL_PSZ;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FMC_CTL |= CTL_PSZ_WORD;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FMC_CTL |= FMC_CTL_PG;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REG32(address) = data;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/* wait for the FMC ready */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fmc_state = fmc_ready_wait(FMC_TIMEOUT_COUNT);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/* reset the PG bit */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FMC_CTL &amp;= ~FMC_CTL_PG;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}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/* return the FMC state */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return fmc_state;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FLASH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读操作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8330" y="1098550"/>
            <a:ext cx="7378065" cy="915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30000"/>
              </a:lnSpc>
            </a:pPr>
            <a:r>
              <a:rPr lang="zh-CN" altLang="en-US" sz="180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读操作可以像普通存储空间一样直接寻址访问。</a:t>
            </a:r>
            <a:endParaRPr lang="zh-CN" altLang="en-US" sz="1800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130000"/>
              </a:lnSpc>
            </a:pPr>
            <a:r>
              <a:rPr lang="zh-CN" altLang="en-US" sz="180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将地址转成地址指针，再通过</a:t>
            </a:r>
            <a:r>
              <a:rPr lang="zh-CN" altLang="en-US" sz="180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取值符</a:t>
            </a:r>
            <a:r>
              <a:rPr lang="en-US" altLang="zh-CN" sz="180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* </a:t>
            </a:r>
            <a:r>
              <a:rPr lang="zh-CN" altLang="en-US" sz="180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，取出地址中的数据。</a:t>
            </a:r>
            <a:endParaRPr lang="zh-CN" altLang="en-US" sz="1800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4230" y="2233930"/>
            <a:ext cx="4811395" cy="7683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20000"/>
              </a:lnSpc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unsigned int data = 0;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data = </a:t>
            </a:r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*(volatile unsigned int*)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flashA</a:t>
            </a:r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ddr; 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57525" y="4966335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1495" y="4485640"/>
            <a:ext cx="9179560" cy="1833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void GDFLASH_Read(unsigned int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r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eadAddr,unsigned int *pBuffer,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unsigned int 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um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Size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   	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unsigned int i;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for(i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=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0;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&lt;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um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Size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;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i++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{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	pBuffer[i]=GDFLASH_ReadWord(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eadAddr);//读取4个字节.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	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eadAddr+=4;//偏移4个字节.	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}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  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99110" y="381635"/>
            <a:ext cx="1912620" cy="4972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30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3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  <p:tag name="KSO_WM_UNIT_TYPE" val="j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  <p:tag name="KSO_WM_UNIT_PLACING_PICTURE_USER_VIEWPORT" val="{&quot;height&quot;:3360,&quot;width&quot;:7448}"/>
</p:tagLst>
</file>

<file path=ppt/tags/tag145.xml><?xml version="1.0" encoding="utf-8"?>
<p:tagLst xmlns:p="http://schemas.openxmlformats.org/presentationml/2006/main">
  <p:tag name="KSO_WM_BEAUTIFY_FLAG" val=""/>
  <p:tag name="KSO_WM_UNIT_PLACING_PICTURE_USER_VIEWPORT" val="{&quot;height&quot;:9129,&quot;width&quot;:5041}"/>
</p:tagLst>
</file>

<file path=ppt/tags/tag146.xml><?xml version="1.0" encoding="utf-8"?>
<p:tagLst xmlns:p="http://schemas.openxmlformats.org/presentationml/2006/main">
  <p:tag name="KSO_WM_BEAUTIFY_FLAG" val=""/>
  <p:tag name="KSO_WM_UNIT_PLACING_PICTURE_USER_VIEWPORT" val="{&quot;height&quot;:727,&quot;width&quot;:5066}"/>
</p:tagLst>
</file>

<file path=ppt/tags/tag147.xml><?xml version="1.0" encoding="utf-8"?>
<p:tagLst xmlns:p="http://schemas.openxmlformats.org/presentationml/2006/main">
  <p:tag name="KSO_WM_SLIDE_ID" val="diagram20205089_1"/>
  <p:tag name="KSO_WM_TEMPLATE_SUBCATEGORY" val="0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05089"/>
  <p:tag name="KSO_WM_SLIDE_LAYOUT" val="a_f"/>
  <p:tag name="KSO_WM_SLIDE_LAYOUT_CNT" val="1_3"/>
  <p:tag name="KSO_WM_UNIT_SHOW_EDIT_AREA_INDICATION" val="1"/>
  <p:tag name="KSO_WM_TEMPLATE_THUMBS_INDEX" val="1、4、7、12、13、14、15、16、17、18、20、24、25、28、33、36、40、43、44"/>
  <p:tag name="KSO_WM_SLIDE_SIZE" val="960*490"/>
  <p:tag name="KSO_WM_SLIDE_POSITION" val="0*49"/>
</p:tagLst>
</file>

<file path=ppt/tags/tag14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6.xml><?xml version="1.0" encoding="utf-8"?>
<p:tagLst xmlns:p="http://schemas.openxmlformats.org/presentationml/2006/main">
  <p:tag name="KSO_WPP_MARK_KEY" val="20655751-83b5-4141-9554-5e7661096423"/>
  <p:tag name="COMMONDATA" val="eyJjb3VudCI6MTE4LCJoZGlkIjoiMmQ1NTA5ZmE0MmUzMzcyM2RlY2UwNDZhMDg2M2Y2ZDAiLCJ1c2VyQ291bnQiOjJ9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noAutofit/>
      </a:bodyPr>
      <a:lstStyle>
        <a:defPPr indent="457200" algn="l" fontAlgn="t">
          <a:lnSpc>
            <a:spcPct val="90000"/>
          </a:lnSpc>
          <a:defRPr lang="zh-CN" altLang="en-US" sz="1400">
            <a:latin typeface="Arial" panose="020B0604020202020204" pitchFamily="34" charset="0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54849E"/>
      </a:dk2>
      <a:lt2>
        <a:srgbClr val="D9E3E7"/>
      </a:lt2>
      <a:accent1>
        <a:srgbClr val="158CD0"/>
      </a:accent1>
      <a:accent2>
        <a:srgbClr val="3A74C2"/>
      </a:accent2>
      <a:accent3>
        <a:srgbClr val="5F5CB5"/>
      </a:accent3>
      <a:accent4>
        <a:srgbClr val="8544A8"/>
      </a:accent4>
      <a:accent5>
        <a:srgbClr val="AA2C9B"/>
      </a:accent5>
      <a:accent6>
        <a:srgbClr val="D0148E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noAutofit/>
      </a:bodyPr>
      <a:lstStyle>
        <a:defPPr indent="457200" algn="l" fontAlgn="t">
          <a:lnSpc>
            <a:spcPct val="90000"/>
          </a:lnSpc>
          <a:defRPr lang="zh-CN" altLang="en-US" sz="1400">
            <a:latin typeface="Arial" panose="020B0604020202020204" pitchFamily="34" charset="0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1622</Words>
  <Application>WPS 演示</Application>
  <PresentationFormat>宽屏</PresentationFormat>
  <Paragraphs>84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Wingdings</vt:lpstr>
      <vt:lpstr>Arial</vt:lpstr>
      <vt:lpstr>黑体</vt:lpstr>
      <vt:lpstr>Arial Unicode MS</vt:lpstr>
      <vt:lpstr>Calibri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你猜</cp:lastModifiedBy>
  <cp:revision>505</cp:revision>
  <dcterms:created xsi:type="dcterms:W3CDTF">2019-06-19T02:08:00Z</dcterms:created>
  <dcterms:modified xsi:type="dcterms:W3CDTF">2023-07-17T02:03:02Z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