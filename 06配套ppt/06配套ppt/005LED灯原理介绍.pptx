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7"/>
  </p:handoutMasterIdLst>
  <p:sldIdLst>
    <p:sldId id="409" r:id="rId4"/>
    <p:sldId id="497" r:id="rId6"/>
    <p:sldId id="720" r:id="rId7"/>
    <p:sldId id="730" r:id="rId8"/>
    <p:sldId id="722" r:id="rId9"/>
    <p:sldId id="716" r:id="rId10"/>
    <p:sldId id="718" r:id="rId11"/>
    <p:sldId id="721" r:id="rId12"/>
    <p:sldId id="723" r:id="rId13"/>
    <p:sldId id="717" r:id="rId14"/>
    <p:sldId id="719" r:id="rId15"/>
    <p:sldId id="427" r:id="rId16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94"/>
        <p:guide pos="38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2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5.xml"/><Relationship Id="rId5" Type="http://schemas.openxmlformats.org/officeDocument/2006/relationships/image" Target="../media/image3.png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6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7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2.xml"/><Relationship Id="rId4" Type="http://schemas.openxmlformats.org/officeDocument/2006/relationships/image" Target="../media/image3.png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3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34610" y="2520315"/>
            <a:ext cx="535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LED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灯原理介绍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3624580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LED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灯原理图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591388" y="3761281"/>
            <a:ext cx="4179794" cy="1116781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LED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灯驱动流程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539750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LED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灯基础知识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7310"/>
            <a:ext cx="5899150" cy="571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95300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LED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灯基础知识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40773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1.LED</a:t>
            </a:r>
            <a:r>
              <a:rPr lang="zh-CN" altLang="en-US" sz="3200"/>
              <a:t>灯结构组成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2.LED</a:t>
            </a:r>
            <a:r>
              <a:rPr lang="zh-CN" altLang="en-US" sz="3200">
                <a:sym typeface="+mn-ea"/>
              </a:rPr>
              <a:t>灯发光原理</a:t>
            </a:r>
            <a:endParaRPr lang="zh-CN" altLang="en-US" sz="3200"/>
          </a:p>
          <a:p>
            <a:r>
              <a:rPr lang="en-US" altLang="zh-CN" sz="3200"/>
              <a:t>3.LED</a:t>
            </a:r>
            <a:r>
              <a:rPr lang="zh-CN" altLang="en-US" sz="3200"/>
              <a:t>灯驱动原理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发光二极管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endParaRPr kumimoji="0" lang="en-US" alt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85" y="1465580"/>
            <a:ext cx="4385310" cy="39268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325" y="1465580"/>
            <a:ext cx="5685790" cy="39871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灯的压降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988060" y="1238250"/>
          <a:ext cx="5372100" cy="2209800"/>
        </p:xfrm>
        <a:graphic>
          <a:graphicData uri="http://schemas.openxmlformats.org/drawingml/2006/table">
            <a:tbl>
              <a:tblPr firstRow="1" bandRow="1"/>
              <a:tblGrid>
                <a:gridCol w="3212465"/>
                <a:gridCol w="2159635"/>
              </a:tblGrid>
              <a:tr h="5816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直插LED</a:t>
                      </a:r>
                      <a:endParaRPr lang="zh-CN" altLang="en-US" sz="1800" b="1" spc="13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FF6238"/>
                      </a:solidFill>
                      <a:prstDash val="solid"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solidFill>
                      <a:srgbClr val="FF623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压降范围</a:t>
                      </a:r>
                      <a:endParaRPr lang="zh-CN" altLang="en-US" sz="1800" b="1" spc="13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19050" cap="rnd">
                      <a:solidFill>
                        <a:srgbClr val="FF6238"/>
                      </a:solidFill>
                      <a:prstDash val="solid"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solidFill>
                      <a:srgbClr val="FF6238"/>
                    </a:solidFill>
                  </a:tcPr>
                </a:tc>
              </a:tr>
              <a:tr h="54292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红色发光二极管</a:t>
                      </a:r>
                      <a:endParaRPr lang="zh-CN" alt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19050">
                      <a:solidFill>
                        <a:srgbClr val="FF6238"/>
                      </a:solidFill>
                      <a:prstDash val="solid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2.0-2.2V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19050">
                      <a:solidFill>
                        <a:srgbClr val="FF6238"/>
                      </a:solidFill>
                      <a:prstDash val="solid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</a:tr>
              <a:tr h="5422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黄色发光二极管</a:t>
                      </a:r>
                      <a:endParaRPr lang="zh-CN" alt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1.8-2.0V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绿色发光二极管</a:t>
                      </a:r>
                      <a:endParaRPr lang="zh-CN" alt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19050" cap="rnd">
                      <a:solidFill>
                        <a:srgbClr val="FF623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3.0-3.2V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19050" cap="rnd">
                      <a:solidFill>
                        <a:srgbClr val="FF623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88060" y="3448050"/>
            <a:ext cx="3497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正常发光时的额定电流约为</a:t>
            </a:r>
            <a:r>
              <a:rPr lang="en-US" altLang="zh-CN"/>
              <a:t>20ma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5160010" y="3790950"/>
          <a:ext cx="6134100" cy="2742565"/>
        </p:xfrm>
        <a:graphic>
          <a:graphicData uri="http://schemas.openxmlformats.org/drawingml/2006/table">
            <a:tbl>
              <a:tblPr firstRow="1" bandRow="1"/>
              <a:tblGrid>
                <a:gridCol w="2616200"/>
                <a:gridCol w="1758950"/>
                <a:gridCol w="1758950"/>
              </a:tblGrid>
              <a:tr h="58547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贴片LED</a:t>
                      </a:r>
                      <a:endParaRPr lang="zh-CN" altLang="en-US" sz="1800" b="1" spc="13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FF6238"/>
                      </a:solidFill>
                      <a:prstDash val="solid"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solidFill>
                      <a:srgbClr val="FF623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压降范围</a:t>
                      </a:r>
                      <a:endParaRPr lang="zh-CN" altLang="en-US" sz="1800" b="1" spc="13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FF6238"/>
                      </a:solidFill>
                      <a:prstDash val="solid"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solidFill>
                      <a:srgbClr val="FF623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spc="13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电流</a:t>
                      </a:r>
                      <a:endParaRPr lang="zh-CN" altLang="en-US" sz="1800" b="1" spc="13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19050" cap="rnd">
                      <a:solidFill>
                        <a:srgbClr val="FF6238"/>
                      </a:solidFill>
                      <a:prstDash val="solid"/>
                    </a:lnT>
                    <a:lnB w="19050">
                      <a:solidFill>
                        <a:srgbClr val="FF6238"/>
                      </a:solidFill>
                      <a:prstDash val="solid"/>
                    </a:lnB>
                    <a:solidFill>
                      <a:srgbClr val="FF6238"/>
                    </a:solidFill>
                  </a:tcPr>
                </a:tc>
              </a:tr>
              <a:tr h="8058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红色发光二极管</a:t>
                      </a:r>
                      <a:endParaRPr lang="zh-CN" alt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19050">
                      <a:solidFill>
                        <a:srgbClr val="FF6238"/>
                      </a:solidFill>
                      <a:prstDash val="solid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1.82-1.88V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19050">
                      <a:solidFill>
                        <a:srgbClr val="FF6238"/>
                      </a:solidFill>
                      <a:prstDash val="solid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5-8mA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19050">
                      <a:solidFill>
                        <a:srgbClr val="FF6238"/>
                      </a:solidFill>
                      <a:prstDash val="solid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</a:tr>
              <a:tr h="8051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绿色发光二极管</a:t>
                      </a:r>
                      <a:endParaRPr lang="zh-CN" alt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1.75-1.82V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3-5mA 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3175">
                      <a:solidFill>
                        <a:srgbClr val="FF6238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蓝色</a:t>
                      </a:r>
                      <a:r>
                        <a:rPr lang="zh-CN" altLang="en-US" sz="160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发光二极管</a:t>
                      </a:r>
                      <a:endParaRPr lang="zh-CN" altLang="en-US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77800" marR="177800" marT="107950" marB="107950" anchor="ctr">
                    <a:lnL w="19050" cap="rnd">
                      <a:solidFill>
                        <a:srgbClr val="FF6238"/>
                      </a:solidFill>
                      <a:prstDash val="solid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19050" cap="rnd">
                      <a:solidFill>
                        <a:srgbClr val="FF623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3.1-3.3V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3175">
                      <a:solidFill>
                        <a:srgbClr val="FF6238"/>
                      </a:solidFill>
                      <a:prstDash val="dot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19050" cap="rnd">
                      <a:solidFill>
                        <a:srgbClr val="FF623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8-10mA </a:t>
                      </a:r>
                      <a:endParaRPr lang="en-US" altLang="zh-CN" sz="16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>
                    <a:lnL w="3175">
                      <a:solidFill>
                        <a:srgbClr val="FF6238"/>
                      </a:solidFill>
                      <a:prstDash val="dot"/>
                    </a:lnL>
                    <a:lnR w="19050" cap="rnd">
                      <a:solidFill>
                        <a:srgbClr val="FF6238"/>
                      </a:solidFill>
                      <a:prstDash val="solid"/>
                    </a:lnR>
                    <a:lnT w="3175">
                      <a:solidFill>
                        <a:srgbClr val="FF6238"/>
                      </a:solidFill>
                      <a:prstDash val="dot"/>
                    </a:lnT>
                    <a:lnB w="19050" cap="rnd">
                      <a:solidFill>
                        <a:srgbClr val="FF623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160010" y="342265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参考值：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88060" y="85407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参考值：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54120" y="2583815"/>
            <a:ext cx="5309235" cy="444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12559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LED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灯原理图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灯原理图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130" y="1202690"/>
            <a:ext cx="7317105" cy="456120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28549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灯开发板分布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30" y="1059815"/>
            <a:ext cx="9171305" cy="54902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灯电阻计算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776730" y="1595755"/>
            <a:ext cx="77343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假如</a:t>
            </a:r>
            <a:r>
              <a:rPr lang="en-US" altLang="zh-CN"/>
              <a:t>led</a:t>
            </a:r>
            <a:r>
              <a:rPr lang="zh-CN" altLang="en-US"/>
              <a:t>的压降是</a:t>
            </a:r>
            <a:r>
              <a:rPr lang="en-US" altLang="zh-CN"/>
              <a:t>1.8V</a:t>
            </a:r>
            <a:r>
              <a:rPr lang="zh-CN" altLang="en-US"/>
              <a:t>，那使用一个</a:t>
            </a:r>
            <a:r>
              <a:rPr lang="en-US" altLang="zh-CN"/>
              <a:t>led</a:t>
            </a:r>
            <a:r>
              <a:rPr lang="zh-CN" altLang="en-US"/>
              <a:t>电压就是</a:t>
            </a:r>
            <a:r>
              <a:rPr lang="en-US" altLang="zh-CN"/>
              <a:t>1.8V</a:t>
            </a:r>
            <a:r>
              <a:rPr lang="zh-CN" altLang="en-US"/>
              <a:t>，假如我们是</a:t>
            </a:r>
            <a:r>
              <a:rPr lang="en-US" altLang="zh-CN"/>
              <a:t>3.3V</a:t>
            </a:r>
            <a:r>
              <a:rPr lang="zh-CN" altLang="en-US"/>
              <a:t>供电，那么电阻要分担的电压就是</a:t>
            </a:r>
            <a:r>
              <a:rPr lang="en-US" altLang="zh-CN"/>
              <a:t>3.3V-1.8V = 1.5V  </a:t>
            </a:r>
            <a:endParaRPr lang="zh-CN" altLang="en-US"/>
          </a:p>
          <a:p>
            <a:r>
              <a:rPr lang="zh-CN" altLang="en-US"/>
              <a:t>根据</a:t>
            </a:r>
            <a:r>
              <a:rPr lang="en-US" altLang="zh-CN"/>
              <a:t>U = IR</a:t>
            </a:r>
            <a:r>
              <a:rPr lang="zh-CN" altLang="en-US"/>
              <a:t>，电流取</a:t>
            </a:r>
            <a:r>
              <a:rPr lang="en-US" altLang="zh-CN"/>
              <a:t>5ma</a:t>
            </a:r>
            <a:r>
              <a:rPr lang="zh-CN" altLang="en-US"/>
              <a:t>，那电阻就是</a:t>
            </a:r>
            <a:r>
              <a:rPr lang="en-US" altLang="zh-CN"/>
              <a:t>300R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        </a:t>
            </a:r>
            <a:r>
              <a:rPr lang="zh-CN" altLang="en-US"/>
              <a:t>上面电阻是一个参考值，大家可以比这个大，不过电阻越大，这个通向</a:t>
            </a:r>
            <a:r>
              <a:rPr lang="en-US" altLang="zh-CN"/>
              <a:t>LED</a:t>
            </a:r>
            <a:r>
              <a:rPr lang="zh-CN" altLang="en-US"/>
              <a:t>的电流就越小，</a:t>
            </a:r>
            <a:r>
              <a:rPr lang="en-US" altLang="zh-CN"/>
              <a:t>LED</a:t>
            </a:r>
            <a:r>
              <a:rPr lang="zh-CN" altLang="en-US"/>
              <a:t>就越暗。大家可以更改这个电阻的值去调节</a:t>
            </a:r>
            <a:r>
              <a:rPr lang="en-US" altLang="zh-CN"/>
              <a:t>LED</a:t>
            </a:r>
            <a:r>
              <a:rPr lang="zh-CN" altLang="en-US"/>
              <a:t>灯的亮度。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9850"/>
            <a:ext cx="5974715" cy="317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493331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LED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灯驱动流程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22400" y="330200"/>
            <a:ext cx="308165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LED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灯驱动流程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34845" y="2016760"/>
            <a:ext cx="832294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       </a:t>
            </a:r>
            <a:r>
              <a:rPr sz="2800"/>
              <a:t>通过上面的原理图可以了解到，LED灯的负极接到了电源地，LED灯的正极连接到了单片机的GPIO口上，通过LED灯的驱动原理，只需要将GPIO配置为高电平即可点亮LED灯。对应LED</a:t>
            </a:r>
            <a:r>
              <a:rPr lang="en-US" sz="2800"/>
              <a:t>2</a:t>
            </a:r>
            <a:r>
              <a:rPr sz="2800"/>
              <a:t>就是使能PD7口输出高电平即可点亮LED2。LED1</a:t>
            </a:r>
            <a:r>
              <a:rPr lang="zh-CN" sz="2800"/>
              <a:t>、</a:t>
            </a:r>
            <a:r>
              <a:rPr lang="en-US" altLang="zh-CN" sz="2800"/>
              <a:t>LED3</a:t>
            </a:r>
            <a:r>
              <a:rPr sz="2800"/>
              <a:t>和LED</a:t>
            </a:r>
            <a:r>
              <a:rPr lang="en-US" sz="2800"/>
              <a:t>4</a:t>
            </a:r>
            <a:r>
              <a:rPr sz="2800"/>
              <a:t>也是类似。</a:t>
            </a:r>
            <a:endParaRPr sz="28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TABLE_BEAUTIFY" val="smartTable{a6ff19af-211b-4ac7-bb5d-9ae6cead9f00}"/>
  <p:tag name="TABLE_RECT" val="318.075*179.517*323.85*242.5"/>
  <p:tag name="TABLE_EMPHASIZE_COLOR" val="16736824"/>
  <p:tag name="TABLE_ONEKEY_SKIN_IDX" val="0"/>
  <p:tag name="TABLE_SKINIDX" val="0"/>
  <p:tag name="TABLE_COLORIDX" val="3"/>
  <p:tag name="TABLE_COLOR_RGB" val="0x000000*0xFFFFFF*0x212121*0xFFFFFF*0xFF6238*0xFFD147*0xFFB57D*0xFF7A51*0xFFD791*0xFF8C6D"/>
  <p:tag name="TABLE_ENDDRAG_ORIGIN_RECT" val="423*174"/>
  <p:tag name="TABLE_ENDDRAG_RECT" val="261*198*423*174"/>
  <p:tag name="TABLE_AUTOADJUST_FLAG" val="1"/>
</p:tagLst>
</file>

<file path=ppt/tags/tag129.xml><?xml version="1.0" encoding="utf-8"?>
<p:tagLst xmlns:p="http://schemas.openxmlformats.org/presentationml/2006/main">
  <p:tag name="KSO_WM_UNIT_TABLE_BEAUTIFY" val="smartTable{18faaf71-8f4f-46cf-89c7-6a75d0b67dfd}"/>
  <p:tag name="TABLE_RECT" val="318.075*179.517*323.85*242.5"/>
  <p:tag name="TABLE_EMPHASIZE_COLOR" val="16736824"/>
  <p:tag name="TABLE_ONEKEY_SKIN_IDX" val="0"/>
  <p:tag name="TABLE_SKINIDX" val="0"/>
  <p:tag name="TABLE_COLORIDX" val="3"/>
  <p:tag name="TABLE_COLOR_RGB" val="0x000000*0xFFFFFF*0x212121*0xFFFFFF*0xFF6238*0xFFD147*0xFFB57D*0xFF7A51*0xFFD791*0xFF8C6D"/>
  <p:tag name="TABLE_ENDDRAG_ORIGIN_RECT" val="483*215"/>
  <p:tag name="TABLE_ENDDRAG_RECT" val="407*274*483*215"/>
  <p:tag name="TABLE_AUTOADJUST_FLAG" val="1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WPS 演示</Application>
  <PresentationFormat>宽屏</PresentationFormat>
  <Paragraphs>98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249</cp:revision>
  <dcterms:created xsi:type="dcterms:W3CDTF">2019-06-19T02:08:00Z</dcterms:created>
  <dcterms:modified xsi:type="dcterms:W3CDTF">2022-05-09T02:37:04Z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