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1"/>
  </p:handoutMasterIdLst>
  <p:sldIdLst>
    <p:sldId id="409" r:id="rId4"/>
    <p:sldId id="497" r:id="rId6"/>
    <p:sldId id="720" r:id="rId7"/>
    <p:sldId id="722" r:id="rId8"/>
    <p:sldId id="732" r:id="rId9"/>
    <p:sldId id="733" r:id="rId10"/>
    <p:sldId id="743" r:id="rId11"/>
    <p:sldId id="744" r:id="rId12"/>
    <p:sldId id="745" r:id="rId13"/>
    <p:sldId id="716" r:id="rId14"/>
    <p:sldId id="734" r:id="rId15"/>
    <p:sldId id="746" r:id="rId16"/>
    <p:sldId id="739" r:id="rId17"/>
    <p:sldId id="717" r:id="rId18"/>
    <p:sldId id="735" r:id="rId19"/>
    <p:sldId id="427" r:id="rId20"/>
  </p:sldIdLst>
  <p:sldSz cx="12192000" cy="6858000"/>
  <p:notesSz cx="6858000" cy="9144000"/>
  <p:embeddedFontLst>
    <p:embeddedFont>
      <p:font typeface="微软雅黑" panose="020B0503020204020204" pitchFamily="34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9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font" Target="fonts/font5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5.xml"/><Relationship Id="rId4" Type="http://schemas.openxmlformats.org/officeDocument/2006/relationships/image" Target="../media/image3.png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5.xml"/><Relationship Id="rId4" Type="http://schemas.openxmlformats.org/officeDocument/2006/relationships/image" Target="../media/image3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6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2.xml"/><Relationship Id="rId4" Type="http://schemas.openxmlformats.org/officeDocument/2006/relationships/image" Target="../media/image3.png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3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227955" y="2529205"/>
            <a:ext cx="5897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外部中断按键点灯</a:t>
            </a:r>
            <a:endParaRPr lang="en-US" altLang="zh-CN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461510" y="3761105"/>
            <a:ext cx="28289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中断服务函数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447280" y="3761105"/>
            <a:ext cx="257683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实验效果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8069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配置外部中断流程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26815" y="2606675"/>
            <a:ext cx="6564630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69976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配置外部中断流程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58172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开启时钟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</a:t>
            </a:r>
            <a:r>
              <a:rPr lang="en-US" altLang="zh-CN" sz="3200">
                <a:sym typeface="+mn-ea"/>
              </a:rPr>
              <a:t>GPIO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3.</a:t>
            </a:r>
            <a:r>
              <a:rPr lang="zh-CN" altLang="en-US" sz="3200">
                <a:sym typeface="+mn-ea"/>
              </a:rPr>
              <a:t>配置外部中断</a:t>
            </a:r>
            <a:endParaRPr lang="en-US" altLang="zh-CN" sz="3200">
              <a:sym typeface="+mn-ea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开启时钟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852930" y="2797175"/>
            <a:ext cx="71469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/>
              <a:t>#define BSP_KEY_RCU 	</a:t>
            </a:r>
            <a:r>
              <a:rPr lang="en-US" altLang="zh-CN" sz="2800"/>
              <a:t>   </a:t>
            </a:r>
            <a:r>
              <a:rPr lang="zh-CN" altLang="en-US" sz="2800"/>
              <a:t>RCU_GPIOA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2018665" y="1202690"/>
            <a:ext cx="5897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开启</a:t>
            </a:r>
            <a:r>
              <a:rPr lang="en-US" altLang="zh-CN"/>
              <a:t>GPIO</a:t>
            </a:r>
            <a:r>
              <a:rPr lang="zh-CN" altLang="en-US"/>
              <a:t>的时钟和系统配置时钟。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系统配置寄存器可以将外部中断线连接到我们需要的引脚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52930" y="3703955"/>
            <a:ext cx="9525635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800"/>
              <a:t>/* 开启时钟 */</a:t>
            </a:r>
            <a:endParaRPr sz="2800"/>
          </a:p>
          <a:p>
            <a:pPr algn="l"/>
            <a:r>
              <a:rPr sz="2800"/>
              <a:t>rcu_periph_clock_enable(BSP_KEY_RCU);</a:t>
            </a:r>
            <a:endParaRPr sz="2800"/>
          </a:p>
          <a:p>
            <a:pPr algn="l"/>
            <a:r>
              <a:rPr sz="2800"/>
              <a:t>rcu_periph_clock_enable(RCU_SYSCFG);  // 系统配置时钟</a:t>
            </a:r>
            <a:endParaRPr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GPIO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13205" y="1202690"/>
            <a:ext cx="8839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FF0000"/>
                </a:solidFill>
              </a:rPr>
              <a:t>配置为输入模式，下拉模式。</a:t>
            </a:r>
            <a:endParaRPr lang="zh-CN" altLang="en-US" sz="3600">
              <a:solidFill>
                <a:srgbClr val="FF0000"/>
              </a:solidFill>
            </a:endParaRPr>
          </a:p>
          <a:p>
            <a:r>
              <a:rPr lang="zh-CN" altLang="en-US" sz="3600">
                <a:solidFill>
                  <a:srgbClr val="FF0000"/>
                </a:solidFill>
              </a:rPr>
              <a:t>输出不用配置。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13205" y="2850515"/>
            <a:ext cx="941895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sz="2800"/>
              <a:t>/* 配置为输入模式 下拉模式 */</a:t>
            </a:r>
            <a:endParaRPr sz="2800"/>
          </a:p>
          <a:p>
            <a:pPr algn="l">
              <a:buClrTx/>
              <a:buSzTx/>
              <a:buNone/>
            </a:pPr>
            <a:r>
              <a:rPr sz="2800"/>
              <a:t>gpio_mode_set(BSP_KEY_PORT, GPIO_MODE_INPUT, GPIO_PUPD_PULLDOWN, BSP_KEY_PIN);  </a:t>
            </a:r>
            <a:endParaRPr sz="2800"/>
          </a:p>
          <a:p>
            <a:pPr algn="l">
              <a:buClrTx/>
              <a:buSzTx/>
              <a:buNone/>
            </a:pPr>
            <a:r>
              <a:rPr sz="2800"/>
              <a:t>// 按键默认状态是低电平，配置为下拉</a:t>
            </a:r>
            <a:endParaRPr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NVIC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中断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30655" y="120269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1. </a:t>
            </a:r>
            <a:r>
              <a:rPr lang="zh-CN" altLang="en-US" sz="2800"/>
              <a:t>对</a:t>
            </a:r>
            <a:r>
              <a:rPr lang="en-US" altLang="zh-CN" sz="2800"/>
              <a:t>NVIC</a:t>
            </a:r>
            <a:r>
              <a:rPr lang="zh-CN" altLang="en-US" sz="2800"/>
              <a:t>进行分组：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630680" y="1913890"/>
            <a:ext cx="5491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void nvic_priority_group_set(uint32_t nvic_prigroup);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554480" y="2563495"/>
            <a:ext cx="89312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nvic_priority_group_set(NVIC_PRIGROUP_PRE2_SUB2);  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 // 设置中断优先级组  2位用于抢占优先级，2位用于响应优先级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0655" y="3674745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2. </a:t>
            </a:r>
            <a:r>
              <a:rPr lang="zh-CN" altLang="en-US" sz="2800"/>
              <a:t>设置中断优先级：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1554480" y="4196715"/>
            <a:ext cx="99066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void nvic_irq_enable(uint8_t nvic_irq, uint8_t nvic_irq_pre_priority, uint8_t nvic_irq_sub_priority);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54480" y="5286375"/>
            <a:ext cx="837057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使能NVIC中断 中断分组为2位抢占优先级，2位子优先级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nvic_irq_enable(BSP_KEY_EXTI_IRQn,3U,3U);  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// 抢占优先级3，子优先级3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54480" y="4695190"/>
            <a:ext cx="93472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buClrTx/>
              <a:buSzTx/>
              <a:buNone/>
            </a:pPr>
            <a:r>
              <a:rPr lang="zh-CN" altLang="en-US" sz="2400" b="0">
                <a:highlight>
                  <a:srgbClr val="C0C0C0"/>
                </a:highlight>
              </a:rPr>
              <a:t>#define BSP_KEY_EXTI_IRQn             EXTI0_IRQn   // 中断类型</a:t>
            </a:r>
            <a:endParaRPr lang="zh-CN" altLang="en-US" sz="2400">
              <a:highlight>
                <a:srgbClr val="C0C0C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配置中断线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30655" y="120269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在配置中断优先级之后，需要将中断线和</a:t>
            </a:r>
            <a:r>
              <a:rPr lang="en-US" altLang="zh-CN" sz="2800"/>
              <a:t>GPIO</a:t>
            </a:r>
            <a:r>
              <a:rPr lang="zh-CN" altLang="en-US" sz="2800"/>
              <a:t>进行连接。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630680" y="1913890"/>
            <a:ext cx="6520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void syscfg_exti_line_config(uint8_t exti_port, uint8_t exti_pin);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459230" y="2738120"/>
            <a:ext cx="102546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#define BSP_KEY_EXTI_PORT_SOURCE     EXTI_SOURCE_GPIOA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#define BSP_KEY_EXTI_PIN_SOURCE       </a:t>
            </a:r>
            <a:r>
              <a:rPr lang="en-US" altLang="zh-CN" sz="2400" b="0">
                <a:highlight>
                  <a:srgbClr val="C0C0C0"/>
                </a:highlight>
              </a:rPr>
              <a:t>  </a:t>
            </a:r>
            <a:r>
              <a:rPr lang="zh-CN" altLang="en-US" sz="2400" b="0">
                <a:highlight>
                  <a:srgbClr val="C0C0C0"/>
                </a:highlight>
              </a:rPr>
              <a:t>EXTI_SOURCE_PIN0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59230" y="4105910"/>
            <a:ext cx="961707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连接中断线到GPIO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syscfg_exti_line_config(BSP_KEY_EXTI_PORT_SOURCE,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BSP_KEY_EXTI_PIN_SOURCE); 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中断初始化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30655" y="120269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配置中断触发类型：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630680" y="1913890"/>
            <a:ext cx="9364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void exti_init(exti_line_enum linex, exti_mode_enum mode, exti_trig_type_enum trig_type);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365250" y="2993390"/>
            <a:ext cx="102546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#define BSP_KEY_EXTI_LINE          		EXTI_0  // 中断线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5250" y="4233545"/>
            <a:ext cx="1006665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初始化中断线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exti_init(BSP_KEY_EXTI_LINE,EXTI_INTERRUPT,EXTI_TRIG_BOTH); 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使能中断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30655" y="120269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1. </a:t>
            </a:r>
            <a:r>
              <a:rPr lang="zh-CN" altLang="en-US" sz="2800"/>
              <a:t>使能中断：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630680" y="1913890"/>
            <a:ext cx="508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void exti_interrupt_enable(exti_line_enum linex);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365250" y="2564130"/>
            <a:ext cx="102546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使能中断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exti_interrupt_enable(BSP_KEY_EXTI_LINE);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5250" y="5412105"/>
            <a:ext cx="1006665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清除中断标志位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exti_interrupt_flag_clear(BSP_KEY_EXTI_LINE);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0680" y="4696460"/>
            <a:ext cx="538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void exti_interrupt_flag_clear(exti_line_enum linex);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30655" y="391160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2. </a:t>
            </a:r>
            <a:r>
              <a:rPr lang="zh-CN" altLang="en-US" sz="2800"/>
              <a:t>清中断标志位：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6665"/>
            <a:ext cx="5265420" cy="444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中断服务函数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中断服务函数名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909445" y="1006475"/>
            <a:ext cx="85572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000" b="0"/>
              <a:t>        </a:t>
            </a:r>
            <a:r>
              <a:rPr lang="zh-CN" sz="2000" b="0"/>
              <a:t>使能中断之后，如果有中断触发，就会跳转到中断服务函数里面去执行。中断函数名是固定的，在startup_gd32f450_470.s启动文件中有定义。</a:t>
            </a:r>
            <a:endParaRPr lang="zh-CN" sz="2000" b="0"/>
          </a:p>
        </p:txBody>
      </p:sp>
      <p:pic>
        <p:nvPicPr>
          <p:cNvPr id="-2147482615" name="图片 -21474826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713230"/>
            <a:ext cx="7467600" cy="3982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71675" y="5941695"/>
            <a:ext cx="8550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#define BSP_KEY_EXTI_IRQHandler       EXTI0_IRQHandler  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中断标志位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30655" y="120269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1. </a:t>
            </a:r>
            <a:r>
              <a:rPr lang="zh-CN" altLang="en-US" sz="2800"/>
              <a:t>获取中断标志位：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1630680" y="1897380"/>
            <a:ext cx="5885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FlagStatus exti_interrupt_flag_get(exti_line_enum linex);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365250" y="2564130"/>
            <a:ext cx="102546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获取中断标志位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exti_interrupt_flag_get(BSP_KEY_EXTI_LINE)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5250" y="5412105"/>
            <a:ext cx="1006665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/* 清除中断标志位 */</a:t>
            </a:r>
            <a:endParaRPr lang="zh-CN" altLang="en-US" sz="2400" b="0">
              <a:highlight>
                <a:srgbClr val="C0C0C0"/>
              </a:highlight>
            </a:endParaRPr>
          </a:p>
          <a:p>
            <a:pPr>
              <a:buClrTx/>
              <a:buSzTx/>
              <a:buFontTx/>
            </a:pPr>
            <a:r>
              <a:rPr lang="zh-CN" altLang="en-US" sz="2400" b="0">
                <a:highlight>
                  <a:srgbClr val="C0C0C0"/>
                </a:highlight>
              </a:rPr>
              <a:t>exti_interrupt_flag_clear(BSP_KEY_EXTI_LINE);</a:t>
            </a:r>
            <a:endParaRPr lang="zh-CN" altLang="en-US" sz="2400" b="0">
              <a:highlight>
                <a:srgbClr val="C0C0C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0680" y="4696460"/>
            <a:ext cx="538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void exti_interrupt_flag_clear(exti_line_enum linex);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30655" y="3911600"/>
            <a:ext cx="9330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2. </a:t>
            </a:r>
            <a:r>
              <a:rPr lang="zh-CN" altLang="en-US" sz="2800"/>
              <a:t>清中断标志位：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编写中断服务函数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909445" y="2146300"/>
            <a:ext cx="90874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200"/>
              <a:t>void BSP_KEY_EXTI_IRQHandler(void)</a:t>
            </a:r>
            <a:endParaRPr lang="zh-CN" sz="1200"/>
          </a:p>
          <a:p>
            <a:r>
              <a:rPr lang="zh-CN" sz="1200"/>
              <a:t>{</a:t>
            </a:r>
            <a:endParaRPr lang="zh-CN" sz="1200"/>
          </a:p>
          <a:p>
            <a:r>
              <a:rPr lang="zh-CN" sz="1200"/>
              <a:t>    if(exti_interrupt_flag_get(BSP_KEY_EXTI_LINE) == SET)  // 中断标志位为1，按键按下	</a:t>
            </a:r>
            <a:endParaRPr lang="zh-CN" sz="1200"/>
          </a:p>
          <a:p>
            <a:r>
              <a:rPr lang="en-US" altLang="zh-CN" sz="1200"/>
              <a:t>      </a:t>
            </a:r>
            <a:r>
              <a:rPr lang="zh-CN" sz="1200"/>
              <a:t>{</a:t>
            </a:r>
            <a:endParaRPr lang="zh-CN" sz="1200"/>
          </a:p>
          <a:p>
            <a:r>
              <a:rPr lang="en-US" altLang="zh-CN" sz="1200"/>
              <a:t>          </a:t>
            </a:r>
            <a:r>
              <a:rPr lang="zh-CN" sz="1200"/>
              <a:t>if(gpio_input_bit_get(BSP_KEY_PORT,BSP_KEY_PIN) == SET) // 按键按下</a:t>
            </a:r>
            <a:endParaRPr lang="zh-CN" sz="1200"/>
          </a:p>
          <a:p>
            <a:r>
              <a:rPr lang="en-US" altLang="zh-CN" sz="1200"/>
              <a:t>    	</a:t>
            </a:r>
            <a:r>
              <a:rPr lang="zh-CN" sz="1200"/>
              <a:t>{</a:t>
            </a:r>
            <a:endParaRPr lang="zh-CN" sz="1200"/>
          </a:p>
          <a:p>
            <a:r>
              <a:rPr lang="en-US" altLang="zh-CN" sz="1200"/>
              <a:t>	 	</a:t>
            </a:r>
            <a:r>
              <a:rPr lang="zh-CN" sz="1200"/>
              <a:t>/* 执行功能 */</a:t>
            </a:r>
            <a:endParaRPr lang="zh-CN" sz="1200"/>
          </a:p>
          <a:p>
            <a:r>
              <a:rPr lang="zh-CN" sz="1200"/>
              <a:t>	</a:t>
            </a:r>
            <a:r>
              <a:rPr lang="en-US" altLang="zh-CN" sz="1200"/>
              <a:t>     	</a:t>
            </a:r>
            <a:r>
              <a:rPr lang="zh-CN" sz="1200"/>
              <a:t>printf("key press!\r\n");					</a:t>
            </a:r>
            <a:r>
              <a:rPr lang="en-US" altLang="zh-CN" sz="1200"/>
              <a:t>			</a:t>
            </a:r>
            <a:r>
              <a:rPr lang="zh-CN" sz="1200"/>
              <a:t>gpio_bit_toggle(BSP_LED2_PORT,BSP_LED2_PIN); // led电平状态翻转</a:t>
            </a:r>
            <a:endParaRPr lang="zh-CN" sz="1200"/>
          </a:p>
          <a:p>
            <a:r>
              <a:rPr lang="zh-CN" sz="1200"/>
              <a:t>	}else{  										// 按键释放 </a:t>
            </a:r>
            <a:endParaRPr lang="zh-CN" sz="1200"/>
          </a:p>
          <a:p>
            <a:r>
              <a:rPr lang="zh-CN" sz="1200"/>
              <a:t>		printf("key release!\r\n");</a:t>
            </a:r>
            <a:endParaRPr lang="zh-CN" sz="1200"/>
          </a:p>
          <a:p>
            <a:r>
              <a:rPr lang="zh-CN" sz="1200"/>
              <a:t>	}</a:t>
            </a:r>
            <a:endParaRPr lang="zh-CN" sz="1200"/>
          </a:p>
          <a:p>
            <a:r>
              <a:rPr lang="en-US" altLang="zh-CN" sz="1200"/>
              <a:t>                   </a:t>
            </a:r>
            <a:r>
              <a:rPr lang="zh-CN" sz="1200"/>
              <a:t>  exti_interrupt_flag_clear(BSP_KEY_EXTI_LINE); // 清中断标志位</a:t>
            </a:r>
            <a:endParaRPr lang="zh-CN" sz="1200"/>
          </a:p>
          <a:p>
            <a:r>
              <a:rPr lang="en-US" altLang="zh-CN" sz="1200"/>
              <a:t>      </a:t>
            </a:r>
            <a:r>
              <a:rPr lang="zh-CN" sz="1200"/>
              <a:t>}</a:t>
            </a:r>
            <a:endParaRPr lang="zh-CN" sz="1200"/>
          </a:p>
          <a:p>
            <a:r>
              <a:rPr lang="zh-CN" sz="1200"/>
              <a:t>}</a:t>
            </a:r>
            <a:endParaRPr lang="zh-CN" sz="1200"/>
          </a:p>
        </p:txBody>
      </p:sp>
      <p:sp>
        <p:nvSpPr>
          <p:cNvPr id="100" name="文本框 99"/>
          <p:cNvSpPr txBox="1"/>
          <p:nvPr/>
        </p:nvSpPr>
        <p:spPr>
          <a:xfrm>
            <a:off x="1799590" y="1363345"/>
            <a:ext cx="69119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000" b="0"/>
              <a:t>检测按键按下和释放：</a:t>
            </a:r>
            <a:endParaRPr lang="zh-CN" sz="2000" b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4040505" cy="19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29044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实验现象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25980" y="1109345"/>
            <a:ext cx="72650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       </a:t>
            </a:r>
            <a:r>
              <a:rPr sz="2000"/>
              <a:t>烧写我们的代码之后，按下一次按键，</a:t>
            </a:r>
            <a:r>
              <a:rPr lang="zh-CN" sz="2000"/>
              <a:t>会打开</a:t>
            </a:r>
            <a:r>
              <a:rPr lang="en-US" altLang="zh-CN" sz="2000"/>
              <a:t>LED</a:t>
            </a:r>
            <a:r>
              <a:rPr lang="en-US" sz="2000"/>
              <a:t>2</a:t>
            </a:r>
            <a:r>
              <a:rPr sz="2000"/>
              <a:t>，再按下一次按键，</a:t>
            </a:r>
            <a:r>
              <a:rPr lang="zh-CN" sz="2000"/>
              <a:t>会</a:t>
            </a:r>
            <a:r>
              <a:rPr sz="2000"/>
              <a:t>关闭</a:t>
            </a:r>
            <a:r>
              <a:rPr lang="en-US" sz="2000"/>
              <a:t>LED2</a:t>
            </a:r>
            <a:r>
              <a:rPr sz="2000"/>
              <a:t>，以此类推。每次按下按键都会打印key</a:t>
            </a:r>
            <a:r>
              <a:rPr lang="en-US" sz="2000"/>
              <a:t> </a:t>
            </a:r>
            <a:r>
              <a:rPr sz="2000"/>
              <a:t>press!，松开按键会打印</a:t>
            </a:r>
            <a:r>
              <a:rPr lang="en-US" sz="2000"/>
              <a:t>key </a:t>
            </a:r>
            <a:r>
              <a:rPr sz="2000"/>
              <a:t>release!。</a:t>
            </a:r>
            <a:endParaRPr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526030"/>
            <a:ext cx="7821295" cy="3268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2587</Words>
  <Application>WPS 演示</Application>
  <PresentationFormat>宽屏</PresentationFormat>
  <Paragraphs>155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345</cp:revision>
  <dcterms:created xsi:type="dcterms:W3CDTF">2019-06-19T02:08:00Z</dcterms:created>
  <dcterms:modified xsi:type="dcterms:W3CDTF">2022-05-16T05:52:12Z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