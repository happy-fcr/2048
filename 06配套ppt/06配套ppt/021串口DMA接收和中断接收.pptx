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1" r:id="rId3"/>
  </p:sldMasterIdLst>
  <p:notesMasterIdLst>
    <p:notesMasterId r:id="rId5"/>
  </p:notesMasterIdLst>
  <p:handoutMasterIdLst>
    <p:handoutMasterId r:id="rId30"/>
  </p:handoutMasterIdLst>
  <p:sldIdLst>
    <p:sldId id="409" r:id="rId4"/>
    <p:sldId id="497" r:id="rId6"/>
    <p:sldId id="720" r:id="rId7"/>
    <p:sldId id="722" r:id="rId8"/>
    <p:sldId id="754" r:id="rId9"/>
    <p:sldId id="764" r:id="rId10"/>
    <p:sldId id="765" r:id="rId11"/>
    <p:sldId id="732" r:id="rId12"/>
    <p:sldId id="766" r:id="rId13"/>
    <p:sldId id="755" r:id="rId14"/>
    <p:sldId id="716" r:id="rId15"/>
    <p:sldId id="767" r:id="rId16"/>
    <p:sldId id="768" r:id="rId17"/>
    <p:sldId id="773" r:id="rId18"/>
    <p:sldId id="774" r:id="rId19"/>
    <p:sldId id="769" r:id="rId20"/>
    <p:sldId id="770" r:id="rId21"/>
    <p:sldId id="771" r:id="rId22"/>
    <p:sldId id="772" r:id="rId23"/>
    <p:sldId id="775" r:id="rId24"/>
    <p:sldId id="776" r:id="rId25"/>
    <p:sldId id="717" r:id="rId26"/>
    <p:sldId id="735" r:id="rId27"/>
    <p:sldId id="777" r:id="rId28"/>
    <p:sldId id="427" r:id="rId29"/>
  </p:sldIdLst>
  <p:sldSz cx="12192000" cy="6858000"/>
  <p:notesSz cx="6858000" cy="9144000"/>
  <p:embeddedFontLst>
    <p:embeddedFont>
      <p:font typeface="微软雅黑" panose="020B0503020204020204" pitchFamily="34" charset="-122"/>
      <p:regular r:id="rId35"/>
    </p:embeddedFont>
    <p:embeddedFont>
      <p:font typeface="Calibri" panose="020F0502020204030204" charset="0"/>
      <p:regular r:id="rId36"/>
      <p:bold r:id="rId37"/>
      <p:italic r:id="rId38"/>
      <p:boldItalic r:id="rId39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  <p:cmAuthor id="1" name="幸全" initials="幸全" lastIdx="1" clrIdx="0"/>
  <p:cmAuthor id="3" name="Author" initials="A" lastIdx="0" clrIdx="2"/>
  <p:cmAuthor id="4" name="USER" initials="U" lastIdx="2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B6E5"/>
    <a:srgbClr val="F18870"/>
    <a:srgbClr val="FFBA55"/>
    <a:srgbClr val="56CA95"/>
    <a:srgbClr val="6096E6"/>
    <a:srgbClr val="4691C0"/>
    <a:srgbClr val="70AACE"/>
    <a:srgbClr val="79C5D9"/>
    <a:srgbClr val="35729C"/>
    <a:srgbClr val="174A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434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9" Type="http://schemas.openxmlformats.org/officeDocument/2006/relationships/font" Target="fonts/font5.fntdata"/><Relationship Id="rId38" Type="http://schemas.openxmlformats.org/officeDocument/2006/relationships/font" Target="fonts/font4.fntdata"/><Relationship Id="rId37" Type="http://schemas.openxmlformats.org/officeDocument/2006/relationships/font" Target="fonts/font3.fntdata"/><Relationship Id="rId36" Type="http://schemas.openxmlformats.org/officeDocument/2006/relationships/font" Target="fonts/font2.fntdata"/><Relationship Id="rId35" Type="http://schemas.openxmlformats.org/officeDocument/2006/relationships/font" Target="fonts/font1.fntdata"/><Relationship Id="rId34" Type="http://schemas.openxmlformats.org/officeDocument/2006/relationships/commentAuthors" Target="commentAuthors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255270" y="253365"/>
            <a:ext cx="11682095" cy="63512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schemeClr val="tx1">
                <a:lumMod val="75000"/>
                <a:lumOff val="25000"/>
                <a:alpha val="6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654050" y="640715"/>
            <a:ext cx="10884535" cy="55765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schemeClr val="tx1">
                <a:lumMod val="75000"/>
                <a:lumOff val="25000"/>
                <a:alpha val="7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255270" y="253365"/>
            <a:ext cx="11682095" cy="63512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algn="ctr" rotWithShape="0">
              <a:schemeClr val="tx1">
                <a:lumMod val="75000"/>
                <a:lumOff val="2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57.xml"/><Relationship Id="rId17" Type="http://schemas.openxmlformats.org/officeDocument/2006/relationships/tags" Target="../tags/tag56.xml"/><Relationship Id="rId16" Type="http://schemas.openxmlformats.org/officeDocument/2006/relationships/tags" Target="../tags/tag55.xml"/><Relationship Id="rId15" Type="http://schemas.openxmlformats.org/officeDocument/2006/relationships/tags" Target="../tags/tag54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9" Type="http://schemas.openxmlformats.org/officeDocument/2006/relationships/tags" Target="../tags/tag114.xml"/><Relationship Id="rId18" Type="http://schemas.openxmlformats.org/officeDocument/2006/relationships/tags" Target="../tags/tag113.xml"/><Relationship Id="rId17" Type="http://schemas.openxmlformats.org/officeDocument/2006/relationships/tags" Target="../tags/tag112.xml"/><Relationship Id="rId16" Type="http://schemas.openxmlformats.org/officeDocument/2006/relationships/tags" Target="../tags/tag111.xml"/><Relationship Id="rId15" Type="http://schemas.openxmlformats.org/officeDocument/2006/relationships/tags" Target="../tags/tag110.xml"/><Relationship Id="rId14" Type="http://schemas.openxmlformats.org/officeDocument/2006/relationships/tags" Target="../tags/tag109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15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8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tags" Target="../tags/tag116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23.xml"/><Relationship Id="rId4" Type="http://schemas.openxmlformats.org/officeDocument/2006/relationships/image" Target="../media/image3.png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" Type="http://schemas.openxmlformats.org/officeDocument/2006/relationships/tags" Target="../tags/tag120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24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26.xml"/><Relationship Id="rId3" Type="http://schemas.openxmlformats.org/officeDocument/2006/relationships/tags" Target="../tags/tag125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27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28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29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30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31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35.xml"/><Relationship Id="rId4" Type="http://schemas.openxmlformats.org/officeDocument/2006/relationships/image" Target="../media/image3.png"/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" Type="http://schemas.openxmlformats.org/officeDocument/2006/relationships/tags" Target="../tags/tag132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36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37.xml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39.xml"/><Relationship Id="rId3" Type="http://schemas.openxmlformats.org/officeDocument/2006/relationships/tags" Target="../tags/tag138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40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41.xml"/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42.xml"/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43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44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45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46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2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50.xml"/><Relationship Id="rId4" Type="http://schemas.openxmlformats.org/officeDocument/2006/relationships/image" Target="../media/image3.png"/><Relationship Id="rId3" Type="http://schemas.openxmlformats.org/officeDocument/2006/relationships/tags" Target="../tags/tag149.xml"/><Relationship Id="rId2" Type="http://schemas.openxmlformats.org/officeDocument/2006/relationships/tags" Target="../tags/tag148.xml"/><Relationship Id="rId1" Type="http://schemas.openxmlformats.org/officeDocument/2006/relationships/tags" Target="../tags/tag147.xml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51.xml"/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52.xml"/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53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/>
          <p:cNvSpPr txBox="1"/>
          <p:nvPr/>
        </p:nvSpPr>
        <p:spPr>
          <a:xfrm>
            <a:off x="5227955" y="2529205"/>
            <a:ext cx="58972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5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串口</a:t>
            </a:r>
            <a:r>
              <a:rPr lang="en-US" altLang="zh-CN" sz="5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DMA</a:t>
            </a:r>
            <a:r>
              <a:rPr lang="zh-CN" altLang="en-US" sz="5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接收</a:t>
            </a:r>
            <a:endParaRPr lang="zh-CN" altLang="en-US" sz="54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图片 5" descr="专业版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705" y="1143000"/>
            <a:ext cx="4572000" cy="4572000"/>
          </a:xfrm>
          <a:prstGeom prst="rect">
            <a:avLst/>
          </a:prstGeom>
        </p:spPr>
      </p:pic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705" y="187325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" name="文本框 56"/>
          <p:cNvSpPr txBox="1"/>
          <p:nvPr>
            <p:custDataLst>
              <p:tags r:id="rId1"/>
            </p:custDataLst>
          </p:nvPr>
        </p:nvSpPr>
        <p:spPr>
          <a:xfrm>
            <a:off x="4299585" y="3761105"/>
            <a:ext cx="2828925" cy="1116965"/>
          </a:xfrm>
          <a:prstGeom prst="rect">
            <a:avLst/>
          </a:prstGeom>
          <a:noFill/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zh-CN" altLang="en-US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串口</a:t>
            </a:r>
            <a:r>
              <a:rPr lang="en-US" altLang="zh-CN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DMA</a:t>
            </a:r>
            <a:r>
              <a:rPr lang="zh-CN" altLang="en-US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接收</a:t>
            </a:r>
            <a:endParaRPr lang="zh-CN" altLang="en-US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8536305" y="3761105"/>
            <a:ext cx="1613535" cy="1116965"/>
          </a:xfrm>
          <a:prstGeom prst="rect">
            <a:avLst/>
          </a:prstGeom>
          <a:noFill/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zh-CN" altLang="en-US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实验现象</a:t>
            </a:r>
            <a:endParaRPr lang="zh-CN" altLang="en-US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8430410" y="1557655"/>
            <a:ext cx="1825625" cy="10991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04" h="2292">
                <a:moveTo>
                  <a:pt x="3741" y="0"/>
                </a:moveTo>
                <a:cubicBezTo>
                  <a:pt x="4063" y="0"/>
                  <a:pt x="4321" y="103"/>
                  <a:pt x="4516" y="308"/>
                </a:cubicBezTo>
                <a:cubicBezTo>
                  <a:pt x="4676" y="476"/>
                  <a:pt x="4756" y="666"/>
                  <a:pt x="4756" y="878"/>
                </a:cubicBezTo>
                <a:cubicBezTo>
                  <a:pt x="4756" y="1178"/>
                  <a:pt x="4592" y="1418"/>
                  <a:pt x="4264" y="1596"/>
                </a:cubicBezTo>
                <a:cubicBezTo>
                  <a:pt x="4460" y="1638"/>
                  <a:pt x="4617" y="1733"/>
                  <a:pt x="4734" y="1879"/>
                </a:cubicBezTo>
                <a:cubicBezTo>
                  <a:pt x="4822" y="1989"/>
                  <a:pt x="4877" y="2115"/>
                  <a:pt x="4899" y="2259"/>
                </a:cubicBezTo>
                <a:lnTo>
                  <a:pt x="4904" y="2292"/>
                </a:lnTo>
                <a:lnTo>
                  <a:pt x="4233" y="2292"/>
                </a:lnTo>
                <a:lnTo>
                  <a:pt x="4233" y="2291"/>
                </a:lnTo>
                <a:cubicBezTo>
                  <a:pt x="4220" y="2168"/>
                  <a:pt x="4177" y="2067"/>
                  <a:pt x="4105" y="1989"/>
                </a:cubicBezTo>
                <a:cubicBezTo>
                  <a:pt x="4016" y="1892"/>
                  <a:pt x="3908" y="1844"/>
                  <a:pt x="3781" y="1844"/>
                </a:cubicBezTo>
                <a:cubicBezTo>
                  <a:pt x="3697" y="1844"/>
                  <a:pt x="3596" y="1860"/>
                  <a:pt x="3480" y="1893"/>
                </a:cubicBezTo>
                <a:lnTo>
                  <a:pt x="3552" y="1358"/>
                </a:lnTo>
                <a:cubicBezTo>
                  <a:pt x="3729" y="1363"/>
                  <a:pt x="3865" y="1325"/>
                  <a:pt x="3958" y="1243"/>
                </a:cubicBezTo>
                <a:cubicBezTo>
                  <a:pt x="4051" y="1161"/>
                  <a:pt x="4098" y="1053"/>
                  <a:pt x="4098" y="917"/>
                </a:cubicBezTo>
                <a:cubicBezTo>
                  <a:pt x="4098" y="802"/>
                  <a:pt x="4064" y="710"/>
                  <a:pt x="3995" y="642"/>
                </a:cubicBezTo>
                <a:cubicBezTo>
                  <a:pt x="3927" y="573"/>
                  <a:pt x="3836" y="539"/>
                  <a:pt x="3722" y="539"/>
                </a:cubicBezTo>
                <a:cubicBezTo>
                  <a:pt x="3610" y="539"/>
                  <a:pt x="3515" y="578"/>
                  <a:pt x="3435" y="656"/>
                </a:cubicBezTo>
                <a:cubicBezTo>
                  <a:pt x="3356" y="734"/>
                  <a:pt x="3308" y="847"/>
                  <a:pt x="3291" y="997"/>
                </a:cubicBezTo>
                <a:lnTo>
                  <a:pt x="2686" y="894"/>
                </a:lnTo>
                <a:cubicBezTo>
                  <a:pt x="2728" y="687"/>
                  <a:pt x="2791" y="522"/>
                  <a:pt x="2876" y="398"/>
                </a:cubicBezTo>
                <a:cubicBezTo>
                  <a:pt x="2961" y="274"/>
                  <a:pt x="3079" y="177"/>
                  <a:pt x="3231" y="106"/>
                </a:cubicBezTo>
                <a:cubicBezTo>
                  <a:pt x="3383" y="35"/>
                  <a:pt x="3553" y="0"/>
                  <a:pt x="3741" y="0"/>
                </a:cubicBezTo>
                <a:close/>
                <a:moveTo>
                  <a:pt x="1111" y="0"/>
                </a:moveTo>
                <a:cubicBezTo>
                  <a:pt x="1442" y="0"/>
                  <a:pt x="1701" y="118"/>
                  <a:pt x="1888" y="355"/>
                </a:cubicBezTo>
                <a:cubicBezTo>
                  <a:pt x="2111" y="635"/>
                  <a:pt x="2222" y="1099"/>
                  <a:pt x="2222" y="1748"/>
                </a:cubicBezTo>
                <a:cubicBezTo>
                  <a:pt x="2222" y="1930"/>
                  <a:pt x="2213" y="2098"/>
                  <a:pt x="2195" y="2251"/>
                </a:cubicBezTo>
                <a:lnTo>
                  <a:pt x="2190" y="2292"/>
                </a:lnTo>
                <a:lnTo>
                  <a:pt x="1516" y="2292"/>
                </a:lnTo>
                <a:lnTo>
                  <a:pt x="1517" y="2289"/>
                </a:lnTo>
                <a:cubicBezTo>
                  <a:pt x="1529" y="2142"/>
                  <a:pt x="1536" y="1961"/>
                  <a:pt x="1536" y="1748"/>
                </a:cubicBezTo>
                <a:cubicBezTo>
                  <a:pt x="1536" y="1347"/>
                  <a:pt x="1516" y="1071"/>
                  <a:pt x="1475" y="921"/>
                </a:cubicBezTo>
                <a:cubicBezTo>
                  <a:pt x="1435" y="771"/>
                  <a:pt x="1384" y="670"/>
                  <a:pt x="1322" y="620"/>
                </a:cubicBezTo>
                <a:cubicBezTo>
                  <a:pt x="1261" y="569"/>
                  <a:pt x="1190" y="544"/>
                  <a:pt x="1111" y="544"/>
                </a:cubicBezTo>
                <a:cubicBezTo>
                  <a:pt x="1032" y="544"/>
                  <a:pt x="961" y="569"/>
                  <a:pt x="899" y="620"/>
                </a:cubicBezTo>
                <a:cubicBezTo>
                  <a:pt x="836" y="670"/>
                  <a:pt x="788" y="761"/>
                  <a:pt x="754" y="892"/>
                </a:cubicBezTo>
                <a:cubicBezTo>
                  <a:pt x="709" y="1061"/>
                  <a:pt x="686" y="1347"/>
                  <a:pt x="686" y="1748"/>
                </a:cubicBezTo>
                <a:cubicBezTo>
                  <a:pt x="686" y="1961"/>
                  <a:pt x="692" y="2139"/>
                  <a:pt x="703" y="2282"/>
                </a:cubicBezTo>
                <a:lnTo>
                  <a:pt x="704" y="2292"/>
                </a:lnTo>
                <a:lnTo>
                  <a:pt x="29" y="2292"/>
                </a:lnTo>
                <a:lnTo>
                  <a:pt x="24" y="2248"/>
                </a:lnTo>
                <a:cubicBezTo>
                  <a:pt x="8" y="2095"/>
                  <a:pt x="0" y="1926"/>
                  <a:pt x="0" y="1741"/>
                </a:cubicBezTo>
                <a:cubicBezTo>
                  <a:pt x="0" y="1097"/>
                  <a:pt x="112" y="633"/>
                  <a:pt x="336" y="350"/>
                </a:cubicBezTo>
                <a:cubicBezTo>
                  <a:pt x="521" y="117"/>
                  <a:pt x="780" y="0"/>
                  <a:pt x="1111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/>
        </p:nvSpPr>
        <p:spPr>
          <a:xfrm>
            <a:off x="1028640" y="1558925"/>
            <a:ext cx="1825200" cy="109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505" h="1365">
                <a:moveTo>
                  <a:pt x="2198" y="0"/>
                </a:moveTo>
                <a:lnTo>
                  <a:pt x="2505" y="0"/>
                </a:lnTo>
                <a:lnTo>
                  <a:pt x="2505" y="1365"/>
                </a:lnTo>
                <a:lnTo>
                  <a:pt x="2127" y="1365"/>
                </a:lnTo>
                <a:lnTo>
                  <a:pt x="2127" y="557"/>
                </a:lnTo>
                <a:cubicBezTo>
                  <a:pt x="1988" y="686"/>
                  <a:pt x="1825" y="782"/>
                  <a:pt x="1637" y="844"/>
                </a:cubicBezTo>
                <a:lnTo>
                  <a:pt x="1637" y="500"/>
                </a:lnTo>
                <a:cubicBezTo>
                  <a:pt x="1736" y="468"/>
                  <a:pt x="1844" y="406"/>
                  <a:pt x="1960" y="316"/>
                </a:cubicBezTo>
                <a:cubicBezTo>
                  <a:pt x="2075" y="226"/>
                  <a:pt x="2155" y="120"/>
                  <a:pt x="2198" y="0"/>
                </a:cubicBezTo>
                <a:close/>
                <a:moveTo>
                  <a:pt x="641" y="0"/>
                </a:moveTo>
                <a:cubicBezTo>
                  <a:pt x="833" y="0"/>
                  <a:pt x="982" y="68"/>
                  <a:pt x="1090" y="205"/>
                </a:cubicBezTo>
                <a:cubicBezTo>
                  <a:pt x="1219" y="367"/>
                  <a:pt x="1283" y="635"/>
                  <a:pt x="1283" y="1009"/>
                </a:cubicBezTo>
                <a:cubicBezTo>
                  <a:pt x="1283" y="1138"/>
                  <a:pt x="1275" y="1254"/>
                  <a:pt x="1260" y="1358"/>
                </a:cubicBezTo>
                <a:lnTo>
                  <a:pt x="1259" y="1365"/>
                </a:lnTo>
                <a:lnTo>
                  <a:pt x="872" y="1365"/>
                </a:lnTo>
                <a:lnTo>
                  <a:pt x="873" y="1351"/>
                </a:lnTo>
                <a:cubicBezTo>
                  <a:pt x="882" y="1261"/>
                  <a:pt x="887" y="1147"/>
                  <a:pt x="887" y="1009"/>
                </a:cubicBezTo>
                <a:cubicBezTo>
                  <a:pt x="887" y="778"/>
                  <a:pt x="875" y="618"/>
                  <a:pt x="852" y="532"/>
                </a:cubicBezTo>
                <a:cubicBezTo>
                  <a:pt x="828" y="445"/>
                  <a:pt x="799" y="387"/>
                  <a:pt x="763" y="358"/>
                </a:cubicBezTo>
                <a:cubicBezTo>
                  <a:pt x="728" y="329"/>
                  <a:pt x="687" y="314"/>
                  <a:pt x="641" y="314"/>
                </a:cubicBezTo>
                <a:cubicBezTo>
                  <a:pt x="596" y="314"/>
                  <a:pt x="555" y="329"/>
                  <a:pt x="519" y="358"/>
                </a:cubicBezTo>
                <a:cubicBezTo>
                  <a:pt x="483" y="387"/>
                  <a:pt x="455" y="439"/>
                  <a:pt x="435" y="515"/>
                </a:cubicBezTo>
                <a:cubicBezTo>
                  <a:pt x="409" y="613"/>
                  <a:pt x="396" y="778"/>
                  <a:pt x="396" y="1009"/>
                </a:cubicBezTo>
                <a:cubicBezTo>
                  <a:pt x="396" y="1154"/>
                  <a:pt x="401" y="1271"/>
                  <a:pt x="410" y="1359"/>
                </a:cubicBezTo>
                <a:lnTo>
                  <a:pt x="411" y="1365"/>
                </a:lnTo>
                <a:lnTo>
                  <a:pt x="22" y="1365"/>
                </a:lnTo>
                <a:lnTo>
                  <a:pt x="21" y="1355"/>
                </a:lnTo>
                <a:cubicBezTo>
                  <a:pt x="7" y="1252"/>
                  <a:pt x="0" y="1136"/>
                  <a:pt x="0" y="1005"/>
                </a:cubicBezTo>
                <a:cubicBezTo>
                  <a:pt x="0" y="633"/>
                  <a:pt x="65" y="366"/>
                  <a:pt x="194" y="202"/>
                </a:cubicBezTo>
                <a:cubicBezTo>
                  <a:pt x="301" y="67"/>
                  <a:pt x="450" y="0"/>
                  <a:pt x="641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657225" y="3761105"/>
            <a:ext cx="2756535" cy="1116965"/>
          </a:xfrm>
          <a:prstGeom prst="rect">
            <a:avLst/>
          </a:prstGeom>
          <a:noFill/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zh-CN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串口中断接收</a:t>
            </a:r>
            <a:endParaRPr lang="zh-CN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6" name="任意多边形 5"/>
          <p:cNvSpPr/>
          <p:nvPr/>
        </p:nvSpPr>
        <p:spPr>
          <a:xfrm>
            <a:off x="4739790" y="1569720"/>
            <a:ext cx="1948180" cy="110998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815" h="1477">
                <a:moveTo>
                  <a:pt x="2189" y="0"/>
                </a:moveTo>
                <a:cubicBezTo>
                  <a:pt x="2384" y="0"/>
                  <a:pt x="2537" y="53"/>
                  <a:pt x="2648" y="158"/>
                </a:cubicBezTo>
                <a:cubicBezTo>
                  <a:pt x="2760" y="263"/>
                  <a:pt x="2815" y="394"/>
                  <a:pt x="2815" y="550"/>
                </a:cubicBezTo>
                <a:cubicBezTo>
                  <a:pt x="2815" y="639"/>
                  <a:pt x="2799" y="723"/>
                  <a:pt x="2767" y="804"/>
                </a:cubicBezTo>
                <a:cubicBezTo>
                  <a:pt x="2736" y="884"/>
                  <a:pt x="2685" y="969"/>
                  <a:pt x="2616" y="1057"/>
                </a:cubicBezTo>
                <a:cubicBezTo>
                  <a:pt x="2570" y="1115"/>
                  <a:pt x="2487" y="1199"/>
                  <a:pt x="2368" y="1309"/>
                </a:cubicBezTo>
                <a:cubicBezTo>
                  <a:pt x="2293" y="1377"/>
                  <a:pt x="2236" y="1431"/>
                  <a:pt x="2195" y="1471"/>
                </a:cubicBezTo>
                <a:lnTo>
                  <a:pt x="2189" y="1477"/>
                </a:lnTo>
                <a:lnTo>
                  <a:pt x="1710" y="1477"/>
                </a:lnTo>
                <a:lnTo>
                  <a:pt x="1716" y="1469"/>
                </a:lnTo>
                <a:cubicBezTo>
                  <a:pt x="1795" y="1374"/>
                  <a:pt x="1904" y="1261"/>
                  <a:pt x="2043" y="1132"/>
                </a:cubicBezTo>
                <a:cubicBezTo>
                  <a:pt x="2214" y="973"/>
                  <a:pt x="2318" y="865"/>
                  <a:pt x="2357" y="809"/>
                </a:cubicBezTo>
                <a:cubicBezTo>
                  <a:pt x="2409" y="730"/>
                  <a:pt x="2435" y="653"/>
                  <a:pt x="2435" y="577"/>
                </a:cubicBezTo>
                <a:cubicBezTo>
                  <a:pt x="2435" y="492"/>
                  <a:pt x="2413" y="427"/>
                  <a:pt x="2367" y="382"/>
                </a:cubicBezTo>
                <a:cubicBezTo>
                  <a:pt x="2322" y="337"/>
                  <a:pt x="2259" y="314"/>
                  <a:pt x="2179" y="314"/>
                </a:cubicBezTo>
                <a:cubicBezTo>
                  <a:pt x="2100" y="314"/>
                  <a:pt x="2037" y="338"/>
                  <a:pt x="1991" y="385"/>
                </a:cubicBezTo>
                <a:cubicBezTo>
                  <a:pt x="1944" y="433"/>
                  <a:pt x="1917" y="512"/>
                  <a:pt x="1910" y="623"/>
                </a:cubicBezTo>
                <a:lnTo>
                  <a:pt x="1532" y="585"/>
                </a:lnTo>
                <a:cubicBezTo>
                  <a:pt x="1555" y="376"/>
                  <a:pt x="1625" y="227"/>
                  <a:pt x="1744" y="136"/>
                </a:cubicBezTo>
                <a:cubicBezTo>
                  <a:pt x="1862" y="45"/>
                  <a:pt x="2011" y="0"/>
                  <a:pt x="2189" y="0"/>
                </a:cubicBezTo>
                <a:close/>
                <a:moveTo>
                  <a:pt x="641" y="0"/>
                </a:moveTo>
                <a:cubicBezTo>
                  <a:pt x="833" y="0"/>
                  <a:pt x="982" y="68"/>
                  <a:pt x="1090" y="205"/>
                </a:cubicBezTo>
                <a:cubicBezTo>
                  <a:pt x="1219" y="367"/>
                  <a:pt x="1283" y="635"/>
                  <a:pt x="1283" y="1009"/>
                </a:cubicBezTo>
                <a:cubicBezTo>
                  <a:pt x="1283" y="1185"/>
                  <a:pt x="1269" y="1337"/>
                  <a:pt x="1240" y="1466"/>
                </a:cubicBezTo>
                <a:lnTo>
                  <a:pt x="1238" y="1477"/>
                </a:lnTo>
                <a:lnTo>
                  <a:pt x="854" y="1477"/>
                </a:lnTo>
                <a:lnTo>
                  <a:pt x="855" y="1474"/>
                </a:lnTo>
                <a:cubicBezTo>
                  <a:pt x="876" y="1374"/>
                  <a:pt x="887" y="1219"/>
                  <a:pt x="887" y="1009"/>
                </a:cubicBezTo>
                <a:cubicBezTo>
                  <a:pt x="887" y="778"/>
                  <a:pt x="875" y="618"/>
                  <a:pt x="852" y="532"/>
                </a:cubicBezTo>
                <a:cubicBezTo>
                  <a:pt x="828" y="445"/>
                  <a:pt x="799" y="387"/>
                  <a:pt x="763" y="358"/>
                </a:cubicBezTo>
                <a:cubicBezTo>
                  <a:pt x="728" y="329"/>
                  <a:pt x="687" y="314"/>
                  <a:pt x="641" y="314"/>
                </a:cubicBezTo>
                <a:cubicBezTo>
                  <a:pt x="596" y="314"/>
                  <a:pt x="555" y="329"/>
                  <a:pt x="519" y="358"/>
                </a:cubicBezTo>
                <a:cubicBezTo>
                  <a:pt x="483" y="387"/>
                  <a:pt x="455" y="439"/>
                  <a:pt x="435" y="515"/>
                </a:cubicBezTo>
                <a:cubicBezTo>
                  <a:pt x="409" y="613"/>
                  <a:pt x="396" y="778"/>
                  <a:pt x="396" y="1009"/>
                </a:cubicBezTo>
                <a:cubicBezTo>
                  <a:pt x="396" y="1227"/>
                  <a:pt x="406" y="1380"/>
                  <a:pt x="427" y="1470"/>
                </a:cubicBezTo>
                <a:lnTo>
                  <a:pt x="429" y="1477"/>
                </a:lnTo>
                <a:lnTo>
                  <a:pt x="42" y="1477"/>
                </a:lnTo>
                <a:lnTo>
                  <a:pt x="39" y="1462"/>
                </a:lnTo>
                <a:cubicBezTo>
                  <a:pt x="13" y="1335"/>
                  <a:pt x="0" y="1183"/>
                  <a:pt x="0" y="1005"/>
                </a:cubicBezTo>
                <a:cubicBezTo>
                  <a:pt x="0" y="633"/>
                  <a:pt x="65" y="366"/>
                  <a:pt x="194" y="202"/>
                </a:cubicBezTo>
                <a:cubicBezTo>
                  <a:pt x="301" y="67"/>
                  <a:pt x="450" y="0"/>
                  <a:pt x="641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>
            <p:custDataLst>
              <p:tags r:id="rId1"/>
            </p:custDataLst>
          </p:nvPr>
        </p:nvSpPr>
        <p:spPr>
          <a:xfrm>
            <a:off x="3533140" y="1372245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01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 flipV="1">
            <a:off x="3726815" y="2606675"/>
            <a:ext cx="6564630" cy="635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030470" y="1628775"/>
            <a:ext cx="5699760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sz="4800">
                <a:solidFill>
                  <a:srgbClr val="6096E6"/>
                </a:solidFill>
                <a:sym typeface="Arial" panose="020B0604020202020204" pitchFamily="34" charset="0"/>
              </a:rPr>
              <a:t>串口中断接收</a:t>
            </a:r>
            <a:endParaRPr lang="zh-CN" sz="4800">
              <a:solidFill>
                <a:srgbClr val="6096E6"/>
              </a:solidFill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100195" y="3326130"/>
            <a:ext cx="5817235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1.</a:t>
            </a:r>
            <a:r>
              <a:rPr lang="zh-CN" altLang="en-US" sz="3200"/>
              <a:t>使能串口接收</a:t>
            </a:r>
            <a:endParaRPr lang="zh-CN" altLang="en-US" sz="3200"/>
          </a:p>
          <a:p>
            <a:r>
              <a:rPr lang="en-US" altLang="zh-CN" sz="3200">
                <a:sym typeface="+mn-ea"/>
              </a:rPr>
              <a:t>2.</a:t>
            </a:r>
            <a:r>
              <a:rPr lang="zh-CN" altLang="en-US" sz="3200">
                <a:sym typeface="+mn-ea"/>
              </a:rPr>
              <a:t>串口中断配置</a:t>
            </a:r>
            <a:endParaRPr lang="zh-CN" altLang="en-US" sz="3200">
              <a:sym typeface="+mn-ea"/>
            </a:endParaRPr>
          </a:p>
          <a:p>
            <a:r>
              <a:rPr lang="en-US" altLang="zh-CN" sz="3200">
                <a:sym typeface="+mn-ea"/>
              </a:rPr>
              <a:t>3.</a:t>
            </a:r>
            <a:r>
              <a:rPr lang="zh-CN" altLang="en-US" sz="3200">
                <a:sym typeface="+mn-ea"/>
              </a:rPr>
              <a:t>串口变量定义</a:t>
            </a:r>
            <a:endParaRPr lang="zh-CN" altLang="en-US" sz="3200">
              <a:sym typeface="+mn-ea"/>
            </a:endParaRPr>
          </a:p>
          <a:p>
            <a:r>
              <a:rPr lang="en-US" altLang="zh-CN" sz="3200">
                <a:sym typeface="+mn-ea"/>
              </a:rPr>
              <a:t>4.</a:t>
            </a:r>
            <a:r>
              <a:rPr lang="zh-CN" altLang="en-US" sz="3200">
                <a:sym typeface="+mn-ea"/>
              </a:rPr>
              <a:t>串口中断接收服务函数</a:t>
            </a:r>
            <a:endParaRPr lang="zh-CN" altLang="en-US" sz="3200">
              <a:sym typeface="+mn-ea"/>
            </a:endParaRPr>
          </a:p>
          <a:p>
            <a:r>
              <a:rPr lang="en-US" altLang="zh-CN" sz="3200">
                <a:sym typeface="+mn-ea"/>
              </a:rPr>
              <a:t>5.</a:t>
            </a:r>
            <a:r>
              <a:rPr lang="zh-CN" altLang="en-US" sz="3200">
                <a:sym typeface="+mn-ea"/>
              </a:rPr>
              <a:t>串口中断接收数据处理</a:t>
            </a:r>
            <a:endParaRPr lang="zh-CN" altLang="en-US" sz="3200">
              <a:sym typeface="+mn-ea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" y="14478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使能串口接收</a:t>
            </a:r>
            <a:endParaRPr kumimoji="0" lang="zh-CN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1621155" y="1527175"/>
            <a:ext cx="50800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266700"/>
            <a:r>
              <a:rPr lang="zh-CN" sz="2000" b="0">
                <a:latin typeface="Calibri" panose="020F0502020204030204" charset="0"/>
                <a:ea typeface="宋体" panose="02010600030101010101" pitchFamily="2" charset="-122"/>
              </a:rPr>
              <a:t>串口接收配置：</a:t>
            </a:r>
            <a:endParaRPr lang="zh-CN" altLang="en-US" sz="2000"/>
          </a:p>
        </p:txBody>
      </p:sp>
      <p:sp>
        <p:nvSpPr>
          <p:cNvPr id="3" name="文本框 2"/>
          <p:cNvSpPr txBox="1"/>
          <p:nvPr/>
        </p:nvSpPr>
        <p:spPr>
          <a:xfrm>
            <a:off x="1892300" y="1979295"/>
            <a:ext cx="796988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void usart_receive_config(uint32_t usart_periph, uint32_t rxconfig);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248410" y="3448050"/>
            <a:ext cx="950785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560705"/>
            <a:r>
              <a:rPr lang="en-US" sz="2000">
                <a:highlight>
                  <a:srgbClr val="C0C0C0"/>
                </a:highlight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usart_receive_config(BSP_USART, USART_RECEIVE_ENABLE); // </a:t>
            </a:r>
            <a:r>
              <a:rPr lang="zh-CN" sz="2000"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使能串口接收</a:t>
            </a:r>
            <a:endParaRPr sz="2000" b="0">
              <a:highlight>
                <a:srgbClr val="C0C0C0"/>
              </a:highlight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串口中断配置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1417320" y="1679575"/>
            <a:ext cx="740473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266700"/>
            <a:r>
              <a:rPr lang="zh-CN" sz="2000" b="0">
                <a:latin typeface="Calibri" panose="020F0502020204030204" charset="0"/>
                <a:ea typeface="宋体" panose="02010600030101010101" pitchFamily="2" charset="-122"/>
              </a:rPr>
              <a:t>配置中断优先级，抢占优先级为</a:t>
            </a:r>
            <a:r>
              <a:rPr lang="en-US" altLang="zh-CN" sz="2000" b="0">
                <a:latin typeface="Calibri" panose="020F0502020204030204" charset="0"/>
                <a:ea typeface="宋体" panose="02010600030101010101" pitchFamily="2" charset="-122"/>
              </a:rPr>
              <a:t>2</a:t>
            </a:r>
            <a:r>
              <a:rPr lang="zh-CN" altLang="en-US" sz="2000" b="0">
                <a:latin typeface="Calibri" panose="020F0502020204030204" charset="0"/>
                <a:ea typeface="宋体" panose="02010600030101010101" pitchFamily="2" charset="-122"/>
              </a:rPr>
              <a:t>，响应优先级为</a:t>
            </a:r>
            <a:r>
              <a:rPr lang="en-US" altLang="zh-CN" sz="2000" b="0">
                <a:latin typeface="Calibri" panose="020F0502020204030204" charset="0"/>
                <a:ea typeface="宋体" panose="02010600030101010101" pitchFamily="2" charset="-122"/>
              </a:rPr>
              <a:t>2</a:t>
            </a:r>
            <a:r>
              <a:rPr lang="zh-CN" sz="2000" b="0">
                <a:latin typeface="Calibri" panose="020F0502020204030204" charset="0"/>
                <a:ea typeface="宋体" panose="02010600030101010101" pitchFamily="2" charset="-122"/>
              </a:rPr>
              <a:t>：</a:t>
            </a:r>
            <a:endParaRPr lang="zh-CN" altLang="en-US" sz="2000"/>
          </a:p>
        </p:txBody>
      </p:sp>
      <p:sp>
        <p:nvSpPr>
          <p:cNvPr id="7" name="文本框 6"/>
          <p:cNvSpPr txBox="1"/>
          <p:nvPr/>
        </p:nvSpPr>
        <p:spPr>
          <a:xfrm>
            <a:off x="1111885" y="2156460"/>
            <a:ext cx="950785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560705"/>
            <a:r>
              <a:rPr sz="2000"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nvic_irq_enable(BSP_USART_IRQ, 2, 2); // 配置中断优先级</a:t>
            </a:r>
            <a:endParaRPr sz="2000">
              <a:highlight>
                <a:srgbClr val="C0C0C0"/>
              </a:highlight>
              <a:ea typeface="宋体" panose="02010600030101010101" pitchFamily="2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365885" y="2905760"/>
            <a:ext cx="740473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266700"/>
            <a:r>
              <a:rPr lang="zh-CN" sz="2000" b="0">
                <a:latin typeface="Calibri" panose="020F0502020204030204" charset="0"/>
                <a:ea typeface="宋体" panose="02010600030101010101" pitchFamily="2" charset="-122"/>
              </a:rPr>
              <a:t>配置中断类型：</a:t>
            </a:r>
            <a:endParaRPr lang="zh-CN" altLang="en-US" sz="2000"/>
          </a:p>
        </p:txBody>
      </p:sp>
      <p:graphicFrame>
        <p:nvGraphicFramePr>
          <p:cNvPr id="10" name="表格 9"/>
          <p:cNvGraphicFramePr/>
          <p:nvPr>
            <p:custDataLst>
              <p:tags r:id="rId3"/>
            </p:custDataLst>
          </p:nvPr>
        </p:nvGraphicFramePr>
        <p:xfrm>
          <a:off x="1616710" y="3412490"/>
          <a:ext cx="8633460" cy="24777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6495"/>
                <a:gridCol w="619696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中断类型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描述</a:t>
                      </a:r>
                      <a:endParaRPr lang="zh-CN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USART_INT_TBE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发送缓冲区空中断。</a:t>
                      </a:r>
                      <a:endParaRPr lang="zh-CN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USART_INT_TC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发送完成中断。</a:t>
                      </a:r>
                      <a:endParaRPr lang="zh-CN" altLang="en-US"/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USART_INT_RBNE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接收缓冲区不为空中断和溢出错误中断。如果开启了这个中断，每当接收到一个字符，就会触发这个中断。</a:t>
                      </a:r>
                      <a:endParaRPr lang="zh-CN" altLang="en-US"/>
                    </a:p>
                  </a:txBody>
                  <a:tcPr/>
                </a:tc>
              </a:tr>
              <a:tr h="74041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USART_INT_IDLE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空闲检测中断。如果开启了这个中断，将会在一帧数据传输完成之后触发中断，一般用来判断一帧数据是否传输完成。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1111885" y="1202690"/>
            <a:ext cx="950785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560705"/>
            <a:r>
              <a:rPr sz="2000"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#define BSP_USART_IRQ		</a:t>
            </a:r>
            <a:r>
              <a:rPr lang="en-US" sz="2000"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 </a:t>
            </a:r>
            <a:r>
              <a:rPr sz="2000"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USART0_IRQn</a:t>
            </a:r>
            <a:endParaRPr sz="2000">
              <a:highlight>
                <a:srgbClr val="C0C0C0"/>
              </a:highlight>
              <a:ea typeface="宋体" panose="02010600030101010101" pitchFamily="2" charset="-122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串口中断配置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1400175" y="1908810"/>
            <a:ext cx="740473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266700"/>
            <a:r>
              <a:rPr lang="zh-CN" sz="2000" b="0">
                <a:latin typeface="Calibri" panose="020F0502020204030204" charset="0"/>
                <a:ea typeface="宋体" panose="02010600030101010101" pitchFamily="2" charset="-122"/>
              </a:rPr>
              <a:t>使能接收中断和空闲中断：</a:t>
            </a:r>
            <a:endParaRPr lang="zh-CN" altLang="en-US" sz="2000"/>
          </a:p>
        </p:txBody>
      </p:sp>
      <p:sp>
        <p:nvSpPr>
          <p:cNvPr id="7" name="文本框 6"/>
          <p:cNvSpPr txBox="1"/>
          <p:nvPr/>
        </p:nvSpPr>
        <p:spPr>
          <a:xfrm>
            <a:off x="1111885" y="2741930"/>
            <a:ext cx="9507855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560705"/>
            <a:r>
              <a:rPr sz="2000"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usart_interrupt_enable(BSP_USART, USART_INT_RBNE); </a:t>
            </a:r>
            <a:endParaRPr sz="2000">
              <a:highlight>
                <a:srgbClr val="C0C0C0"/>
              </a:highlight>
              <a:ea typeface="宋体" panose="02010600030101010101" pitchFamily="2" charset="-122"/>
              <a:sym typeface="+mn-ea"/>
            </a:endParaRPr>
          </a:p>
          <a:p>
            <a:pPr indent="560705"/>
            <a:r>
              <a:rPr sz="2000"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// 读数据缓冲区非空中断和过载错误中断</a:t>
            </a:r>
            <a:endParaRPr sz="2000">
              <a:highlight>
                <a:srgbClr val="C0C0C0"/>
              </a:highlight>
              <a:ea typeface="宋体" panose="02010600030101010101" pitchFamily="2" charset="-122"/>
              <a:sym typeface="+mn-ea"/>
            </a:endParaRPr>
          </a:p>
          <a:p>
            <a:pPr indent="560705"/>
            <a:r>
              <a:rPr sz="2000"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usart_interrupt_enable(BSP_USART, USART_INT_IDLE); // DLE线检测中断</a:t>
            </a:r>
            <a:endParaRPr sz="2000">
              <a:highlight>
                <a:srgbClr val="C0C0C0"/>
              </a:highlight>
              <a:ea typeface="宋体" panose="02010600030101010101" pitchFamily="2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串口变量定义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1332230" y="1365250"/>
            <a:ext cx="740473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266700"/>
            <a:r>
              <a:rPr lang="zh-CN" sz="2000" b="0">
                <a:latin typeface="Calibri" panose="020F0502020204030204" charset="0"/>
                <a:ea typeface="宋体" panose="02010600030101010101" pitchFamily="2" charset="-122"/>
              </a:rPr>
              <a:t>串口缓冲区的数据长度：</a:t>
            </a:r>
            <a:endParaRPr lang="zh-CN" altLang="en-US" sz="2000"/>
          </a:p>
        </p:txBody>
      </p:sp>
      <p:sp>
        <p:nvSpPr>
          <p:cNvPr id="7" name="文本框 6"/>
          <p:cNvSpPr txBox="1"/>
          <p:nvPr/>
        </p:nvSpPr>
        <p:spPr>
          <a:xfrm>
            <a:off x="1111885" y="1901825"/>
            <a:ext cx="950785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560705"/>
            <a:r>
              <a:rPr sz="2000"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#define </a:t>
            </a:r>
            <a:r>
              <a:rPr lang="en-US" sz="2000"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     </a:t>
            </a:r>
            <a:r>
              <a:rPr sz="2000"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USART_RECEIVE_LENGTH </a:t>
            </a:r>
            <a:r>
              <a:rPr lang="en-US" sz="2000"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      </a:t>
            </a:r>
            <a:r>
              <a:rPr sz="2000"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4096</a:t>
            </a:r>
            <a:endParaRPr sz="2000">
              <a:highlight>
                <a:srgbClr val="C0C0C0"/>
              </a:highlight>
              <a:ea typeface="宋体" panose="02010600030101010101" pitchFamily="2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83665" y="3086100"/>
            <a:ext cx="740473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266700"/>
            <a:r>
              <a:rPr lang="zh-CN" sz="2000" b="0">
                <a:latin typeface="Calibri" panose="020F0502020204030204" charset="0"/>
                <a:ea typeface="宋体" panose="02010600030101010101" pitchFamily="2" charset="-122"/>
              </a:rPr>
              <a:t>串口缓冲区和接收完成标志：</a:t>
            </a:r>
            <a:endParaRPr lang="zh-CN" altLang="en-US" sz="2000"/>
          </a:p>
        </p:txBody>
      </p:sp>
      <p:sp>
        <p:nvSpPr>
          <p:cNvPr id="4" name="文本框 3"/>
          <p:cNvSpPr txBox="1"/>
          <p:nvPr/>
        </p:nvSpPr>
        <p:spPr>
          <a:xfrm>
            <a:off x="1111885" y="3622675"/>
            <a:ext cx="9507855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560705"/>
            <a:r>
              <a:rPr sz="2000"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uint8_t  </a:t>
            </a:r>
            <a:r>
              <a:rPr lang="en-US" sz="2000"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     </a:t>
            </a:r>
            <a:r>
              <a:rPr sz="2000"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g_recv_buff[USART_RECEIVE_LENGTH]; </a:t>
            </a:r>
            <a:r>
              <a:rPr lang="en-US" sz="2000"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         </a:t>
            </a:r>
            <a:r>
              <a:rPr sz="2000"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// 接收缓冲区</a:t>
            </a:r>
            <a:endParaRPr sz="2000">
              <a:highlight>
                <a:srgbClr val="C0C0C0"/>
              </a:highlight>
              <a:ea typeface="宋体" panose="02010600030101010101" pitchFamily="2" charset="-122"/>
              <a:sym typeface="+mn-ea"/>
            </a:endParaRPr>
          </a:p>
          <a:p>
            <a:pPr indent="560705"/>
            <a:r>
              <a:rPr sz="2000"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uint16_t </a:t>
            </a:r>
            <a:r>
              <a:rPr lang="en-US" sz="2000"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    </a:t>
            </a:r>
            <a:r>
              <a:rPr sz="2000"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g_recv_length = 0; </a:t>
            </a:r>
            <a:r>
              <a:rPr lang="en-US" sz="2000"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                                            </a:t>
            </a:r>
            <a:r>
              <a:rPr sz="2000"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// 接收数据长度</a:t>
            </a:r>
            <a:endParaRPr sz="2000">
              <a:highlight>
                <a:srgbClr val="C0C0C0"/>
              </a:highlight>
              <a:ea typeface="宋体" panose="02010600030101010101" pitchFamily="2" charset="-122"/>
              <a:sym typeface="+mn-ea"/>
            </a:endParaRPr>
          </a:p>
          <a:p>
            <a:pPr indent="560705"/>
            <a:r>
              <a:rPr sz="2000"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uint8_t  </a:t>
            </a:r>
            <a:r>
              <a:rPr lang="en-US" sz="2000"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     </a:t>
            </a:r>
            <a:r>
              <a:rPr sz="2000"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g_recv_complete_flag = 0; </a:t>
            </a:r>
            <a:r>
              <a:rPr lang="en-US" sz="2000"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                            </a:t>
            </a:r>
            <a:r>
              <a:rPr sz="2000"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// 接收完成标志位</a:t>
            </a:r>
            <a:endParaRPr sz="2000">
              <a:highlight>
                <a:srgbClr val="C0C0C0"/>
              </a:highlight>
              <a:ea typeface="宋体" panose="02010600030101010101" pitchFamily="2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 flipV="1">
            <a:off x="531495" y="866775"/>
            <a:ext cx="4413885" cy="63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094740" y="330200"/>
            <a:ext cx="4062730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串口中断接收服务函数</a:t>
            </a:r>
            <a:endParaRPr kumimoji="0" lang="zh-CN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1349375" y="2704465"/>
            <a:ext cx="740473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266700"/>
            <a:r>
              <a:rPr lang="zh-CN" sz="2000" b="0">
                <a:latin typeface="Calibri" panose="020F0502020204030204" charset="0"/>
                <a:ea typeface="宋体" panose="02010600030101010101" pitchFamily="2" charset="-122"/>
              </a:rPr>
              <a:t>获取中断标志位：</a:t>
            </a:r>
            <a:endParaRPr lang="zh-CN" altLang="en-US" sz="2000"/>
          </a:p>
        </p:txBody>
      </p:sp>
      <p:sp>
        <p:nvSpPr>
          <p:cNvPr id="100" name="文本框 99"/>
          <p:cNvSpPr txBox="1"/>
          <p:nvPr/>
        </p:nvSpPr>
        <p:spPr>
          <a:xfrm>
            <a:off x="1009650" y="3103245"/>
            <a:ext cx="1006919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560705"/>
            <a:r>
              <a:rPr lang="en-US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FlagStatus usart_interrupt_flag_get(uint32_t usart_periph, usart_interrupt_flag_enum int_flag);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349375" y="3756025"/>
            <a:ext cx="740473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266700"/>
            <a:r>
              <a:rPr lang="zh-CN" sz="2000" b="0">
                <a:latin typeface="Calibri" panose="020F0502020204030204" charset="0"/>
                <a:ea typeface="宋体" panose="02010600030101010101" pitchFamily="2" charset="-122"/>
              </a:rPr>
              <a:t>串口接收函数：</a:t>
            </a:r>
            <a:endParaRPr lang="zh-CN" altLang="en-US" sz="2000"/>
          </a:p>
        </p:txBody>
      </p:sp>
      <p:sp>
        <p:nvSpPr>
          <p:cNvPr id="9" name="文本框 8"/>
          <p:cNvSpPr txBox="1"/>
          <p:nvPr/>
        </p:nvSpPr>
        <p:spPr>
          <a:xfrm>
            <a:off x="1009650" y="4154805"/>
            <a:ext cx="573468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560705"/>
            <a:r>
              <a:rPr lang="en-US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uint16_t usart_data_receive(uint32_t usart_periph);</a:t>
            </a:r>
            <a:endParaRPr lang="en-US" b="0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349375" y="1190625"/>
            <a:ext cx="740473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266700"/>
            <a:r>
              <a:rPr lang="zh-CN" sz="2000" b="0">
                <a:latin typeface="Calibri" panose="020F0502020204030204" charset="0"/>
                <a:ea typeface="宋体" panose="02010600030101010101" pitchFamily="2" charset="-122"/>
              </a:rPr>
              <a:t>串口中断服务函数名：</a:t>
            </a:r>
            <a:endParaRPr lang="zh-CN" altLang="en-US" sz="2000"/>
          </a:p>
        </p:txBody>
      </p:sp>
      <p:sp>
        <p:nvSpPr>
          <p:cNvPr id="11" name="文本框 10"/>
          <p:cNvSpPr txBox="1"/>
          <p:nvPr/>
        </p:nvSpPr>
        <p:spPr>
          <a:xfrm>
            <a:off x="1009650" y="1589405"/>
            <a:ext cx="1006919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560705" algn="l">
              <a:buClrTx/>
              <a:buSzTx/>
              <a:buNone/>
            </a:pPr>
            <a:r>
              <a:rPr sz="2000" b="0">
                <a:highlight>
                  <a:srgbClr val="C0C0C0"/>
                </a:highlight>
                <a:ea typeface="宋体" panose="02010600030101010101" pitchFamily="2" charset="-122"/>
              </a:rPr>
              <a:t>#define BSP_USART_IRQHandler  USART0_IRQHandler</a:t>
            </a:r>
            <a:endParaRPr sz="2000" b="0">
              <a:highlight>
                <a:srgbClr val="C0C0C0"/>
              </a:highlight>
              <a:ea typeface="宋体" panose="02010600030101010101" pitchFamily="2" charset="-122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 flipV="1">
            <a:off x="531495" y="866775"/>
            <a:ext cx="4413885" cy="63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094740" y="330200"/>
            <a:ext cx="4062730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串口中断接收服务函数</a:t>
            </a:r>
            <a:endParaRPr kumimoji="0" lang="zh-CN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1379855" y="1104900"/>
            <a:ext cx="603885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266700"/>
            <a:r>
              <a:rPr lang="zh-CN" sz="2000" b="0">
                <a:latin typeface="Calibri" panose="020F0502020204030204" charset="0"/>
                <a:ea typeface="宋体" panose="02010600030101010101" pitchFamily="2" charset="-122"/>
              </a:rPr>
              <a:t>串口接收函数：</a:t>
            </a:r>
            <a:endParaRPr lang="zh-CN" altLang="en-US" sz="2000"/>
          </a:p>
        </p:txBody>
      </p:sp>
      <p:sp>
        <p:nvSpPr>
          <p:cNvPr id="9" name="文本框 8"/>
          <p:cNvSpPr txBox="1"/>
          <p:nvPr/>
        </p:nvSpPr>
        <p:spPr>
          <a:xfrm>
            <a:off x="996315" y="1756410"/>
            <a:ext cx="8587740" cy="45231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560705"/>
            <a:r>
              <a:rPr lang="en-US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void BSP_USART_IRQHandler(void)</a:t>
            </a:r>
            <a:endParaRPr lang="en-US" b="0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560705"/>
            <a:r>
              <a:rPr lang="en-US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{</a:t>
            </a:r>
            <a:endParaRPr lang="en-US" b="0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560705"/>
            <a:r>
              <a:rPr lang="en-US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	if(usart_interrupt_flag_get(BSP_USART,USART_INT_FLAG_RBNE) != RESET) </a:t>
            </a:r>
            <a:endParaRPr lang="en-US" b="0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560705"/>
            <a:r>
              <a:rPr lang="en-US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       // 接收缓冲区不为空</a:t>
            </a:r>
            <a:endParaRPr lang="en-US" b="0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560705"/>
            <a:r>
              <a:rPr lang="en-US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	{</a:t>
            </a:r>
            <a:endParaRPr lang="en-US" b="0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560705"/>
            <a:r>
              <a:rPr lang="en-US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		 g_recv_buff[g_recv_length++] = usart_data_receive(BSP_USART);  </a:t>
            </a:r>
            <a:endParaRPr lang="en-US" b="0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560705"/>
            <a:r>
              <a:rPr lang="en-US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      // 把接收到的数据放到缓冲区中</a:t>
            </a:r>
            <a:endParaRPr lang="en-US" b="0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560705"/>
            <a:r>
              <a:rPr lang="en-US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	}	</a:t>
            </a:r>
            <a:endParaRPr lang="en-US" b="0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560705"/>
            <a:r>
              <a:rPr lang="en-US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	if(usart_interrupt_flag_get(BSP_USART,USART_INT_FLAG_IDLE) == SET) </a:t>
            </a:r>
            <a:endParaRPr lang="en-US" b="0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560705"/>
            <a:r>
              <a:rPr lang="en-US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       // 检测到帧中断</a:t>
            </a:r>
            <a:endParaRPr lang="en-US" b="0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560705"/>
            <a:r>
              <a:rPr lang="en-US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	{</a:t>
            </a:r>
            <a:endParaRPr lang="en-US" b="0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560705"/>
            <a:r>
              <a:rPr lang="en-US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		usart_data_receive(BSP_USART); // 必须要读，读出来的值不能要</a:t>
            </a:r>
            <a:endParaRPr lang="en-US" b="0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560705"/>
            <a:r>
              <a:rPr lang="en-US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		g_recv_buff[g_recv_length] = '\0';</a:t>
            </a:r>
            <a:endParaRPr lang="en-US" b="0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560705"/>
            <a:r>
              <a:rPr lang="en-US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		g_recv_complete_flag = SET;// 接收完成	</a:t>
            </a:r>
            <a:endParaRPr lang="en-US" b="0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560705"/>
            <a:r>
              <a:rPr lang="en-US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	}</a:t>
            </a:r>
            <a:endParaRPr lang="en-US" b="0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560705"/>
            <a:r>
              <a:rPr lang="en-US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}</a:t>
            </a:r>
            <a:endParaRPr lang="en-US" b="0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 flipV="1">
            <a:off x="531495" y="866775"/>
            <a:ext cx="4447540" cy="63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094740" y="330200"/>
            <a:ext cx="4037330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串口中断接收数据处理</a:t>
            </a:r>
            <a:endParaRPr kumimoji="0" lang="zh-CN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467485" y="1841500"/>
            <a:ext cx="2805430" cy="3371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560705"/>
            <a:r>
              <a:rPr lang="zh-CN" altLang="en-US" sz="1600" b="0">
                <a:latin typeface="Calibri" panose="020F0502020204030204" charset="0"/>
                <a:ea typeface="宋体" panose="02010600030101010101" pitchFamily="2" charset="-122"/>
              </a:rPr>
              <a:t>初始化输出结构体：</a:t>
            </a:r>
            <a:endParaRPr lang="zh-CN" altLang="en-US" sz="1600"/>
          </a:p>
        </p:txBody>
      </p:sp>
      <p:sp>
        <p:nvSpPr>
          <p:cNvPr id="9" name="文本框 8"/>
          <p:cNvSpPr txBox="1"/>
          <p:nvPr/>
        </p:nvSpPr>
        <p:spPr>
          <a:xfrm>
            <a:off x="1094740" y="2458720"/>
            <a:ext cx="8901430" cy="25844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560705"/>
            <a:r>
              <a:rPr lang="en-US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	/* 等待数据传输完成 INTERRUPT */</a:t>
            </a:r>
            <a:endParaRPr lang="en-US" b="0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560705"/>
            <a:r>
              <a:rPr lang="en-US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	if(g_recv_complete_flag)  // 数据接收完成</a:t>
            </a:r>
            <a:endParaRPr lang="en-US" b="0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560705"/>
            <a:r>
              <a:rPr lang="en-US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	{</a:t>
            </a:r>
            <a:endParaRPr lang="en-US" b="0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560705"/>
            <a:r>
              <a:rPr lang="en-US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		 g_recv_complete_flag = RESET; 		// 等待下次接收</a:t>
            </a:r>
            <a:endParaRPr lang="en-US" b="0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560705"/>
            <a:r>
              <a:rPr lang="en-US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		 printf("g_recv_length:%d ",g_recv_length);</a:t>
            </a:r>
            <a:endParaRPr lang="en-US" b="0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560705"/>
            <a:r>
              <a:rPr lang="en-US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		 printf("Interrupt recv:%s\r\n",g_recv_buff);        // 打印接收的数据</a:t>
            </a:r>
            <a:endParaRPr lang="en-US" b="0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560705"/>
            <a:r>
              <a:rPr lang="en-US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		 memset(g_recv_buff,0,g_recv_length);              // 清空数组</a:t>
            </a:r>
            <a:endParaRPr lang="en-US" b="0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560705"/>
            <a:r>
              <a:rPr lang="en-US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		 g_recv_length = 0; </a:t>
            </a:r>
            <a:endParaRPr lang="en-US" b="0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560705"/>
            <a:r>
              <a:rPr lang="en-US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	 }</a:t>
            </a:r>
            <a:endParaRPr lang="en-US" b="0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>
            <p:custDataLst>
              <p:tags r:id="rId1"/>
            </p:custDataLst>
          </p:nvPr>
        </p:nvSpPr>
        <p:spPr>
          <a:xfrm>
            <a:off x="3533140" y="1372245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02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4" name="直接连接符 3"/>
          <p:cNvCxnSpPr/>
          <p:nvPr>
            <p:custDataLst>
              <p:tags r:id="rId2"/>
            </p:custDataLst>
          </p:nvPr>
        </p:nvCxnSpPr>
        <p:spPr>
          <a:xfrm flipV="1">
            <a:off x="3778250" y="2526665"/>
            <a:ext cx="5265420" cy="4445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030470" y="1628775"/>
            <a:ext cx="5210175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4800">
                <a:solidFill>
                  <a:srgbClr val="6096E6"/>
                </a:solidFill>
                <a:sym typeface="Arial" panose="020B0604020202020204" pitchFamily="34" charset="0"/>
              </a:rPr>
              <a:t>串口</a:t>
            </a:r>
            <a:r>
              <a:rPr lang="en-US" altLang="zh-CN" sz="4800">
                <a:solidFill>
                  <a:srgbClr val="6096E6"/>
                </a:solidFill>
                <a:sym typeface="Arial" panose="020B0604020202020204" pitchFamily="34" charset="0"/>
              </a:rPr>
              <a:t>DMA</a:t>
            </a:r>
            <a:r>
              <a:rPr lang="zh-CN" altLang="en-US" sz="4800">
                <a:solidFill>
                  <a:srgbClr val="6096E6"/>
                </a:solidFill>
                <a:sym typeface="Arial" panose="020B0604020202020204" pitchFamily="34" charset="0"/>
              </a:rPr>
              <a:t>接收</a:t>
            </a:r>
            <a:endParaRPr lang="zh-CN" altLang="en-US" sz="4800">
              <a:solidFill>
                <a:srgbClr val="6096E6"/>
              </a:solidFill>
              <a:sym typeface="Arial" panose="020B0604020202020204" pitchFamily="34" charset="0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" y="14478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文本框 9"/>
          <p:cNvSpPr txBox="1"/>
          <p:nvPr/>
        </p:nvSpPr>
        <p:spPr>
          <a:xfrm>
            <a:off x="4049395" y="2978150"/>
            <a:ext cx="5817235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1.</a:t>
            </a:r>
            <a:r>
              <a:rPr lang="zh-CN" altLang="en-US" sz="3200"/>
              <a:t>开启时钟</a:t>
            </a:r>
            <a:endParaRPr lang="zh-CN" altLang="en-US" sz="3200"/>
          </a:p>
          <a:p>
            <a:r>
              <a:rPr lang="en-US" altLang="zh-CN" sz="3200">
                <a:sym typeface="+mn-ea"/>
              </a:rPr>
              <a:t>2.</a:t>
            </a:r>
            <a:r>
              <a:rPr lang="zh-CN" altLang="en-US" sz="3200">
                <a:sym typeface="+mn-ea"/>
              </a:rPr>
              <a:t>配置参数结构体</a:t>
            </a:r>
            <a:endParaRPr lang="zh-CN" altLang="en-US" sz="3200">
              <a:sym typeface="+mn-ea"/>
            </a:endParaRPr>
          </a:p>
          <a:p>
            <a:r>
              <a:rPr lang="en-US" altLang="zh-CN" sz="3200">
                <a:sym typeface="+mn-ea"/>
              </a:rPr>
              <a:t>3.</a:t>
            </a:r>
            <a:r>
              <a:rPr lang="zh-CN" altLang="en-US" sz="3200">
                <a:sym typeface="+mn-ea"/>
              </a:rPr>
              <a:t>使能通道外设</a:t>
            </a:r>
            <a:endParaRPr lang="zh-CN" altLang="en-US" sz="3200">
              <a:sym typeface="+mn-ea"/>
            </a:endParaRPr>
          </a:p>
          <a:p>
            <a:r>
              <a:rPr lang="en-US" altLang="zh-CN" sz="3200">
                <a:sym typeface="+mn-ea"/>
              </a:rPr>
              <a:t>4.</a:t>
            </a:r>
            <a:r>
              <a:rPr lang="zh-CN" altLang="en-US" sz="3200">
                <a:sym typeface="+mn-ea"/>
              </a:rPr>
              <a:t>使能</a:t>
            </a:r>
            <a:r>
              <a:rPr lang="en-US" altLang="zh-CN" sz="3200">
                <a:sym typeface="+mn-ea"/>
              </a:rPr>
              <a:t>DMA</a:t>
            </a:r>
            <a:r>
              <a:rPr lang="zh-CN" altLang="en-US" sz="3200">
                <a:sym typeface="+mn-ea"/>
              </a:rPr>
              <a:t>中断</a:t>
            </a:r>
            <a:endParaRPr lang="zh-CN" altLang="en-US" sz="3200">
              <a:sym typeface="+mn-ea"/>
            </a:endParaRPr>
          </a:p>
          <a:p>
            <a:r>
              <a:rPr lang="en-US" altLang="zh-CN" sz="3200">
                <a:sym typeface="+mn-ea"/>
              </a:rPr>
              <a:t>5.</a:t>
            </a:r>
            <a:r>
              <a:rPr lang="zh-CN" altLang="en-US" sz="3200">
                <a:sym typeface="+mn-ea"/>
              </a:rPr>
              <a:t>使能外设</a:t>
            </a:r>
            <a:r>
              <a:rPr lang="en-US" altLang="zh-CN" sz="3200">
                <a:sym typeface="+mn-ea"/>
              </a:rPr>
              <a:t>DMA</a:t>
            </a:r>
            <a:r>
              <a:rPr lang="zh-CN" altLang="en-US" sz="3200">
                <a:sym typeface="+mn-ea"/>
              </a:rPr>
              <a:t>（串口）</a:t>
            </a:r>
            <a:endParaRPr lang="zh-CN" altLang="en-US" sz="3200">
              <a:sym typeface="+mn-ea"/>
            </a:endParaRPr>
          </a:p>
          <a:p>
            <a:r>
              <a:rPr lang="en-US" altLang="zh-CN" sz="3200">
                <a:sym typeface="+mn-ea"/>
              </a:rPr>
              <a:t>6.DMA</a:t>
            </a:r>
            <a:r>
              <a:rPr lang="zh-CN" altLang="en-US" sz="3200">
                <a:sym typeface="+mn-ea"/>
              </a:rPr>
              <a:t>中断服务函数</a:t>
            </a:r>
            <a:endParaRPr lang="zh-CN" altLang="en-US" sz="3200">
              <a:sym typeface="+mn-ea"/>
            </a:endParaRPr>
          </a:p>
          <a:p>
            <a:r>
              <a:rPr lang="en-US" altLang="zh-CN" sz="3200">
                <a:sym typeface="+mn-ea"/>
              </a:rPr>
              <a:t>7.DMA</a:t>
            </a:r>
            <a:r>
              <a:rPr lang="zh-CN" altLang="en-US" sz="3200">
                <a:sym typeface="+mn-ea"/>
              </a:rPr>
              <a:t>接收数据处理</a:t>
            </a:r>
            <a:endParaRPr lang="zh-CN" altLang="en-US" sz="3200"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开启时钟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1332230" y="1365250"/>
            <a:ext cx="885571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266700"/>
            <a:r>
              <a:rPr lang="zh-CN" sz="2000" b="0">
                <a:latin typeface="Calibri" panose="020F0502020204030204" charset="0"/>
                <a:ea typeface="宋体" panose="02010600030101010101" pitchFamily="2" charset="-122"/>
              </a:rPr>
              <a:t>USART0_RX对应于DMA1的通道2和通道5。这里选择DMA1的通道2进行配置。</a:t>
            </a:r>
            <a:endParaRPr lang="zh-CN" sz="2000" b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06475" y="1926590"/>
            <a:ext cx="9507855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560705"/>
            <a:r>
              <a:rPr sz="2000"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#define BSP_DMA_RCU   		 RCU_DMA1   </a:t>
            </a:r>
            <a:r>
              <a:rPr lang="en-US" sz="2000"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   </a:t>
            </a:r>
            <a:r>
              <a:rPr sz="2000"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// DMA时钟</a:t>
            </a:r>
            <a:endParaRPr sz="2000">
              <a:highlight>
                <a:srgbClr val="C0C0C0"/>
              </a:highlight>
              <a:ea typeface="宋体" panose="02010600030101010101" pitchFamily="2" charset="-122"/>
              <a:sym typeface="+mn-ea"/>
            </a:endParaRPr>
          </a:p>
          <a:p>
            <a:pPr indent="560705"/>
            <a:r>
              <a:rPr sz="2000"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#define BSP_DMA   		</a:t>
            </a:r>
            <a:r>
              <a:rPr lang="en-US" sz="2000"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 </a:t>
            </a:r>
            <a:r>
              <a:rPr sz="2000"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DMA1		  // DMA</a:t>
            </a:r>
            <a:endParaRPr sz="2000">
              <a:highlight>
                <a:srgbClr val="C0C0C0"/>
              </a:highlight>
              <a:ea typeface="宋体" panose="02010600030101010101" pitchFamily="2" charset="-122"/>
              <a:sym typeface="+mn-ea"/>
            </a:endParaRPr>
          </a:p>
          <a:p>
            <a:pPr indent="560705"/>
            <a:r>
              <a:rPr sz="2000"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#define BSP_DMA_CH  		</a:t>
            </a:r>
            <a:r>
              <a:rPr lang="en-US" sz="2000"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 </a:t>
            </a:r>
            <a:r>
              <a:rPr sz="2000"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DMA_CH2	  // DMA通道 </a:t>
            </a:r>
            <a:endParaRPr sz="2000">
              <a:highlight>
                <a:srgbClr val="C0C0C0"/>
              </a:highlight>
              <a:ea typeface="宋体" panose="02010600030101010101" pitchFamily="2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32230" y="3665220"/>
            <a:ext cx="740473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266700"/>
            <a:r>
              <a:rPr lang="zh-CN" sz="2000" b="0">
                <a:latin typeface="Calibri" panose="020F0502020204030204" charset="0"/>
                <a:ea typeface="宋体" panose="02010600030101010101" pitchFamily="2" charset="-122"/>
              </a:rPr>
              <a:t>开启</a:t>
            </a:r>
            <a:r>
              <a:rPr lang="en-US" altLang="zh-CN" sz="2000" b="0">
                <a:latin typeface="Calibri" panose="020F0502020204030204" charset="0"/>
                <a:ea typeface="宋体" panose="02010600030101010101" pitchFamily="2" charset="-122"/>
              </a:rPr>
              <a:t>DMA</a:t>
            </a:r>
            <a:r>
              <a:rPr lang="zh-CN" altLang="en-US" sz="2000" b="0">
                <a:latin typeface="Calibri" panose="020F0502020204030204" charset="0"/>
                <a:ea typeface="宋体" panose="02010600030101010101" pitchFamily="2" charset="-122"/>
              </a:rPr>
              <a:t>时钟</a:t>
            </a:r>
            <a:r>
              <a:rPr lang="zh-CN" sz="2000" b="0">
                <a:latin typeface="Calibri" panose="020F0502020204030204" charset="0"/>
                <a:ea typeface="宋体" panose="02010600030101010101" pitchFamily="2" charset="-122"/>
              </a:rPr>
              <a:t>：</a:t>
            </a:r>
            <a:endParaRPr lang="zh-CN" altLang="en-US" sz="2000"/>
          </a:p>
        </p:txBody>
      </p:sp>
      <p:sp>
        <p:nvSpPr>
          <p:cNvPr id="4" name="文本框 3"/>
          <p:cNvSpPr txBox="1"/>
          <p:nvPr/>
        </p:nvSpPr>
        <p:spPr>
          <a:xfrm>
            <a:off x="1111885" y="4064000"/>
            <a:ext cx="950785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560705"/>
            <a:r>
              <a:rPr sz="2000"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rcu_periph_clock_enable(BSP_DMA_RCU);</a:t>
            </a:r>
            <a:endParaRPr sz="2000">
              <a:highlight>
                <a:srgbClr val="C0C0C0"/>
              </a:highlight>
              <a:ea typeface="宋体" panose="02010600030101010101" pitchFamily="2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 flipV="1">
            <a:off x="531495" y="866775"/>
            <a:ext cx="4413885" cy="63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094740" y="330200"/>
            <a:ext cx="4062730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配置参数结构体</a:t>
            </a:r>
            <a:endParaRPr kumimoji="0" lang="zh-CN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文本框 9"/>
          <p:cNvSpPr txBox="1"/>
          <p:nvPr/>
        </p:nvSpPr>
        <p:spPr>
          <a:xfrm>
            <a:off x="1425575" y="1626870"/>
            <a:ext cx="740473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266700"/>
            <a:r>
              <a:rPr lang="zh-CN" sz="2000" b="0">
                <a:latin typeface="Calibri" panose="020F0502020204030204" charset="0"/>
                <a:ea typeface="宋体" panose="02010600030101010101" pitchFamily="2" charset="-122"/>
              </a:rPr>
              <a:t>单数据传输结构体：</a:t>
            </a:r>
            <a:endParaRPr lang="zh-CN" altLang="en-US" sz="2000"/>
          </a:p>
        </p:txBody>
      </p:sp>
      <p:pic>
        <p:nvPicPr>
          <p:cNvPr id="3" name="图片 -21474826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3855" y="2331085"/>
            <a:ext cx="8924290" cy="303022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 flipV="1">
            <a:off x="531495" y="866775"/>
            <a:ext cx="4413885" cy="63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094740" y="330200"/>
            <a:ext cx="4062730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配置参数结构体</a:t>
            </a:r>
            <a:endParaRPr kumimoji="0" lang="zh-CN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文本框 9"/>
          <p:cNvSpPr txBox="1"/>
          <p:nvPr/>
        </p:nvSpPr>
        <p:spPr>
          <a:xfrm>
            <a:off x="1459865" y="1321435"/>
            <a:ext cx="740473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266700"/>
            <a:r>
              <a:rPr lang="zh-CN" sz="2000" b="0">
                <a:latin typeface="Calibri" panose="020F0502020204030204" charset="0"/>
                <a:ea typeface="宋体" panose="02010600030101010101" pitchFamily="2" charset="-122"/>
              </a:rPr>
              <a:t>单数据传输结构体介绍：</a:t>
            </a:r>
            <a:endParaRPr lang="zh-CN" altLang="en-US" sz="2000"/>
          </a:p>
        </p:txBody>
      </p:sp>
      <p:graphicFrame>
        <p:nvGraphicFramePr>
          <p:cNvPr id="4" name="表格 3"/>
          <p:cNvGraphicFramePr/>
          <p:nvPr>
            <p:custDataLst>
              <p:tags r:id="rId3"/>
            </p:custDataLst>
          </p:nvPr>
        </p:nvGraphicFramePr>
        <p:xfrm>
          <a:off x="1828800" y="1905000"/>
          <a:ext cx="853313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0645"/>
                <a:gridCol w="591248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参数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描述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/>
                        <a:t>periph_addr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/>
                        <a:t>外设基地址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/>
                        <a:t>periph_inc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外设地址生成算法模式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/>
                        <a:t>memory0_addr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存储器基地址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/>
                        <a:t>memory_inc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存储器地址生成算法模式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/>
                        <a:t>periph_memory_width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外设和存储器数据传输宽度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/>
                        <a:t>circular_mode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DMA</a:t>
                      </a:r>
                      <a:r>
                        <a:rPr lang="zh-CN" altLang="en-US"/>
                        <a:t>循环模式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/>
                        <a:t>direction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DMA</a:t>
                      </a:r>
                      <a:r>
                        <a:rPr lang="zh-CN" altLang="en-US"/>
                        <a:t>通道数据传输方向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/>
                        <a:t>number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DMA</a:t>
                      </a:r>
                      <a:r>
                        <a:rPr lang="zh-CN" altLang="en-US"/>
                        <a:t>通道数据传输数量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/>
                        <a:t>priority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DMA</a:t>
                      </a:r>
                      <a:r>
                        <a:rPr lang="zh-CN" altLang="en-US"/>
                        <a:t>通道传输软件优先级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 flipV="1">
            <a:off x="531495" y="866775"/>
            <a:ext cx="4413885" cy="63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094740" y="330200"/>
            <a:ext cx="4062730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配置参数结构体</a:t>
            </a:r>
            <a:endParaRPr kumimoji="0" lang="zh-CN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341120" y="1847850"/>
            <a:ext cx="740473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266700"/>
            <a:r>
              <a:rPr lang="zh-CN" sz="2000" b="0">
                <a:latin typeface="Calibri" panose="020F0502020204030204" charset="0"/>
                <a:ea typeface="宋体" panose="02010600030101010101" pitchFamily="2" charset="-122"/>
              </a:rPr>
              <a:t>单一传输参数结构体：</a:t>
            </a:r>
            <a:endParaRPr lang="zh-CN" altLang="en-US" sz="2000"/>
          </a:p>
        </p:txBody>
      </p:sp>
      <p:sp>
        <p:nvSpPr>
          <p:cNvPr id="5" name="文本框 4"/>
          <p:cNvSpPr txBox="1"/>
          <p:nvPr/>
        </p:nvSpPr>
        <p:spPr>
          <a:xfrm>
            <a:off x="1094740" y="2198370"/>
            <a:ext cx="950785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560705"/>
            <a:r>
              <a:rPr sz="2000"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dma_single_data_parameter_struct dma_init_struct;</a:t>
            </a:r>
            <a:endParaRPr sz="2000">
              <a:highlight>
                <a:srgbClr val="C0C0C0"/>
              </a:highlight>
              <a:ea typeface="宋体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4230" y="2658110"/>
            <a:ext cx="9702800" cy="329184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560705"/>
            <a:r>
              <a:rPr lang="en-US" sz="1600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	/* 初始化DMA通道  */</a:t>
            </a:r>
            <a:endParaRPr lang="en-US" sz="1600" b="0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560705"/>
            <a:r>
              <a:rPr lang="en-US" sz="1600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	dma_deinit(BSP_DMA, BSP_DMA_CH);</a:t>
            </a:r>
            <a:endParaRPr lang="en-US" sz="1600" b="0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560705"/>
            <a:r>
              <a:rPr lang="en-US" sz="1600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	/* 配置DMA初始化参数 */</a:t>
            </a:r>
            <a:endParaRPr lang="en-US" sz="1600" b="0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560705"/>
            <a:r>
              <a:rPr lang="en-US" sz="1600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	dma_init_struct.direction = DMA_PERIPH_TO_MEMORY;  // 外设到内存 </a:t>
            </a:r>
            <a:endParaRPr lang="en-US" sz="1600" b="0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560705"/>
            <a:r>
              <a:rPr lang="en-US" sz="1600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	dma_init_struct.memory0_addr = (uint32_t)g_recv_buff; // 内存地址</a:t>
            </a:r>
            <a:endParaRPr lang="en-US" sz="1600" b="0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560705"/>
            <a:r>
              <a:rPr lang="en-US" sz="1600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	dma_init_struct.memory_inc = DMA_MEMORY_INCREASE_ENABLE; // 增量模式</a:t>
            </a:r>
            <a:endParaRPr lang="en-US" sz="1600" b="0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560705"/>
            <a:r>
              <a:rPr lang="en-US" sz="1600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	dma_init_struct.periph_memory_width = DMA_PERIPH_WIDTH_8BIT; // 一次传输长度8bit</a:t>
            </a:r>
            <a:endParaRPr lang="en-US" sz="1600" b="0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560705"/>
            <a:r>
              <a:rPr lang="en-US" sz="1600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	dma_init_struct.number = ARRAYNUM(g_recv_buff);  // 要传输的数据量</a:t>
            </a:r>
            <a:endParaRPr lang="en-US" sz="1600" b="0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560705"/>
            <a:r>
              <a:rPr lang="en-US" sz="1600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	dma_init_struct.periph_addr = (uint32_t)&amp;USART_DATA(BSP_USART); // 外设地址 </a:t>
            </a:r>
            <a:endParaRPr lang="en-US" sz="1600" b="0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560705"/>
            <a:r>
              <a:rPr lang="en-US" sz="1600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	dma_init_struct.periph_inc = DMA_PERIPH_INCREASE_DISABLE; // 不使用增量模式，为固定模式</a:t>
            </a:r>
            <a:endParaRPr lang="en-US" sz="1600" b="0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560705"/>
            <a:r>
              <a:rPr lang="en-US" sz="1600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	dma_init_struct.priority = DMA_PRIORITY_ULTRA_HIGH; // 超高优先级</a:t>
            </a:r>
            <a:endParaRPr lang="en-US" sz="1600" b="0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560705"/>
            <a:r>
              <a:rPr lang="en-US" sz="1600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	/* 初始化DMA结构体 */</a:t>
            </a:r>
            <a:endParaRPr lang="en-US" sz="1600" b="0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560705"/>
            <a:r>
              <a:rPr lang="en-US" sz="1600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	dma_single_data_mode_init(BSP_DMA, BSP_DMA_CH, &amp;dma_init_struct);</a:t>
            </a:r>
            <a:endParaRPr lang="en-US" sz="1600" b="0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1120" y="887730"/>
            <a:ext cx="740473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266700"/>
            <a:r>
              <a:rPr lang="zh-CN" sz="2000" b="0">
                <a:latin typeface="Calibri" panose="020F0502020204030204" charset="0"/>
                <a:ea typeface="宋体" panose="02010600030101010101" pitchFamily="2" charset="-122"/>
              </a:rPr>
              <a:t>初始化结构体：</a:t>
            </a:r>
            <a:endParaRPr lang="zh-CN" altLang="en-US" sz="2000"/>
          </a:p>
        </p:txBody>
      </p:sp>
      <p:sp>
        <p:nvSpPr>
          <p:cNvPr id="8" name="文本框 7"/>
          <p:cNvSpPr txBox="1"/>
          <p:nvPr/>
        </p:nvSpPr>
        <p:spPr>
          <a:xfrm>
            <a:off x="1094740" y="1202690"/>
            <a:ext cx="1006919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560705"/>
            <a:r>
              <a:rPr lang="en-US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void dma_single_data_mode_init(uint32_t dma_periph, </a:t>
            </a:r>
            <a:endParaRPr lang="en-US" b="0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560705"/>
            <a:r>
              <a:rPr lang="en-US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		dma_channel_enum channelx, dma_single_data_parameter_struct* init_struct);</a:t>
            </a:r>
            <a:endParaRPr lang="en-US" b="0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71575" y="6011545"/>
            <a:ext cx="96615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560705" algn="l">
              <a:buClrTx/>
              <a:buSzTx/>
              <a:buNone/>
            </a:pPr>
            <a:r>
              <a:rPr lang="en-US" sz="1800" b="1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#define      ARRAYNUM(arr_name)        (uint32_t)(sizeof(arr_name) / sizeof(*(arr_name)))</a:t>
            </a:r>
            <a:endParaRPr lang="en-US" b="1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 flipV="1">
            <a:off x="531495" y="866775"/>
            <a:ext cx="4413885" cy="63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094740" y="330200"/>
            <a:ext cx="4062730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使能通道外设</a:t>
            </a:r>
            <a:endParaRPr kumimoji="0" lang="zh-CN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0" name="文本框 99"/>
          <p:cNvSpPr txBox="1"/>
          <p:nvPr/>
        </p:nvSpPr>
        <p:spPr>
          <a:xfrm>
            <a:off x="1358900" y="1301115"/>
            <a:ext cx="840549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560705">
              <a:buClrTx/>
              <a:buSzTx/>
              <a:buNone/>
            </a:pPr>
            <a:r>
              <a:rPr lang="en-US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void dma_channel_subperipheral_select(uint32_t dma_periph, 	      dma_channel_enum channelx, dma_subperipheral_enum sub_periph);</a:t>
            </a:r>
            <a:endParaRPr lang="en-US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pic>
        <p:nvPicPr>
          <p:cNvPr id="3" name="图片 -214748259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080" y="2119630"/>
            <a:ext cx="9180830" cy="6172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1290320" y="887730"/>
            <a:ext cx="740473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266700"/>
            <a:r>
              <a:rPr lang="en-US" altLang="zh-CN" sz="2000" b="0">
                <a:latin typeface="Calibri" panose="020F0502020204030204" charset="0"/>
                <a:ea typeface="宋体" panose="02010600030101010101" pitchFamily="2" charset="-122"/>
              </a:rPr>
              <a:t>DMA</a:t>
            </a:r>
            <a:r>
              <a:rPr lang="zh-CN" altLang="en-US" sz="2000" b="0">
                <a:latin typeface="Calibri" panose="020F0502020204030204" charset="0"/>
                <a:ea typeface="宋体" panose="02010600030101010101" pitchFamily="2" charset="-122"/>
              </a:rPr>
              <a:t>通道选择</a:t>
            </a:r>
            <a:r>
              <a:rPr lang="zh-CN" sz="2000" b="0">
                <a:latin typeface="Calibri" panose="020F0502020204030204" charset="0"/>
                <a:ea typeface="宋体" panose="02010600030101010101" pitchFamily="2" charset="-122"/>
              </a:rPr>
              <a:t>：</a:t>
            </a:r>
            <a:endParaRPr lang="zh-CN" altLang="en-US" sz="2000"/>
          </a:p>
        </p:txBody>
      </p:sp>
      <p:sp>
        <p:nvSpPr>
          <p:cNvPr id="4" name="文本框 3"/>
          <p:cNvSpPr txBox="1"/>
          <p:nvPr/>
        </p:nvSpPr>
        <p:spPr>
          <a:xfrm>
            <a:off x="1709420" y="3067050"/>
            <a:ext cx="877189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560705"/>
            <a:r>
              <a:rPr lang="zh-CN" sz="2000" b="0">
                <a:solidFill>
                  <a:srgbClr val="FF0000"/>
                </a:solidFill>
                <a:latin typeface="Calibri" panose="020F0502020204030204" charset="0"/>
                <a:ea typeface="宋体" panose="02010600030101010101" pitchFamily="2" charset="-122"/>
              </a:rPr>
              <a:t>可见最前面的数值是</a:t>
            </a:r>
            <a:r>
              <a:rPr lang="en-US" sz="2000" b="0">
                <a:solidFill>
                  <a:srgbClr val="FF0000"/>
                </a:solidFill>
                <a:latin typeface="Calibri" panose="020F0502020204030204" charset="0"/>
                <a:ea typeface="宋体" panose="02010600030101010101" pitchFamily="2" charset="-122"/>
              </a:rPr>
              <a:t>100</a:t>
            </a:r>
            <a:r>
              <a:rPr lang="zh-CN" sz="2000" b="0">
                <a:solidFill>
                  <a:srgbClr val="FF0000"/>
                </a:solidFill>
                <a:latin typeface="Calibri" panose="020F0502020204030204" charset="0"/>
                <a:ea typeface="宋体" panose="02010600030101010101" pitchFamily="2" charset="-122"/>
              </a:rPr>
              <a:t>，也就是</a:t>
            </a:r>
            <a:r>
              <a:rPr lang="en-US" sz="2000" b="0">
                <a:solidFill>
                  <a:srgbClr val="FF0000"/>
                </a:solidFill>
                <a:latin typeface="Calibri" panose="020F0502020204030204" charset="0"/>
                <a:ea typeface="宋体" panose="02010600030101010101" pitchFamily="2" charset="-122"/>
              </a:rPr>
              <a:t>4</a:t>
            </a:r>
            <a:r>
              <a:rPr lang="zh-CN" sz="2000" b="0">
                <a:solidFill>
                  <a:srgbClr val="FF0000"/>
                </a:solidFill>
                <a:latin typeface="Calibri" panose="020F0502020204030204" charset="0"/>
                <a:ea typeface="宋体" panose="02010600030101010101" pitchFamily="2" charset="-122"/>
              </a:rPr>
              <a:t>，对应于枚举定义就是</a:t>
            </a:r>
            <a:r>
              <a:rPr lang="en-US" sz="2000" b="0">
                <a:solidFill>
                  <a:srgbClr val="FF0000"/>
                </a:solidFill>
                <a:latin typeface="Calibri" panose="020F0502020204030204" charset="0"/>
                <a:ea typeface="宋体" panose="02010600030101010101" pitchFamily="2" charset="-122"/>
              </a:rPr>
              <a:t>DMA_SUBPERI4</a:t>
            </a:r>
            <a:endParaRPr lang="en-US" altLang="en-US" sz="2000" b="0">
              <a:solidFill>
                <a:srgbClr val="FF0000"/>
              </a:solidFill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24230" y="3653790"/>
            <a:ext cx="1035494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560705"/>
            <a:r>
              <a:rPr sz="2000"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  dma_channel_subperipheral_select(BSP_DMA, BSP_DMA_CH, DMA_SUBPERI4);</a:t>
            </a:r>
            <a:endParaRPr sz="2000">
              <a:highlight>
                <a:srgbClr val="C0C0C0"/>
              </a:highlight>
              <a:ea typeface="宋体" panose="02010600030101010101" pitchFamily="2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709420" y="5031105"/>
            <a:ext cx="838009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266700"/>
            <a:r>
              <a:rPr lang="en-US" sz="1800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void dma_channel_enable(uint32_t dma_periph, dma_channel_enum channelx);</a:t>
            </a:r>
            <a:endParaRPr lang="en-US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358900" y="4444365"/>
            <a:ext cx="740473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266700"/>
            <a:r>
              <a:rPr lang="zh-CN" sz="2000" b="0">
                <a:latin typeface="Calibri" panose="020F0502020204030204" charset="0"/>
                <a:ea typeface="宋体" panose="02010600030101010101" pitchFamily="2" charset="-122"/>
              </a:rPr>
              <a:t>开启</a:t>
            </a:r>
            <a:r>
              <a:rPr lang="en-US" altLang="zh-CN" sz="2000" b="0">
                <a:latin typeface="Calibri" panose="020F0502020204030204" charset="0"/>
                <a:ea typeface="宋体" panose="02010600030101010101" pitchFamily="2" charset="-122"/>
              </a:rPr>
              <a:t>DMA</a:t>
            </a:r>
            <a:r>
              <a:rPr lang="zh-CN" altLang="en-US" sz="2000" b="0">
                <a:latin typeface="Calibri" panose="020F0502020204030204" charset="0"/>
                <a:ea typeface="宋体" panose="02010600030101010101" pitchFamily="2" charset="-122"/>
              </a:rPr>
              <a:t>通道</a:t>
            </a:r>
            <a:r>
              <a:rPr lang="zh-CN" sz="2000" b="0">
                <a:latin typeface="Calibri" panose="020F0502020204030204" charset="0"/>
                <a:ea typeface="宋体" panose="02010600030101010101" pitchFamily="2" charset="-122"/>
              </a:rPr>
              <a:t>：</a:t>
            </a:r>
            <a:endParaRPr lang="zh-CN" altLang="en-US" sz="2000"/>
          </a:p>
        </p:txBody>
      </p:sp>
      <p:sp>
        <p:nvSpPr>
          <p:cNvPr id="12" name="文本框 11"/>
          <p:cNvSpPr txBox="1"/>
          <p:nvPr/>
        </p:nvSpPr>
        <p:spPr>
          <a:xfrm>
            <a:off x="824230" y="5728335"/>
            <a:ext cx="700341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560705"/>
            <a:r>
              <a:rPr sz="2000"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dma_channel_enable(BSP_DMA, BSP_DMA_CH);</a:t>
            </a:r>
            <a:endParaRPr sz="2000">
              <a:highlight>
                <a:srgbClr val="C0C0C0"/>
              </a:highlight>
              <a:ea typeface="宋体" panose="02010600030101010101" pitchFamily="2" charset="-122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 flipV="1">
            <a:off x="531495" y="866775"/>
            <a:ext cx="4447540" cy="63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094740" y="330200"/>
            <a:ext cx="4037330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使能</a:t>
            </a: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DMA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中断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1264920" y="972820"/>
            <a:ext cx="740473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266700"/>
            <a:r>
              <a:rPr lang="en-US" altLang="zh-CN" sz="2000" b="0">
                <a:latin typeface="Calibri" panose="020F0502020204030204" charset="0"/>
                <a:ea typeface="宋体" panose="02010600030101010101" pitchFamily="2" charset="-122"/>
              </a:rPr>
              <a:t>DMA</a:t>
            </a:r>
            <a:r>
              <a:rPr lang="zh-CN" altLang="en-US" sz="2000" b="0">
                <a:latin typeface="Calibri" panose="020F0502020204030204" charset="0"/>
                <a:ea typeface="宋体" panose="02010600030101010101" pitchFamily="2" charset="-122"/>
              </a:rPr>
              <a:t>通道选择</a:t>
            </a:r>
            <a:r>
              <a:rPr lang="zh-CN" sz="2000" b="0">
                <a:latin typeface="Calibri" panose="020F0502020204030204" charset="0"/>
                <a:ea typeface="宋体" panose="02010600030101010101" pitchFamily="2" charset="-122"/>
              </a:rPr>
              <a:t>：</a:t>
            </a:r>
            <a:endParaRPr lang="zh-CN" altLang="en-US" sz="2000"/>
          </a:p>
        </p:txBody>
      </p:sp>
      <p:sp>
        <p:nvSpPr>
          <p:cNvPr id="5" name="文本框 4"/>
          <p:cNvSpPr txBox="1"/>
          <p:nvPr/>
        </p:nvSpPr>
        <p:spPr>
          <a:xfrm>
            <a:off x="692150" y="1490345"/>
            <a:ext cx="1118235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560705"/>
            <a:r>
              <a:rPr sz="2000"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#define BSP_DMA_CH_IRQ 	</a:t>
            </a:r>
            <a:r>
              <a:rPr lang="en-US" sz="2000"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    </a:t>
            </a:r>
            <a:r>
              <a:rPr sz="2000"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DMA1_Channel2_IRQn   // DMA中断</a:t>
            </a:r>
            <a:endParaRPr sz="2000">
              <a:highlight>
                <a:srgbClr val="C0C0C0"/>
              </a:highlight>
              <a:ea typeface="宋体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64920" y="2581910"/>
            <a:ext cx="975360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266700"/>
            <a:r>
              <a:rPr lang="en-US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void dma_interrupt_enable(uint32_t dma_periph, dma_channel_enum channelx, uint32_t source);</a:t>
            </a:r>
            <a:endParaRPr lang="en-US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pic>
        <p:nvPicPr>
          <p:cNvPr id="3" name="图片 -214748259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920" y="3159760"/>
            <a:ext cx="9641840" cy="5384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637540" y="4540885"/>
            <a:ext cx="9100185" cy="13220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560705"/>
            <a:r>
              <a:rPr sz="2000"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/* 使能DMA通道中断 */</a:t>
            </a:r>
            <a:r>
              <a:rPr lang="en-US" sz="2000"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   </a:t>
            </a:r>
            <a:endParaRPr sz="2000">
              <a:highlight>
                <a:srgbClr val="C0C0C0"/>
              </a:highlight>
              <a:ea typeface="宋体" panose="02010600030101010101" pitchFamily="2" charset="-122"/>
              <a:sym typeface="+mn-ea"/>
            </a:endParaRPr>
          </a:p>
          <a:p>
            <a:pPr indent="560705"/>
            <a:r>
              <a:rPr sz="2000"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nvic_irq_enable(BSP_DMA_CH_IRQ,2,1);</a:t>
            </a:r>
            <a:r>
              <a:rPr lang="en-US" sz="2000"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                          </a:t>
            </a:r>
            <a:r>
              <a:rPr sz="2000"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  </a:t>
            </a:r>
            <a:endParaRPr sz="2000">
              <a:highlight>
                <a:srgbClr val="C0C0C0"/>
              </a:highlight>
              <a:ea typeface="宋体" panose="02010600030101010101" pitchFamily="2" charset="-122"/>
              <a:sym typeface="+mn-ea"/>
            </a:endParaRPr>
          </a:p>
          <a:p>
            <a:pPr indent="560705"/>
            <a:r>
              <a:rPr sz="2000"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/* 使能DMA中断 </a:t>
            </a:r>
            <a:r>
              <a:rPr lang="en-US" sz="2000"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 </a:t>
            </a:r>
            <a:r>
              <a:rPr sz="2000"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使能传输完成中断</a:t>
            </a:r>
            <a:r>
              <a:rPr lang="en-US" sz="2000"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 </a:t>
            </a:r>
            <a:r>
              <a:rPr sz="2000"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*/</a:t>
            </a:r>
            <a:endParaRPr sz="2000">
              <a:highlight>
                <a:srgbClr val="C0C0C0"/>
              </a:highlight>
              <a:ea typeface="宋体" panose="02010600030101010101" pitchFamily="2" charset="-122"/>
              <a:sym typeface="+mn-ea"/>
            </a:endParaRPr>
          </a:p>
          <a:p>
            <a:pPr indent="560705"/>
            <a:r>
              <a:rPr sz="2000"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dma_interrupt_enable(BSP_DMA,BSP_DMA_CH,DMA_CHXCTL_FTFIE);  </a:t>
            </a:r>
            <a:endParaRPr sz="2000">
              <a:highlight>
                <a:srgbClr val="C0C0C0"/>
              </a:highlight>
              <a:ea typeface="宋体" panose="02010600030101010101" pitchFamily="2" charset="-122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 flipV="1">
            <a:off x="531495" y="866775"/>
            <a:ext cx="4413885" cy="63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094740" y="330200"/>
            <a:ext cx="4062730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使能外设</a:t>
            </a: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DMA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（串口）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1358900" y="1811020"/>
            <a:ext cx="603885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266700"/>
            <a:r>
              <a:rPr lang="zh-CN" sz="2000" b="0">
                <a:latin typeface="Calibri" panose="020F0502020204030204" charset="0"/>
                <a:ea typeface="宋体" panose="02010600030101010101" pitchFamily="2" charset="-122"/>
              </a:rPr>
              <a:t>串口</a:t>
            </a:r>
            <a:r>
              <a:rPr lang="en-US" altLang="zh-CN" sz="2000" b="0">
                <a:latin typeface="Calibri" panose="020F0502020204030204" charset="0"/>
                <a:ea typeface="宋体" panose="02010600030101010101" pitchFamily="2" charset="-122"/>
              </a:rPr>
              <a:t>DMA</a:t>
            </a:r>
            <a:r>
              <a:rPr lang="zh-CN" altLang="en-US" sz="2000" b="0">
                <a:latin typeface="Calibri" panose="020F0502020204030204" charset="0"/>
                <a:ea typeface="宋体" panose="02010600030101010101" pitchFamily="2" charset="-122"/>
              </a:rPr>
              <a:t>接收配置</a:t>
            </a:r>
            <a:r>
              <a:rPr lang="zh-CN" sz="2000" b="0">
                <a:latin typeface="Calibri" panose="020F0502020204030204" charset="0"/>
                <a:ea typeface="宋体" panose="02010600030101010101" pitchFamily="2" charset="-122"/>
              </a:rPr>
              <a:t>：</a:t>
            </a:r>
            <a:endParaRPr lang="zh-CN" altLang="en-US" sz="2000"/>
          </a:p>
        </p:txBody>
      </p:sp>
      <p:sp>
        <p:nvSpPr>
          <p:cNvPr id="100" name="文本框 99"/>
          <p:cNvSpPr txBox="1"/>
          <p:nvPr/>
        </p:nvSpPr>
        <p:spPr>
          <a:xfrm>
            <a:off x="1358900" y="2294255"/>
            <a:ext cx="840549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560705">
              <a:buClrTx/>
              <a:buSzTx/>
              <a:buNone/>
            </a:pPr>
            <a:r>
              <a:rPr lang="en-US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void usart_dma_receive_config(uint32_t usart_periph, uint32_t dmacmd);</a:t>
            </a:r>
            <a:endParaRPr lang="en-US" b="0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17955" y="3557905"/>
            <a:ext cx="603885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266700"/>
            <a:r>
              <a:rPr lang="zh-CN" sz="2000" b="0">
                <a:latin typeface="Calibri" panose="020F0502020204030204" charset="0"/>
                <a:ea typeface="宋体" panose="02010600030101010101" pitchFamily="2" charset="-122"/>
              </a:rPr>
              <a:t>使能串口</a:t>
            </a:r>
            <a:r>
              <a:rPr lang="en-US" altLang="zh-CN" sz="2000" b="0">
                <a:latin typeface="Calibri" panose="020F0502020204030204" charset="0"/>
                <a:ea typeface="宋体" panose="02010600030101010101" pitchFamily="2" charset="-122"/>
              </a:rPr>
              <a:t>DMA</a:t>
            </a:r>
            <a:r>
              <a:rPr lang="zh-CN" altLang="en-US" sz="2000" b="0">
                <a:latin typeface="Calibri" panose="020F0502020204030204" charset="0"/>
                <a:ea typeface="宋体" panose="02010600030101010101" pitchFamily="2" charset="-122"/>
              </a:rPr>
              <a:t>接收</a:t>
            </a:r>
            <a:r>
              <a:rPr lang="zh-CN" sz="2000" b="0">
                <a:latin typeface="Calibri" panose="020F0502020204030204" charset="0"/>
                <a:ea typeface="宋体" panose="02010600030101010101" pitchFamily="2" charset="-122"/>
              </a:rPr>
              <a:t>：</a:t>
            </a:r>
            <a:endParaRPr lang="zh-CN" altLang="en-US" sz="2000"/>
          </a:p>
        </p:txBody>
      </p:sp>
      <p:sp>
        <p:nvSpPr>
          <p:cNvPr id="4" name="文本框 3"/>
          <p:cNvSpPr txBox="1"/>
          <p:nvPr/>
        </p:nvSpPr>
        <p:spPr>
          <a:xfrm>
            <a:off x="1145540" y="4160520"/>
            <a:ext cx="841502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560705">
              <a:buClrTx/>
              <a:buSzTx/>
              <a:buNone/>
            </a:pPr>
            <a:r>
              <a:rPr sz="2000" b="0">
                <a:highlight>
                  <a:srgbClr val="C0C0C0"/>
                </a:highlight>
                <a:ea typeface="宋体" panose="02010600030101010101" pitchFamily="2" charset="-122"/>
              </a:rPr>
              <a:t>usart_dma_receive_config(BSP_USART, USART_DENR_ENABLE);</a:t>
            </a:r>
            <a:endParaRPr sz="2000" b="0">
              <a:highlight>
                <a:srgbClr val="C0C0C0"/>
              </a:highlight>
              <a:ea typeface="宋体" panose="02010600030101010101" pitchFamily="2" charset="-122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 flipV="1">
            <a:off x="531495" y="866775"/>
            <a:ext cx="4447540" cy="63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094740" y="330200"/>
            <a:ext cx="4037330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DMA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中断服务函数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094740" y="2378710"/>
            <a:ext cx="2805430" cy="3371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560705"/>
            <a:r>
              <a:rPr lang="en-US" altLang="zh-CN" sz="1600" b="0">
                <a:latin typeface="Calibri" panose="020F0502020204030204" charset="0"/>
                <a:ea typeface="宋体" panose="02010600030101010101" pitchFamily="2" charset="-122"/>
              </a:rPr>
              <a:t>DMA</a:t>
            </a:r>
            <a:r>
              <a:rPr lang="zh-CN" altLang="en-US" sz="1600" b="0">
                <a:latin typeface="Calibri" panose="020F0502020204030204" charset="0"/>
                <a:ea typeface="宋体" panose="02010600030101010101" pitchFamily="2" charset="-122"/>
              </a:rPr>
              <a:t>中断标志获取：</a:t>
            </a:r>
            <a:endParaRPr lang="zh-CN" altLang="en-US" sz="1600"/>
          </a:p>
        </p:txBody>
      </p:sp>
      <p:sp>
        <p:nvSpPr>
          <p:cNvPr id="100" name="文本框 99"/>
          <p:cNvSpPr txBox="1"/>
          <p:nvPr/>
        </p:nvSpPr>
        <p:spPr>
          <a:xfrm>
            <a:off x="1442085" y="2729865"/>
            <a:ext cx="840549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560705">
              <a:buClrTx/>
              <a:buSzTx/>
              <a:buNone/>
            </a:pPr>
            <a:r>
              <a:rPr lang="en-US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FlagStatus dma_interrupt_flag_get(uint32_t dma_periph, </a:t>
            </a:r>
            <a:endParaRPr lang="en-US" b="0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560705">
              <a:buClrTx/>
              <a:buSzTx/>
              <a:buNone/>
            </a:pPr>
            <a:r>
              <a:rPr lang="en-US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			dma_channel_enum channelx, uint32_t interrupt);</a:t>
            </a:r>
            <a:endParaRPr lang="en-US" b="0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46175" y="1431290"/>
            <a:ext cx="1012888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indent="560705"/>
            <a:r>
              <a:rPr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#define BSP_DMA_CH_IRQHandler </a:t>
            </a:r>
            <a:r>
              <a:rPr lang="en-US"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  </a:t>
            </a:r>
            <a:r>
              <a:rPr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DMA1_Channel2_IRQHandler  // DMA中断服务函数</a:t>
            </a:r>
            <a:r>
              <a:rPr lang="zh-CN"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名</a:t>
            </a:r>
            <a:endParaRPr lang="zh-CN">
              <a:highlight>
                <a:srgbClr val="C0C0C0"/>
              </a:highlight>
              <a:ea typeface="宋体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94740" y="1094105"/>
            <a:ext cx="2805430" cy="3371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560705"/>
            <a:r>
              <a:rPr lang="zh-CN" altLang="en-US" sz="1600" b="0">
                <a:latin typeface="Calibri" panose="020F0502020204030204" charset="0"/>
                <a:ea typeface="宋体" panose="02010600030101010101" pitchFamily="2" charset="-122"/>
              </a:rPr>
              <a:t>DMA中断函数名：</a:t>
            </a:r>
            <a:endParaRPr lang="zh-CN" altLang="en-US" sz="160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96975" y="3955415"/>
            <a:ext cx="2805430" cy="3371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560705"/>
            <a:r>
              <a:rPr lang="en-US" altLang="zh-CN" sz="1600" b="0">
                <a:latin typeface="Calibri" panose="020F0502020204030204" charset="0"/>
                <a:ea typeface="宋体" panose="02010600030101010101" pitchFamily="2" charset="-122"/>
              </a:rPr>
              <a:t>DMA</a:t>
            </a:r>
            <a:r>
              <a:rPr lang="zh-CN" altLang="en-US" sz="1600" b="0">
                <a:latin typeface="Calibri" panose="020F0502020204030204" charset="0"/>
                <a:ea typeface="宋体" panose="02010600030101010101" pitchFamily="2" charset="-122"/>
              </a:rPr>
              <a:t>中断标志清除：</a:t>
            </a:r>
            <a:endParaRPr lang="zh-CN" altLang="en-US" sz="1600"/>
          </a:p>
        </p:txBody>
      </p:sp>
      <p:sp>
        <p:nvSpPr>
          <p:cNvPr id="10" name="文本框 9"/>
          <p:cNvSpPr txBox="1"/>
          <p:nvPr/>
        </p:nvSpPr>
        <p:spPr>
          <a:xfrm>
            <a:off x="1544320" y="4306570"/>
            <a:ext cx="840549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560705">
              <a:buClrTx/>
              <a:buSzTx/>
              <a:buNone/>
            </a:pPr>
            <a:r>
              <a:rPr lang="zh-CN" altLang="en-US">
                <a:sym typeface="+mn-ea"/>
              </a:rPr>
              <a:t>void dma_interrupt_flag_clear(uint32_t dma_periph, </a:t>
            </a:r>
            <a:endParaRPr lang="zh-CN" altLang="en-US">
              <a:sym typeface="+mn-ea"/>
            </a:endParaRPr>
          </a:p>
          <a:p>
            <a:pPr indent="560705">
              <a:buClrTx/>
              <a:buSzTx/>
              <a:buNone/>
            </a:pPr>
            <a:r>
              <a:rPr lang="en-US" altLang="zh-CN">
                <a:sym typeface="+mn-ea"/>
              </a:rPr>
              <a:t>			</a:t>
            </a:r>
            <a:r>
              <a:rPr lang="zh-CN" altLang="en-US">
                <a:sym typeface="+mn-ea"/>
              </a:rPr>
              <a:t>dma_channel_enum channelx, uint32_t interrupt)</a:t>
            </a:r>
            <a:endParaRPr lang="en-US" b="0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 flipV="1">
            <a:off x="531495" y="866775"/>
            <a:ext cx="4447540" cy="63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094740" y="330200"/>
            <a:ext cx="4037330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en-US" alt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DMA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接收数据处理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1154430" y="2223770"/>
            <a:ext cx="978598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indent="560705" algn="l"/>
            <a:r>
              <a:rPr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uint32_t dma_transfer_number_get(uint32_t dma_periph, dma_channel_enum channelx);</a:t>
            </a:r>
            <a:endParaRPr>
              <a:highlight>
                <a:srgbClr val="C0C0C0"/>
              </a:highlight>
              <a:ea typeface="宋体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54430" y="1659890"/>
            <a:ext cx="2805430" cy="3371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560705"/>
            <a:r>
              <a:rPr lang="zh-CN" altLang="en-US" sz="1600" b="0">
                <a:latin typeface="Calibri" panose="020F0502020204030204" charset="0"/>
                <a:ea typeface="宋体" panose="02010600030101010101" pitchFamily="2" charset="-122"/>
              </a:rPr>
              <a:t>DMA获取剩余传输数：</a:t>
            </a:r>
            <a:endParaRPr lang="zh-CN" altLang="en-US" sz="1600"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 flipV="1">
            <a:off x="531495" y="866775"/>
            <a:ext cx="4447540" cy="63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094740" y="330200"/>
            <a:ext cx="4037330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条件编译</a:t>
            </a:r>
            <a:endParaRPr kumimoji="0" lang="zh-CN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1154430" y="2223770"/>
            <a:ext cx="5887085" cy="6451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indent="560705" algn="l"/>
            <a:r>
              <a:rPr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/* 是否使用DMA 0：串口中断接收   1：DMA接收 */</a:t>
            </a:r>
            <a:endParaRPr>
              <a:highlight>
                <a:srgbClr val="C0C0C0"/>
              </a:highlight>
              <a:ea typeface="宋体" panose="02010600030101010101" pitchFamily="2" charset="-122"/>
              <a:sym typeface="+mn-ea"/>
            </a:endParaRPr>
          </a:p>
          <a:p>
            <a:pPr indent="560705" algn="l"/>
            <a:r>
              <a:rPr>
                <a:highlight>
                  <a:srgbClr val="C0C0C0"/>
                </a:highlight>
                <a:ea typeface="宋体" panose="02010600030101010101" pitchFamily="2" charset="-122"/>
                <a:sym typeface="+mn-ea"/>
              </a:rPr>
              <a:t>#define USB_USART_DMA  1</a:t>
            </a:r>
            <a:endParaRPr>
              <a:highlight>
                <a:srgbClr val="C0C0C0"/>
              </a:highlight>
              <a:ea typeface="宋体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66165" y="1659255"/>
            <a:ext cx="4095115" cy="3371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560705"/>
            <a:r>
              <a:rPr lang="zh-CN" altLang="en-US" sz="1600" b="0">
                <a:latin typeface="Calibri" panose="020F0502020204030204" charset="0"/>
                <a:ea typeface="宋体" panose="02010600030101010101" pitchFamily="2" charset="-122"/>
              </a:rPr>
              <a:t>串口使用</a:t>
            </a:r>
            <a:r>
              <a:rPr lang="en-US" altLang="zh-CN" sz="1600" b="0">
                <a:latin typeface="Calibri" panose="020F0502020204030204" charset="0"/>
                <a:ea typeface="宋体" panose="02010600030101010101" pitchFamily="2" charset="-122"/>
              </a:rPr>
              <a:t>DMA</a:t>
            </a:r>
            <a:r>
              <a:rPr lang="zh-CN" altLang="en-US" sz="1600" b="0">
                <a:latin typeface="Calibri" panose="020F0502020204030204" charset="0"/>
                <a:ea typeface="宋体" panose="02010600030101010101" pitchFamily="2" charset="-122"/>
              </a:rPr>
              <a:t>接收还是中断接收：</a:t>
            </a:r>
            <a:endParaRPr lang="zh-CN" altLang="en-US" sz="1600"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>
            <p:custDataLst>
              <p:tags r:id="rId1"/>
            </p:custDataLst>
          </p:nvPr>
        </p:nvSpPr>
        <p:spPr>
          <a:xfrm>
            <a:off x="3533140" y="1372245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03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>
            <a:off x="3755390" y="2613025"/>
            <a:ext cx="4040505" cy="1905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030470" y="1628775"/>
            <a:ext cx="2904490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sz="4800">
                <a:solidFill>
                  <a:srgbClr val="6096E6"/>
                </a:solidFill>
                <a:sym typeface="Arial" panose="020B0604020202020204" pitchFamily="34" charset="0"/>
              </a:rPr>
              <a:t>实验现象</a:t>
            </a:r>
            <a:endParaRPr lang="zh-CN" sz="4800">
              <a:solidFill>
                <a:srgbClr val="6096E6"/>
              </a:solidFill>
              <a:sym typeface="Arial" panose="020B0604020202020204" pitchFamily="34" charset="0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" y="14478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5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21410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实验现象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1990090" y="1202690"/>
            <a:ext cx="75958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/>
              <a:t>       </a:t>
            </a:r>
            <a:r>
              <a:rPr sz="2000"/>
              <a:t>中断接收和DMA接收请修改USB_USART_DMA宏定义的值。</a:t>
            </a:r>
            <a:endParaRPr sz="2000"/>
          </a:p>
        </p:txBody>
      </p:sp>
      <p:pic>
        <p:nvPicPr>
          <p:cNvPr id="3" name="图片 -214748258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4930" y="1824990"/>
            <a:ext cx="6776085" cy="4343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657860" y="1781175"/>
            <a:ext cx="17062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/>
              <a:t>     </a:t>
            </a:r>
            <a:r>
              <a:rPr lang="zh-CN" altLang="en-US" sz="2000"/>
              <a:t>中断</a:t>
            </a:r>
            <a:r>
              <a:rPr sz="2000"/>
              <a:t>接收</a:t>
            </a:r>
            <a:r>
              <a:rPr lang="zh-CN" sz="2000"/>
              <a:t>：</a:t>
            </a:r>
            <a:endParaRPr lang="zh-CN" sz="2000"/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21410" y="330200"/>
            <a:ext cx="366458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实验现象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2049780" y="1202690"/>
            <a:ext cx="75958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/>
              <a:t>       </a:t>
            </a:r>
            <a:r>
              <a:rPr sz="2000"/>
              <a:t>中断接收和DMA接收请修改USB_USART_DMA宏定义的值。</a:t>
            </a:r>
            <a:endParaRPr sz="2000"/>
          </a:p>
        </p:txBody>
      </p:sp>
      <p:pic>
        <p:nvPicPr>
          <p:cNvPr id="3" name="图片 -214748258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4940" y="1729740"/>
            <a:ext cx="6203315" cy="45548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657860" y="1781175"/>
            <a:ext cx="17062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/>
              <a:t>     </a:t>
            </a:r>
            <a:r>
              <a:rPr sz="2000"/>
              <a:t>DMA接收</a:t>
            </a:r>
            <a:r>
              <a:rPr lang="zh-CN" sz="2000"/>
              <a:t>：</a:t>
            </a:r>
            <a:endParaRPr lang="zh-CN" sz="2000"/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/>
          <p:cNvSpPr txBox="1"/>
          <p:nvPr/>
        </p:nvSpPr>
        <p:spPr>
          <a:xfrm>
            <a:off x="3329305" y="2525395"/>
            <a:ext cx="5527040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5500" b="1">
                <a:solidFill>
                  <a:srgbClr val="3572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谢谢大家</a:t>
            </a:r>
            <a:endParaRPr lang="zh-CN" altLang="en-US" sz="5500" b="1">
              <a:solidFill>
                <a:srgbClr val="3572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2706370" y="3552825"/>
            <a:ext cx="6771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600" cap="all">
                <a:solidFill>
                  <a:srgbClr val="35729C">
                    <a:alpha val="50000"/>
                  </a:srgbClr>
                </a:solidFill>
                <a:uFillTx/>
                <a:cs typeface="微软雅黑" panose="020B0503020204020204" pitchFamily="34" charset="-122"/>
              </a:rPr>
              <a:t>Thank you for your attention</a:t>
            </a:r>
            <a:endParaRPr lang="zh-CN" altLang="en-US" sz="1600" cap="all">
              <a:solidFill>
                <a:srgbClr val="35729C">
                  <a:alpha val="50000"/>
                </a:srgbClr>
              </a:solidFill>
              <a:uFillTx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77895" y="1702435"/>
            <a:ext cx="5527040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endParaRPr lang="zh-CN" altLang="en-US" sz="5500" b="1">
              <a:solidFill>
                <a:srgbClr val="3572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6370" y="3554095"/>
            <a:ext cx="6771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600" cap="all">
                <a:solidFill>
                  <a:srgbClr val="35729C">
                    <a:alpha val="50000"/>
                  </a:srgbClr>
                </a:solidFill>
                <a:uFillTx/>
                <a:cs typeface="微软雅黑" panose="020B0503020204020204" pitchFamily="34" charset="-122"/>
              </a:rPr>
              <a:t>Thank you for your attention</a:t>
            </a:r>
            <a:endParaRPr lang="zh-CN" altLang="en-US" sz="1600" cap="all">
              <a:solidFill>
                <a:srgbClr val="35729C">
                  <a:alpha val="50000"/>
                </a:srgbClr>
              </a:solidFill>
              <a:uFillTx/>
              <a:cs typeface="微软雅黑" panose="020B0503020204020204" pitchFamily="34" charset="-122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705" y="187325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1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6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17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18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19.xml><?xml version="1.0" encoding="utf-8"?>
<p:tagLst xmlns:p="http://schemas.openxmlformats.org/presentationml/2006/main">
  <p:tag name="KSO_WM_BEAUTIFY_FLAG" val="#wm#"/>
  <p:tag name="KSO_WM_TEMPLATE_CATEGORY" val="diagram"/>
  <p:tag name="KSO_WM_TEMPLATE_INDEX" val="20198924"/>
  <p:tag name="KSO_WM_SLIDE_ID" val="diagram20198924_3"/>
  <p:tag name="KSO_WM_TEMPLATE_SUBCATEGORY" val="22"/>
  <p:tag name="KSO_WM_TEMPLATE_MASTER_TYPE" val="0"/>
  <p:tag name="KSO_WM_TEMPLATE_COLOR_TYPE" val="1"/>
  <p:tag name="KSO_WM_SLIDE_TYPE" val="text"/>
  <p:tag name="KSO_WM_SLIDE_SUBTYPE" val="diag"/>
  <p:tag name="KSO_WM_SLIDE_ITEM_CNT" val="5"/>
  <p:tag name="KSO_WM_SLIDE_INDEX" val="3"/>
  <p:tag name="KSO_WM_SLIDE_SIZE" val="900.387*205.958"/>
  <p:tag name="KSO_WM_SLIDE_POSITION" val="29.8064*167.021"/>
  <p:tag name="KSO_WM_DIAGRAM_GROUP_CODE" val="l1-1"/>
  <p:tag name="KSO_WM_SLIDE_DIAGTYPE" val="l"/>
  <p:tag name="KSO_WM_TAG_VERSION" val="1.0"/>
  <p:tag name="KSO_WM_SLIDE_LAYOUT" val="l"/>
  <p:tag name="KSO_WM_SLIDE_LAYOUT_CNT" val="1"/>
</p:tagLst>
</file>

<file path=ppt/tags/tag120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2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5.xml><?xml version="1.0" encoding="utf-8"?>
<p:tagLst xmlns:p="http://schemas.openxmlformats.org/presentationml/2006/main">
  <p:tag name="KSO_WM_UNIT_TABLE_BEAUTIFY" val="smartTable{6ff099a4-8829-4022-a9e7-11328063536b}"/>
  <p:tag name="TABLE_ENDDRAG_ORIGIN_RECT" val="679*185"/>
  <p:tag name="TABLE_ENDDRAG_RECT" val="140*215*679*185"/>
</p:tagLst>
</file>

<file path=ppt/tags/tag12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3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8.xml><?xml version="1.0" encoding="utf-8"?>
<p:tagLst xmlns:p="http://schemas.openxmlformats.org/presentationml/2006/main">
  <p:tag name="KSO_WM_UNIT_TABLE_BEAUTIFY" val="smartTable{0fa7109b-1a58-4c61-a5e7-6a4b286e395f}"/>
</p:tagLst>
</file>

<file path=ppt/tags/tag13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7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5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4964</Words>
  <Application>WPS 演示</Application>
  <PresentationFormat>宽屏</PresentationFormat>
  <Paragraphs>315</Paragraphs>
  <Slides>25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36" baseType="lpstr">
      <vt:lpstr>Arial</vt:lpstr>
      <vt:lpstr>宋体</vt:lpstr>
      <vt:lpstr>Wingdings</vt:lpstr>
      <vt:lpstr>微软雅黑</vt:lpstr>
      <vt:lpstr>Wingdings</vt:lpstr>
      <vt:lpstr>Arial</vt:lpstr>
      <vt:lpstr>Calibri</vt:lpstr>
      <vt:lpstr>Times New Roman</vt:lpstr>
      <vt:lpstr>Arial Unicode MS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冷月枫</cp:lastModifiedBy>
  <cp:revision>599</cp:revision>
  <dcterms:created xsi:type="dcterms:W3CDTF">2019-06-19T02:08:00Z</dcterms:created>
  <dcterms:modified xsi:type="dcterms:W3CDTF">2022-05-31T05:27:34Z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2052-11.1.0.11372</vt:lpwstr>
  </property>
  <property fmtid="{D5CDD505-2E9C-101B-9397-08002B2CF9AE}" pid="3" name="KSOTemplateUUID">
    <vt:lpwstr>v1.0_mb_UVDUVYxfrMBBv8iemHXVyg==</vt:lpwstr>
  </property>
  <property fmtid="{D5CDD505-2E9C-101B-9397-08002B2CF9AE}" pid="4" name="ICV">
    <vt:lpwstr>F4FD8076E9E2473C85D3F1F44504090E</vt:lpwstr>
  </property>
  <property fmtid="{D5CDD505-2E9C-101B-9397-08002B2CF9AE}" pid="5" name="KSOSaveFontToCloudKey">
    <vt:lpwstr>203183318_embed</vt:lpwstr>
  </property>
</Properties>
</file>