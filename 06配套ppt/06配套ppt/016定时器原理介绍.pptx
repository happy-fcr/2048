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7"/>
  </p:handoutMasterIdLst>
  <p:sldIdLst>
    <p:sldId id="409" r:id="rId4"/>
    <p:sldId id="497" r:id="rId6"/>
    <p:sldId id="720" r:id="rId7"/>
    <p:sldId id="722" r:id="rId8"/>
    <p:sldId id="730" r:id="rId9"/>
    <p:sldId id="738" r:id="rId10"/>
    <p:sldId id="744" r:id="rId11"/>
    <p:sldId id="739" r:id="rId12"/>
    <p:sldId id="740" r:id="rId13"/>
    <p:sldId id="716" r:id="rId14"/>
    <p:sldId id="719" r:id="rId15"/>
    <p:sldId id="427" r:id="rId16"/>
  </p:sldIdLst>
  <p:sldSz cx="12192000" cy="6858000"/>
  <p:notesSz cx="6858000" cy="9144000"/>
  <p:embeddedFontLst>
    <p:embeddedFont>
      <p:font typeface="微软雅黑" panose="020B0503020204020204" pitchFamily="34" charset="-122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494"/>
        <p:guide pos="388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15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25.xml"/><Relationship Id="rId5" Type="http://schemas.openxmlformats.org/officeDocument/2006/relationships/image" Target="../media/image3.png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26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7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0.xml"/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1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2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137.xml"/><Relationship Id="rId5" Type="http://schemas.openxmlformats.org/officeDocument/2006/relationships/image" Target="../media/image3.png"/><Relationship Id="rId4" Type="http://schemas.openxmlformats.org/officeDocument/2006/relationships/tags" Target="../tags/tag136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138.xml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9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5126355" y="2529205"/>
            <a:ext cx="5905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定时器原理介绍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6898640" y="3676015"/>
            <a:ext cx="306133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定时器操作流程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7796530" y="143525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8882223" y="143525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572960" y="1579404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781175" y="3676015"/>
            <a:ext cx="322199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定时器基础知识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 flipV="1">
            <a:off x="3765550" y="2606675"/>
            <a:ext cx="6508115" cy="635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2"/>
          <p:cNvSpPr txBox="1"/>
          <p:nvPr>
            <p:custDataLst>
              <p:tags r:id="rId3"/>
            </p:custDataLst>
          </p:nvPr>
        </p:nvSpPr>
        <p:spPr>
          <a:xfrm>
            <a:off x="3543300" y="1362720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30470" y="1628775"/>
            <a:ext cx="536765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定时器基础知识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149725" y="3063240"/>
            <a:ext cx="4551680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定时器介绍</a:t>
            </a:r>
            <a:endParaRPr lang="zh-CN" altLang="en-US" sz="3200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定时器类型</a:t>
            </a:r>
            <a:endParaRPr lang="zh-CN" altLang="en-US" sz="3200"/>
          </a:p>
          <a:p>
            <a:r>
              <a:rPr lang="en-US" altLang="zh-CN" sz="3200"/>
              <a:t>3.</a:t>
            </a:r>
            <a:r>
              <a:rPr lang="zh-CN" altLang="en-US" sz="3200"/>
              <a:t>基本定时器</a:t>
            </a:r>
            <a:endParaRPr lang="zh-CN" altLang="en-US" sz="3200"/>
          </a:p>
          <a:p>
            <a:r>
              <a:rPr lang="en-US" altLang="zh-CN" sz="3200"/>
              <a:t>4.</a:t>
            </a:r>
            <a:r>
              <a:rPr lang="zh-CN" altLang="en-US" sz="3200"/>
              <a:t>基本定时器结构框图</a:t>
            </a:r>
            <a:endParaRPr lang="zh-CN" altLang="en-US" sz="3200"/>
          </a:p>
          <a:p>
            <a:r>
              <a:rPr lang="en-US" altLang="zh-CN" sz="3200"/>
              <a:t>5.</a:t>
            </a:r>
            <a:r>
              <a:rPr lang="zh-CN" altLang="en-US" sz="3200"/>
              <a:t>定时器时钟</a:t>
            </a:r>
            <a:endParaRPr lang="zh-CN" altLang="en-US" sz="3200"/>
          </a:p>
          <a:p>
            <a:r>
              <a:rPr lang="en-US" altLang="zh-CN" sz="3200"/>
              <a:t>6.</a:t>
            </a:r>
            <a:r>
              <a:rPr lang="zh-CN" altLang="en-US" sz="3200"/>
              <a:t>定时器基本参数</a:t>
            </a:r>
            <a:endParaRPr lang="zh-CN" altLang="en-US" sz="32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定时器介绍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文本框 4"/>
          <p:cNvSpPr txBox="1"/>
          <p:nvPr/>
        </p:nvSpPr>
        <p:spPr>
          <a:xfrm>
            <a:off x="2200910" y="1640205"/>
            <a:ext cx="76384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       </a:t>
            </a:r>
            <a:r>
              <a:t>定时器是单片机内部集成，可以通过编程控制。单片机的定时功能是通过计数来实现的，当单片机每一个机器周期产生一个脉冲时，计数器就加一。定时器的主要功能是用来计时，时间到达之后可以产生中断，提醒计时时间到，然后可以在中断函数中去执行功能。</a:t>
            </a: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定时器类型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310" y="1022985"/>
            <a:ext cx="5951220" cy="55149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基本定时器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文本框 3"/>
          <p:cNvSpPr txBox="1"/>
          <p:nvPr/>
        </p:nvSpPr>
        <p:spPr>
          <a:xfrm>
            <a:off x="1035685" y="2551430"/>
            <a:ext cx="36722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/>
              <a:t>        </a:t>
            </a:r>
            <a:r>
              <a:t>基本定时器（Timer5, 6）包含一个无符号 16 位计数器。可以被用作通用定时器和为 DAC（数</a:t>
            </a:r>
          </a:p>
          <a:p>
            <a:pPr algn="l"/>
            <a:r>
              <a:t>字到模拟转换器）提供时钟。基本定时器可以配置产生 DMA 请求，TRGO 触发连接到 DAC。</a:t>
            </a:r>
          </a:p>
          <a:p>
            <a:pPr algn="l"/>
          </a:p>
          <a:p>
            <a:pPr algn="l"/>
            <a:r>
              <a:t> </a:t>
            </a:r>
            <a:r>
              <a:rPr lang="en-US"/>
              <a:t>  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5367020" y="2298065"/>
          <a:ext cx="4885055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505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主要特性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计数器宽度：16位；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时钟源只有内部时钟；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计数模式：向上计数；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可编程的预分频器：16位，运行时可以被改变；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自动重装载功能；</a:t>
                      </a:r>
                      <a:endParaRPr lang="zh-CN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中断输出和DMA请求：更新事件。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定时器结构框图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5940" y="2153285"/>
            <a:ext cx="7934325" cy="27717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定时器时钟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4660" y="1102360"/>
            <a:ext cx="8742680" cy="53035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02995" y="330200"/>
            <a:ext cx="319087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定时器基本参数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1468120" y="1536700"/>
            <a:ext cx="983805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1.</a:t>
            </a:r>
            <a:r>
              <a:rPr lang="zh-CN" altLang="en-US" sz="3200"/>
              <a:t>预分频</a:t>
            </a:r>
            <a:endParaRPr lang="zh-CN" altLang="en-US" sz="3200"/>
          </a:p>
          <a:p>
            <a:r>
              <a:rPr lang="en-US" altLang="zh-CN"/>
              <a:t>        </a:t>
            </a:r>
            <a:r>
              <a:rPr lang="zh-CN" altLang="en-US"/>
              <a:t>预分频器可以将定时器的时钟(TIMER_CK)频率按1到65536之间的任意值分频，分频后的时钟PSC_CLK驱动计数器计数。分频系数受预分频器TIMERx_PSC控制。这个控制寄存器带有缓冲器，它能够在运行时被改变。新的预分频器的参数在下一次更新事件到来时被采用。</a:t>
            </a:r>
            <a:endParaRPr lang="zh-CN" altLang="en-US"/>
          </a:p>
          <a:p>
            <a:r>
              <a:rPr lang="zh-CN" altLang="en-US"/>
              <a:t>分频器的分频公式为：PSC_CLK = TIMER_CK/ (TIMERx_PSC +1)</a:t>
            </a:r>
            <a:endParaRPr lang="zh-CN" altLang="en-US"/>
          </a:p>
          <a:p>
            <a:r>
              <a:rPr lang="en-US" altLang="zh-CN" sz="3200">
                <a:sym typeface="+mn-ea"/>
              </a:rPr>
              <a:t>2.</a:t>
            </a:r>
            <a:r>
              <a:rPr lang="zh-CN" altLang="en-US" sz="3200">
                <a:sym typeface="+mn-ea"/>
              </a:rPr>
              <a:t>向上计数模式</a:t>
            </a:r>
            <a:endParaRPr lang="zh-CN" altLang="en-US" sz="3200">
              <a:sym typeface="+mn-ea"/>
            </a:endParaRPr>
          </a:p>
          <a:p>
            <a:r>
              <a:rPr lang="en-US" altLang="zh-CN" sz="1800"/>
              <a:t>        </a:t>
            </a:r>
            <a:r>
              <a:rPr lang="zh-CN" altLang="en-US" sz="1800"/>
              <a:t>计数器从0开始向上连续计数到自动加载值（定义在TIMERx_CAR寄存器中），一旦计数器计数到自动加载值，会重新从0开始向上计数并产生上溢事件。</a:t>
            </a:r>
            <a:endParaRPr lang="zh-CN" altLang="en-US" sz="3200"/>
          </a:p>
          <a:p>
            <a:r>
              <a:rPr lang="en-US" altLang="zh-CN" sz="3200"/>
              <a:t>3.</a:t>
            </a:r>
            <a:r>
              <a:rPr lang="zh-CN" altLang="en-US" sz="3200"/>
              <a:t>更新事件</a:t>
            </a:r>
            <a:endParaRPr lang="zh-CN" altLang="en-US" sz="3200"/>
          </a:p>
          <a:p>
            <a:r>
              <a:rPr lang="en-US" altLang="zh-CN" sz="1800"/>
              <a:t>        </a:t>
            </a:r>
            <a:r>
              <a:rPr lang="zh-CN" altLang="en-US" sz="1800"/>
              <a:t>更新事件是当计数器上溢或者下溢而开始新的计数周期时触发的。更新事件可以触发DMA请求，以用于在下一个计数周期开始时及时更新定时器的运行参数，特别适合用于实时控制。</a:t>
            </a:r>
            <a:endParaRPr lang="zh-CN" altLang="en-US" sz="1800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3533140" y="137224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3755390" y="261302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3755390" y="260350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030470" y="1628775"/>
            <a:ext cx="4854575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定时器操作流程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500" y="14478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422400" y="330200"/>
            <a:ext cx="308165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定时器操作流程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27175" y="1618615"/>
            <a:ext cx="866203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       </a:t>
            </a:r>
            <a:r>
              <a:rPr sz="2800"/>
              <a:t>如果项目中需要定时执行或者需要重复执行的工作， 定时器的使用尤为重要。</a:t>
            </a:r>
            <a:endParaRPr sz="2800"/>
          </a:p>
          <a:p>
            <a:endParaRPr sz="2800"/>
          </a:p>
          <a:p>
            <a:r>
              <a:rPr lang="en-US" sz="2800"/>
              <a:t>       </a:t>
            </a:r>
            <a:r>
              <a:rPr sz="2800"/>
              <a:t>配置定时器，定时1秒钟进入一次中断，然后在定时器中断服务函数中实现1秒钟</a:t>
            </a:r>
            <a:r>
              <a:rPr lang="en-US" sz="2800"/>
              <a:t>LED</a:t>
            </a:r>
            <a:r>
              <a:rPr sz="2800"/>
              <a:t>电平状态翻转1次。最后实现的效果就是</a:t>
            </a:r>
            <a:r>
              <a:rPr lang="en-US" sz="2800"/>
              <a:t>LED</a:t>
            </a:r>
            <a:r>
              <a:rPr sz="2800"/>
              <a:t>亮1秒钟灭1秒钟。</a:t>
            </a:r>
            <a:endParaRPr sz="2800"/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015" y="330200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102" name="图片 1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87325"/>
            <a:ext cx="2322830" cy="87249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6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2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TABLE_ENDDRAG_ORIGIN_RECT" val="384*27"/>
  <p:tag name="TABLE_ENDDRAG_RECT" val="431*220*384*27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3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993</Words>
  <Application>WPS 演示</Application>
  <PresentationFormat>宽屏</PresentationFormat>
  <Paragraphs>76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Wingdings</vt:lpstr>
      <vt:lpstr>Arial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冷月枫</cp:lastModifiedBy>
  <cp:revision>345</cp:revision>
  <dcterms:created xsi:type="dcterms:W3CDTF">2019-06-19T02:08:00Z</dcterms:created>
  <dcterms:modified xsi:type="dcterms:W3CDTF">2022-05-19T01:09:35Z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2052-11.1.0.11372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