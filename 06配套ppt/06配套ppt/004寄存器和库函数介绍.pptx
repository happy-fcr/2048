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1" r:id="rId3"/>
  </p:sldMasterIdLst>
  <p:notesMasterIdLst>
    <p:notesMasterId r:id="rId5"/>
  </p:notesMasterIdLst>
  <p:handoutMasterIdLst>
    <p:handoutMasterId r:id="rId26"/>
  </p:handoutMasterIdLst>
  <p:sldIdLst>
    <p:sldId id="409" r:id="rId4"/>
    <p:sldId id="497" r:id="rId6"/>
    <p:sldId id="697" r:id="rId7"/>
    <p:sldId id="490" r:id="rId8"/>
    <p:sldId id="692" r:id="rId9"/>
    <p:sldId id="606" r:id="rId10"/>
    <p:sldId id="678" r:id="rId11"/>
    <p:sldId id="685" r:id="rId12"/>
    <p:sldId id="686" r:id="rId13"/>
    <p:sldId id="693" r:id="rId14"/>
    <p:sldId id="687" r:id="rId15"/>
    <p:sldId id="694" r:id="rId16"/>
    <p:sldId id="688" r:id="rId17"/>
    <p:sldId id="607" r:id="rId18"/>
    <p:sldId id="673" r:id="rId19"/>
    <p:sldId id="689" r:id="rId20"/>
    <p:sldId id="690" r:id="rId21"/>
    <p:sldId id="695" r:id="rId22"/>
    <p:sldId id="696" r:id="rId23"/>
    <p:sldId id="691" r:id="rId24"/>
    <p:sldId id="427" r:id="rId25"/>
  </p:sldIdLst>
  <p:sldSz cx="12192000" cy="6858000"/>
  <p:notesSz cx="6858000" cy="9144000"/>
  <p:embeddedFontLst>
    <p:embeddedFont>
      <p:font typeface="微软雅黑" panose="020B0503020204020204" pitchFamily="34" charset="-122"/>
      <p:regular r:id="rId31"/>
    </p:embeddedFont>
    <p:embeddedFont>
      <p:font typeface="Calibri" panose="020F0502020204030204" charset="0"/>
      <p:regular r:id="rId32"/>
      <p:bold r:id="rId33"/>
      <p:italic r:id="rId34"/>
      <p:boldItalic r:id="rId35"/>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1" name="幸全" initials="幸全" lastIdx="1" clrIdx="0"/>
  <p:cmAuthor id="3" name="Author" initials="A" lastIdx="0" clrIdx="2"/>
  <p:cmAuthor id="4" name="USER" initials="U" lastIdx="2"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58B6E5"/>
    <a:srgbClr val="F18870"/>
    <a:srgbClr val="FFBA55"/>
    <a:srgbClr val="56CA95"/>
    <a:srgbClr val="6096E6"/>
    <a:srgbClr val="4691C0"/>
    <a:srgbClr val="70AACE"/>
    <a:srgbClr val="79C5D9"/>
    <a:srgbClr val="35729C"/>
    <a:srgbClr val="174A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99" d="100"/>
          <a:sy n="99" d="100"/>
        </p:scale>
        <p:origin x="84" y="582"/>
      </p:cViewPr>
      <p:guideLst>
        <p:guide orient="horz" pos="2475"/>
        <p:guide pos="388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font" Target="fonts/font5.fntdata"/><Relationship Id="rId34" Type="http://schemas.openxmlformats.org/officeDocument/2006/relationships/font" Target="fonts/font4.fntdata"/><Relationship Id="rId33" Type="http://schemas.openxmlformats.org/officeDocument/2006/relationships/font" Target="fonts/font3.fntdata"/><Relationship Id="rId32" Type="http://schemas.openxmlformats.org/officeDocument/2006/relationships/font" Target="fonts/font2.fntdata"/><Relationship Id="rId31" Type="http://schemas.openxmlformats.org/officeDocument/2006/relationships/font" Target="fonts/font1.fntdata"/><Relationship Id="rId30" Type="http://schemas.openxmlformats.org/officeDocument/2006/relationships/commentAuthors" Target="commentAuthors.xml"/><Relationship Id="rId3" Type="http://schemas.openxmlformats.org/officeDocument/2006/relationships/slideMaster" Target="slideMasters/slideMaster2.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handoutMaster" Target="handoutMasters/handoutMaster1.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从这一章将正式开始学习</a:t>
            </a:r>
            <a:r>
              <a:rPr lang="en-US" altLang="zh-CN"/>
              <a:t>GD32</a:t>
            </a:r>
            <a:r>
              <a:rPr lang="zh-CN" altLang="en-US"/>
              <a:t>这款单片机了。以后我将和大家一起学习，给大家讲解一下如何一步一步去学习</a:t>
            </a:r>
            <a:r>
              <a:rPr lang="en-US" altLang="zh-CN"/>
              <a:t>GD32</a:t>
            </a:r>
            <a:r>
              <a:rPr lang="zh-CN" altLang="en-US"/>
              <a:t>的，我将带领大家一起去查找资料，编写代码，但由于水平有限，可能在讲解的时候会有遗漏或者错误的地方，欢迎大家批评指正。后续我们团队也将持续更新，给大家编写越来越多的例程代码，欢迎大家一起交流。</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sym typeface="+mn-ea"/>
              </a:rPr>
              <a:t>GD32F4xx</a:t>
            </a:r>
            <a:r>
              <a:rPr lang="zh-CN" altLang="en-US">
                <a:sym typeface="+mn-ea"/>
              </a:rPr>
              <a:t>用户手册给我们讲解</a:t>
            </a:r>
            <a:r>
              <a:rPr lang="zh-CN" altLang="en-US"/>
              <a:t>了关于</a:t>
            </a:r>
            <a:r>
              <a:rPr lang="en-US" altLang="zh-CN"/>
              <a:t>GD32F4</a:t>
            </a:r>
            <a:r>
              <a:rPr lang="zh-CN" altLang="en-US"/>
              <a:t>系列的单片机的一些外设介绍，主要特性和功能描述，然后寄存器描述等。</a:t>
            </a:r>
            <a:endParaRPr lang="zh-CN" altLang="en-US"/>
          </a:p>
          <a:p>
            <a:r>
              <a:rPr lang="en-US" altLang="zh-CN">
                <a:sym typeface="+mn-ea"/>
              </a:rPr>
              <a:t>GD32F450xx</a:t>
            </a:r>
            <a:r>
              <a:rPr lang="zh-CN" altLang="en-US">
                <a:sym typeface="+mn-ea"/>
              </a:rPr>
              <a:t>数据手册给我们描述了</a:t>
            </a:r>
            <a:r>
              <a:rPr lang="en-US" altLang="zh-CN">
                <a:sym typeface="+mn-ea"/>
              </a:rPr>
              <a:t>GD32F450</a:t>
            </a:r>
            <a:r>
              <a:rPr lang="zh-CN" altLang="en-US">
                <a:sym typeface="+mn-ea"/>
              </a:rPr>
              <a:t>这款芯片的一些引脚特性，功能描述和电气特性等。</a:t>
            </a:r>
            <a:endParaRPr lang="zh-CN" altLang="en-US">
              <a:sym typeface="+mn-ea"/>
            </a:endParaRPr>
          </a:p>
          <a:p>
            <a:r>
              <a:rPr lang="en-US" altLang="zh-CN">
                <a:sym typeface="+mn-ea"/>
              </a:rPr>
              <a:t>GD32F3x0</a:t>
            </a:r>
            <a:r>
              <a:rPr lang="zh-CN" altLang="en-US">
                <a:sym typeface="+mn-ea"/>
              </a:rPr>
              <a:t>固件库使用指南可以帮我们查找对应的库函数的功能和参数，虽然这个不是配套的，因为官方暂时没有出</a:t>
            </a:r>
            <a:r>
              <a:rPr lang="en-US" altLang="zh-CN">
                <a:sym typeface="+mn-ea"/>
              </a:rPr>
              <a:t>GD32F450</a:t>
            </a:r>
            <a:r>
              <a:rPr lang="zh-CN" altLang="en-US">
                <a:sym typeface="+mn-ea"/>
              </a:rPr>
              <a:t>的固件库使用手册，我们可以参考这个来进行学习，但是要注意，里面还有些许差别的，大家最好还是结合</a:t>
            </a:r>
            <a:r>
              <a:rPr lang="en-US" altLang="zh-CN">
                <a:sym typeface="+mn-ea"/>
              </a:rPr>
              <a:t>F4</a:t>
            </a:r>
            <a:r>
              <a:rPr lang="zh-CN" altLang="en-US">
                <a:sym typeface="+mn-ea"/>
              </a:rPr>
              <a:t>的标准外设库一起学习。</a:t>
            </a:r>
            <a:endParaRPr lang="zh-CN" altLang="en-US">
              <a:sym typeface="+mn-e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1.</a:t>
            </a:r>
            <a:r>
              <a:rPr lang="zh-CN" altLang="en-US"/>
              <a:t>介绍一下存储器，然后引入存储器的概念。存储器就好比是我们使用的手机的内存和硬盘。在</a:t>
            </a:r>
            <a:r>
              <a:rPr lang="en-US" altLang="zh-CN"/>
              <a:t>GD32</a:t>
            </a:r>
            <a:r>
              <a:rPr lang="zh-CN" altLang="en-US"/>
              <a:t>中，也需要保存信息和信息交换，所以</a:t>
            </a:r>
            <a:r>
              <a:rPr lang="en-US" altLang="zh-CN"/>
              <a:t>GD32</a:t>
            </a:r>
            <a:r>
              <a:rPr lang="zh-CN" altLang="en-US"/>
              <a:t>内部也有很多的存储器，这我们就大概明白存储器是个什么东西了。</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这个存储器映射怎么理解呢，就好比这一块存储器有好多个内存，但是每个内存都是一样的，没有什么区别，然后这个厂商按照一定的规律去排列这个内存单元，然后给它们分配地址，这个分配地址的过程就叫做存储器映射。</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a:t>
            </a:r>
            <a:r>
              <a:rPr lang="en-US" altLang="zh-CN"/>
              <a:t>GD32</a:t>
            </a:r>
            <a:r>
              <a:rPr lang="zh-CN" altLang="en-US"/>
              <a:t>中有</a:t>
            </a:r>
            <a:r>
              <a:rPr lang="en-US" altLang="zh-CN"/>
              <a:t>4GB</a:t>
            </a:r>
            <a:r>
              <a:rPr lang="zh-CN" altLang="en-US"/>
              <a:t>的空间，那这</a:t>
            </a:r>
            <a:r>
              <a:rPr lang="en-US" altLang="zh-CN"/>
              <a:t>4GB</a:t>
            </a:r>
            <a:r>
              <a:rPr lang="zh-CN" altLang="en-US"/>
              <a:t>的地址空间是如何分配的呢？在</a:t>
            </a:r>
            <a:r>
              <a:rPr lang="en-US" altLang="zh-CN"/>
              <a:t>GD32</a:t>
            </a:r>
            <a:r>
              <a:rPr lang="zh-CN" altLang="en-US"/>
              <a:t>的数据手册中给大家提供了一个映射表，我们去看一下。</a:t>
            </a:r>
            <a:endParaRPr lang="zh-CN" altLang="en-US"/>
          </a:p>
          <a:p>
            <a:endParaRPr lang="zh-CN" altLang="en-US"/>
          </a:p>
          <a:p>
            <a:r>
              <a:rPr lang="zh-CN" altLang="en-US"/>
              <a:t>关于存储映射表的内容，大家可以去查看用户手册的第38页或者数据手册第</a:t>
            </a:r>
            <a:r>
              <a:rPr lang="en-US" altLang="zh-CN"/>
              <a:t>14</a:t>
            </a:r>
            <a:r>
              <a:rPr lang="zh-CN" altLang="en-US"/>
              <a:t>页。然后先大概提一下系统架构，在后面总线基地址的时候再详细讲解。在数据手册的第</a:t>
            </a:r>
            <a:r>
              <a:rPr lang="en-US" altLang="zh-CN"/>
              <a:t>11</a:t>
            </a:r>
            <a:r>
              <a:rPr lang="zh-CN" altLang="en-US"/>
              <a:t>页或者是用户手册的第</a:t>
            </a:r>
            <a:r>
              <a:rPr lang="en-US" altLang="zh-CN"/>
              <a:t>37</a:t>
            </a:r>
            <a:r>
              <a:rPr lang="zh-CN" altLang="en-US"/>
              <a:t>页。一个系统中的各个模块之间相互通信是通过总线，总线的作用就是把数据和地址从设备</a:t>
            </a:r>
            <a:r>
              <a:rPr lang="en-US" altLang="zh-CN"/>
              <a:t>A</a:t>
            </a:r>
            <a:r>
              <a:rPr lang="zh-CN" altLang="en-US"/>
              <a:t>搬到设备</a:t>
            </a:r>
            <a:r>
              <a:rPr lang="en-US" altLang="zh-CN"/>
              <a:t>B</a:t>
            </a:r>
            <a:r>
              <a:rPr lang="zh-CN" altLang="en-US"/>
              <a:t>上。</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先来理解一个概念，寄存器能干什么，</a:t>
            </a:r>
            <a:r>
              <a:rPr lang="en-US" altLang="zh-CN"/>
              <a:t>  </a:t>
            </a:r>
            <a:r>
              <a:rPr lang="zh-CN" altLang="en-US"/>
              <a:t>前面讲过存储器映射，在</a:t>
            </a:r>
            <a:r>
              <a:rPr lang="en-US" altLang="zh-CN"/>
              <a:t>GD32</a:t>
            </a:r>
            <a:r>
              <a:rPr lang="zh-CN" altLang="en-US"/>
              <a:t>单片机的</a:t>
            </a:r>
            <a:r>
              <a:rPr lang="en-US" altLang="zh-CN"/>
              <a:t>4G</a:t>
            </a:r>
            <a:r>
              <a:rPr lang="zh-CN" altLang="en-US"/>
              <a:t>地址空间中分布着许多不同的外设，然后这些外设都有不同地址，我们操作不同的地址就可以驱动外设进行工作。那什么是寄存器映射呢，寄存器映射就是给已经分配好地址的有特定功能的内存单元取别名的过程就叫做寄存器映射。这个别名就是我们说的寄存器，比如说我们的</a:t>
            </a:r>
            <a:r>
              <a:rPr lang="en-US" altLang="zh-CN"/>
              <a:t>GPIO</a:t>
            </a:r>
            <a:r>
              <a:rPr lang="zh-CN" altLang="en-US"/>
              <a:t>的端口控制寄存器</a:t>
            </a:r>
            <a:r>
              <a:rPr lang="en-US" altLang="zh-CN"/>
              <a:t>GPIOx_CTL</a:t>
            </a:r>
            <a:r>
              <a:rPr lang="zh-CN" altLang="en-US"/>
              <a:t>，这个</a:t>
            </a:r>
            <a:r>
              <a:rPr lang="en-US" altLang="zh-CN">
                <a:sym typeface="+mn-ea"/>
              </a:rPr>
              <a:t>GPIOx_CTL</a:t>
            </a:r>
            <a:r>
              <a:rPr lang="zh-CN" altLang="en-US">
                <a:sym typeface="+mn-ea"/>
              </a:rPr>
              <a:t>就是这个寄存器的名字。在用户手册的第</a:t>
            </a:r>
            <a:r>
              <a:rPr lang="en-US" altLang="zh-CN">
                <a:sym typeface="+mn-ea"/>
              </a:rPr>
              <a:t>170</a:t>
            </a:r>
            <a:r>
              <a:rPr lang="zh-CN" altLang="en-US">
                <a:sym typeface="+mn-ea"/>
              </a:rPr>
              <a:t>页，看一下然后讲一下。</a:t>
            </a:r>
            <a:endParaRPr lang="zh-CN" altLang="en-US">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总线挂载的更多外设，在数据手册的第</a:t>
            </a:r>
            <a:r>
              <a:rPr lang="en-US" altLang="zh-CN"/>
              <a:t>11</a:t>
            </a:r>
            <a:r>
              <a:rPr lang="zh-CN" altLang="en-US"/>
              <a:t>页。</a:t>
            </a:r>
            <a:endParaRPr lang="zh-CN" altLang="en-US"/>
          </a:p>
          <a:p>
            <a:r>
              <a:rPr lang="zh-CN" altLang="en-US">
                <a:sym typeface="+mn-ea"/>
              </a:rPr>
              <a:t>一个系统中的各个模块之间相互通信是通过总线，总线的作用就是把数据和地址从设备</a:t>
            </a:r>
            <a:r>
              <a:rPr lang="en-US" altLang="zh-CN">
                <a:sym typeface="+mn-ea"/>
              </a:rPr>
              <a:t>A</a:t>
            </a:r>
            <a:r>
              <a:rPr lang="zh-CN" altLang="en-US">
                <a:sym typeface="+mn-ea"/>
              </a:rPr>
              <a:t>搬到设备</a:t>
            </a:r>
            <a:r>
              <a:rPr lang="en-US" altLang="zh-CN">
                <a:sym typeface="+mn-ea"/>
              </a:rPr>
              <a:t>B</a:t>
            </a:r>
            <a:r>
              <a:rPr lang="zh-CN" altLang="en-US">
                <a:sym typeface="+mn-ea"/>
              </a:rPr>
              <a:t>上。</a:t>
            </a:r>
            <a:endParaRPr lang="zh-CN" altLang="en-US"/>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总线挂载的更多外设，在数据手册的第</a:t>
            </a:r>
            <a:r>
              <a:rPr lang="en-US" altLang="zh-CN"/>
              <a:t>11</a:t>
            </a:r>
            <a:r>
              <a:rPr lang="zh-CN" altLang="en-US"/>
              <a:t>页。</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带领他们如何去看一下数据手册，寻找一下对应的外设地址。</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以GPIO外设为例，GPIO外设地址范围内有很多个寄存器，每一个都有特定的功能，通过操作对应的寄存器来配置GPIO的功能。每个寄存器都为32位，占4个字节，这里我们以GPIOA端口的寄存器进行介绍。</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(unsigned int*)的作用是将0x40020014这个立即数强制类型转化为无符号整形地址，告诉编译器这是一个地址。</a:t>
            </a:r>
            <a:endParaRPr lang="zh-CN" altLang="en-US"/>
          </a:p>
          <a:p>
            <a:r>
              <a:rPr lang="zh-CN" altLang="en-US"/>
              <a:t>*(unsigned int*)是相当于*地址，也就是对这个地址对应的内存空间的值，*(unsigned int*)(0x40020014) = 0xFFFF;就是相当于对0x40020014这个内存空间赋值为0xFFFF。</a:t>
            </a:r>
            <a:endParaRPr lang="zh-CN" altLang="en-US"/>
          </a:p>
          <a:p>
            <a:endParaRPr lang="zh-CN" altLang="en-US"/>
          </a:p>
          <a:p>
            <a:r>
              <a:rPr lang="zh-CN" altLang="en-US"/>
              <a:t>通过对寄存器地址操作对功能来说没有其他问题，但是操作起来很麻烦，不能够记住这个地址，用户也不能清晰的明白这个地址的功能。如果我们给每个地址都起一个名字，那看到名字是不是就想起了这个地址对应的功能了。</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从上一我们了解到如何去用寄存器驱动外设，但我们也同时了解到GD32的寄存器数量非常多，这么多的寄存器光是定义就需要花费很多的时间，更不用说还要去查找对应的功能，找到对应的地址，然后配置需要的值，这在难度和时间上都是不可取的。为此，库函数就在这种情况下应运而生，库函数能使我们的开发效率大大提高。</a:t>
            </a:r>
            <a:endParaRPr lang="zh-CN" altLang="en-US"/>
          </a:p>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如何去了解每个外设都有哪些库函数，每个库函数都有哪些参数，如何使用。</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从函数名可以知道gpio_port_write这个函数是对端口进行写数据操作，我们对16个引脚全部置1不就是相当于对GPIOA这个端口写入数据0xFFFF吗。</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进入这个函数查看一下代码，然后进行讲解。首先是调用gpio_port_write(GPIOA,0xFFFF); 我们进入gpio_port_write函数看一下，这个函数下只写了一行代码GPIO_OCTL(gpio_periph) = (uint32_t)data; 把我们的参数带进入，即为GPIO_OCTL(GPIOA) = (uint32_t)0xFFFF;那我们再看一下GPIO_OCTL(GPIOA)是个什么东西，通过跳转可以知道有这么一个宏定义#define GPIO_OCTL(gpiox)           REG32((gpiox) + 0x14U)，带入参数即为#define GPIO_OCTL(GPIOA)           REG32((GPIOA) + 0x14U)，把GPIOA的地址带入即为REG32(0x40020014) = (uint32_t)0xFFFF，在gd32F4xx.h头文件中有这么一个宏定义#define REG32(addr)                  (*(volatile uint32_t *)(uint32_t)(addr)),把REG32(addr) 替换掉就是 (*(volatile uint32_t *)(uint32_t)(0x40020014)) =  (uint32_t)0xFFFF；看到这个是不是很熟悉了，这不就是我们上一节用寄存器去配置GPIOA端口16个引脚全部置1的例子吗。说白了，其实库函数就是在寄存器的基础上又封装了一层，使操作起来更简单，最后还是通过寄存器来实现的。</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进入这个函数查看一下代码，然后进行讲解。首先是调用gpio_port_write(GPIOA,0xFFFF); 我们进入gpio_port_write函数看一下，这个函数下只写了一行代码GPIO_OCTL(gpio_periph) = (uint32_t)data; 把我们的参数带进入，即为GPIO_OCTL(GPIOA) = (uint32_t)0xFFFF;那我们再看一下GPIO_OCTL(GPIOA)是个什么东西，通过跳转可以知道有这么一个宏定义#define GPIO_OCTL(gpiox)           REG32((gpiox) + 0x14U)，带入参数即为#define GPIO_OCTL(GPIOA)           REG32((GPIOA) + 0x14U)，把GPIOA的地址带入即为REG32(0x40020014) = (uint32_t)0xFFFF，在gd32F4xx.h头文件中有这么一个宏定义#define REG32(addr)                  (*(volatile uint32_t *)(uint32_t)(addr)),把REG32(addr) 替换掉就是 (*(volatile uint32_t *)(uint32_t)(0x40020014)) =  (uint32_t)0xFFFF；看到这个是不是很熟悉了，这不就是我们上一节用寄存器去配置GPIOA端口16个引脚全部置1的例子吗。说白了，其实库函数就是在寄存器的基础上又封装了一层，使操作起来更简单，最后还是通过寄存器来实现的。</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我们了解到使用寄存器和库函数最终都是对地址进行操作，那它们之间有什么区别呢？什么时候用寄存器什么时候用库函数呢？</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tags" Target="../tags/tag39.xml"/><Relationship Id="rId2" Type="http://schemas.openxmlformats.org/officeDocument/2006/relationships/tags" Target="../tags/tag3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63500" algn="ctr" rotWithShape="0">
              <a:schemeClr val="tx1">
                <a:lumMod val="75000"/>
                <a:lumOff val="25000"/>
                <a:alpha val="6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654050" y="640715"/>
            <a:ext cx="10884535" cy="5576570"/>
          </a:xfrm>
          <a:prstGeom prst="rect">
            <a:avLst/>
          </a:prstGeom>
          <a:solidFill>
            <a:schemeClr val="bg1"/>
          </a:solidFill>
          <a:ln>
            <a:noFill/>
          </a:ln>
          <a:effectLst>
            <a:outerShdw blurRad="127000" algn="ctr" rotWithShape="0">
              <a:schemeClr val="tx1">
                <a:lumMod val="75000"/>
                <a:lumOff val="25000"/>
                <a:alpha val="76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pic>
        <p:nvPicPr>
          <p:cNvPr id="14" name="图片 13" descr="资源 3"/>
          <p:cNvPicPr>
            <a:picLocks noChangeAspect="1"/>
          </p:cNvPicPr>
          <p:nvPr userDrawn="1"/>
        </p:nvPicPr>
        <p:blipFill>
          <a:blip r:embed="rId2"/>
          <a:srcRect l="15332" b="25762"/>
          <a:stretch>
            <a:fillRect/>
          </a:stretch>
        </p:blipFill>
        <p:spPr>
          <a:xfrm flipV="1">
            <a:off x="0" y="-635"/>
            <a:ext cx="12192635" cy="6858635"/>
          </a:xfrm>
          <a:prstGeom prst="rect">
            <a:avLst/>
          </a:prstGeom>
        </p:spPr>
      </p:pic>
      <p:sp>
        <p:nvSpPr>
          <p:cNvPr id="2" name="矩形 1"/>
          <p:cNvSpPr/>
          <p:nvPr userDrawn="1"/>
        </p:nvSpPr>
        <p:spPr>
          <a:xfrm>
            <a:off x="255270" y="253365"/>
            <a:ext cx="11682095" cy="6351270"/>
          </a:xfrm>
          <a:prstGeom prst="rect">
            <a:avLst/>
          </a:prstGeom>
          <a:solidFill>
            <a:schemeClr val="bg1"/>
          </a:solidFill>
          <a:ln>
            <a:noFill/>
          </a:ln>
          <a:effectLst>
            <a:outerShdw blurRad="76200" algn="ctr" rotWithShape="0">
              <a:schemeClr val="tx1">
                <a:lumMod val="75000"/>
                <a:lumOff val="25000"/>
                <a:alpha val="4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0" Type="http://schemas.openxmlformats.org/officeDocument/2006/relationships/theme" Target="../theme/theme2.xml"/><Relationship Id="rId2" Type="http://schemas.openxmlformats.org/officeDocument/2006/relationships/slideLayout" Target="../slideLayouts/slideLayout14.xml"/><Relationship Id="rId19" Type="http://schemas.openxmlformats.org/officeDocument/2006/relationships/tags" Target="../tags/tag114.xml"/><Relationship Id="rId18" Type="http://schemas.openxmlformats.org/officeDocument/2006/relationships/tags" Target="../tags/tag113.xml"/><Relationship Id="rId17" Type="http://schemas.openxmlformats.org/officeDocument/2006/relationships/tags" Target="../tags/tag112.xml"/><Relationship Id="rId16" Type="http://schemas.openxmlformats.org/officeDocument/2006/relationships/tags" Target="../tags/tag111.xml"/><Relationship Id="rId15" Type="http://schemas.openxmlformats.org/officeDocument/2006/relationships/tags" Target="../tags/tag110.xml"/><Relationship Id="rId14" Type="http://schemas.openxmlformats.org/officeDocument/2006/relationships/tags" Target="../tags/tag109.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alpha val="51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9"/>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15.xml"/><Relationship Id="rId2" Type="http://schemas.openxmlformats.org/officeDocument/2006/relationships/image" Target="../media/image3.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0" Type="http://schemas.openxmlformats.org/officeDocument/2006/relationships/slideLayout" Target="../slideLayouts/slideLayout8.xml"/><Relationship Id="rId1" Type="http://schemas.openxmlformats.org/officeDocument/2006/relationships/tags" Target="../tags/tag116.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5.xml"/><Relationship Id="rId3" Type="http://schemas.openxmlformats.org/officeDocument/2006/relationships/tags" Target="../tags/tag125.xml"/><Relationship Id="rId2" Type="http://schemas.openxmlformats.org/officeDocument/2006/relationships/image" Target="../media/image2.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1.xml"/><Relationship Id="rId7" Type="http://schemas.openxmlformats.org/officeDocument/2006/relationships/tags" Target="../tags/tag131.xml"/><Relationship Id="rId6" Type="http://schemas.openxmlformats.org/officeDocument/2006/relationships/tags" Target="../tags/tag130.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5.xml"/><Relationship Id="rId3" Type="http://schemas.openxmlformats.org/officeDocument/2006/relationships/tags" Target="../tags/tag132.xml"/><Relationship Id="rId2" Type="http://schemas.openxmlformats.org/officeDocument/2006/relationships/image" Target="../media/image2.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5.xml"/><Relationship Id="rId3" Type="http://schemas.openxmlformats.org/officeDocument/2006/relationships/tags" Target="../tags/tag133.xml"/><Relationship Id="rId2" Type="http://schemas.openxmlformats.org/officeDocument/2006/relationships/image" Target="../media/image2.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5.xml"/><Relationship Id="rId3" Type="http://schemas.openxmlformats.org/officeDocument/2006/relationships/tags" Target="../tags/tag134.xml"/><Relationship Id="rId2" Type="http://schemas.openxmlformats.org/officeDocument/2006/relationships/image" Target="../media/image2.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5.xml"/><Relationship Id="rId3" Type="http://schemas.openxmlformats.org/officeDocument/2006/relationships/tags" Target="../tags/tag135.xml"/><Relationship Id="rId2" Type="http://schemas.openxmlformats.org/officeDocument/2006/relationships/image" Target="../media/image2.pn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5.xml"/><Relationship Id="rId3" Type="http://schemas.openxmlformats.org/officeDocument/2006/relationships/tags" Target="../tags/tag136.xml"/><Relationship Id="rId2" Type="http://schemas.openxmlformats.org/officeDocument/2006/relationships/image" Target="../media/image2.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5.xml"/><Relationship Id="rId4" Type="http://schemas.openxmlformats.org/officeDocument/2006/relationships/tags" Target="../tags/tag138.xml"/><Relationship Id="rId3" Type="http://schemas.openxmlformats.org/officeDocument/2006/relationships/tags" Target="../tags/tag137.xml"/><Relationship Id="rId2" Type="http://schemas.openxmlformats.org/officeDocument/2006/relationships/image" Target="../media/image2.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5.xml"/><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image" Target="../media/image2.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5.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image" Target="../media/image2.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5.xml"/><Relationship Id="rId3" Type="http://schemas.openxmlformats.org/officeDocument/2006/relationships/tags" Target="../tags/tag143.xml"/><Relationship Id="rId2" Type="http://schemas.openxmlformats.org/officeDocument/2006/relationships/image" Target="../media/image2.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1.xml"/><Relationship Id="rId5" Type="http://schemas.openxmlformats.org/officeDocument/2006/relationships/tags" Target="../tags/tag147.xml"/><Relationship Id="rId4" Type="http://schemas.openxmlformats.org/officeDocument/2006/relationships/tags" Target="../tags/tag146.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5.xml"/><Relationship Id="rId3" Type="http://schemas.openxmlformats.org/officeDocument/2006/relationships/tags" Target="../tags/tag148.xml"/><Relationship Id="rId2" Type="http://schemas.openxmlformats.org/officeDocument/2006/relationships/image" Target="../media/image2.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tags" Target="../tags/tag149.xml"/><Relationship Id="rId2" Type="http://schemas.openxmlformats.org/officeDocument/2006/relationships/image" Target="../media/image2.png"/><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5.xml"/><Relationship Id="rId3" Type="http://schemas.openxmlformats.org/officeDocument/2006/relationships/tags" Target="../tags/tag150.xml"/><Relationship Id="rId2" Type="http://schemas.openxmlformats.org/officeDocument/2006/relationships/image" Target="../media/image2.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5.xml"/><Relationship Id="rId3" Type="http://schemas.openxmlformats.org/officeDocument/2006/relationships/tags" Target="../tags/tag151.xml"/><Relationship Id="rId2" Type="http://schemas.openxmlformats.org/officeDocument/2006/relationships/image" Target="../media/image2.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152.xml"/><Relationship Id="rId2" Type="http://schemas.openxmlformats.org/officeDocument/2006/relationships/image" Target="../media/image2.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1.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157.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4878705" y="2529205"/>
            <a:ext cx="6508750" cy="922020"/>
          </a:xfrm>
          <a:prstGeom prst="rect">
            <a:avLst/>
          </a:prstGeom>
          <a:noFill/>
        </p:spPr>
        <p:txBody>
          <a:bodyPr wrap="square" rtlCol="0">
            <a:spAutoFit/>
          </a:bodyPr>
          <a:p>
            <a:pPr algn="l"/>
            <a:r>
              <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寄存器和库函数介绍</a:t>
            </a:r>
            <a:endParaRPr lang="zh-CN" altLang="en-US" sz="54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2" name="图片 1" descr="lceda-logo-左右透底蓝字"/>
          <p:cNvPicPr>
            <a:picLocks noChangeAspect="1"/>
          </p:cNvPicPr>
          <p:nvPr/>
        </p:nvPicPr>
        <p:blipFill>
          <a:blip r:embed="rId1"/>
          <a:stretch>
            <a:fillRect/>
          </a:stretch>
        </p:blipFill>
        <p:spPr>
          <a:xfrm>
            <a:off x="132080" y="139065"/>
            <a:ext cx="2322830" cy="459740"/>
          </a:xfrm>
          <a:prstGeom prst="rect">
            <a:avLst/>
          </a:prstGeom>
        </p:spPr>
      </p:pic>
      <p:pic>
        <p:nvPicPr>
          <p:cNvPr id="6" name="图片 5" descr="专业版03"/>
          <p:cNvPicPr>
            <a:picLocks noChangeAspect="1"/>
          </p:cNvPicPr>
          <p:nvPr/>
        </p:nvPicPr>
        <p:blipFill>
          <a:blip r:embed="rId2"/>
          <a:stretch>
            <a:fillRect/>
          </a:stretch>
        </p:blipFill>
        <p:spPr>
          <a:xfrm>
            <a:off x="306705" y="1143000"/>
            <a:ext cx="4572000" cy="4572000"/>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文本框 53"/>
          <p:cNvSpPr txBox="1"/>
          <p:nvPr>
            <p:custDataLst>
              <p:tags r:id="rId1"/>
            </p:custDataLst>
          </p:nvPr>
        </p:nvSpPr>
        <p:spPr>
          <a:xfrm>
            <a:off x="422311" y="2870026"/>
            <a:ext cx="3441988" cy="1116781"/>
          </a:xfrm>
          <a:prstGeom prst="rect">
            <a:avLst/>
          </a:prstGeom>
          <a:noFill/>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寄存器介绍</a:t>
            </a:r>
            <a:endParaRPr lang="zh-CN"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5" name="文本框 54"/>
          <p:cNvSpPr txBox="1"/>
          <p:nvPr>
            <p:custDataLst>
              <p:tags r:id="rId2"/>
            </p:custDataLst>
          </p:nvPr>
        </p:nvSpPr>
        <p:spPr>
          <a:xfrm>
            <a:off x="822187" y="3988032"/>
            <a:ext cx="3042500" cy="1271980"/>
          </a:xfrm>
          <a:prstGeom prst="rect">
            <a:avLst/>
          </a:prstGeom>
          <a:noFill/>
        </p:spPr>
        <p:txBody>
          <a:bodyPr wrap="square" lIns="90000" tIns="0" rIns="90000" bIns="46800" anchor="t" anchorCtr="0">
            <a:no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just">
              <a:lnSpc>
                <a:spcPct val="120000"/>
              </a:lnSpc>
            </a:pPr>
            <a:r>
              <a:rPr lang="zh-CN" altLang="en-US"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存储器映射，寄存器的概念，总线和外设基地址</a:t>
            </a:r>
            <a:r>
              <a:rPr lang="en-US" altLang="zh-CN"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 </a:t>
            </a:r>
            <a:endParaRPr lang="zh-CN" altLang="en-US"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7" name="文本框 56"/>
          <p:cNvSpPr txBox="1"/>
          <p:nvPr>
            <p:custDataLst>
              <p:tags r:id="rId3"/>
            </p:custDataLst>
          </p:nvPr>
        </p:nvSpPr>
        <p:spPr>
          <a:xfrm>
            <a:off x="3816350" y="2870835"/>
            <a:ext cx="3510280" cy="1116965"/>
          </a:xfrm>
          <a:prstGeom prst="rect">
            <a:avLst/>
          </a:prstGeom>
          <a:noFill/>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库函数介绍</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58" name="文本框 57"/>
          <p:cNvSpPr txBox="1"/>
          <p:nvPr>
            <p:custDataLst>
              <p:tags r:id="rId4"/>
            </p:custDataLst>
          </p:nvPr>
        </p:nvSpPr>
        <p:spPr>
          <a:xfrm>
            <a:off x="4558842" y="3929227"/>
            <a:ext cx="3209748" cy="2496542"/>
          </a:xfrm>
          <a:prstGeom prst="rect">
            <a:avLst/>
          </a:prstGeom>
          <a:noFill/>
        </p:spPr>
        <p:txBody>
          <a:bodyPr wrap="square" lIns="90000" tIns="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just">
              <a:lnSpc>
                <a:spcPct val="120000"/>
              </a:lnSpc>
            </a:pPr>
            <a:r>
              <a:rPr lang="zh-CN" altLang="en-US"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库函数介绍，库函数如何编程。</a:t>
            </a:r>
            <a:endParaRPr lang="zh-CN" altLang="en-US"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56" name="任意形状 55" descr="A0"/>
          <p:cNvSpPr/>
          <p:nvPr>
            <p:custDataLst>
              <p:tags r:id="rId5"/>
            </p:custDataLst>
          </p:nvPr>
        </p:nvSpPr>
        <p:spPr>
          <a:xfrm>
            <a:off x="4757420" y="1520349"/>
            <a:ext cx="817200" cy="1058400"/>
          </a:xfrm>
          <a:custGeom>
            <a:avLst/>
            <a:gdLst>
              <a:gd name="connsiteX0" fmla="*/ 316687 w 631918"/>
              <a:gd name="connsiteY0" fmla="*/ 0 h 736299"/>
              <a:gd name="connsiteX1" fmla="*/ 631918 w 631918"/>
              <a:gd name="connsiteY1" fmla="*/ 309389 h 736299"/>
              <a:gd name="connsiteX2" fmla="*/ 631918 w 631918"/>
              <a:gd name="connsiteY2" fmla="*/ 736299 h 736299"/>
              <a:gd name="connsiteX3" fmla="*/ 442195 w 631918"/>
              <a:gd name="connsiteY3" fmla="*/ 736299 h 736299"/>
              <a:gd name="connsiteX4" fmla="*/ 442195 w 631918"/>
              <a:gd name="connsiteY4" fmla="*/ 312322 h 736299"/>
              <a:gd name="connsiteX5" fmla="*/ 316687 w 631918"/>
              <a:gd name="connsiteY5" fmla="*/ 170751 h 736299"/>
              <a:gd name="connsiteX6" fmla="*/ 189723 w 631918"/>
              <a:gd name="connsiteY6" fmla="*/ 312311 h 736299"/>
              <a:gd name="connsiteX7" fmla="*/ 189723 w 631918"/>
              <a:gd name="connsiteY7" fmla="*/ 736299 h 736299"/>
              <a:gd name="connsiteX8" fmla="*/ 0 w 631918"/>
              <a:gd name="connsiteY8" fmla="*/ 736299 h 736299"/>
              <a:gd name="connsiteX9" fmla="*/ 0 w 631918"/>
              <a:gd name="connsiteY9" fmla="*/ 309389 h 736299"/>
              <a:gd name="connsiteX10" fmla="*/ 316687 w 631918"/>
              <a:gd name="connsiteY10" fmla="*/ 0 h 736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1918" h="736299">
                <a:moveTo>
                  <a:pt x="316687" y="0"/>
                </a:moveTo>
                <a:cubicBezTo>
                  <a:pt x="485970" y="0"/>
                  <a:pt x="631918" y="110913"/>
                  <a:pt x="631918" y="309389"/>
                </a:cubicBezTo>
                <a:lnTo>
                  <a:pt x="631918" y="736299"/>
                </a:lnTo>
                <a:lnTo>
                  <a:pt x="442195" y="736299"/>
                </a:lnTo>
                <a:lnTo>
                  <a:pt x="442195" y="312322"/>
                </a:lnTo>
                <a:cubicBezTo>
                  <a:pt x="442195" y="224747"/>
                  <a:pt x="391121" y="170751"/>
                  <a:pt x="316687" y="170751"/>
                </a:cubicBezTo>
                <a:cubicBezTo>
                  <a:pt x="242264" y="170751"/>
                  <a:pt x="189723" y="224747"/>
                  <a:pt x="189723" y="312311"/>
                </a:cubicBezTo>
                <a:lnTo>
                  <a:pt x="189723" y="736299"/>
                </a:lnTo>
                <a:lnTo>
                  <a:pt x="0" y="736299"/>
                </a:lnTo>
                <a:lnTo>
                  <a:pt x="0" y="309389"/>
                </a:lnTo>
                <a:cubicBezTo>
                  <a:pt x="0" y="110913"/>
                  <a:pt x="147402" y="0"/>
                  <a:pt x="316687" y="0"/>
                </a:cubicBezTo>
                <a:close/>
              </a:path>
            </a:pathLst>
          </a:custGeom>
          <a:solidFill>
            <a:schemeClr val="accent2"/>
          </a:solidFill>
          <a:ln w="1032" cap="flat">
            <a:noFill/>
            <a:prstDash val="solid"/>
            <a:miter/>
          </a:ln>
        </p:spPr>
        <p:txBody>
          <a:bodyPr rtlCol="0" anchor="ctr"/>
          <a:lstStyle/>
          <a:p>
            <a:endParaRPr lang="zh-CN" altLang="en-US" sz="800"/>
          </a:p>
        </p:txBody>
      </p:sp>
      <p:sp>
        <p:nvSpPr>
          <p:cNvPr id="63" name="任意形状 62" descr="A2"/>
          <p:cNvSpPr/>
          <p:nvPr>
            <p:custDataLst>
              <p:tags r:id="rId6"/>
            </p:custDataLst>
          </p:nvPr>
        </p:nvSpPr>
        <p:spPr>
          <a:xfrm>
            <a:off x="5843113" y="1520349"/>
            <a:ext cx="817200" cy="1058400"/>
          </a:xfrm>
          <a:custGeom>
            <a:avLst/>
            <a:gdLst>
              <a:gd name="connsiteX0" fmla="*/ 319975 w 638478"/>
              <a:gd name="connsiteY0" fmla="*/ 0 h 715701"/>
              <a:gd name="connsiteX1" fmla="*/ 638478 w 638478"/>
              <a:gd name="connsiteY1" fmla="*/ 305251 h 715701"/>
              <a:gd name="connsiteX2" fmla="*/ 526415 w 638478"/>
              <a:gd name="connsiteY2" fmla="*/ 545598 h 715701"/>
              <a:gd name="connsiteX3" fmla="*/ 379875 w 638478"/>
              <a:gd name="connsiteY3" fmla="*/ 715701 h 715701"/>
              <a:gd name="connsiteX4" fmla="*/ 146785 w 638478"/>
              <a:gd name="connsiteY4" fmla="*/ 715701 h 715701"/>
              <a:gd name="connsiteX5" fmla="*/ 392230 w 638478"/>
              <a:gd name="connsiteY5" fmla="*/ 430582 h 715701"/>
              <a:gd name="connsiteX6" fmla="*/ 446798 w 638478"/>
              <a:gd name="connsiteY6" fmla="*/ 303769 h 715701"/>
              <a:gd name="connsiteX7" fmla="*/ 319975 w 638478"/>
              <a:gd name="connsiteY7" fmla="*/ 172535 h 715701"/>
              <a:gd name="connsiteX8" fmla="*/ 191693 w 638478"/>
              <a:gd name="connsiteY8" fmla="*/ 306721 h 715701"/>
              <a:gd name="connsiteX9" fmla="*/ 0 w 638478"/>
              <a:gd name="connsiteY9" fmla="*/ 306721 h 715701"/>
              <a:gd name="connsiteX10" fmla="*/ 319975 w 638478"/>
              <a:gd name="connsiteY10" fmla="*/ 0 h 715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8478" h="715701">
                <a:moveTo>
                  <a:pt x="319975" y="0"/>
                </a:moveTo>
                <a:cubicBezTo>
                  <a:pt x="505776" y="0"/>
                  <a:pt x="638478" y="116486"/>
                  <a:pt x="638478" y="305251"/>
                </a:cubicBezTo>
                <a:cubicBezTo>
                  <a:pt x="638478" y="406990"/>
                  <a:pt x="598670" y="461547"/>
                  <a:pt x="526415" y="545598"/>
                </a:cubicBezTo>
                <a:lnTo>
                  <a:pt x="379875" y="715701"/>
                </a:lnTo>
                <a:lnTo>
                  <a:pt x="146785" y="715701"/>
                </a:lnTo>
                <a:lnTo>
                  <a:pt x="392230" y="430582"/>
                </a:lnTo>
                <a:cubicBezTo>
                  <a:pt x="430568" y="384870"/>
                  <a:pt x="446798" y="352422"/>
                  <a:pt x="446798" y="303769"/>
                </a:cubicBezTo>
                <a:cubicBezTo>
                  <a:pt x="446798" y="225622"/>
                  <a:pt x="401073" y="172535"/>
                  <a:pt x="319975" y="172535"/>
                </a:cubicBezTo>
                <a:cubicBezTo>
                  <a:pt x="256563" y="172535"/>
                  <a:pt x="191693" y="204982"/>
                  <a:pt x="191693" y="306721"/>
                </a:cubicBezTo>
                <a:lnTo>
                  <a:pt x="0" y="306721"/>
                </a:lnTo>
                <a:cubicBezTo>
                  <a:pt x="0" y="115028"/>
                  <a:pt x="140089" y="12"/>
                  <a:pt x="319975" y="0"/>
                </a:cubicBezTo>
                <a:close/>
              </a:path>
            </a:pathLst>
          </a:custGeom>
          <a:solidFill>
            <a:schemeClr val="accent2"/>
          </a:solidFill>
          <a:ln w="1032" cap="flat">
            <a:noFill/>
            <a:prstDash val="solid"/>
            <a:miter/>
          </a:ln>
        </p:spPr>
        <p:txBody>
          <a:bodyPr rtlCol="0" anchor="ctr"/>
          <a:lstStyle/>
          <a:p>
            <a:endParaRPr lang="zh-CN" altLang="en-US"/>
          </a:p>
        </p:txBody>
      </p:sp>
      <p:sp>
        <p:nvSpPr>
          <p:cNvPr id="8" name="文本框 7"/>
          <p:cNvSpPr txBox="1"/>
          <p:nvPr>
            <p:custDataLst>
              <p:tags r:id="rId7"/>
            </p:custDataLst>
          </p:nvPr>
        </p:nvSpPr>
        <p:spPr>
          <a:xfrm>
            <a:off x="7555318" y="2871011"/>
            <a:ext cx="4179794" cy="1116781"/>
          </a:xfrm>
          <a:prstGeom prst="rect">
            <a:avLst/>
          </a:prstGeom>
          <a:noFill/>
        </p:spPr>
        <p:txBody>
          <a:bodyPr wrap="square" lIns="90000" tIns="46800" rIns="90000" bIns="46800" anchor="ctr"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ctr">
              <a:lnSpc>
                <a:spcPct val="120000"/>
              </a:lnSpc>
            </a:pPr>
            <a:r>
              <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rPr>
              <a:t>寄存器和库函数区别</a:t>
            </a:r>
            <a:endParaRPr lang="zh-CN" altLang="en-US" sz="2400" b="1" spc="300">
              <a:solidFill>
                <a:schemeClr val="tx1">
                  <a:lumMod val="65000"/>
                  <a:lumOff val="35000"/>
                </a:schemeClr>
              </a:solidFill>
              <a:latin typeface="Arial" panose="020B0604020202020204" pitchFamily="34" charset="0"/>
              <a:ea typeface="微软雅黑" panose="020B0503020204020204" pitchFamily="34" charset="-122"/>
              <a:cs typeface="+mj-cs"/>
              <a:sym typeface="Arial" panose="020B0604020202020204" pitchFamily="34" charset="0"/>
            </a:endParaRPr>
          </a:p>
        </p:txBody>
      </p:sp>
      <p:sp>
        <p:nvSpPr>
          <p:cNvPr id="9" name="文本框 8"/>
          <p:cNvSpPr txBox="1"/>
          <p:nvPr>
            <p:custDataLst>
              <p:tags r:id="rId8"/>
            </p:custDataLst>
          </p:nvPr>
        </p:nvSpPr>
        <p:spPr>
          <a:xfrm>
            <a:off x="8039912" y="3929227"/>
            <a:ext cx="3209748" cy="2496542"/>
          </a:xfrm>
          <a:prstGeom prst="rect">
            <a:avLst/>
          </a:prstGeom>
          <a:noFill/>
        </p:spPr>
        <p:txBody>
          <a:bodyPr wrap="square" lIns="90000" tIns="0" rIns="90000" bIns="46800" anchor="t" anchorCtr="0">
            <a:normAutofit/>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a:lstStyle>
          <a:p>
            <a:pPr algn="just">
              <a:lnSpc>
                <a:spcPct val="120000"/>
              </a:lnSpc>
            </a:pPr>
            <a:r>
              <a:rPr lang="zh-CN" altLang="en-US"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rPr>
              <a:t>寄存器和库函数何时使用。</a:t>
            </a:r>
            <a:endParaRPr lang="zh-CN" altLang="en-US" sz="2000" spc="150">
              <a:solidFill>
                <a:schemeClr val="bg1">
                  <a:lumMod val="50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12"/>
          <p:cNvSpPr/>
          <p:nvPr/>
        </p:nvSpPr>
        <p:spPr>
          <a:xfrm>
            <a:off x="8302625" y="1520349"/>
            <a:ext cx="1825625" cy="1099185"/>
          </a:xfrm>
          <a:custGeom>
            <a:avLst/>
            <a:gdLst/>
            <a:ahLst/>
            <a:cxnLst>
              <a:cxn ang="3">
                <a:pos x="hc" y="t"/>
              </a:cxn>
              <a:cxn ang="cd2">
                <a:pos x="l" y="vc"/>
              </a:cxn>
              <a:cxn ang="cd4">
                <a:pos x="hc" y="b"/>
              </a:cxn>
              <a:cxn ang="0">
                <a:pos x="r" y="vc"/>
              </a:cxn>
            </a:cxnLst>
            <a:rect l="l" t="t" r="r" b="b"/>
            <a:pathLst>
              <a:path w="4904" h="2292">
                <a:moveTo>
                  <a:pt x="3741" y="0"/>
                </a:moveTo>
                <a:cubicBezTo>
                  <a:pt x="4063" y="0"/>
                  <a:pt x="4321" y="103"/>
                  <a:pt x="4516" y="308"/>
                </a:cubicBezTo>
                <a:cubicBezTo>
                  <a:pt x="4676" y="476"/>
                  <a:pt x="4756" y="666"/>
                  <a:pt x="4756" y="878"/>
                </a:cubicBezTo>
                <a:cubicBezTo>
                  <a:pt x="4756" y="1178"/>
                  <a:pt x="4592" y="1418"/>
                  <a:pt x="4264" y="1596"/>
                </a:cubicBezTo>
                <a:cubicBezTo>
                  <a:pt x="4460" y="1638"/>
                  <a:pt x="4617" y="1733"/>
                  <a:pt x="4734" y="1879"/>
                </a:cubicBezTo>
                <a:cubicBezTo>
                  <a:pt x="4822" y="1989"/>
                  <a:pt x="4877" y="2115"/>
                  <a:pt x="4899" y="2259"/>
                </a:cubicBezTo>
                <a:lnTo>
                  <a:pt x="4904" y="2292"/>
                </a:lnTo>
                <a:lnTo>
                  <a:pt x="4233" y="2292"/>
                </a:lnTo>
                <a:lnTo>
                  <a:pt x="4233" y="2291"/>
                </a:lnTo>
                <a:cubicBezTo>
                  <a:pt x="4220" y="2168"/>
                  <a:pt x="4177" y="2067"/>
                  <a:pt x="4105" y="1989"/>
                </a:cubicBezTo>
                <a:cubicBezTo>
                  <a:pt x="4016" y="1892"/>
                  <a:pt x="3908" y="1844"/>
                  <a:pt x="3781" y="1844"/>
                </a:cubicBezTo>
                <a:cubicBezTo>
                  <a:pt x="3697" y="1844"/>
                  <a:pt x="3596" y="1860"/>
                  <a:pt x="3480" y="1893"/>
                </a:cubicBezTo>
                <a:lnTo>
                  <a:pt x="3552" y="1358"/>
                </a:lnTo>
                <a:cubicBezTo>
                  <a:pt x="3729" y="1363"/>
                  <a:pt x="3865" y="1325"/>
                  <a:pt x="3958" y="1243"/>
                </a:cubicBezTo>
                <a:cubicBezTo>
                  <a:pt x="4051" y="1161"/>
                  <a:pt x="4098" y="1053"/>
                  <a:pt x="4098" y="917"/>
                </a:cubicBezTo>
                <a:cubicBezTo>
                  <a:pt x="4098" y="802"/>
                  <a:pt x="4064" y="710"/>
                  <a:pt x="3995" y="642"/>
                </a:cubicBezTo>
                <a:cubicBezTo>
                  <a:pt x="3927" y="573"/>
                  <a:pt x="3836" y="539"/>
                  <a:pt x="3722" y="539"/>
                </a:cubicBezTo>
                <a:cubicBezTo>
                  <a:pt x="3610" y="539"/>
                  <a:pt x="3515" y="578"/>
                  <a:pt x="3435" y="656"/>
                </a:cubicBezTo>
                <a:cubicBezTo>
                  <a:pt x="3356" y="734"/>
                  <a:pt x="3308" y="847"/>
                  <a:pt x="3291" y="997"/>
                </a:cubicBezTo>
                <a:lnTo>
                  <a:pt x="2686" y="894"/>
                </a:lnTo>
                <a:cubicBezTo>
                  <a:pt x="2728" y="687"/>
                  <a:pt x="2791" y="522"/>
                  <a:pt x="2876" y="398"/>
                </a:cubicBezTo>
                <a:cubicBezTo>
                  <a:pt x="2961" y="274"/>
                  <a:pt x="3079" y="177"/>
                  <a:pt x="3231" y="106"/>
                </a:cubicBezTo>
                <a:cubicBezTo>
                  <a:pt x="3383" y="35"/>
                  <a:pt x="3553" y="0"/>
                  <a:pt x="3741" y="0"/>
                </a:cubicBezTo>
                <a:close/>
                <a:moveTo>
                  <a:pt x="1111" y="0"/>
                </a:moveTo>
                <a:cubicBezTo>
                  <a:pt x="1442" y="0"/>
                  <a:pt x="1701" y="118"/>
                  <a:pt x="1888" y="355"/>
                </a:cubicBezTo>
                <a:cubicBezTo>
                  <a:pt x="2111" y="635"/>
                  <a:pt x="2222" y="1099"/>
                  <a:pt x="2222" y="1748"/>
                </a:cubicBezTo>
                <a:cubicBezTo>
                  <a:pt x="2222" y="1930"/>
                  <a:pt x="2213" y="2098"/>
                  <a:pt x="2195" y="2251"/>
                </a:cubicBezTo>
                <a:lnTo>
                  <a:pt x="2190" y="2292"/>
                </a:lnTo>
                <a:lnTo>
                  <a:pt x="1516" y="2292"/>
                </a:lnTo>
                <a:lnTo>
                  <a:pt x="1517" y="2289"/>
                </a:lnTo>
                <a:cubicBezTo>
                  <a:pt x="1529" y="2142"/>
                  <a:pt x="1536" y="1961"/>
                  <a:pt x="1536" y="1748"/>
                </a:cubicBezTo>
                <a:cubicBezTo>
                  <a:pt x="1536" y="1347"/>
                  <a:pt x="1516" y="1071"/>
                  <a:pt x="1475" y="921"/>
                </a:cubicBezTo>
                <a:cubicBezTo>
                  <a:pt x="1435" y="771"/>
                  <a:pt x="1384" y="670"/>
                  <a:pt x="1322" y="620"/>
                </a:cubicBezTo>
                <a:cubicBezTo>
                  <a:pt x="1261" y="569"/>
                  <a:pt x="1190" y="544"/>
                  <a:pt x="1111" y="544"/>
                </a:cubicBezTo>
                <a:cubicBezTo>
                  <a:pt x="1032" y="544"/>
                  <a:pt x="961" y="569"/>
                  <a:pt x="899" y="620"/>
                </a:cubicBezTo>
                <a:cubicBezTo>
                  <a:pt x="836" y="670"/>
                  <a:pt x="788" y="761"/>
                  <a:pt x="754" y="892"/>
                </a:cubicBezTo>
                <a:cubicBezTo>
                  <a:pt x="709" y="1061"/>
                  <a:pt x="686" y="1347"/>
                  <a:pt x="686" y="1748"/>
                </a:cubicBezTo>
                <a:cubicBezTo>
                  <a:pt x="686" y="1961"/>
                  <a:pt x="692" y="2139"/>
                  <a:pt x="703" y="2282"/>
                </a:cubicBezTo>
                <a:lnTo>
                  <a:pt x="704" y="2292"/>
                </a:lnTo>
                <a:lnTo>
                  <a:pt x="29" y="2292"/>
                </a:lnTo>
                <a:lnTo>
                  <a:pt x="24" y="2248"/>
                </a:lnTo>
                <a:cubicBezTo>
                  <a:pt x="8" y="2095"/>
                  <a:pt x="0" y="1926"/>
                  <a:pt x="0" y="1741"/>
                </a:cubicBezTo>
                <a:cubicBezTo>
                  <a:pt x="0" y="1097"/>
                  <a:pt x="112" y="633"/>
                  <a:pt x="336" y="350"/>
                </a:cubicBezTo>
                <a:cubicBezTo>
                  <a:pt x="521" y="117"/>
                  <a:pt x="780" y="0"/>
                  <a:pt x="111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
        <p:nvSpPr>
          <p:cNvPr id="14" name="任意多边形 13"/>
          <p:cNvSpPr/>
          <p:nvPr/>
        </p:nvSpPr>
        <p:spPr>
          <a:xfrm>
            <a:off x="1537910" y="1520349"/>
            <a:ext cx="1825200" cy="1098000"/>
          </a:xfrm>
          <a:custGeom>
            <a:avLst/>
            <a:gdLst/>
            <a:ahLst/>
            <a:cxnLst>
              <a:cxn ang="3">
                <a:pos x="hc" y="t"/>
              </a:cxn>
              <a:cxn ang="cd2">
                <a:pos x="l" y="vc"/>
              </a:cxn>
              <a:cxn ang="cd4">
                <a:pos x="hc" y="b"/>
              </a:cxn>
              <a:cxn ang="0">
                <a:pos x="r" y="vc"/>
              </a:cxn>
            </a:cxnLst>
            <a:rect l="l" t="t" r="r" b="b"/>
            <a:pathLst>
              <a:path w="2505" h="1365">
                <a:moveTo>
                  <a:pt x="2198" y="0"/>
                </a:moveTo>
                <a:lnTo>
                  <a:pt x="2505" y="0"/>
                </a:lnTo>
                <a:lnTo>
                  <a:pt x="2505" y="1365"/>
                </a:lnTo>
                <a:lnTo>
                  <a:pt x="2127" y="1365"/>
                </a:lnTo>
                <a:lnTo>
                  <a:pt x="2127" y="557"/>
                </a:lnTo>
                <a:cubicBezTo>
                  <a:pt x="1988" y="686"/>
                  <a:pt x="1825" y="782"/>
                  <a:pt x="1637" y="844"/>
                </a:cubicBezTo>
                <a:lnTo>
                  <a:pt x="1637" y="500"/>
                </a:lnTo>
                <a:cubicBezTo>
                  <a:pt x="1736" y="468"/>
                  <a:pt x="1844" y="406"/>
                  <a:pt x="1960" y="316"/>
                </a:cubicBezTo>
                <a:cubicBezTo>
                  <a:pt x="2075" y="226"/>
                  <a:pt x="2155" y="120"/>
                  <a:pt x="2198" y="0"/>
                </a:cubicBezTo>
                <a:close/>
                <a:moveTo>
                  <a:pt x="641" y="0"/>
                </a:moveTo>
                <a:cubicBezTo>
                  <a:pt x="833" y="0"/>
                  <a:pt x="982" y="68"/>
                  <a:pt x="1090" y="205"/>
                </a:cubicBezTo>
                <a:cubicBezTo>
                  <a:pt x="1219" y="367"/>
                  <a:pt x="1283" y="635"/>
                  <a:pt x="1283" y="1009"/>
                </a:cubicBezTo>
                <a:cubicBezTo>
                  <a:pt x="1283" y="1138"/>
                  <a:pt x="1275" y="1254"/>
                  <a:pt x="1260" y="1358"/>
                </a:cubicBezTo>
                <a:lnTo>
                  <a:pt x="1259" y="1365"/>
                </a:lnTo>
                <a:lnTo>
                  <a:pt x="872" y="1365"/>
                </a:lnTo>
                <a:lnTo>
                  <a:pt x="873" y="1351"/>
                </a:lnTo>
                <a:cubicBezTo>
                  <a:pt x="882" y="1261"/>
                  <a:pt x="887" y="1147"/>
                  <a:pt x="887" y="1009"/>
                </a:cubicBezTo>
                <a:cubicBezTo>
                  <a:pt x="887" y="778"/>
                  <a:pt x="875" y="618"/>
                  <a:pt x="852" y="532"/>
                </a:cubicBezTo>
                <a:cubicBezTo>
                  <a:pt x="828" y="445"/>
                  <a:pt x="799" y="387"/>
                  <a:pt x="763" y="358"/>
                </a:cubicBezTo>
                <a:cubicBezTo>
                  <a:pt x="728" y="329"/>
                  <a:pt x="687" y="314"/>
                  <a:pt x="641" y="314"/>
                </a:cubicBezTo>
                <a:cubicBezTo>
                  <a:pt x="596" y="314"/>
                  <a:pt x="555" y="329"/>
                  <a:pt x="519" y="358"/>
                </a:cubicBezTo>
                <a:cubicBezTo>
                  <a:pt x="483" y="387"/>
                  <a:pt x="455" y="439"/>
                  <a:pt x="435" y="515"/>
                </a:cubicBezTo>
                <a:cubicBezTo>
                  <a:pt x="409" y="613"/>
                  <a:pt x="396" y="778"/>
                  <a:pt x="396" y="1009"/>
                </a:cubicBezTo>
                <a:cubicBezTo>
                  <a:pt x="396" y="1154"/>
                  <a:pt x="401" y="1271"/>
                  <a:pt x="410" y="1359"/>
                </a:cubicBezTo>
                <a:lnTo>
                  <a:pt x="411" y="1365"/>
                </a:lnTo>
                <a:lnTo>
                  <a:pt x="22" y="1365"/>
                </a:lnTo>
                <a:lnTo>
                  <a:pt x="21" y="1355"/>
                </a:lnTo>
                <a:cubicBezTo>
                  <a:pt x="7" y="1252"/>
                  <a:pt x="0" y="1136"/>
                  <a:pt x="0" y="1005"/>
                </a:cubicBezTo>
                <a:cubicBezTo>
                  <a:pt x="0" y="633"/>
                  <a:pt x="65" y="366"/>
                  <a:pt x="194" y="202"/>
                </a:cubicBezTo>
                <a:cubicBezTo>
                  <a:pt x="301" y="67"/>
                  <a:pt x="450" y="0"/>
                  <a:pt x="641" y="0"/>
                </a:cubicBezTo>
                <a:close/>
              </a:path>
            </a:pathLst>
          </a:custGeom>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p>
        </p:txBody>
      </p:sp>
    </p:spTree>
    <p:custDataLst>
      <p:tags r:id="rId9"/>
    </p:custDataLst>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230060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下载资料</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862580" y="1769110"/>
            <a:ext cx="6466205" cy="1383665"/>
          </a:xfrm>
          <a:prstGeom prst="rect">
            <a:avLst/>
          </a:prstGeom>
          <a:noFill/>
        </p:spPr>
        <p:txBody>
          <a:bodyPr wrap="square" rtlCol="0">
            <a:spAutoFit/>
          </a:bodyPr>
          <a:p>
            <a:r>
              <a:rPr lang="en-US" altLang="zh-CN" sz="2800"/>
              <a:t>1.</a:t>
            </a:r>
            <a:r>
              <a:rPr lang="zh-CN" altLang="en-US" sz="2800"/>
              <a:t>下载</a:t>
            </a:r>
            <a:r>
              <a:rPr lang="en-US" altLang="zh-CN" sz="2800"/>
              <a:t>GD32F4xx</a:t>
            </a:r>
            <a:r>
              <a:rPr lang="zh-CN" altLang="en-US" sz="2800"/>
              <a:t>用户手册</a:t>
            </a:r>
            <a:endParaRPr lang="zh-CN" altLang="en-US" sz="2800"/>
          </a:p>
          <a:p>
            <a:r>
              <a:rPr lang="en-US" altLang="zh-CN" sz="2800"/>
              <a:t>2.</a:t>
            </a:r>
            <a:r>
              <a:rPr lang="zh-CN" altLang="en-US" sz="2800"/>
              <a:t>下载</a:t>
            </a:r>
            <a:r>
              <a:rPr lang="en-US" altLang="zh-CN" sz="2800"/>
              <a:t>GD32F450xx</a:t>
            </a:r>
            <a:r>
              <a:rPr lang="zh-CN" altLang="en-US" sz="2800"/>
              <a:t>数据手册</a:t>
            </a:r>
            <a:endParaRPr lang="zh-CN" altLang="en-US" sz="2800"/>
          </a:p>
          <a:p>
            <a:r>
              <a:rPr lang="en-US" altLang="zh-CN" sz="2800"/>
              <a:t>3.</a:t>
            </a:r>
            <a:r>
              <a:rPr lang="zh-CN" altLang="en-US" sz="2800"/>
              <a:t>下载</a:t>
            </a:r>
            <a:r>
              <a:rPr lang="en-US" altLang="zh-CN" sz="2800"/>
              <a:t>GD32F3x0</a:t>
            </a:r>
            <a:r>
              <a:rPr lang="zh-CN" altLang="en-US" sz="2800"/>
              <a:t>固件库使用指南</a:t>
            </a:r>
            <a:endParaRPr lang="zh-CN" altLang="en-US" sz="2800"/>
          </a:p>
        </p:txBody>
      </p:sp>
      <p:sp>
        <p:nvSpPr>
          <p:cNvPr id="3" name="文本框 2"/>
          <p:cNvSpPr txBox="1"/>
          <p:nvPr/>
        </p:nvSpPr>
        <p:spPr>
          <a:xfrm>
            <a:off x="3464560" y="4942840"/>
            <a:ext cx="6364605" cy="398780"/>
          </a:xfrm>
          <a:prstGeom prst="rect">
            <a:avLst/>
          </a:prstGeom>
          <a:noFill/>
        </p:spPr>
        <p:txBody>
          <a:bodyPr wrap="square" rtlCol="0" anchor="t">
            <a:spAutoFit/>
          </a:bodyPr>
          <a:p>
            <a:pPr lvl="0" algn="l">
              <a:buClrTx/>
              <a:buSzTx/>
              <a:buFontTx/>
            </a:pPr>
            <a:r>
              <a:rPr lang="en-US" altLang="zh-CN" sz="2000">
                <a:sym typeface="+mn-ea"/>
              </a:rPr>
              <a:t>http://www.gd32mcu.com/cn/download/6?kw=GD32F4</a:t>
            </a:r>
            <a:endParaRPr lang="en-US" altLang="zh-CN" sz="2000">
              <a:sym typeface="+mn-ea"/>
            </a:endParaRPr>
          </a:p>
        </p:txBody>
      </p:sp>
      <p:sp>
        <p:nvSpPr>
          <p:cNvPr id="5" name="文本框 4"/>
          <p:cNvSpPr txBox="1"/>
          <p:nvPr/>
        </p:nvSpPr>
        <p:spPr>
          <a:xfrm>
            <a:off x="2138680" y="4942840"/>
            <a:ext cx="1325880" cy="368300"/>
          </a:xfrm>
          <a:prstGeom prst="rect">
            <a:avLst/>
          </a:prstGeom>
          <a:noFill/>
        </p:spPr>
        <p:txBody>
          <a:bodyPr wrap="none" rtlCol="0">
            <a:spAutoFit/>
          </a:bodyPr>
          <a:p>
            <a:r>
              <a:rPr lang="zh-CN" altLang="en-US" b="1"/>
              <a:t>下载链接：</a:t>
            </a:r>
            <a:endParaRPr lang="zh-CN" altLang="en-US" b="1"/>
          </a:p>
        </p:txBody>
      </p:sp>
    </p:spTree>
    <p:custDataLst>
      <p:tags r:id="rId3"/>
    </p:custData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ceda-logo-左右透底蓝字"/>
          <p:cNvPicPr>
            <a:picLocks noChangeAspect="1"/>
          </p:cNvPicPr>
          <p:nvPr/>
        </p:nvPicPr>
        <p:blipFill>
          <a:blip r:embed="rId1"/>
          <a:stretch>
            <a:fillRect/>
          </a:stretch>
        </p:blipFill>
        <p:spPr>
          <a:xfrm>
            <a:off x="161925" y="175260"/>
            <a:ext cx="2556510" cy="506095"/>
          </a:xfrm>
          <a:prstGeom prst="rect">
            <a:avLst/>
          </a:prstGeom>
        </p:spPr>
      </p:pic>
      <p:sp>
        <p:nvSpPr>
          <p:cNvPr id="7" name="TextBox 2"/>
          <p:cNvSpPr txBox="1"/>
          <p:nvPr>
            <p:custDataLst>
              <p:tags r:id="rId2"/>
            </p:custDataLst>
          </p:nvPr>
        </p:nvSpPr>
        <p:spPr>
          <a:xfrm>
            <a:off x="3533140" y="1372245"/>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3"/>
            </p:custDataLst>
          </p:nvPr>
        </p:nvCxnSpPr>
        <p:spPr>
          <a:xfrm flipV="1">
            <a:off x="3755390" y="2608580"/>
            <a:ext cx="4588510" cy="444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extBox 2"/>
          <p:cNvSpPr txBox="1"/>
          <p:nvPr>
            <p:custDataLst>
              <p:tags r:id="rId4"/>
            </p:custDataLst>
          </p:nvPr>
        </p:nvSpPr>
        <p:spPr>
          <a:xfrm>
            <a:off x="3543300" y="1362720"/>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rPr>
              <a:t>01</a:t>
            </a:r>
            <a:endParaRPr lang="en-US" altLang="zh-CN" sz="7200" b="1" spc="200" dirty="0">
              <a:solidFill>
                <a:srgbClr val="6096E6"/>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4" name="直接连接符 3"/>
          <p:cNvCxnSpPr/>
          <p:nvPr>
            <p:custDataLst>
              <p:tags r:id="rId5"/>
            </p:custDataLst>
          </p:nvPr>
        </p:nvCxnSpPr>
        <p:spPr>
          <a:xfrm flipV="1">
            <a:off x="3765550" y="2596515"/>
            <a:ext cx="4558030" cy="6985"/>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1"/>
          <p:cNvSpPr>
            <a:spLocks noGrp="1"/>
          </p:cNvSpPr>
          <p:nvPr>
            <p:custDataLst>
              <p:tags r:id="rId6"/>
            </p:custDataLst>
          </p:nvPr>
        </p:nvSpPr>
        <p:spPr>
          <a:xfrm>
            <a:off x="5030470" y="1628775"/>
            <a:ext cx="4125595" cy="705485"/>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r>
              <a:rPr lang="zh-CN" altLang="en-US" sz="4800">
                <a:solidFill>
                  <a:srgbClr val="6096E6"/>
                </a:solidFill>
                <a:sym typeface="Arial" panose="020B0604020202020204" pitchFamily="34" charset="0"/>
              </a:rPr>
              <a:t>寄存器介绍</a:t>
            </a:r>
            <a:endParaRPr lang="zh-CN" altLang="en-US" sz="4800">
              <a:solidFill>
                <a:srgbClr val="6096E6"/>
              </a:solidFill>
              <a:sym typeface="Arial" panose="020B0604020202020204" pitchFamily="34" charset="0"/>
            </a:endParaRPr>
          </a:p>
        </p:txBody>
      </p:sp>
      <p:sp>
        <p:nvSpPr>
          <p:cNvPr id="10" name="文本框 9"/>
          <p:cNvSpPr txBox="1"/>
          <p:nvPr/>
        </p:nvSpPr>
        <p:spPr>
          <a:xfrm>
            <a:off x="4011295" y="2596515"/>
            <a:ext cx="4077335" cy="4030980"/>
          </a:xfrm>
          <a:prstGeom prst="rect">
            <a:avLst/>
          </a:prstGeom>
          <a:noFill/>
        </p:spPr>
        <p:txBody>
          <a:bodyPr wrap="square" rtlCol="0">
            <a:spAutoFit/>
          </a:bodyPr>
          <a:p>
            <a:r>
              <a:rPr lang="en-US" altLang="zh-CN" sz="3200"/>
              <a:t>1.</a:t>
            </a:r>
            <a:r>
              <a:rPr lang="zh-CN" altLang="en-US" sz="3200"/>
              <a:t>认识存储器</a:t>
            </a:r>
            <a:endParaRPr lang="zh-CN" altLang="en-US" sz="3200"/>
          </a:p>
          <a:p>
            <a:r>
              <a:rPr lang="en-US" altLang="zh-CN" sz="3200">
                <a:sym typeface="+mn-ea"/>
              </a:rPr>
              <a:t>2.</a:t>
            </a:r>
            <a:r>
              <a:rPr lang="zh-CN" altLang="en-US" sz="3200">
                <a:sym typeface="+mn-ea"/>
              </a:rPr>
              <a:t>存储器映射</a:t>
            </a:r>
            <a:endParaRPr lang="zh-CN" altLang="en-US" sz="3200"/>
          </a:p>
          <a:p>
            <a:r>
              <a:rPr lang="en-US" altLang="zh-CN" sz="3200"/>
              <a:t>3.</a:t>
            </a:r>
            <a:r>
              <a:rPr lang="zh-CN" altLang="en-US" sz="3200"/>
              <a:t>存储器映射表</a:t>
            </a:r>
            <a:endParaRPr lang="zh-CN" altLang="en-US" sz="3200"/>
          </a:p>
          <a:p>
            <a:r>
              <a:rPr lang="en-US" altLang="zh-CN" sz="3200"/>
              <a:t>4.</a:t>
            </a:r>
            <a:r>
              <a:rPr lang="zh-CN" altLang="en-US" sz="3200"/>
              <a:t>寄存器映射</a:t>
            </a:r>
            <a:endParaRPr lang="zh-CN" altLang="en-US" sz="3200"/>
          </a:p>
          <a:p>
            <a:r>
              <a:rPr lang="en-US" altLang="zh-CN" sz="3200"/>
              <a:t>5.</a:t>
            </a:r>
            <a:r>
              <a:rPr lang="zh-CN" altLang="en-US" sz="3200"/>
              <a:t>总线基地址</a:t>
            </a:r>
            <a:endParaRPr lang="zh-CN" altLang="en-US" sz="3200"/>
          </a:p>
          <a:p>
            <a:r>
              <a:rPr lang="en-US" altLang="zh-CN" sz="3200"/>
              <a:t>6.</a:t>
            </a:r>
            <a:r>
              <a:rPr lang="zh-CN" altLang="en-US" sz="3200"/>
              <a:t>外设基地址</a:t>
            </a:r>
            <a:endParaRPr lang="zh-CN" altLang="en-US" sz="3200"/>
          </a:p>
          <a:p>
            <a:r>
              <a:rPr lang="en-US" altLang="zh-CN" sz="3200">
                <a:sym typeface="+mn-ea"/>
              </a:rPr>
              <a:t>7.</a:t>
            </a:r>
            <a:r>
              <a:rPr lang="zh-CN" altLang="en-US" sz="3200">
                <a:sym typeface="+mn-ea"/>
              </a:rPr>
              <a:t>外设寄存器地址</a:t>
            </a:r>
            <a:endParaRPr lang="zh-CN" altLang="en-US" sz="3200"/>
          </a:p>
          <a:p>
            <a:r>
              <a:rPr lang="en-US" altLang="zh-CN" sz="3200"/>
              <a:t>8.</a:t>
            </a:r>
            <a:r>
              <a:rPr lang="zh-CN" altLang="en-US" sz="3200"/>
              <a:t>如何操作寄存器</a:t>
            </a:r>
            <a:endParaRPr lang="zh-CN" altLang="en-US" sz="3200"/>
          </a:p>
        </p:txBody>
      </p:sp>
    </p:spTree>
    <p:custDataLst>
      <p:tags r:id="rId7"/>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230060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认识存储器</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971800" y="1938020"/>
            <a:ext cx="6466205" cy="1814830"/>
          </a:xfrm>
          <a:prstGeom prst="rect">
            <a:avLst/>
          </a:prstGeom>
          <a:noFill/>
        </p:spPr>
        <p:txBody>
          <a:bodyPr wrap="square" rtlCol="0">
            <a:spAutoFit/>
          </a:bodyPr>
          <a:p>
            <a:r>
              <a:rPr lang="en-US" altLang="zh-CN" sz="2800"/>
              <a:t>        </a:t>
            </a:r>
            <a:r>
              <a:rPr lang="zh-CN" altLang="en-US" sz="2800"/>
              <a:t>存储器按使用类型可分为只读存储器（</a:t>
            </a:r>
            <a:r>
              <a:rPr lang="en-US" altLang="zh-CN" sz="2800"/>
              <a:t>ROM</a:t>
            </a:r>
            <a:r>
              <a:rPr lang="zh-CN" altLang="en-US" sz="2800"/>
              <a:t>）和随机存储器（</a:t>
            </a:r>
            <a:r>
              <a:rPr lang="en-US" altLang="zh-CN" sz="2800"/>
              <a:t>RAM</a:t>
            </a:r>
            <a:r>
              <a:rPr lang="zh-CN" altLang="en-US" sz="2800"/>
              <a:t>）。存储器是许多存储单元的集合，主要是用来存储程序和各种数据信息的部件。</a:t>
            </a:r>
            <a:endParaRPr lang="zh-CN" altLang="en-US" sz="2800"/>
          </a:p>
        </p:txBody>
      </p:sp>
    </p:spTree>
    <p:custDataLst>
      <p:tags r:id="rId3"/>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230060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存储器映射</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680335" y="1809750"/>
            <a:ext cx="6451600" cy="2676525"/>
          </a:xfrm>
          <a:prstGeom prst="rect">
            <a:avLst/>
          </a:prstGeom>
          <a:noFill/>
        </p:spPr>
        <p:txBody>
          <a:bodyPr wrap="square" rtlCol="0">
            <a:spAutoFit/>
          </a:bodyPr>
          <a:p>
            <a:pPr algn="l"/>
            <a:r>
              <a:rPr lang="en-US" altLang="zh-CN" sz="2800"/>
              <a:t>        </a:t>
            </a:r>
            <a:r>
              <a:rPr lang="zh-CN" altLang="en-US" sz="2800"/>
              <a:t>存储器本身是不具有地址的，是一块具有特定功能的内存单元，它的地址是由芯片厂商或用户分配，给存储器分配地址的过程就叫做存储区映射。给内存单元分配地址之后，就可以通过指针去操作内存地址。</a:t>
            </a:r>
            <a:endParaRPr lang="zh-CN" altLang="en-US" sz="2800"/>
          </a:p>
        </p:txBody>
      </p:sp>
    </p:spTree>
    <p:custDataLst>
      <p:tags r:id="rId3"/>
    </p:custData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15341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存储器映射表</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137410" y="1588770"/>
            <a:ext cx="7777480" cy="3107690"/>
          </a:xfrm>
          <a:prstGeom prst="rect">
            <a:avLst/>
          </a:prstGeom>
          <a:noFill/>
        </p:spPr>
        <p:txBody>
          <a:bodyPr wrap="square" rtlCol="0">
            <a:spAutoFit/>
          </a:bodyPr>
          <a:p>
            <a:r>
              <a:rPr lang="en-US" altLang="zh-CN" sz="2800"/>
              <a:t>      </a:t>
            </a:r>
            <a:r>
              <a:rPr lang="zh-CN" altLang="en-US" sz="2800"/>
              <a:t>GD32是一个32位的单片机，它的地址范围为2的32次方，也就是4GB的地址空间。为了降低不同客户在相同应用时的软件复杂度，存储映射是按Cortex-M4处理器提供的规则预先定义的。在存储器映射表中，一部分地址空间由Arm Cortex-M4的系统外设所占用，且不可更改。其余部分地址空间可由芯片供应商定义使用。</a:t>
            </a:r>
            <a:endParaRPr lang="zh-CN" altLang="en-US" sz="2800"/>
          </a:p>
        </p:txBody>
      </p:sp>
    </p:spTree>
    <p:custDataLst>
      <p:tags r:id="rId3"/>
    </p:custData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81380"/>
            <a:ext cx="3172460" cy="444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541020" y="359410"/>
            <a:ext cx="315341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寄存器映射</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258060" y="1435735"/>
            <a:ext cx="7316470" cy="829945"/>
          </a:xfrm>
          <a:prstGeom prst="rect">
            <a:avLst/>
          </a:prstGeom>
          <a:noFill/>
        </p:spPr>
        <p:txBody>
          <a:bodyPr wrap="square" rtlCol="0">
            <a:spAutoFit/>
          </a:bodyPr>
          <a:p>
            <a:pPr lvl="0" algn="l">
              <a:buClrTx/>
              <a:buSzTx/>
              <a:buFontTx/>
            </a:pPr>
            <a:r>
              <a:rPr lang="en-US" altLang="zh-CN" sz="2400">
                <a:sym typeface="+mn-ea"/>
              </a:rPr>
              <a:t>        </a:t>
            </a:r>
            <a:r>
              <a:rPr lang="zh-CN" altLang="en-US" sz="2400">
                <a:sym typeface="+mn-ea"/>
              </a:rPr>
              <a:t>寄存器是具有特定功能的内存单元，通过操作这些内存单元可以驱动外设工作。</a:t>
            </a:r>
            <a:endParaRPr lang="zh-CN" altLang="en-US" sz="2400">
              <a:sym typeface="+mn-ea"/>
            </a:endParaRPr>
          </a:p>
        </p:txBody>
      </p:sp>
      <p:sp>
        <p:nvSpPr>
          <p:cNvPr id="5" name="文本框 4"/>
          <p:cNvSpPr txBox="1"/>
          <p:nvPr/>
        </p:nvSpPr>
        <p:spPr>
          <a:xfrm>
            <a:off x="2258060" y="2705735"/>
            <a:ext cx="7644130" cy="2676525"/>
          </a:xfrm>
          <a:prstGeom prst="rect">
            <a:avLst/>
          </a:prstGeom>
          <a:noFill/>
        </p:spPr>
        <p:txBody>
          <a:bodyPr wrap="square" rtlCol="0">
            <a:spAutoFit/>
          </a:bodyPr>
          <a:p>
            <a:pPr algn="l"/>
            <a:r>
              <a:rPr lang="en-US" altLang="zh-CN" sz="2400"/>
              <a:t>        </a:t>
            </a:r>
            <a:r>
              <a:rPr lang="zh-CN" altLang="en-US" sz="2400"/>
              <a:t>每一个寄存器都对应不同的功能，操作相应的寄存器就可以配置不同的功能。如果我们要控制某个外设工作，那我们可以找到这个单元的起始地址，然后通过c语言指针的方式来访问这些内存单元。但通常我们会给这个特殊的内存单元取一个名字，这个给已经分配好地址的有特定功能的内存单元取别名的过程就叫寄存器映射，这个别名就是我们所说的寄存器</a:t>
            </a:r>
            <a:r>
              <a:rPr lang="zh-CN" altLang="en-US"/>
              <a:t>。</a:t>
            </a:r>
            <a:endParaRPr lang="zh-CN" altLang="en-US"/>
          </a:p>
        </p:txBody>
      </p:sp>
    </p:spTree>
    <p:custDataLst>
      <p:tags r:id="rId3"/>
    </p:custData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824230" y="359410"/>
            <a:ext cx="315341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总线基地址</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2655570" y="1334135"/>
            <a:ext cx="7273290" cy="3538220"/>
          </a:xfrm>
          <a:prstGeom prst="rect">
            <a:avLst/>
          </a:prstGeom>
          <a:noFill/>
        </p:spPr>
        <p:txBody>
          <a:bodyPr wrap="square" rtlCol="0">
            <a:spAutoFit/>
          </a:bodyPr>
          <a:p>
            <a:pPr algn="l"/>
            <a:r>
              <a:rPr lang="en-US" altLang="zh-CN" sz="2800"/>
              <a:t>        </a:t>
            </a:r>
            <a:r>
              <a:rPr lang="zh-CN" altLang="en-US" sz="2800"/>
              <a:t>片上外设区域分为三条总线，分别为AHB总线、APB1总线和APB2总线。AHB总线最高时钟可达200MHZ，APB1总线最高时钟可达50MHZ，APB2总线时钟最高可达100MHZ。根据外设速度的不同，不同的总线挂载着不同的外设。总线的最低地址我们称为该总线的基地址，总线基地址也是挂载在该总线上的首个外设的地址。</a:t>
            </a:r>
            <a:endParaRPr lang="zh-CN" altLang="en-US" sz="2800"/>
          </a:p>
        </p:txBody>
      </p:sp>
    </p:spTree>
    <p:custDataLst>
      <p:tags r:id="rId3"/>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824230" y="359410"/>
            <a:ext cx="3752215"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总线基地址和地址范围</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graphicFrame>
        <p:nvGraphicFramePr>
          <p:cNvPr id="3" name="表格 2"/>
          <p:cNvGraphicFramePr/>
          <p:nvPr>
            <p:custDataLst>
              <p:tags r:id="rId3"/>
            </p:custDataLst>
          </p:nvPr>
        </p:nvGraphicFramePr>
        <p:xfrm>
          <a:off x="1739265" y="2416810"/>
          <a:ext cx="9033510" cy="2023745"/>
        </p:xfrm>
        <a:graphic>
          <a:graphicData uri="http://schemas.openxmlformats.org/drawingml/2006/table">
            <a:tbl>
              <a:tblPr firstRow="1" bandRow="1">
                <a:tableStyleId>{5C22544A-7EE6-4342-B048-85BDC9FD1C3A}</a:tableStyleId>
              </a:tblPr>
              <a:tblGrid>
                <a:gridCol w="3011170"/>
                <a:gridCol w="3011170"/>
                <a:gridCol w="3011170"/>
              </a:tblGrid>
              <a:tr h="401955">
                <a:tc>
                  <a:txBody>
                    <a:bodyPr/>
                    <a:p>
                      <a:pPr algn="ctr">
                        <a:buNone/>
                      </a:pPr>
                      <a:r>
                        <a:rPr lang="zh-CN" altLang="en-US"/>
                        <a:t>总线名称</a:t>
                      </a:r>
                      <a:endParaRPr lang="zh-CN" altLang="en-US"/>
                    </a:p>
                  </a:txBody>
                  <a:tcPr/>
                </a:tc>
                <a:tc>
                  <a:txBody>
                    <a:bodyPr/>
                    <a:p>
                      <a:pPr algn="ctr">
                        <a:buNone/>
                      </a:pPr>
                      <a:r>
                        <a:rPr lang="zh-CN" altLang="en-US"/>
                        <a:t>总线基地址</a:t>
                      </a:r>
                      <a:endParaRPr lang="zh-CN" altLang="en-US"/>
                    </a:p>
                  </a:txBody>
                  <a:tcPr/>
                </a:tc>
                <a:tc>
                  <a:txBody>
                    <a:bodyPr/>
                    <a:p>
                      <a:pPr algn="ctr">
                        <a:buNone/>
                      </a:pPr>
                      <a:r>
                        <a:rPr lang="zh-CN" altLang="en-US"/>
                        <a:t>总线地址范围</a:t>
                      </a:r>
                      <a:endParaRPr lang="zh-CN" altLang="en-US"/>
                    </a:p>
                  </a:txBody>
                  <a:tcPr/>
                </a:tc>
              </a:tr>
              <a:tr h="415925">
                <a:tc>
                  <a:txBody>
                    <a:bodyPr/>
                    <a:p>
                      <a:pPr>
                        <a:buNone/>
                      </a:pPr>
                      <a:r>
                        <a:rPr lang="zh-CN" altLang="en-US"/>
                        <a:t>APB1</a:t>
                      </a:r>
                      <a:endParaRPr lang="zh-CN" altLang="en-US"/>
                    </a:p>
                  </a:txBody>
                  <a:tcPr/>
                </a:tc>
                <a:tc>
                  <a:txBody>
                    <a:bodyPr/>
                    <a:p>
                      <a:pPr>
                        <a:buNone/>
                      </a:pPr>
                      <a:r>
                        <a:rPr lang="zh-CN" altLang="en-US"/>
                        <a:t>0x4000 0000</a:t>
                      </a:r>
                      <a:endParaRPr lang="zh-CN" altLang="en-US"/>
                    </a:p>
                  </a:txBody>
                  <a:tcPr/>
                </a:tc>
                <a:tc>
                  <a:txBody>
                    <a:bodyPr/>
                    <a:p>
                      <a:pPr>
                        <a:buNone/>
                      </a:pPr>
                      <a:r>
                        <a:rPr lang="zh-CN" altLang="en-US"/>
                        <a:t>0x4000 0000-0x4000 FFFF</a:t>
                      </a:r>
                      <a:endParaRPr lang="zh-CN" altLang="en-US"/>
                    </a:p>
                  </a:txBody>
                  <a:tcPr/>
                </a:tc>
              </a:tr>
              <a:tr h="401955">
                <a:tc>
                  <a:txBody>
                    <a:bodyPr/>
                    <a:p>
                      <a:pPr>
                        <a:buNone/>
                      </a:pPr>
                      <a:r>
                        <a:rPr lang="zh-CN" altLang="en-US"/>
                        <a:t>APB2</a:t>
                      </a:r>
                      <a:endParaRPr lang="zh-CN" altLang="en-US"/>
                    </a:p>
                  </a:txBody>
                  <a:tcPr/>
                </a:tc>
                <a:tc>
                  <a:txBody>
                    <a:bodyPr/>
                    <a:p>
                      <a:pPr>
                        <a:buNone/>
                      </a:pPr>
                      <a:r>
                        <a:rPr lang="zh-CN" altLang="en-US"/>
                        <a:t>0x4001 0000</a:t>
                      </a:r>
                      <a:endParaRPr lang="zh-CN" altLang="en-US"/>
                    </a:p>
                  </a:txBody>
                  <a:tcPr/>
                </a:tc>
                <a:tc>
                  <a:txBody>
                    <a:bodyPr/>
                    <a:p>
                      <a:pPr>
                        <a:buNone/>
                      </a:pPr>
                      <a:r>
                        <a:rPr lang="zh-CN" altLang="en-US"/>
                        <a:t>0x4001 0000-0x4001 FFFF</a:t>
                      </a:r>
                      <a:endParaRPr lang="zh-CN" altLang="en-US"/>
                    </a:p>
                  </a:txBody>
                  <a:tcPr/>
                </a:tc>
              </a:tr>
              <a:tr h="401955">
                <a:tc>
                  <a:txBody>
                    <a:bodyPr/>
                    <a:p>
                      <a:pPr>
                        <a:buNone/>
                      </a:pPr>
                      <a:r>
                        <a:rPr lang="zh-CN" altLang="en-US"/>
                        <a:t>AHB1</a:t>
                      </a:r>
                      <a:endParaRPr lang="zh-CN" altLang="en-US"/>
                    </a:p>
                  </a:txBody>
                  <a:tcPr/>
                </a:tc>
                <a:tc>
                  <a:txBody>
                    <a:bodyPr/>
                    <a:p>
                      <a:pPr>
                        <a:buNone/>
                      </a:pPr>
                      <a:r>
                        <a:rPr lang="zh-CN" altLang="en-US"/>
                        <a:t>0x4002 0000</a:t>
                      </a:r>
                      <a:endParaRPr lang="zh-CN" altLang="en-US"/>
                    </a:p>
                  </a:txBody>
                  <a:tcPr/>
                </a:tc>
                <a:tc>
                  <a:txBody>
                    <a:bodyPr/>
                    <a:p>
                      <a:pPr>
                        <a:buNone/>
                      </a:pPr>
                      <a:r>
                        <a:rPr lang="zh-CN" altLang="en-US"/>
                        <a:t>0x4002 0000-0x4FFF FFFF</a:t>
                      </a:r>
                      <a:endParaRPr lang="zh-CN" altLang="en-US"/>
                    </a:p>
                  </a:txBody>
                  <a:tcPr/>
                </a:tc>
              </a:tr>
              <a:tr h="401955">
                <a:tc>
                  <a:txBody>
                    <a:bodyPr/>
                    <a:p>
                      <a:pPr>
                        <a:buNone/>
                      </a:pPr>
                      <a:r>
                        <a:rPr lang="zh-CN" altLang="en-US"/>
                        <a:t>AHB2</a:t>
                      </a:r>
                      <a:endParaRPr lang="zh-CN" altLang="en-US"/>
                    </a:p>
                  </a:txBody>
                  <a:tcPr/>
                </a:tc>
                <a:tc>
                  <a:txBody>
                    <a:bodyPr/>
                    <a:p>
                      <a:pPr>
                        <a:buNone/>
                      </a:pPr>
                      <a:r>
                        <a:rPr lang="zh-CN" altLang="en-US"/>
                        <a:t>0x5000 0000</a:t>
                      </a:r>
                      <a:endParaRPr lang="zh-CN" altLang="en-US"/>
                    </a:p>
                  </a:txBody>
                  <a:tcPr/>
                </a:tc>
                <a:tc>
                  <a:txBody>
                    <a:bodyPr/>
                    <a:p>
                      <a:pPr>
                        <a:buNone/>
                      </a:pPr>
                      <a:r>
                        <a:rPr lang="zh-CN" altLang="en-US"/>
                        <a:t>0x5000 0000-0x5FFF FFFF </a:t>
                      </a:r>
                      <a:endParaRPr lang="zh-CN" altLang="en-US"/>
                    </a:p>
                  </a:txBody>
                  <a:tcPr/>
                </a:tc>
              </a:tr>
            </a:tbl>
          </a:graphicData>
        </a:graphic>
      </p:graphicFrame>
    </p:spTree>
    <p:custDataLst>
      <p:tags r:id="rId4"/>
    </p:custData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15341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外设基地址</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graphicFrame>
        <p:nvGraphicFramePr>
          <p:cNvPr id="4" name="表格 3"/>
          <p:cNvGraphicFramePr/>
          <p:nvPr>
            <p:custDataLst>
              <p:tags r:id="rId3"/>
            </p:custDataLst>
          </p:nvPr>
        </p:nvGraphicFramePr>
        <p:xfrm>
          <a:off x="1776730" y="925195"/>
          <a:ext cx="8062595" cy="5406390"/>
        </p:xfrm>
        <a:graphic>
          <a:graphicData uri="http://schemas.openxmlformats.org/drawingml/2006/table">
            <a:tbl>
              <a:tblPr firstRow="1" bandRow="1"/>
              <a:tblGrid>
                <a:gridCol w="2409190"/>
                <a:gridCol w="1966595"/>
                <a:gridCol w="3686810"/>
              </a:tblGrid>
              <a:tr h="834390">
                <a:tc>
                  <a:txBody>
                    <a:bodyPr/>
                    <a:p>
                      <a:pPr indent="0" algn="ctr">
                        <a:lnSpc>
                          <a:spcPct val="120000"/>
                        </a:lnSpc>
                        <a:spcBef>
                          <a:spcPts val="0"/>
                        </a:spcBef>
                        <a:spcAft>
                          <a:spcPts val="0"/>
                        </a:spcAft>
                        <a:buNone/>
                      </a:pPr>
                      <a:r>
                        <a:rPr lang="zh-CN" altLang="en-US" sz="1800" b="1" spc="130">
                          <a:solidFill>
                            <a:srgbClr val="FFFFFF"/>
                          </a:solidFill>
                          <a:latin typeface="微软雅黑" panose="020B0503020204020204" pitchFamily="34" charset="-122"/>
                          <a:ea typeface="微软雅黑" panose="020B0503020204020204" pitchFamily="34" charset="-122"/>
                        </a:rPr>
                        <a:t>外设名称</a:t>
                      </a: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FFFF"/>
                      </a:solidFill>
                      <a:prstDash val="dot"/>
                    </a:lnR>
                    <a:lnT w="19050" cap="rnd">
                      <a:solidFill>
                        <a:srgbClr val="FF6238"/>
                      </a:solidFill>
                      <a:prstDash val="solid"/>
                    </a:lnT>
                    <a:lnB w="19050">
                      <a:solidFill>
                        <a:srgbClr val="FF6238"/>
                      </a:solidFill>
                      <a:prstDash val="solid"/>
                    </a:lnB>
                    <a:solidFill>
                      <a:srgbClr val="FF6238"/>
                    </a:solidFill>
                  </a:tcPr>
                </a:tc>
                <a:tc>
                  <a:txBody>
                    <a:bodyPr/>
                    <a:p>
                      <a:pPr indent="0" algn="ctr">
                        <a:lnSpc>
                          <a:spcPct val="120000"/>
                        </a:lnSpc>
                        <a:spcBef>
                          <a:spcPts val="0"/>
                        </a:spcBef>
                        <a:spcAft>
                          <a:spcPts val="0"/>
                        </a:spcAft>
                        <a:buNone/>
                      </a:pPr>
                      <a:r>
                        <a:rPr lang="zh-CN" altLang="en-US" sz="1800" b="1" spc="130">
                          <a:solidFill>
                            <a:srgbClr val="FFFFFF"/>
                          </a:solidFill>
                          <a:latin typeface="微软雅黑" panose="020B0503020204020204" pitchFamily="34" charset="-122"/>
                          <a:ea typeface="微软雅黑" panose="020B0503020204020204" pitchFamily="34" charset="-122"/>
                        </a:rPr>
                        <a:t>外设基地址</a:t>
                      </a: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3175">
                      <a:solidFill>
                        <a:srgbClr val="FFFFFF"/>
                      </a:solidFill>
                      <a:prstDash val="dot"/>
                    </a:lnR>
                    <a:lnT w="19050" cap="rnd">
                      <a:solidFill>
                        <a:srgbClr val="FF6238"/>
                      </a:solidFill>
                      <a:prstDash val="solid"/>
                    </a:lnT>
                    <a:lnB w="19050">
                      <a:solidFill>
                        <a:srgbClr val="FF6238"/>
                      </a:solidFill>
                      <a:prstDash val="solid"/>
                    </a:lnB>
                    <a:solidFill>
                      <a:srgbClr val="FF6238"/>
                    </a:solidFill>
                  </a:tcPr>
                </a:tc>
                <a:tc>
                  <a:txBody>
                    <a:bodyPr/>
                    <a:p>
                      <a:pPr indent="0" algn="ctr">
                        <a:lnSpc>
                          <a:spcPct val="120000"/>
                        </a:lnSpc>
                        <a:spcBef>
                          <a:spcPts val="0"/>
                        </a:spcBef>
                        <a:spcAft>
                          <a:spcPts val="0"/>
                        </a:spcAft>
                        <a:buNone/>
                      </a:pPr>
                      <a:r>
                        <a:rPr lang="zh-CN" altLang="en-US" sz="1800" b="1" spc="130">
                          <a:solidFill>
                            <a:srgbClr val="FFFFFF"/>
                          </a:solidFill>
                          <a:latin typeface="微软雅黑" panose="020B0503020204020204" pitchFamily="34" charset="-122"/>
                          <a:ea typeface="微软雅黑" panose="020B0503020204020204" pitchFamily="34" charset="-122"/>
                        </a:rPr>
                        <a:t>相对于AHB1总线的地址偏移</a:t>
                      </a:r>
                      <a:endParaRPr lang="zh-CN" altLang="en-US" sz="1800" b="1" spc="130">
                        <a:solidFill>
                          <a:srgbClr val="FFFFFF"/>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FFFF"/>
                      </a:solidFill>
                      <a:prstDash val="dot"/>
                    </a:lnL>
                    <a:lnR w="19050" cap="rnd">
                      <a:solidFill>
                        <a:srgbClr val="FF6238"/>
                      </a:solidFill>
                      <a:prstDash val="solid"/>
                    </a:lnR>
                    <a:lnT w="19050" cap="rnd">
                      <a:solidFill>
                        <a:srgbClr val="FF6238"/>
                      </a:solidFill>
                      <a:prstDash val="solid"/>
                    </a:lnT>
                    <a:lnB w="19050">
                      <a:solidFill>
                        <a:srgbClr val="FF6238"/>
                      </a:solidFill>
                      <a:prstDash val="solid"/>
                    </a:lnB>
                    <a:solidFill>
                      <a:srgbClr val="FF6238"/>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GPIOA</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19050">
                      <a:solidFill>
                        <a:srgbClr val="FF6238"/>
                      </a:solidFill>
                      <a:prstDash val="solid"/>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0000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19050">
                      <a:solidFill>
                        <a:srgbClr val="FF6238"/>
                      </a:solidFill>
                      <a:prstDash val="solid"/>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0000U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19050">
                      <a:solidFill>
                        <a:srgbClr val="FF6238"/>
                      </a:solidFill>
                      <a:prstDash val="solid"/>
                    </a:lnT>
                    <a:lnB w="3175">
                      <a:solidFill>
                        <a:srgbClr val="FF6238"/>
                      </a:solidFill>
                      <a:prstDash val="dot"/>
                    </a:lnB>
                    <a:solidFill>
                      <a:srgbClr val="F2F2F2"/>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GPIOB</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0400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0400U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GPIOC</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0800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0800U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GPIOD</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0C00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0C00U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GPIOE</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1000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1000U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GPIOF</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1400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1400U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GPIOG</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1800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1800U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GPIOH</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1C00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1C00U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508000">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GPIOI</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19050" cap="rnd">
                      <a:solidFill>
                        <a:srgbClr val="FF6238"/>
                      </a:solidFill>
                      <a:prstDash val="solid"/>
                    </a:lnL>
                    <a:lnR w="3175">
                      <a:solidFill>
                        <a:srgbClr val="FF6238"/>
                      </a:solidFill>
                      <a:prstDash val="dot"/>
                    </a:lnR>
                    <a:lnT w="3175">
                      <a:solidFill>
                        <a:srgbClr val="FF6238"/>
                      </a:solidFill>
                      <a:prstDash val="dot"/>
                    </a:lnT>
                    <a:lnB w="19050" cap="rnd">
                      <a:solidFill>
                        <a:srgbClr val="FF6238"/>
                      </a:solidFill>
                      <a:prstDash val="solid"/>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0x4002 2000</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3175">
                      <a:solidFill>
                        <a:srgbClr val="FF6238"/>
                      </a:solidFill>
                      <a:prstDash val="dot"/>
                    </a:lnR>
                    <a:lnT w="3175">
                      <a:solidFill>
                        <a:srgbClr val="FF6238"/>
                      </a:solidFill>
                      <a:prstDash val="dot"/>
                    </a:lnT>
                    <a:lnB w="19050" cap="rnd">
                      <a:solidFill>
                        <a:srgbClr val="FF6238"/>
                      </a:solidFill>
                      <a:prstDash val="solid"/>
                    </a:lnB>
                    <a:solidFill>
                      <a:srgbClr val="F2F2F2"/>
                    </a:solidFill>
                  </a:tcPr>
                </a:tc>
                <a:tc>
                  <a:txBody>
                    <a:bodyPr/>
                    <a:p>
                      <a:pPr indent="0" algn="ctr">
                        <a:lnSpc>
                          <a:spcPct val="120000"/>
                        </a:lnSpc>
                        <a:spcBef>
                          <a:spcPts val="0"/>
                        </a:spcBef>
                        <a:spcAft>
                          <a:spcPts val="0"/>
                        </a:spcAft>
                        <a:buNone/>
                      </a:pPr>
                      <a:r>
                        <a:rPr lang="zh-CN" altLang="en-US" sz="1600" b="0" spc="120">
                          <a:solidFill>
                            <a:srgbClr val="404040"/>
                          </a:solidFill>
                          <a:latin typeface="微软雅黑" panose="020B0503020204020204" pitchFamily="34" charset="-122"/>
                          <a:ea typeface="微软雅黑" panose="020B0503020204020204" pitchFamily="34" charset="-122"/>
                        </a:rPr>
                        <a:t>0x0000 2000U</a:t>
                      </a:r>
                      <a:endParaRPr lang="zh-CN" altLang="en-US" sz="1600" b="0" spc="120">
                        <a:solidFill>
                          <a:srgbClr val="404040"/>
                        </a:solidFill>
                        <a:latin typeface="微软雅黑" panose="020B0503020204020204" pitchFamily="34" charset="-122"/>
                        <a:ea typeface="微软雅黑" panose="020B0503020204020204" pitchFamily="34" charset="-122"/>
                      </a:endParaRPr>
                    </a:p>
                  </a:txBody>
                  <a:tcPr marL="177800" marR="177800" marT="107950" marB="107950" anchor="ctr">
                    <a:lnL w="3175">
                      <a:solidFill>
                        <a:srgbClr val="FF6238"/>
                      </a:solidFill>
                      <a:prstDash val="dot"/>
                    </a:lnL>
                    <a:lnR w="19050" cap="rnd">
                      <a:solidFill>
                        <a:srgbClr val="FF6238"/>
                      </a:solidFill>
                      <a:prstDash val="solid"/>
                    </a:lnR>
                    <a:lnT w="3175">
                      <a:solidFill>
                        <a:srgbClr val="FF6238"/>
                      </a:solidFill>
                      <a:prstDash val="dot"/>
                    </a:lnT>
                    <a:lnB w="19050" cap="rnd">
                      <a:solidFill>
                        <a:srgbClr val="FF6238"/>
                      </a:solidFill>
                      <a:prstDash val="solid"/>
                    </a:lnB>
                    <a:solidFill>
                      <a:srgbClr val="F2F2F2"/>
                    </a:solidFill>
                  </a:tcPr>
                </a:tc>
              </a:tr>
            </a:tbl>
          </a:graphicData>
        </a:graphic>
      </p:graphicFrame>
    </p:spTree>
    <p:custDataLst>
      <p:tags r:id="rId4"/>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15341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外设寄存器地址</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graphicFrame>
        <p:nvGraphicFramePr>
          <p:cNvPr id="4" name="表格 3"/>
          <p:cNvGraphicFramePr/>
          <p:nvPr>
            <p:custDataLst>
              <p:tags r:id="rId3"/>
            </p:custDataLst>
          </p:nvPr>
        </p:nvGraphicFramePr>
        <p:xfrm>
          <a:off x="1561465" y="899795"/>
          <a:ext cx="7975600" cy="5682615"/>
        </p:xfrm>
        <a:graphic>
          <a:graphicData uri="http://schemas.openxmlformats.org/drawingml/2006/table">
            <a:tbl>
              <a:tblPr firstRow="1" bandRow="1"/>
              <a:tblGrid>
                <a:gridCol w="2483485"/>
                <a:gridCol w="2291080"/>
                <a:gridCol w="3201035"/>
              </a:tblGrid>
              <a:tr h="480695">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pitchFamily="34" charset="-122"/>
                          <a:ea typeface="微软雅黑" panose="020B0503020204020204" pitchFamily="34" charset="-122"/>
                        </a:rPr>
                        <a:t>寄存器名称</a:t>
                      </a:r>
                      <a:endParaRPr lang="zh-CN" altLang="en-US" sz="1400" b="1" spc="120">
                        <a:solidFill>
                          <a:srgbClr val="FFFFFF"/>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FFFF"/>
                      </a:solidFill>
                      <a:prstDash val="dot"/>
                    </a:lnR>
                    <a:lnT w="19050" cap="rnd">
                      <a:solidFill>
                        <a:srgbClr val="FF6238"/>
                      </a:solidFill>
                      <a:prstDash val="solid"/>
                    </a:lnT>
                    <a:lnB w="19050">
                      <a:solidFill>
                        <a:srgbClr val="FF6238"/>
                      </a:solidFill>
                      <a:prstDash val="solid"/>
                    </a:lnB>
                    <a:solidFill>
                      <a:srgbClr val="FF6238"/>
                    </a:solidFill>
                  </a:tcPr>
                </a:tc>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pitchFamily="34" charset="-122"/>
                          <a:ea typeface="微软雅黑" panose="020B0503020204020204" pitchFamily="34" charset="-122"/>
                        </a:rPr>
                        <a:t>地址偏移</a:t>
                      </a:r>
                      <a:endParaRPr lang="zh-CN" altLang="en-US" sz="1400" b="1" spc="120">
                        <a:solidFill>
                          <a:srgbClr val="FFFFFF"/>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FFFF"/>
                      </a:solidFill>
                      <a:prstDash val="dot"/>
                    </a:lnL>
                    <a:lnR w="3175">
                      <a:solidFill>
                        <a:srgbClr val="FFFFFF"/>
                      </a:solidFill>
                      <a:prstDash val="dot"/>
                    </a:lnR>
                    <a:lnT w="19050" cap="rnd">
                      <a:solidFill>
                        <a:srgbClr val="FF6238"/>
                      </a:solidFill>
                      <a:prstDash val="solid"/>
                    </a:lnT>
                    <a:lnB w="19050">
                      <a:solidFill>
                        <a:srgbClr val="FF6238"/>
                      </a:solidFill>
                      <a:prstDash val="solid"/>
                    </a:lnB>
                    <a:solidFill>
                      <a:srgbClr val="FF6238"/>
                    </a:solidFill>
                  </a:tcPr>
                </a:tc>
                <a:tc>
                  <a:txBody>
                    <a:bodyPr/>
                    <a:p>
                      <a:pPr indent="0" algn="ctr">
                        <a:lnSpc>
                          <a:spcPct val="120000"/>
                        </a:lnSpc>
                        <a:spcBef>
                          <a:spcPts val="0"/>
                        </a:spcBef>
                        <a:spcAft>
                          <a:spcPts val="0"/>
                        </a:spcAft>
                        <a:buNone/>
                      </a:pPr>
                      <a:r>
                        <a:rPr lang="zh-CN" altLang="en-US" sz="1400" b="1" spc="120">
                          <a:solidFill>
                            <a:srgbClr val="FFFFFF"/>
                          </a:solidFill>
                          <a:latin typeface="微软雅黑" panose="020B0503020204020204" pitchFamily="34" charset="-122"/>
                          <a:ea typeface="微软雅黑" panose="020B0503020204020204" pitchFamily="34" charset="-122"/>
                          <a:cs typeface="微软雅黑" panose="020B0503020204020204" pitchFamily="34" charset="-122"/>
                        </a:rPr>
                        <a:t>相对于GPIOA的地址</a:t>
                      </a:r>
                      <a:endParaRPr lang="zh-CN" altLang="en-US" sz="1400" b="1" spc="120">
                        <a:solidFill>
                          <a:srgbClr val="FFFFFF"/>
                        </a:solidFill>
                        <a:latin typeface="微软雅黑" panose="020B0503020204020204" pitchFamily="34" charset="-122"/>
                        <a:ea typeface="微软雅黑" panose="020B0503020204020204" pitchFamily="34" charset="-122"/>
                        <a:cs typeface="微软雅黑" panose="020B0503020204020204" pitchFamily="34" charset="-122"/>
                      </a:endParaRPr>
                    </a:p>
                  </a:txBody>
                  <a:tcPr marL="177800" marR="177800" marT="57150" marB="57150" anchor="ctr">
                    <a:lnL w="3175">
                      <a:solidFill>
                        <a:srgbClr val="FFFFFF"/>
                      </a:solidFill>
                      <a:prstDash val="dot"/>
                    </a:lnL>
                    <a:lnR w="19050" cap="rnd">
                      <a:solidFill>
                        <a:srgbClr val="FF6238"/>
                      </a:solidFill>
                      <a:prstDash val="solid"/>
                    </a:lnR>
                    <a:lnT w="19050" cap="rnd">
                      <a:solidFill>
                        <a:srgbClr val="FF6238"/>
                      </a:solidFill>
                      <a:prstDash val="solid"/>
                    </a:lnT>
                    <a:lnB w="19050">
                      <a:solidFill>
                        <a:srgbClr val="FF6238"/>
                      </a:solidFill>
                      <a:prstDash val="solid"/>
                    </a:lnB>
                    <a:solidFill>
                      <a:srgbClr val="FF6238"/>
                    </a:solidFill>
                  </a:tcPr>
                </a:tc>
              </a:tr>
              <a:tr h="433705">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GPIOx_CTL</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19050">
                      <a:solidFill>
                        <a:srgbClr val="FF6238"/>
                      </a:solidFill>
                      <a:prstDash val="solid"/>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0x00</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19050">
                      <a:solidFill>
                        <a:srgbClr val="FF6238"/>
                      </a:solidFill>
                      <a:prstDash val="solid"/>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GPIOA_BASE + 0x00U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19050">
                      <a:solidFill>
                        <a:srgbClr val="FF6238"/>
                      </a:solidFill>
                      <a:prstDash val="solid"/>
                    </a:lnT>
                    <a:lnB w="3175">
                      <a:solidFill>
                        <a:srgbClr val="FF6238"/>
                      </a:solidFill>
                      <a:prstDash val="dot"/>
                    </a:lnB>
                    <a:solidFill>
                      <a:srgbClr val="F2F2F2"/>
                    </a:solidFill>
                  </a:tcPr>
                </a:tc>
              </a:tr>
              <a:tr h="433705">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GPIOx_OMODE</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0x04</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GPIOA_BASE + 0x04U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433705">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GPIOx_OSPD</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0x08</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GPIOA_BASE + 0x08U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432435">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GPIOx_PUD</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0x0C</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GPIOA_BASE + 0x0CU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433705">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GPIOx_ISTAT</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0x10</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GPIOA_BASE + 0x10U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433705">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GPIOx_OCTL</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0x14</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indent="0" algn="ctr">
                        <a:lnSpc>
                          <a:spcPct val="120000"/>
                        </a:lnSpc>
                        <a:spcBef>
                          <a:spcPts val="0"/>
                        </a:spcBef>
                        <a:spcAft>
                          <a:spcPts val="0"/>
                        </a:spcAft>
                        <a:buNone/>
                      </a:pPr>
                      <a:r>
                        <a:rPr lang="zh-CN" altLang="en-US" sz="1200" b="0" spc="120">
                          <a:solidFill>
                            <a:srgbClr val="404040"/>
                          </a:solidFill>
                          <a:latin typeface="微软雅黑" panose="020B0503020204020204" pitchFamily="34" charset="-122"/>
                          <a:ea typeface="微软雅黑" panose="020B0503020204020204" pitchFamily="34" charset="-122"/>
                        </a:rPr>
                        <a:t>GPIOA_BASE + 0x14U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433705">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GPIOx_BOP</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0x18</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GPIOA_BASE + 0x18U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432435">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GPIOx_LOCK</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0x1C</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GPIOA_BASE + 0x1CU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433705">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GPIOx_AFSEL0</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0x20</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GPIOA_BASE + 0x20U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433705">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GPIOx_AFSEL1</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0x24</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FFFFF"/>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GPIOA_BASE + 0x24U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FFFFF"/>
                    </a:solidFill>
                  </a:tcPr>
                </a:tc>
              </a:tr>
              <a:tr h="433705">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GPIOx_BC</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0x28</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3175">
                      <a:solidFill>
                        <a:srgbClr val="FF6238"/>
                      </a:solidFill>
                      <a:prstDash val="dot"/>
                    </a:lnB>
                    <a:solidFill>
                      <a:srgbClr val="F2F2F2"/>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GPIOA_BASE + 0x28U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3175">
                      <a:solidFill>
                        <a:srgbClr val="FF6238"/>
                      </a:solidFill>
                      <a:prstDash val="dot"/>
                    </a:lnB>
                    <a:solidFill>
                      <a:srgbClr val="F2F2F2"/>
                    </a:solidFill>
                  </a:tcPr>
                </a:tc>
              </a:tr>
              <a:tr h="433705">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GPIOx_TG</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19050" cap="rnd">
                      <a:solidFill>
                        <a:srgbClr val="FF6238"/>
                      </a:solidFill>
                      <a:prstDash val="solid"/>
                    </a:lnL>
                    <a:lnR w="3175">
                      <a:solidFill>
                        <a:srgbClr val="FF6238"/>
                      </a:solidFill>
                      <a:prstDash val="dot"/>
                    </a:lnR>
                    <a:lnT w="3175">
                      <a:solidFill>
                        <a:srgbClr val="FF6238"/>
                      </a:solidFill>
                      <a:prstDash val="dot"/>
                    </a:lnT>
                    <a:lnB w="19050" cap="rnd">
                      <a:solidFill>
                        <a:srgbClr val="FF6238"/>
                      </a:solidFill>
                      <a:prstDash val="solid"/>
                    </a:lnB>
                    <a:solidFill>
                      <a:srgbClr val="FFFFFF"/>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0x2C</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3175">
                      <a:solidFill>
                        <a:srgbClr val="FF6238"/>
                      </a:solidFill>
                      <a:prstDash val="dot"/>
                    </a:lnR>
                    <a:lnT w="3175">
                      <a:solidFill>
                        <a:srgbClr val="FF6238"/>
                      </a:solidFill>
                      <a:prstDash val="dot"/>
                    </a:lnT>
                    <a:lnB w="19050" cap="rnd">
                      <a:solidFill>
                        <a:srgbClr val="FF6238"/>
                      </a:solidFill>
                      <a:prstDash val="solid"/>
                    </a:lnB>
                    <a:solidFill>
                      <a:srgbClr val="FFFFFF"/>
                    </a:solidFill>
                  </a:tcPr>
                </a:tc>
                <a:tc>
                  <a:txBody>
                    <a:bodyPr/>
                    <a:p>
                      <a:pPr algn="ctr">
                        <a:lnSpc>
                          <a:spcPct val="120000"/>
                        </a:lnSpc>
                        <a:spcBef>
                          <a:spcPts val="0"/>
                        </a:spcBef>
                        <a:spcAft>
                          <a:spcPts val="0"/>
                        </a:spcAft>
                        <a:buClrTx/>
                        <a:buSzTx/>
                        <a:buFontTx/>
                        <a:buNone/>
                      </a:pPr>
                      <a:r>
                        <a:rPr lang="zh-CN" altLang="en-US" sz="1200" b="0" spc="120">
                          <a:solidFill>
                            <a:srgbClr val="404040"/>
                          </a:solidFill>
                          <a:latin typeface="微软雅黑" panose="020B0503020204020204" pitchFamily="34" charset="-122"/>
                          <a:ea typeface="微软雅黑" panose="020B0503020204020204" pitchFamily="34" charset="-122"/>
                        </a:rPr>
                        <a:t>GPIOA_BASE + 0x2CU</a:t>
                      </a:r>
                      <a:endParaRPr lang="zh-CN" altLang="en-US" sz="1200" b="0" spc="120">
                        <a:solidFill>
                          <a:srgbClr val="404040"/>
                        </a:solidFill>
                        <a:latin typeface="微软雅黑" panose="020B0503020204020204" pitchFamily="34" charset="-122"/>
                        <a:ea typeface="微软雅黑" panose="020B0503020204020204" pitchFamily="34" charset="-122"/>
                      </a:endParaRPr>
                    </a:p>
                  </a:txBody>
                  <a:tcPr marL="177800" marR="177800" marT="57150" marB="57150" anchor="ctr">
                    <a:lnL w="3175">
                      <a:solidFill>
                        <a:srgbClr val="FF6238"/>
                      </a:solidFill>
                      <a:prstDash val="dot"/>
                    </a:lnL>
                    <a:lnR w="19050" cap="rnd">
                      <a:solidFill>
                        <a:srgbClr val="FF6238"/>
                      </a:solidFill>
                      <a:prstDash val="solid"/>
                    </a:lnR>
                    <a:lnT w="3175">
                      <a:solidFill>
                        <a:srgbClr val="FF6238"/>
                      </a:solidFill>
                      <a:prstDash val="dot"/>
                    </a:lnT>
                    <a:lnB w="19050" cap="rnd">
                      <a:solidFill>
                        <a:srgbClr val="FF6238"/>
                      </a:solidFill>
                      <a:prstDash val="solid"/>
                    </a:lnB>
                    <a:solidFill>
                      <a:srgbClr val="FFFFFF"/>
                    </a:solidFill>
                  </a:tcPr>
                </a:tc>
              </a:tr>
            </a:tbl>
          </a:graphicData>
        </a:graphic>
      </p:graphicFrame>
    </p:spTree>
    <p:custDataLst>
      <p:tags r:id="rId4"/>
    </p:custData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4044315" cy="5715"/>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422400" y="330200"/>
            <a:ext cx="315341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如何操作寄存器</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1670685" y="960755"/>
            <a:ext cx="8851265" cy="1630045"/>
          </a:xfrm>
          <a:prstGeom prst="rect">
            <a:avLst/>
          </a:prstGeom>
          <a:noFill/>
        </p:spPr>
        <p:txBody>
          <a:bodyPr wrap="square" rtlCol="0">
            <a:spAutoFit/>
          </a:bodyPr>
          <a:p>
            <a:pPr algn="l"/>
            <a:r>
              <a:rPr lang="en-US" altLang="zh-CN" sz="2000"/>
              <a:t>        </a:t>
            </a:r>
            <a:r>
              <a:rPr lang="zh-CN" altLang="en-US" sz="2000"/>
              <a:t>比如我们想让GPIOA端口的16个引脚都置1。我们需要去配置端口输出寄存器GPIOx_OCTL，通过查找用户手册177页可以知道这个寄存器的地址偏移量为0x14，GPIOA端口的基地址为0x4002 0000，所以GPIOA_OCTL寄存器的地址为0x4002 0000 + 0x14 = 0x4002 0014,那我们就是对这个地址进行操作。那如何操作呢？</a:t>
            </a:r>
            <a:endParaRPr lang="zh-CN" altLang="en-US" sz="2000"/>
          </a:p>
        </p:txBody>
      </p:sp>
      <p:sp>
        <p:nvSpPr>
          <p:cNvPr id="5" name="文本框 4"/>
          <p:cNvSpPr txBox="1"/>
          <p:nvPr/>
        </p:nvSpPr>
        <p:spPr>
          <a:xfrm>
            <a:off x="1670685" y="2811780"/>
            <a:ext cx="8851265" cy="1014730"/>
          </a:xfrm>
          <a:prstGeom prst="rect">
            <a:avLst/>
          </a:prstGeom>
          <a:noFill/>
        </p:spPr>
        <p:txBody>
          <a:bodyPr wrap="square" rtlCol="0">
            <a:spAutoFit/>
          </a:bodyPr>
          <a:p>
            <a:pPr algn="l"/>
            <a:r>
              <a:rPr lang="zh-CN" altLang="en-US" sz="2000">
                <a:highlight>
                  <a:srgbClr val="00FF00"/>
                </a:highlight>
              </a:rPr>
              <a:t>①　通过绝对地址访问内存单元</a:t>
            </a:r>
            <a:endParaRPr lang="zh-CN" altLang="en-US" sz="2000">
              <a:highlight>
                <a:srgbClr val="00FF00"/>
              </a:highlight>
            </a:endParaRPr>
          </a:p>
          <a:p>
            <a:pPr algn="l"/>
            <a:r>
              <a:rPr lang="zh-CN" altLang="en-US" sz="2000"/>
              <a:t>/* GPIOA 端口的16个引脚全部输出高电平 */</a:t>
            </a:r>
            <a:endParaRPr lang="zh-CN" altLang="en-US" sz="2000"/>
          </a:p>
          <a:p>
            <a:pPr algn="l"/>
            <a:r>
              <a:rPr lang="zh-CN" altLang="en-US" sz="2000"/>
              <a:t>*(unsigned int*)(0x40020014) = 0xFFFF;</a:t>
            </a:r>
            <a:endParaRPr lang="zh-CN" altLang="en-US" sz="2000"/>
          </a:p>
        </p:txBody>
      </p:sp>
      <p:sp>
        <p:nvSpPr>
          <p:cNvPr id="6" name="文本框 5"/>
          <p:cNvSpPr txBox="1"/>
          <p:nvPr/>
        </p:nvSpPr>
        <p:spPr>
          <a:xfrm>
            <a:off x="1670685" y="3988435"/>
            <a:ext cx="8851265" cy="2553335"/>
          </a:xfrm>
          <a:prstGeom prst="rect">
            <a:avLst/>
          </a:prstGeom>
          <a:noFill/>
        </p:spPr>
        <p:txBody>
          <a:bodyPr wrap="square" rtlCol="0">
            <a:spAutoFit/>
          </a:bodyPr>
          <a:p>
            <a:pPr algn="l"/>
            <a:r>
              <a:rPr lang="zh-CN" altLang="en-US" sz="2000">
                <a:highlight>
                  <a:srgbClr val="00FF00"/>
                </a:highlight>
              </a:rPr>
              <a:t>②　通过别名访问内存单元</a:t>
            </a:r>
            <a:endParaRPr lang="zh-CN" altLang="en-US" sz="2000"/>
          </a:p>
          <a:p>
            <a:pPr algn="l"/>
            <a:r>
              <a:rPr lang="zh-CN" altLang="en-US" sz="2000"/>
              <a:t>/* GPIOA 端口的16个引脚全部输出高电平 */</a:t>
            </a:r>
            <a:endParaRPr lang="zh-CN" altLang="en-US" sz="2000"/>
          </a:p>
          <a:p>
            <a:pPr algn="l"/>
            <a:r>
              <a:rPr lang="zh-CN" altLang="en-US" sz="2000"/>
              <a:t>#define GPIOA_OCTL   (unsigned int*)(0x40020014)</a:t>
            </a:r>
            <a:endParaRPr lang="zh-CN" altLang="en-US" sz="2000"/>
          </a:p>
          <a:p>
            <a:pPr algn="l"/>
            <a:r>
              <a:rPr lang="zh-CN" altLang="en-US" sz="2000"/>
              <a:t>*GPIOA_OCTL = 0xFFFF;</a:t>
            </a:r>
            <a:endParaRPr lang="zh-CN" altLang="en-US" sz="2000"/>
          </a:p>
          <a:p>
            <a:pPr algn="l"/>
            <a:r>
              <a:rPr lang="zh-CN" altLang="en-US" sz="2000"/>
              <a:t>或者为了方便我们干脆将*和地址写到一个，如下。</a:t>
            </a:r>
            <a:endParaRPr lang="zh-CN" altLang="en-US" sz="2000"/>
          </a:p>
          <a:p>
            <a:pPr algn="l"/>
            <a:r>
              <a:rPr lang="zh-CN" altLang="en-US" sz="2000"/>
              <a:t>/* GPIOA 端口的16个引脚全部输出高电平 */</a:t>
            </a:r>
            <a:endParaRPr lang="zh-CN" altLang="en-US" sz="2000"/>
          </a:p>
          <a:p>
            <a:pPr algn="l"/>
            <a:r>
              <a:rPr lang="zh-CN" altLang="en-US" sz="2000"/>
              <a:t>#define GPIOA_OCTL *(unsigned int*)(0x40020014)</a:t>
            </a:r>
            <a:endParaRPr lang="zh-CN" altLang="en-US" sz="2000"/>
          </a:p>
          <a:p>
            <a:pPr algn="l"/>
            <a:r>
              <a:rPr lang="zh-CN" altLang="en-US" sz="2000"/>
              <a:t>GPIOA_OCTL = 0xFFFF;</a:t>
            </a:r>
            <a:endParaRPr lang="zh-CN" altLang="en-US" sz="2000"/>
          </a:p>
        </p:txBody>
      </p:sp>
    </p:spTree>
    <p:custDataLst>
      <p:tags r:id="rId3"/>
    </p:custData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ceda-logo-左右透底蓝字"/>
          <p:cNvPicPr>
            <a:picLocks noChangeAspect="1"/>
          </p:cNvPicPr>
          <p:nvPr/>
        </p:nvPicPr>
        <p:blipFill>
          <a:blip r:embed="rId1"/>
          <a:stretch>
            <a:fillRect/>
          </a:stretch>
        </p:blipFill>
        <p:spPr>
          <a:xfrm>
            <a:off x="161925" y="175260"/>
            <a:ext cx="2556510" cy="506095"/>
          </a:xfrm>
          <a:prstGeom prst="rect">
            <a:avLst/>
          </a:prstGeom>
        </p:spPr>
      </p:pic>
      <p:sp>
        <p:nvSpPr>
          <p:cNvPr id="7" name="TextBox 2"/>
          <p:cNvSpPr txBox="1"/>
          <p:nvPr>
            <p:custDataLst>
              <p:tags r:id="rId2"/>
            </p:custDataLst>
          </p:nvPr>
        </p:nvSpPr>
        <p:spPr>
          <a:xfrm>
            <a:off x="3068955" y="877580"/>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58B6E5"/>
                </a:solidFill>
                <a:latin typeface="Arial" panose="020B0604020202020204" pitchFamily="34" charset="0"/>
                <a:ea typeface="微软雅黑" panose="020B0503020204020204" pitchFamily="34" charset="-122"/>
                <a:cs typeface="+mn-ea"/>
                <a:sym typeface="Arial" panose="020B0604020202020204" pitchFamily="34" charset="0"/>
              </a:rPr>
              <a:t>02</a:t>
            </a:r>
            <a:endParaRPr lang="en-US" altLang="zh-CN" sz="7200" b="1" spc="200" dirty="0">
              <a:solidFill>
                <a:srgbClr val="58B6E5"/>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3"/>
            </p:custDataLst>
          </p:nvPr>
        </p:nvCxnSpPr>
        <p:spPr>
          <a:xfrm flipV="1">
            <a:off x="3291205" y="2068830"/>
            <a:ext cx="5203190" cy="49530"/>
          </a:xfrm>
          <a:prstGeom prst="line">
            <a:avLst/>
          </a:prstGeom>
          <a:ln w="25400">
            <a:solidFill>
              <a:srgbClr val="58B6E5"/>
            </a:solidFill>
          </a:ln>
        </p:spPr>
        <p:style>
          <a:lnRef idx="1">
            <a:schemeClr val="accent1"/>
          </a:lnRef>
          <a:fillRef idx="0">
            <a:schemeClr val="accent1"/>
          </a:fillRef>
          <a:effectRef idx="0">
            <a:schemeClr val="accent1"/>
          </a:effectRef>
          <a:fontRef idx="minor">
            <a:schemeClr val="tx1"/>
          </a:fontRef>
        </p:style>
      </p:cxnSp>
      <p:sp>
        <p:nvSpPr>
          <p:cNvPr id="12" name="标题 11"/>
          <p:cNvSpPr>
            <a:spLocks noGrp="1"/>
          </p:cNvSpPr>
          <p:nvPr>
            <p:ph type="ctrTitle" idx="14"/>
            <p:custDataLst>
              <p:tags r:id="rId4"/>
            </p:custDataLst>
          </p:nvPr>
        </p:nvSpPr>
        <p:spPr>
          <a:xfrm>
            <a:off x="4556125" y="1143635"/>
            <a:ext cx="4074795" cy="705485"/>
          </a:xfrm>
        </p:spPr>
        <p:txBody>
          <a:bodyPr>
            <a:noAutofit/>
          </a:bodyPr>
          <a:lstStyle/>
          <a:p>
            <a:r>
              <a:rPr lang="zh-CN" altLang="en-US" sz="4800">
                <a:solidFill>
                  <a:srgbClr val="58B6E5"/>
                </a:solidFill>
                <a:sym typeface="Arial" panose="020B0604020202020204" pitchFamily="34" charset="0"/>
              </a:rPr>
              <a:t>库函数介绍</a:t>
            </a:r>
            <a:endParaRPr lang="zh-CN" altLang="en-US" sz="4800">
              <a:solidFill>
                <a:srgbClr val="58B6E5"/>
              </a:solidFill>
              <a:sym typeface="Arial" panose="020B0604020202020204" pitchFamily="34" charset="0"/>
            </a:endParaRPr>
          </a:p>
        </p:txBody>
      </p:sp>
      <p:sp>
        <p:nvSpPr>
          <p:cNvPr id="10" name="文本框 9"/>
          <p:cNvSpPr txBox="1"/>
          <p:nvPr/>
        </p:nvSpPr>
        <p:spPr>
          <a:xfrm>
            <a:off x="3684270" y="2967990"/>
            <a:ext cx="4077335" cy="2061210"/>
          </a:xfrm>
          <a:prstGeom prst="rect">
            <a:avLst/>
          </a:prstGeom>
          <a:noFill/>
        </p:spPr>
        <p:txBody>
          <a:bodyPr wrap="square" rtlCol="0">
            <a:spAutoFit/>
          </a:bodyPr>
          <a:p>
            <a:r>
              <a:rPr lang="en-US" altLang="zh-CN" sz="3200"/>
              <a:t>1.</a:t>
            </a:r>
            <a:r>
              <a:rPr lang="zh-CN" altLang="en-US" sz="3200"/>
              <a:t>为什么使用库函数</a:t>
            </a:r>
            <a:endParaRPr lang="zh-CN" altLang="en-US" sz="3200"/>
          </a:p>
          <a:p>
            <a:r>
              <a:rPr lang="en-US" altLang="zh-CN" sz="3200"/>
              <a:t>2.</a:t>
            </a:r>
            <a:r>
              <a:rPr lang="zh-CN" altLang="en-US" sz="3200"/>
              <a:t>库函数简单介绍</a:t>
            </a:r>
            <a:endParaRPr lang="zh-CN" altLang="en-US" sz="3200"/>
          </a:p>
          <a:p>
            <a:r>
              <a:rPr lang="en-US" altLang="zh-CN" sz="3200"/>
              <a:t>3.</a:t>
            </a:r>
            <a:r>
              <a:rPr lang="zh-CN" altLang="en-US" sz="3200"/>
              <a:t>如何操作库函数</a:t>
            </a:r>
            <a:endParaRPr lang="zh-CN" altLang="en-US" sz="3200"/>
          </a:p>
          <a:p>
            <a:endParaRPr lang="zh-CN" altLang="en-US" sz="3200"/>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3295015" cy="16510"/>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718820" y="359410"/>
            <a:ext cx="339725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为什么使用库函数</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4" name="文本框 3"/>
          <p:cNvSpPr txBox="1"/>
          <p:nvPr/>
        </p:nvSpPr>
        <p:spPr>
          <a:xfrm>
            <a:off x="1818640" y="1609090"/>
            <a:ext cx="8555355" cy="3046095"/>
          </a:xfrm>
          <a:prstGeom prst="rect">
            <a:avLst/>
          </a:prstGeom>
          <a:noFill/>
        </p:spPr>
        <p:txBody>
          <a:bodyPr wrap="square" rtlCol="0">
            <a:spAutoFit/>
          </a:bodyPr>
          <a:p>
            <a:pPr algn="l"/>
            <a:r>
              <a:rPr lang="en-US" altLang="zh-CN" sz="2400"/>
              <a:t>1.</a:t>
            </a:r>
            <a:r>
              <a:rPr lang="zh-CN" altLang="en-US" sz="2400"/>
              <a:t>库函数能使我们的开发效率大大提高。</a:t>
            </a:r>
            <a:endParaRPr lang="zh-CN" altLang="en-US" sz="2400"/>
          </a:p>
          <a:p>
            <a:pPr algn="l"/>
            <a:endParaRPr lang="zh-CN" altLang="en-US" sz="2400"/>
          </a:p>
          <a:p>
            <a:pPr algn="l"/>
            <a:r>
              <a:rPr lang="en-US" altLang="zh-CN" sz="2400"/>
              <a:t>2.</a:t>
            </a:r>
            <a:r>
              <a:rPr lang="zh-CN" altLang="en-US" sz="2400"/>
              <a:t>关于GD32的标准外设库函数，GD32的官方已经给我们开发好了，我们只需要移植到我们的工程使用即可。</a:t>
            </a:r>
            <a:endParaRPr lang="zh-CN" altLang="en-US" sz="2400"/>
          </a:p>
          <a:p>
            <a:pPr algn="l"/>
            <a:endParaRPr lang="zh-CN" altLang="en-US" sz="2400"/>
          </a:p>
          <a:p>
            <a:pPr algn="l"/>
            <a:r>
              <a:rPr lang="en-US" altLang="zh-CN" sz="2400"/>
              <a:t>3.</a:t>
            </a:r>
            <a:r>
              <a:rPr lang="zh-CN" altLang="en-US" sz="2400"/>
              <a:t>库函数的使用不需要让我们去了解硬件的机制，只需要根据需要的功能去查找对应的函数，然后调用即可，大大降低了开发要求。</a:t>
            </a:r>
            <a:endParaRPr lang="zh-CN" altLang="en-US" sz="2400"/>
          </a:p>
        </p:txBody>
      </p:sp>
    </p:spTree>
    <p:custDataLst>
      <p:tags r:id="rId3"/>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3295015" cy="16510"/>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718820" y="359410"/>
            <a:ext cx="310769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库函数简单介绍</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3" name="文本框 2"/>
          <p:cNvSpPr txBox="1"/>
          <p:nvPr/>
        </p:nvSpPr>
        <p:spPr>
          <a:xfrm>
            <a:off x="2632075" y="1910715"/>
            <a:ext cx="7139940" cy="583565"/>
          </a:xfrm>
          <a:prstGeom prst="rect">
            <a:avLst/>
          </a:prstGeom>
          <a:noFill/>
        </p:spPr>
        <p:txBody>
          <a:bodyPr wrap="none" rtlCol="0">
            <a:spAutoFit/>
          </a:bodyPr>
          <a:p>
            <a:pPr algn="l"/>
            <a:r>
              <a:rPr lang="en-US" altLang="zh-CN" sz="3200"/>
              <a:t>1.</a:t>
            </a:r>
            <a:r>
              <a:rPr lang="zh-CN" altLang="en-US" sz="3200"/>
              <a:t>参考标准外设库文件</a:t>
            </a:r>
            <a:r>
              <a:rPr lang="en-US" altLang="zh-CN" sz="3200"/>
              <a:t>gd32f4xx_gpio.c</a:t>
            </a:r>
            <a:endParaRPr lang="en-US" altLang="zh-CN" sz="3200"/>
          </a:p>
        </p:txBody>
      </p:sp>
      <p:sp>
        <p:nvSpPr>
          <p:cNvPr id="4" name="文本框 3"/>
          <p:cNvSpPr txBox="1"/>
          <p:nvPr/>
        </p:nvSpPr>
        <p:spPr>
          <a:xfrm>
            <a:off x="2632075" y="3673475"/>
            <a:ext cx="6144895" cy="583565"/>
          </a:xfrm>
          <a:prstGeom prst="rect">
            <a:avLst/>
          </a:prstGeom>
          <a:noFill/>
        </p:spPr>
        <p:txBody>
          <a:bodyPr wrap="none" rtlCol="0">
            <a:spAutoFit/>
          </a:bodyPr>
          <a:p>
            <a:pPr algn="l"/>
            <a:r>
              <a:rPr lang="en-US" altLang="zh-CN" sz="3200"/>
              <a:t>2.</a:t>
            </a:r>
            <a:r>
              <a:rPr lang="en-US" altLang="zh-CN" sz="3200"/>
              <a:t>参考GD32F30x固件库使用手册</a:t>
            </a:r>
            <a:endParaRPr lang="en-US" altLang="zh-CN" sz="3200"/>
          </a:p>
        </p:txBody>
      </p:sp>
    </p:spTree>
    <p:custDataLst>
      <p:tags r:id="rId3"/>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3295015" cy="16510"/>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718820" y="359410"/>
            <a:ext cx="339725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如何操作库函数</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100" name="文本框 99"/>
          <p:cNvSpPr txBox="1"/>
          <p:nvPr/>
        </p:nvSpPr>
        <p:spPr>
          <a:xfrm>
            <a:off x="2065655" y="1345565"/>
            <a:ext cx="7256145" cy="1198880"/>
          </a:xfrm>
          <a:prstGeom prst="rect">
            <a:avLst/>
          </a:prstGeom>
          <a:noFill/>
          <a:ln w="9525">
            <a:noFill/>
          </a:ln>
        </p:spPr>
        <p:txBody>
          <a:bodyPr wrap="square">
            <a:spAutoFit/>
          </a:bodyPr>
          <a:p>
            <a:pPr indent="560705"/>
            <a:r>
              <a:rPr lang="zh-CN" sz="3600" b="0">
                <a:latin typeface="Calibri" panose="020F0502020204030204" charset="0"/>
                <a:ea typeface="宋体" panose="02010600030101010101" pitchFamily="2" charset="-122"/>
              </a:rPr>
              <a:t>让</a:t>
            </a:r>
            <a:r>
              <a:rPr lang="en-US" sz="3600" b="0">
                <a:latin typeface="Calibri" panose="020F0502020204030204" charset="0"/>
                <a:ea typeface="宋体" panose="02010600030101010101" pitchFamily="2" charset="-122"/>
              </a:rPr>
              <a:t>GPIOA</a:t>
            </a:r>
            <a:r>
              <a:rPr lang="zh-CN" sz="3600" b="0">
                <a:latin typeface="Calibri" panose="020F0502020204030204" charset="0"/>
                <a:ea typeface="宋体" panose="02010600030101010101" pitchFamily="2" charset="-122"/>
              </a:rPr>
              <a:t>端口的</a:t>
            </a:r>
            <a:r>
              <a:rPr lang="en-US" sz="3600" b="0">
                <a:latin typeface="Calibri" panose="020F0502020204030204" charset="0"/>
                <a:ea typeface="宋体" panose="02010600030101010101" pitchFamily="2" charset="-122"/>
              </a:rPr>
              <a:t>16</a:t>
            </a:r>
            <a:r>
              <a:rPr lang="zh-CN" sz="3600" b="0">
                <a:latin typeface="Calibri" panose="020F0502020204030204" charset="0"/>
                <a:ea typeface="宋体" panose="02010600030101010101" pitchFamily="2" charset="-122"/>
              </a:rPr>
              <a:t>个引脚都置</a:t>
            </a:r>
            <a:r>
              <a:rPr lang="en-US" sz="3600" b="0">
                <a:latin typeface="Calibri" panose="020F0502020204030204" charset="0"/>
                <a:ea typeface="宋体" panose="02010600030101010101" pitchFamily="2" charset="-122"/>
              </a:rPr>
              <a:t>1</a:t>
            </a:r>
            <a:r>
              <a:rPr lang="zh-CN" altLang="en-US" sz="3600" b="0">
                <a:latin typeface="Calibri" panose="020F0502020204030204" charset="0"/>
                <a:ea typeface="宋体" panose="02010600030101010101" pitchFamily="2" charset="-122"/>
              </a:rPr>
              <a:t>，</a:t>
            </a:r>
            <a:r>
              <a:rPr lang="en-US" sz="3600" b="0">
                <a:latin typeface="Calibri" panose="020F0502020204030204" charset="0"/>
                <a:ea typeface="宋体" panose="02010600030101010101" pitchFamily="2" charset="-122"/>
              </a:rPr>
              <a:t>那么使用库函数该如何配置呢？</a:t>
            </a:r>
            <a:endParaRPr lang="en-US" sz="3600" b="0">
              <a:latin typeface="Calibri" panose="020F0502020204030204" charset="0"/>
              <a:ea typeface="宋体" panose="02010600030101010101" pitchFamily="2" charset="-122"/>
            </a:endParaRPr>
          </a:p>
        </p:txBody>
      </p:sp>
    </p:spTree>
    <p:custDataLst>
      <p:tags r:id="rId3"/>
    </p:custData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3295015" cy="16510"/>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718820" y="359410"/>
            <a:ext cx="339725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如何操作库函数</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100" name="文本框 99"/>
          <p:cNvSpPr txBox="1"/>
          <p:nvPr/>
        </p:nvSpPr>
        <p:spPr>
          <a:xfrm>
            <a:off x="1061085" y="1318895"/>
            <a:ext cx="9844405" cy="1198880"/>
          </a:xfrm>
          <a:prstGeom prst="rect">
            <a:avLst/>
          </a:prstGeom>
          <a:noFill/>
          <a:ln w="9525">
            <a:noFill/>
          </a:ln>
        </p:spPr>
        <p:txBody>
          <a:bodyPr wrap="square">
            <a:spAutoFit/>
          </a:bodyPr>
          <a:p>
            <a:pPr indent="560705"/>
            <a:r>
              <a:rPr sz="3600" b="0">
                <a:latin typeface="Calibri" panose="020F0502020204030204" charset="0"/>
                <a:ea typeface="宋体" panose="02010600030101010101" pitchFamily="2" charset="-122"/>
              </a:rPr>
              <a:t>/* GPIOA 端口的16个引脚全部输出高电平 */</a:t>
            </a:r>
            <a:endParaRPr sz="3600" b="0">
              <a:latin typeface="Calibri" panose="020F0502020204030204" charset="0"/>
              <a:ea typeface="宋体" panose="02010600030101010101" pitchFamily="2" charset="-122"/>
            </a:endParaRPr>
          </a:p>
          <a:p>
            <a:pPr indent="560705"/>
            <a:r>
              <a:rPr sz="3600" b="0">
                <a:latin typeface="Calibri" panose="020F0502020204030204" charset="0"/>
                <a:ea typeface="宋体" panose="02010600030101010101" pitchFamily="2" charset="-122"/>
              </a:rPr>
              <a:t>gpio_port_write(GPIOA,0xFFFF); </a:t>
            </a:r>
            <a:endParaRPr sz="3600" b="0">
              <a:latin typeface="Calibri" panose="020F0502020204030204" charset="0"/>
              <a:ea typeface="宋体" panose="02010600030101010101" pitchFamily="2" charset="-122"/>
            </a:endParaRPr>
          </a:p>
        </p:txBody>
      </p:sp>
    </p:spTree>
    <p:custDataLst>
      <p:tags r:id="rId3"/>
    </p:custData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51000"/>
          </a:schemeClr>
        </a:solidFill>
        <a:effectLst/>
      </p:bgPr>
    </p:bg>
    <p:spTree>
      <p:nvGrpSpPr>
        <p:cNvPr id="1" name=""/>
        <p:cNvGrpSpPr/>
        <p:nvPr/>
      </p:nvGrpSpPr>
      <p:grpSpPr>
        <a:xfrm>
          <a:off x="0" y="0"/>
          <a:ext cx="0" cy="0"/>
          <a:chOff x="0" y="0"/>
          <a:chExt cx="0" cy="0"/>
        </a:xfrm>
      </p:grpSpPr>
      <p:pic>
        <p:nvPicPr>
          <p:cNvPr id="27" name="图片 26" descr="32313535353437353b32313535353435333bc8cecef1c6ecd6c4"/>
          <p:cNvPicPr>
            <a:picLocks noChangeAspect="1"/>
          </p:cNvPicPr>
          <p:nvPr/>
        </p:nvPicPr>
        <p:blipFill>
          <a:blip r:embed="rId1"/>
          <a:stretch>
            <a:fillRect/>
          </a:stretch>
        </p:blipFill>
        <p:spPr>
          <a:xfrm>
            <a:off x="160020" y="213360"/>
            <a:ext cx="664210" cy="664210"/>
          </a:xfrm>
          <a:prstGeom prst="rect">
            <a:avLst/>
          </a:prstGeom>
        </p:spPr>
      </p:pic>
      <p:pic>
        <p:nvPicPr>
          <p:cNvPr id="30" name="图片 29" descr="lceda-logo-左右透底蓝字"/>
          <p:cNvPicPr>
            <a:picLocks noChangeAspect="1"/>
          </p:cNvPicPr>
          <p:nvPr/>
        </p:nvPicPr>
        <p:blipFill>
          <a:blip r:embed="rId2"/>
          <a:stretch>
            <a:fillRect/>
          </a:stretch>
        </p:blipFill>
        <p:spPr>
          <a:xfrm>
            <a:off x="8907780" y="300355"/>
            <a:ext cx="2933700" cy="581025"/>
          </a:xfrm>
          <a:prstGeom prst="rect">
            <a:avLst/>
          </a:prstGeom>
        </p:spPr>
      </p:pic>
      <p:cxnSp>
        <p:nvCxnSpPr>
          <p:cNvPr id="33" name="直接连接符 32"/>
          <p:cNvCxnSpPr/>
          <p:nvPr/>
        </p:nvCxnSpPr>
        <p:spPr>
          <a:xfrm>
            <a:off x="531495" y="873125"/>
            <a:ext cx="3295015" cy="16510"/>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718820" y="359410"/>
            <a:ext cx="3397250" cy="521970"/>
          </a:xfrm>
          <a:prstGeom prst="rect">
            <a:avLst/>
          </a:prstGeom>
          <a:noFill/>
        </p:spPr>
        <p:txBody>
          <a:bodyPr wrap="square" rtlCol="0">
            <a:spAutoFit/>
            <a:scene3d>
              <a:camera prst="orthographicFront"/>
              <a:lightRig rig="threePt" dir="t"/>
            </a:scene3d>
          </a:bodyPr>
          <a:p>
            <a:pPr algn="ctr">
              <a:defRPr/>
            </a:pPr>
            <a:r>
              <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rPr>
              <a:t>库函数讲解</a:t>
            </a:r>
            <a:endParaRPr kumimoji="0" lang="zh-CN" altLang="en-US" sz="2800" b="1" i="0" kern="1200" cap="none" spc="0" normalizeH="0" baseline="0" noProof="0" dirty="0">
              <a:solidFill>
                <a:schemeClr val="accent1"/>
              </a:solidFill>
              <a:effectLst>
                <a:outerShdw blurRad="38100" dist="25400" dir="5400000" algn="ctr" rotWithShape="0">
                  <a:srgbClr val="6E747A">
                    <a:alpha val="43000"/>
                  </a:srgbClr>
                </a:outerShdw>
              </a:effectLst>
              <a:latin typeface="Arial" panose="020B0604020202020204"/>
              <a:ea typeface="微软雅黑" panose="020B0503020204020204" pitchFamily="34" charset="-122"/>
              <a:cs typeface="+mn-cs"/>
            </a:endParaRPr>
          </a:p>
        </p:txBody>
      </p:sp>
      <p:sp>
        <p:nvSpPr>
          <p:cNvPr id="100" name="文本框 99"/>
          <p:cNvSpPr txBox="1"/>
          <p:nvPr/>
        </p:nvSpPr>
        <p:spPr>
          <a:xfrm>
            <a:off x="1036955" y="1390650"/>
            <a:ext cx="9844405" cy="645160"/>
          </a:xfrm>
          <a:prstGeom prst="rect">
            <a:avLst/>
          </a:prstGeom>
          <a:noFill/>
          <a:ln w="9525">
            <a:noFill/>
          </a:ln>
        </p:spPr>
        <p:txBody>
          <a:bodyPr wrap="square">
            <a:spAutoFit/>
          </a:bodyPr>
          <a:p>
            <a:pPr indent="560705"/>
            <a:r>
              <a:rPr sz="3600" b="0">
                <a:latin typeface="Calibri" panose="020F0502020204030204" charset="0"/>
                <a:ea typeface="宋体" panose="02010600030101010101" pitchFamily="2" charset="-122"/>
              </a:rPr>
              <a:t>gpio_port_write(GPIOA,0xFFFF);</a:t>
            </a:r>
            <a:endParaRPr sz="3600" b="0">
              <a:latin typeface="Calibri" panose="020F0502020204030204" charset="0"/>
              <a:ea typeface="宋体" panose="02010600030101010101" pitchFamily="2" charset="-122"/>
            </a:endParaRPr>
          </a:p>
        </p:txBody>
      </p:sp>
      <p:sp>
        <p:nvSpPr>
          <p:cNvPr id="3" name="文本框 2"/>
          <p:cNvSpPr txBox="1"/>
          <p:nvPr/>
        </p:nvSpPr>
        <p:spPr>
          <a:xfrm>
            <a:off x="1036955" y="2451100"/>
            <a:ext cx="9844405" cy="645160"/>
          </a:xfrm>
          <a:prstGeom prst="rect">
            <a:avLst/>
          </a:prstGeom>
          <a:noFill/>
          <a:ln w="9525">
            <a:noFill/>
          </a:ln>
        </p:spPr>
        <p:txBody>
          <a:bodyPr wrap="square">
            <a:spAutoFit/>
          </a:bodyPr>
          <a:p>
            <a:pPr indent="560705"/>
            <a:r>
              <a:rPr sz="3600" b="0">
                <a:latin typeface="Calibri" panose="020F0502020204030204" charset="0"/>
                <a:ea typeface="宋体" panose="02010600030101010101" pitchFamily="2" charset="-122"/>
              </a:rPr>
              <a:t>GPIO_OCTL(gpio_periph) = (uint32_t)data;</a:t>
            </a:r>
            <a:endParaRPr sz="3600" b="0">
              <a:latin typeface="Calibri" panose="020F0502020204030204" charset="0"/>
              <a:ea typeface="宋体" panose="02010600030101010101" pitchFamily="2" charset="-122"/>
            </a:endParaRPr>
          </a:p>
        </p:txBody>
      </p:sp>
      <p:sp>
        <p:nvSpPr>
          <p:cNvPr id="4" name="文本框 3"/>
          <p:cNvSpPr txBox="1"/>
          <p:nvPr/>
        </p:nvSpPr>
        <p:spPr>
          <a:xfrm>
            <a:off x="936625" y="3511550"/>
            <a:ext cx="9844405" cy="1198880"/>
          </a:xfrm>
          <a:prstGeom prst="rect">
            <a:avLst/>
          </a:prstGeom>
          <a:noFill/>
          <a:ln w="9525">
            <a:noFill/>
          </a:ln>
        </p:spPr>
        <p:txBody>
          <a:bodyPr wrap="square">
            <a:spAutoFit/>
          </a:bodyPr>
          <a:p>
            <a:pPr indent="560705"/>
            <a:r>
              <a:rPr sz="3600" b="0">
                <a:latin typeface="Calibri" panose="020F0502020204030204" charset="0"/>
                <a:ea typeface="宋体" panose="02010600030101010101" pitchFamily="2" charset="-122"/>
              </a:rPr>
              <a:t> (*(volatile uint32_t *)(uint32_t)(0x40020014)) =  (uint32_t)0xFFFF；</a:t>
            </a:r>
            <a:endParaRPr sz="3600" b="0">
              <a:latin typeface="Calibri" panose="020F0502020204030204" charset="0"/>
              <a:ea typeface="宋体" panose="02010600030101010101" pitchFamily="2" charset="-122"/>
            </a:endParaRPr>
          </a:p>
        </p:txBody>
      </p:sp>
    </p:spTree>
    <p:custDataLst>
      <p:tags r:id="rId3"/>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lceda-logo-左右透底蓝字"/>
          <p:cNvPicPr>
            <a:picLocks noChangeAspect="1"/>
          </p:cNvPicPr>
          <p:nvPr/>
        </p:nvPicPr>
        <p:blipFill>
          <a:blip r:embed="rId1"/>
          <a:stretch>
            <a:fillRect/>
          </a:stretch>
        </p:blipFill>
        <p:spPr>
          <a:xfrm>
            <a:off x="161925" y="175260"/>
            <a:ext cx="2556510" cy="506095"/>
          </a:xfrm>
          <a:prstGeom prst="rect">
            <a:avLst/>
          </a:prstGeom>
        </p:spPr>
      </p:pic>
      <p:sp>
        <p:nvSpPr>
          <p:cNvPr id="7" name="TextBox 2"/>
          <p:cNvSpPr txBox="1"/>
          <p:nvPr>
            <p:custDataLst>
              <p:tags r:id="rId2"/>
            </p:custDataLst>
          </p:nvPr>
        </p:nvSpPr>
        <p:spPr>
          <a:xfrm>
            <a:off x="2821305" y="877580"/>
            <a:ext cx="1487170" cy="1240790"/>
          </a:xfrm>
          <a:prstGeom prst="rect">
            <a:avLst/>
          </a:prstGeom>
          <a:noFill/>
        </p:spPr>
        <p:txBody>
          <a:bodyPr wrap="square" lIns="90170" tIns="46990" rIns="90170" bIns="4699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58B6E5"/>
                </a:solidFill>
                <a:latin typeface="Arial" panose="020B0604020202020204" pitchFamily="34" charset="0"/>
                <a:ea typeface="微软雅黑" panose="020B0503020204020204" pitchFamily="34" charset="-122"/>
                <a:cs typeface="+mn-ea"/>
                <a:sym typeface="Arial" panose="020B0604020202020204" pitchFamily="34" charset="0"/>
              </a:rPr>
              <a:t>03</a:t>
            </a:r>
            <a:endParaRPr lang="en-US" altLang="zh-CN" sz="7200" b="1" spc="200" dirty="0">
              <a:solidFill>
                <a:srgbClr val="58B6E5"/>
              </a:solidFill>
              <a:latin typeface="Arial" panose="020B0604020202020204" pitchFamily="34" charset="0"/>
              <a:ea typeface="微软雅黑" panose="020B0503020204020204" pitchFamily="34" charset="-122"/>
              <a:cs typeface="+mn-ea"/>
              <a:sym typeface="Arial" panose="020B0604020202020204" pitchFamily="34" charset="0"/>
            </a:endParaRPr>
          </a:p>
        </p:txBody>
      </p:sp>
      <p:cxnSp>
        <p:nvCxnSpPr>
          <p:cNvPr id="8" name="直接连接符 7"/>
          <p:cNvCxnSpPr/>
          <p:nvPr>
            <p:custDataLst>
              <p:tags r:id="rId3"/>
            </p:custDataLst>
          </p:nvPr>
        </p:nvCxnSpPr>
        <p:spPr>
          <a:xfrm flipV="1">
            <a:off x="3043555" y="2049780"/>
            <a:ext cx="7160895" cy="68580"/>
          </a:xfrm>
          <a:prstGeom prst="line">
            <a:avLst/>
          </a:prstGeom>
          <a:ln w="25400">
            <a:solidFill>
              <a:srgbClr val="58B6E5"/>
            </a:solidFill>
          </a:ln>
        </p:spPr>
        <p:style>
          <a:lnRef idx="1">
            <a:schemeClr val="accent1"/>
          </a:lnRef>
          <a:fillRef idx="0">
            <a:schemeClr val="accent1"/>
          </a:fillRef>
          <a:effectRef idx="0">
            <a:schemeClr val="accent1"/>
          </a:effectRef>
          <a:fontRef idx="minor">
            <a:schemeClr val="tx1"/>
          </a:fontRef>
        </p:style>
      </p:cxnSp>
      <p:sp>
        <p:nvSpPr>
          <p:cNvPr id="12" name="标题 11"/>
          <p:cNvSpPr>
            <a:spLocks noGrp="1"/>
          </p:cNvSpPr>
          <p:nvPr>
            <p:ph type="ctrTitle" idx="14"/>
            <p:custDataLst>
              <p:tags r:id="rId4"/>
            </p:custDataLst>
          </p:nvPr>
        </p:nvSpPr>
        <p:spPr>
          <a:xfrm>
            <a:off x="4308475" y="1144905"/>
            <a:ext cx="6061710" cy="705485"/>
          </a:xfrm>
        </p:spPr>
        <p:txBody>
          <a:bodyPr>
            <a:noAutofit/>
          </a:bodyPr>
          <a:lstStyle/>
          <a:p>
            <a:r>
              <a:rPr lang="zh-CN" altLang="en-US" sz="4800">
                <a:solidFill>
                  <a:srgbClr val="58B6E5"/>
                </a:solidFill>
                <a:sym typeface="Arial" panose="020B0604020202020204" pitchFamily="34" charset="0"/>
              </a:rPr>
              <a:t>寄存器和库函数区别</a:t>
            </a:r>
            <a:endParaRPr lang="zh-CN" altLang="en-US" sz="4800">
              <a:solidFill>
                <a:srgbClr val="58B6E5"/>
              </a:solidFill>
              <a:sym typeface="Arial" panose="020B0604020202020204" pitchFamily="34" charset="0"/>
            </a:endParaRPr>
          </a:p>
        </p:txBody>
      </p:sp>
      <p:sp>
        <p:nvSpPr>
          <p:cNvPr id="10" name="文本框 9"/>
          <p:cNvSpPr txBox="1"/>
          <p:nvPr/>
        </p:nvSpPr>
        <p:spPr>
          <a:xfrm>
            <a:off x="1745615" y="2416810"/>
            <a:ext cx="9039225" cy="583565"/>
          </a:xfrm>
          <a:prstGeom prst="rect">
            <a:avLst/>
          </a:prstGeom>
          <a:noFill/>
        </p:spPr>
        <p:txBody>
          <a:bodyPr wrap="square" rtlCol="0">
            <a:spAutoFit/>
          </a:bodyPr>
          <a:p>
            <a:r>
              <a:rPr lang="zh-CN" altLang="en-US" sz="3200"/>
              <a:t></a:t>
            </a:r>
            <a:r>
              <a:rPr lang="en-US" altLang="zh-CN"/>
              <a:t>1.</a:t>
            </a:r>
            <a:r>
              <a:rPr lang="zh-CN" altLang="en-US"/>
              <a:t>寄存器更能理解原理，更直观，库函数相对来说屏蔽底层，直接面向应用。</a:t>
            </a:r>
            <a:endParaRPr lang="zh-CN" altLang="en-US"/>
          </a:p>
        </p:txBody>
      </p:sp>
      <p:sp>
        <p:nvSpPr>
          <p:cNvPr id="2" name="文本框 1"/>
          <p:cNvSpPr txBox="1"/>
          <p:nvPr/>
        </p:nvSpPr>
        <p:spPr>
          <a:xfrm>
            <a:off x="1745615" y="3298825"/>
            <a:ext cx="9039225" cy="860425"/>
          </a:xfrm>
          <a:prstGeom prst="rect">
            <a:avLst/>
          </a:prstGeom>
          <a:noFill/>
        </p:spPr>
        <p:txBody>
          <a:bodyPr wrap="square" rtlCol="0">
            <a:spAutoFit/>
          </a:bodyPr>
          <a:p>
            <a:r>
              <a:rPr lang="zh-CN" altLang="en-US" sz="3200"/>
              <a:t></a:t>
            </a:r>
            <a:r>
              <a:rPr lang="zh-CN" altLang="en-US" sz="1800"/>
              <a:t>2</a:t>
            </a:r>
            <a:r>
              <a:rPr lang="zh-CN" altLang="en-US"/>
              <a:t>.使用库函数较寄存器代码量会增大，库函数会把所有情况都考虑到函数里，有时会造成代码的冗余。</a:t>
            </a:r>
            <a:endParaRPr lang="zh-CN" altLang="en-US"/>
          </a:p>
        </p:txBody>
      </p:sp>
      <p:sp>
        <p:nvSpPr>
          <p:cNvPr id="4" name="文本框 3"/>
          <p:cNvSpPr txBox="1"/>
          <p:nvPr/>
        </p:nvSpPr>
        <p:spPr>
          <a:xfrm>
            <a:off x="1746250" y="4242435"/>
            <a:ext cx="9039225" cy="583565"/>
          </a:xfrm>
          <a:prstGeom prst="rect">
            <a:avLst/>
          </a:prstGeom>
          <a:noFill/>
        </p:spPr>
        <p:txBody>
          <a:bodyPr wrap="square" rtlCol="0">
            <a:spAutoFit/>
          </a:bodyPr>
          <a:p>
            <a:r>
              <a:rPr lang="zh-CN" altLang="en-US" sz="3200"/>
              <a:t></a:t>
            </a:r>
            <a:r>
              <a:rPr sz="1800"/>
              <a:t>3.</a:t>
            </a:r>
            <a:r>
              <a:t>库函数使用起来相对简单，容易上手，可快速开发应用，大大提高效率</a:t>
            </a:r>
            <a:r>
              <a:rPr lang="zh-CN" altLang="en-US"/>
              <a:t>。</a:t>
            </a:r>
            <a:endParaRPr lang="zh-CN" altLang="en-US"/>
          </a:p>
        </p:txBody>
      </p:sp>
      <p:sp>
        <p:nvSpPr>
          <p:cNvPr id="100" name="文本框 99"/>
          <p:cNvSpPr txBox="1"/>
          <p:nvPr/>
        </p:nvSpPr>
        <p:spPr>
          <a:xfrm>
            <a:off x="2155825" y="5160645"/>
            <a:ext cx="8219440" cy="645160"/>
          </a:xfrm>
          <a:prstGeom prst="rect">
            <a:avLst/>
          </a:prstGeom>
          <a:noFill/>
        </p:spPr>
        <p:txBody>
          <a:bodyPr wrap="square" rtlCol="0">
            <a:spAutoFit/>
          </a:bodyPr>
          <a:p>
            <a:pPr lvl="0" algn="l">
              <a:buClrTx/>
              <a:buSzTx/>
              <a:buFontTx/>
            </a:pPr>
            <a:r>
              <a:rPr sz="1800">
                <a:sym typeface="+mn-ea"/>
              </a:rPr>
              <a:t>4</a:t>
            </a:r>
            <a:r>
              <a:rPr sz="1800">
                <a:sym typeface="+mn-ea"/>
              </a:rPr>
              <a:t>.</a:t>
            </a:r>
            <a:r>
              <a:rPr sz="1800">
                <a:sym typeface="+mn-ea"/>
              </a:rPr>
              <a:t>寄存器占用内存少，速度快，在资源有限或者要求执行速度的情况下寄存器是一个不错的选择。</a:t>
            </a:r>
            <a:endParaRPr sz="1800">
              <a:sym typeface="+mn-ea"/>
            </a:endParaRPr>
          </a:p>
        </p:txBody>
      </p:sp>
    </p:spTree>
    <p:custDataLst>
      <p:tags r:id="rId5"/>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文本框 57"/>
          <p:cNvSpPr txBox="1"/>
          <p:nvPr/>
        </p:nvSpPr>
        <p:spPr>
          <a:xfrm>
            <a:off x="3329305" y="2525395"/>
            <a:ext cx="5527040" cy="937260"/>
          </a:xfrm>
          <a:prstGeom prst="rect">
            <a:avLst/>
          </a:prstGeom>
          <a:noFill/>
        </p:spPr>
        <p:txBody>
          <a:bodyPr wrap="square" rtlCol="0">
            <a:spAutoFit/>
          </a:bodyPr>
          <a:p>
            <a:pPr algn="dist"/>
            <a:r>
              <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rPr>
              <a:t>谢谢大家</a:t>
            </a:r>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9" name="文本框 58"/>
          <p:cNvSpPr txBox="1"/>
          <p:nvPr/>
        </p:nvSpPr>
        <p:spPr>
          <a:xfrm>
            <a:off x="2706370" y="355282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sp>
        <p:nvSpPr>
          <p:cNvPr id="2" name="文本框 1"/>
          <p:cNvSpPr txBox="1"/>
          <p:nvPr/>
        </p:nvSpPr>
        <p:spPr>
          <a:xfrm>
            <a:off x="3469005" y="1702435"/>
            <a:ext cx="5527040" cy="937260"/>
          </a:xfrm>
          <a:prstGeom prst="rect">
            <a:avLst/>
          </a:prstGeom>
          <a:noFill/>
        </p:spPr>
        <p:txBody>
          <a:bodyPr wrap="square" rtlCol="0">
            <a:spAutoFit/>
          </a:bodyPr>
          <a:p>
            <a:pPr algn="dist"/>
            <a:endParaRPr lang="zh-CN" altLang="en-US" sz="5500" b="1">
              <a:solidFill>
                <a:srgbClr val="35729C"/>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 name="文本框 2"/>
          <p:cNvSpPr txBox="1"/>
          <p:nvPr/>
        </p:nvSpPr>
        <p:spPr>
          <a:xfrm>
            <a:off x="2706370" y="3554095"/>
            <a:ext cx="6771640" cy="337185"/>
          </a:xfrm>
          <a:prstGeom prst="rect">
            <a:avLst/>
          </a:prstGeom>
          <a:noFill/>
        </p:spPr>
        <p:txBody>
          <a:bodyPr wrap="square" rtlCol="0">
            <a:spAutoFit/>
          </a:bodyPr>
          <a:p>
            <a:pPr algn="dist"/>
            <a:r>
              <a:rPr lang="zh-CN" altLang="en-US" sz="1600" cap="all">
                <a:solidFill>
                  <a:srgbClr val="35729C">
                    <a:alpha val="50000"/>
                  </a:srgbClr>
                </a:solidFill>
                <a:uFillTx/>
                <a:cs typeface="微软雅黑" panose="020B0503020204020204" pitchFamily="34" charset="-122"/>
              </a:rPr>
              <a:t>Thank you for your attention</a:t>
            </a:r>
            <a:endParaRPr lang="zh-CN" altLang="en-US" sz="1600" cap="all">
              <a:solidFill>
                <a:srgbClr val="35729C">
                  <a:alpha val="50000"/>
                </a:srgbClr>
              </a:solidFill>
              <a:uFillTx/>
              <a:cs typeface="微软雅黑" panose="020B0503020204020204" pitchFamily="34" charset="-122"/>
            </a:endParaRPr>
          </a:p>
        </p:txBody>
      </p:sp>
      <p:pic>
        <p:nvPicPr>
          <p:cNvPr id="5" name="图片 4" descr="lceda-logo-左右透底蓝字"/>
          <p:cNvPicPr>
            <a:picLocks noChangeAspect="1"/>
          </p:cNvPicPr>
          <p:nvPr/>
        </p:nvPicPr>
        <p:blipFill>
          <a:blip r:embed="rId1"/>
          <a:stretch>
            <a:fillRect/>
          </a:stretch>
        </p:blipFill>
        <p:spPr>
          <a:xfrm>
            <a:off x="212725" y="205105"/>
            <a:ext cx="2322830" cy="459740"/>
          </a:xfrm>
          <a:prstGeom prst="rect">
            <a:avLst/>
          </a:prstGeom>
        </p:spPr>
      </p:pic>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1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1_1"/>
  <p:tag name="KSO_WM_UNIT_ID" val="diagram20198924_4*l_h_a*1_1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7.xml><?xml version="1.0" encoding="utf-8"?>
<p:tagLst xmlns:p="http://schemas.openxmlformats.org/presentationml/2006/main">
  <p:tag name="KSO_WM_UNIT_DIAGRAM_MODELTYPE" val="stripeEnum"/>
  <p:tag name="KSO_WM_UNIT_SUBTYPE" val="a"/>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1_1"/>
  <p:tag name="KSO_WM_UNIT_ID" val="diagram20198924_4*l_h_f*1_1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5"/>
  <p:tag name="KSO_WM_UNIT_TEXT_FILL_FORE_SCHEMECOLOR_INDEX" val="14"/>
  <p:tag name="KSO_WM_UNIT_TEXT_FILL_TYPE" val="1"/>
  <p:tag name="KSO_WM_UNIT_USESOURCEFORMAT_APPLY" val="1"/>
</p:tagLst>
</file>

<file path=ppt/tags/tag118.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19.xml><?xml version="1.0" encoding="utf-8"?>
<p:tagLst xmlns:p="http://schemas.openxmlformats.org/presentationml/2006/main">
  <p:tag name="KSO_WM_UNIT_DIAGRAM_MODELTYPE" val="stripeEnum"/>
  <p:tag name="KSO_WM_UNIT_SUBTYPE" val="a"/>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2_1"/>
  <p:tag name="KSO_WM_UNIT_ID" val="diagram20198924_4*l_h_f*1_2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5"/>
  <p:tag name="KSO_WM_UNIT_TEXT_FILL_FORE_SCHEMECOLOR_INDEX" val="14"/>
  <p:tag name="KSO_WM_UNIT_TEXT_FILL_TYPE" val="1"/>
  <p:tag name="KSO_WM_UNIT_USESOURCEFORMAT_APPLY" val="1"/>
</p:tagLst>
</file>

<file path=ppt/tags/tag120.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diagram20198924_4*l_h_i*1_2_1"/>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21.xml><?xml version="1.0" encoding="utf-8"?>
<p:tagLst xmlns:p="http://schemas.openxmlformats.org/presentationml/2006/main">
  <p:tag name="KSO_WM_UNIT_DIAGRAM_MODELTYPE" val="stripeEnum"/>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diagram20198924_4*l_h_i*1_2_2"/>
  <p:tag name="KSO_WM_TEMPLATE_CATEGORY" val="diagram"/>
  <p:tag name="KSO_WM_TEMPLATE_INDEX" val="20198924"/>
  <p:tag name="KSO_WM_UNIT_LAYERLEVEL" val="1_1_1"/>
  <p:tag name="KSO_WM_TAG_VERSION" val="1.0"/>
  <p:tag name="KSO_WM_BEAUTIFY_FLAG" val="#wm#"/>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 name="KSO_WM_UNIT_USESOURCEFORMAT_APPLY" val="1"/>
</p:tagLst>
</file>

<file path=ppt/tags/tag122.xml><?xml version="1.0" encoding="utf-8"?>
<p:tagLst xmlns:p="http://schemas.openxmlformats.org/presentationml/2006/main">
  <p:tag name="KSO_WM_UNIT_DIAGRAM_MODELTYPE" val="stripeEnum"/>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a"/>
  <p:tag name="KSO_WM_UNIT_INDEX" val="1_2_1"/>
  <p:tag name="KSO_WM_UNIT_ID" val="diagram20198924_4*l_h_a*1_2_1"/>
  <p:tag name="KSO_WM_TEMPLATE_CATEGORY" val="diagram"/>
  <p:tag name="KSO_WM_TEMPLATE_INDEX" val="20198924"/>
  <p:tag name="KSO_WM_UNIT_LAYERLEVEL" val="1_1_1"/>
  <p:tag name="KSO_WM_TAG_VERSION" val="1.0"/>
  <p:tag name="KSO_WM_BEAUTIFY_FLAG" val="#wm#"/>
  <p:tag name="KSO_WM_UNIT_PRESET_TEXT" val="添加标题"/>
  <p:tag name="KSO_WM_UNIT_TEXT_FILL_FORE_SCHEMECOLOR_INDEX_BRIGHTNESS" val="0.35"/>
  <p:tag name="KSO_WM_UNIT_TEXT_FILL_FORE_SCHEMECOLOR_INDEX" val="13"/>
  <p:tag name="KSO_WM_UNIT_TEXT_FILL_TYPE" val="1"/>
  <p:tag name="KSO_WM_UNIT_USESOURCEFORMAT_APPLY" val="1"/>
</p:tagLst>
</file>

<file path=ppt/tags/tag123.xml><?xml version="1.0" encoding="utf-8"?>
<p:tagLst xmlns:p="http://schemas.openxmlformats.org/presentationml/2006/main">
  <p:tag name="KSO_WM_UNIT_DIAGRAM_MODELTYPE" val="stripeEnum"/>
  <p:tag name="KSO_WM_UNIT_SUBTYPE" val="a"/>
  <p:tag name="KSO_WM_UNIT_NOCLEAR" val="0"/>
  <p:tag name="KSO_WM_UNIT_HIGHLIGHT" val="0"/>
  <p:tag name="KSO_WM_UNIT_COMPATIBLE" val="0"/>
  <p:tag name="KSO_WM_UNIT_DIAGRAM_ISNUMVISUAL" val="0"/>
  <p:tag name="KSO_WM_UNIT_DIAGRAM_ISREFERUNIT" val="0"/>
  <p:tag name="KSO_WM_UNIT_PLACING_PICTURE_MD4" val="0"/>
  <p:tag name="KSO_WM_DIAGRAM_GROUP_CODE" val="l1-1"/>
  <p:tag name="KSO_WM_UNIT_TYPE" val="l_h_f"/>
  <p:tag name="KSO_WM_UNIT_INDEX" val="1_2_1"/>
  <p:tag name="KSO_WM_UNIT_ID" val="diagram20198924_4*l_h_f*1_2_1"/>
  <p:tag name="KSO_WM_TEMPLATE_CATEGORY" val="diagram"/>
  <p:tag name="KSO_WM_TEMPLATE_INDEX" val="20198924"/>
  <p:tag name="KSO_WM_UNIT_LAYERLEVEL" val="1_1_1"/>
  <p:tag name="KSO_WM_TAG_VERSION" val="1.0"/>
  <p:tag name="KSO_WM_BEAUTIFY_FLAG" val="#wm#"/>
  <p:tag name="KSO_WM_UNIT_PRESET_TEXT" val="单击此处添加文本具体内容，简明扼要的阐述您的观点。"/>
  <p:tag name="KSO_WM_UNIT_TEXT_FILL_FORE_SCHEMECOLOR_INDEX_BRIGHTNESS" val="-0.5"/>
  <p:tag name="KSO_WM_UNIT_TEXT_FILL_FORE_SCHEMECOLOR_INDEX" val="14"/>
  <p:tag name="KSO_WM_UNIT_TEXT_FILL_TYPE" val="1"/>
  <p:tag name="KSO_WM_UNIT_USESOURCEFORMAT_APPLY" val="1"/>
</p:tagLst>
</file>

<file path=ppt/tags/tag124.xml><?xml version="1.0" encoding="utf-8"?>
<p:tagLst xmlns:p="http://schemas.openxmlformats.org/presentationml/2006/main">
  <p:tag name="KSO_WM_BEAUTIFY_FLAG" val="#wm#"/>
  <p:tag name="KSO_WM_TEMPLATE_CATEGORY" val="diagram"/>
  <p:tag name="KSO_WM_TEMPLATE_INDEX" val="20198924"/>
  <p:tag name="KSO_WM_SLIDE_ID" val="diagram20198924_3"/>
  <p:tag name="KSO_WM_TEMPLATE_SUBCATEGORY" val="22"/>
  <p:tag name="KSO_WM_TEMPLATE_MASTER_TYPE" val="0"/>
  <p:tag name="KSO_WM_TEMPLATE_COLOR_TYPE" val="1"/>
  <p:tag name="KSO_WM_SLIDE_TYPE" val="text"/>
  <p:tag name="KSO_WM_SLIDE_SUBTYPE" val="diag"/>
  <p:tag name="KSO_WM_SLIDE_ITEM_CNT" val="5"/>
  <p:tag name="KSO_WM_SLIDE_INDEX" val="3"/>
  <p:tag name="KSO_WM_SLIDE_SIZE" val="900.387*205.958"/>
  <p:tag name="KSO_WM_SLIDE_POSITION" val="29.8064*167.021"/>
  <p:tag name="KSO_WM_DIAGRAM_GROUP_CODE" val="l1-1"/>
  <p:tag name="KSO_WM_SLIDE_DIAGTYPE" val="l"/>
  <p:tag name="KSO_WM_TAG_VERSION" val="1.0"/>
  <p:tag name="KSO_WM_SLIDE_LAYOUT" val="l"/>
  <p:tag name="KSO_WM_SLIDE_LAYOUT_CNT" val="1"/>
</p:tagLst>
</file>

<file path=ppt/tags/tag12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6.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2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3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UNIT_TABLE_BEAUTIFY" val="smartTable{ded85b71-7b5b-4a2a-a52a-f0e3bb3f191a}"/>
  <p:tag name="TABLE_ENDDRAG_ORIGIN_RECT" val="711*179"/>
  <p:tag name="TABLE_ENDDRAG_RECT" val="144*195*711*179"/>
</p:tagLst>
</file>

<file path=ppt/tags/tag13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9.xml><?xml version="1.0" encoding="utf-8"?>
<p:tagLst xmlns:p="http://schemas.openxmlformats.org/presentationml/2006/main">
  <p:tag name="KSO_WM_UNIT_TABLE_BEAUTIFY" val="smartTable{cf8a948f-fa83-4773-9647-35152ebb7213}"/>
  <p:tag name="TABLE_ENDDRAG_ORIGIN_RECT" val="634*409"/>
  <p:tag name="TABLE_ENDDRAG_RECT" val="139*72*634*409"/>
  <p:tag name="TABLE_AUTOADJUST_FLAG" val="1"/>
  <p:tag name="TABLE_RECT" val="139.883*72.8423*454.8*430.35"/>
  <p:tag name="TABLE_EMPHASIZE_COLOR" val="16736824"/>
  <p:tag name="TABLE_ONEKEY_SKIN_IDX" val="0"/>
  <p:tag name="TABLE_SKINIDX" val="0"/>
  <p:tag name="TABLE_COLORIDX" val="3"/>
  <p:tag name="TABLE_COLOR_RGB" val="0x000000*0xFFFFFF*0x212121*0xFFFFFF*0xFF6238*0xFFD147*0xFFB57D*0xFF7A51*0xFFD791*0xFF8C6D"/>
</p:tagLst>
</file>

<file path=ppt/tags/tag1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1.xml><?xml version="1.0" encoding="utf-8"?>
<p:tagLst xmlns:p="http://schemas.openxmlformats.org/presentationml/2006/main">
  <p:tag name="KSO_WM_UNIT_TABLE_BEAUTIFY" val="smartTable{cf8a948f-fa83-4773-9647-35152ebb7213}"/>
  <p:tag name="TABLE_ENDDRAG_ORIGIN_RECT" val="628*345"/>
  <p:tag name="TABLE_ENDDRAG_RECT" val="137*49*628*345"/>
  <p:tag name="TABLE_AUTOADJUST_FLAG" val="1"/>
  <p:tag name="TABLE_RECT" val="139.883*72.8423*454.8*430.35"/>
  <p:tag name="TABLE_EMPHASIZE_COLOR" val="16736824"/>
  <p:tag name="TABLE_ONEKEY_SKIN_IDX" val="0"/>
  <p:tag name="TABLE_SKINIDX" val="0"/>
  <p:tag name="TABLE_COLORIDX" val="3"/>
  <p:tag name="TABLE_COLOR_RGB" val="0x000000*0xFFFFFF*0x212121*0xFFFFFF*0xFF6238*0xFFD147*0xFFB57D*0xFF7A51*0xFFD791*0xFF8C6D"/>
</p:tagLst>
</file>

<file path=ppt/tags/tag14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4357"/>
  <p:tag name="KSO_WM_UNIT_ID" val="custom20204357_7*e*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4357"/>
  <p:tag name="KSO_WM_UNIT_ID" val="custom20204357_7*i*2"/>
  <p:tag name="KSO_WM_UNIT_TYPE" val="i"/>
  <p:tag name="KSO_WM_UNIT_INDEX" val="2"/>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4357"/>
  <p:tag name="KSO_WM_UNIT_ID" val="custom20204357_7*a*1"/>
  <p:tag name="KSO_WM_UNIT_ISNUMDGMTITLE" val="0"/>
</p:tagLst>
</file>

<file path=ppt/tags/tag15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3062</Words>
  <Application>WPS 演示</Application>
  <PresentationFormat>宽屏</PresentationFormat>
  <Paragraphs>310</Paragraphs>
  <Slides>21</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21</vt:i4>
      </vt:variant>
    </vt:vector>
  </HeadingPairs>
  <TitlesOfParts>
    <vt:vector size="31" baseType="lpstr">
      <vt:lpstr>Arial</vt:lpstr>
      <vt:lpstr>宋体</vt:lpstr>
      <vt:lpstr>Wingdings</vt:lpstr>
      <vt:lpstr>微软雅黑</vt:lpstr>
      <vt:lpstr>Wingdings</vt:lpstr>
      <vt:lpstr>Arial</vt:lpstr>
      <vt:lpstr>Arial Unicode MS</vt:lpstr>
      <vt:lpstr>Calibri</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库函数介绍</vt:lpstr>
      <vt:lpstr>PowerPoint 演示文稿</vt:lpstr>
      <vt:lpstr>PowerPoint 演示文稿</vt:lpstr>
      <vt:lpstr>PowerPoint 演示文稿</vt:lpstr>
      <vt:lpstr>PowerPoint 演示文稿</vt:lpstr>
      <vt:lpstr>PowerPoint 演示文稿</vt:lpstr>
      <vt:lpstr>寄存器和库函数区别</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冷月枫</cp:lastModifiedBy>
  <cp:revision>229</cp:revision>
  <dcterms:created xsi:type="dcterms:W3CDTF">2019-06-19T02:08:00Z</dcterms:created>
  <dcterms:modified xsi:type="dcterms:W3CDTF">2022-04-27T07:54:24Z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2052-11.1.0.11369</vt:lpwstr>
  </property>
  <property fmtid="{D5CDD505-2E9C-101B-9397-08002B2CF9AE}" pid="3" name="KSOTemplateUUID">
    <vt:lpwstr>v1.0_mb_UVDUVYxfrMBBv8iemHXVyg==</vt:lpwstr>
  </property>
  <property fmtid="{D5CDD505-2E9C-101B-9397-08002B2CF9AE}" pid="4" name="ICV">
    <vt:lpwstr>F4FD8076E9E2473C85D3F1F44504090E</vt:lpwstr>
  </property>
  <property fmtid="{D5CDD505-2E9C-101B-9397-08002B2CF9AE}" pid="5" name="KSOSaveFontToCloudKey">
    <vt:lpwstr>203183318_embed</vt:lpwstr>
  </property>
</Properties>
</file>