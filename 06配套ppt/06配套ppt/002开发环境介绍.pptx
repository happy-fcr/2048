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7"/>
  </p:notesMasterIdLst>
  <p:handoutMasterIdLst>
    <p:handoutMasterId r:id="rId15"/>
  </p:handoutMasterIdLst>
  <p:sldIdLst>
    <p:sldId id="409" r:id="rId4"/>
    <p:sldId id="497" r:id="rId5"/>
    <p:sldId id="490" r:id="rId6"/>
    <p:sldId id="606" r:id="rId8"/>
    <p:sldId id="607" r:id="rId9"/>
    <p:sldId id="673" r:id="rId10"/>
    <p:sldId id="674" r:id="rId11"/>
    <p:sldId id="675" r:id="rId12"/>
    <p:sldId id="595" r:id="rId13"/>
    <p:sldId id="427" r:id="rId14"/>
  </p:sldIdLst>
  <p:sldSz cx="12192000" cy="6858000"/>
  <p:notesSz cx="6858000" cy="9144000"/>
  <p:embeddedFontLst>
    <p:embeddedFont>
      <p:font typeface="微软雅黑" panose="020B0503020204020204" pitchFamily="34" charset="-122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10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9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4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5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36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334000" y="2529205"/>
            <a:ext cx="65087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开发板环境介绍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80" y="139065"/>
            <a:ext cx="2322830" cy="459740"/>
          </a:xfrm>
          <a:prstGeom prst="rect">
            <a:avLst/>
          </a:prstGeom>
        </p:spPr>
      </p:pic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文本框 53"/>
          <p:cNvSpPr txBox="1"/>
          <p:nvPr>
            <p:custDataLst>
              <p:tags r:id="rId1"/>
            </p:custDataLst>
          </p:nvPr>
        </p:nvSpPr>
        <p:spPr>
          <a:xfrm>
            <a:off x="1952661" y="3298986"/>
            <a:ext cx="3410854" cy="1106679"/>
          </a:xfrm>
          <a:prstGeom prst="rect">
            <a:avLst/>
          </a:prstGeom>
          <a:noFill/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MDK5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社区版安装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2"/>
            </p:custDataLst>
          </p:nvPr>
        </p:nvSpPr>
        <p:spPr>
          <a:xfrm>
            <a:off x="2264410" y="4495800"/>
            <a:ext cx="3014980" cy="899795"/>
          </a:xfrm>
          <a:prstGeom prst="rect">
            <a:avLst/>
          </a:prstGeom>
          <a:noFill/>
        </p:spPr>
        <p:txBody>
          <a:bodyPr wrap="square" lIns="90000" tIns="0" rIns="90000" bIns="4680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lang="zh-CN" altLang="en-US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社区版</a:t>
            </a:r>
            <a:r>
              <a:rPr lang="en-US" altLang="zh-CN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keil</a:t>
            </a:r>
            <a:endParaRPr lang="en-US" altLang="zh-CN" sz="2000" spc="1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6492607" y="3370005"/>
            <a:ext cx="4141987" cy="1106679"/>
          </a:xfrm>
          <a:prstGeom prst="rect">
            <a:avLst/>
          </a:prstGeom>
          <a:noFill/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下载方式介绍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7456274" y="4405623"/>
            <a:ext cx="4539847" cy="2473754"/>
          </a:xfrm>
          <a:prstGeom prst="rect">
            <a:avLst/>
          </a:prstGeom>
          <a:noFill/>
        </p:spPr>
        <p:txBody>
          <a:bodyPr wrap="square" lIns="90000" tIns="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介绍几种下载方式</a:t>
            </a:r>
            <a:endParaRPr lang="zh-CN" altLang="en-US" sz="2000" spc="1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5"/>
            </p:custDataLst>
          </p:nvPr>
        </p:nvSpPr>
        <p:spPr>
          <a:xfrm>
            <a:off x="6983654" y="1693595"/>
            <a:ext cx="1336538" cy="1557309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3" name="任意形状 62" descr="A2"/>
          <p:cNvSpPr/>
          <p:nvPr>
            <p:custDataLst>
              <p:tags r:id="rId6"/>
            </p:custDataLst>
          </p:nvPr>
        </p:nvSpPr>
        <p:spPr>
          <a:xfrm>
            <a:off x="8657006" y="1694981"/>
            <a:ext cx="1350413" cy="1513743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3" name="任意形状 52" descr="A1"/>
          <p:cNvSpPr/>
          <p:nvPr>
            <p:custDataLst>
              <p:tags r:id="rId7"/>
            </p:custDataLst>
          </p:nvPr>
        </p:nvSpPr>
        <p:spPr>
          <a:xfrm>
            <a:off x="4178347" y="1687692"/>
            <a:ext cx="867668" cy="1521030"/>
          </a:xfrm>
          <a:custGeom>
            <a:avLst/>
            <a:gdLst>
              <a:gd name="connsiteX0" fmla="*/ 216296 w 410235"/>
              <a:gd name="connsiteY0" fmla="*/ 0 h 719146"/>
              <a:gd name="connsiteX1" fmla="*/ 410235 w 410235"/>
              <a:gd name="connsiteY1" fmla="*/ 0 h 719146"/>
              <a:gd name="connsiteX2" fmla="*/ 410235 w 410235"/>
              <a:gd name="connsiteY2" fmla="*/ 719146 h 719146"/>
              <a:gd name="connsiteX3" fmla="*/ 216319 w 410235"/>
              <a:gd name="connsiteY3" fmla="*/ 719146 h 719146"/>
              <a:gd name="connsiteX4" fmla="*/ 216319 w 410235"/>
              <a:gd name="connsiteY4" fmla="*/ 208872 h 719146"/>
              <a:gd name="connsiteX5" fmla="*/ 0 w 410235"/>
              <a:gd name="connsiteY5" fmla="*/ 396828 h 719146"/>
              <a:gd name="connsiteX6" fmla="*/ 0 w 410235"/>
              <a:gd name="connsiteY6" fmla="*/ 187979 h 719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0235" h="719146">
                <a:moveTo>
                  <a:pt x="216296" y="0"/>
                </a:moveTo>
                <a:lnTo>
                  <a:pt x="410235" y="0"/>
                </a:lnTo>
                <a:lnTo>
                  <a:pt x="410235" y="719146"/>
                </a:lnTo>
                <a:lnTo>
                  <a:pt x="216319" y="719146"/>
                </a:lnTo>
                <a:lnTo>
                  <a:pt x="216319" y="208872"/>
                </a:lnTo>
                <a:lnTo>
                  <a:pt x="0" y="396828"/>
                </a:lnTo>
                <a:lnTo>
                  <a:pt x="0" y="187979"/>
                </a:lnTo>
                <a:close/>
              </a:path>
            </a:pathLst>
          </a:custGeom>
          <a:solidFill>
            <a:schemeClr val="accent1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" name="任意形状 50" descr="A0"/>
          <p:cNvSpPr/>
          <p:nvPr>
            <p:custDataLst>
              <p:tags r:id="rId8"/>
            </p:custDataLst>
          </p:nvPr>
        </p:nvSpPr>
        <p:spPr>
          <a:xfrm>
            <a:off x="2264153" y="1693595"/>
            <a:ext cx="1336538" cy="1557309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3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1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" y="175260"/>
            <a:ext cx="2556510" cy="506095"/>
          </a:xfrm>
          <a:prstGeom prst="rect">
            <a:avLst/>
          </a:prstGeom>
        </p:spPr>
      </p:pic>
      <p:sp>
        <p:nvSpPr>
          <p:cNvPr id="7" name="TextBox 2"/>
          <p:cNvSpPr txBox="1"/>
          <p:nvPr>
            <p:custDataLst>
              <p:tags r:id="rId2"/>
            </p:custDataLst>
          </p:nvPr>
        </p:nvSpPr>
        <p:spPr>
          <a:xfrm>
            <a:off x="2828290" y="248667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 flipV="1">
            <a:off x="3050540" y="3721735"/>
            <a:ext cx="6631940" cy="571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1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>
          <a:xfrm>
            <a:off x="4315460" y="2752725"/>
            <a:ext cx="5763895" cy="705485"/>
          </a:xfrm>
        </p:spPr>
        <p:txBody>
          <a:bodyPr>
            <a:noAutofit/>
          </a:bodyPr>
          <a:lstStyle/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MDK5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社区版安装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259183" y="330041"/>
            <a:ext cx="2967355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MDK5</a:t>
            </a: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社区版介绍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88465" y="1349375"/>
            <a:ext cx="7915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2022</a:t>
            </a:r>
            <a:r>
              <a:rPr lang="zh-CN" altLang="en-US"/>
              <a:t>年初，</a:t>
            </a:r>
            <a:r>
              <a:rPr lang="en-US" altLang="zh-CN"/>
              <a:t>Keil</a:t>
            </a:r>
            <a:r>
              <a:rPr lang="zh-CN" altLang="en-US"/>
              <a:t>官方推出了</a:t>
            </a:r>
            <a:r>
              <a:rPr lang="en-US" altLang="zh-CN"/>
              <a:t>MDK</a:t>
            </a:r>
            <a:r>
              <a:rPr lang="zh-CN" altLang="en-US"/>
              <a:t>社区版（</a:t>
            </a:r>
            <a:r>
              <a:rPr lang="en-US" altLang="zh-CN"/>
              <a:t>MDK-Community edition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688465" y="1987550"/>
            <a:ext cx="2108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特点：</a:t>
            </a:r>
            <a:endParaRPr lang="zh-CN" altLang="en-US" sz="28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37105" y="2668905"/>
            <a:ext cx="828421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/>
            </a:pPr>
            <a:r>
              <a:rPr lang="zh-CN" altLang="en-US" sz="4000"/>
              <a:t>免费</a:t>
            </a:r>
            <a:endParaRPr lang="zh-CN" altLang="en-US" sz="4000"/>
          </a:p>
          <a:p>
            <a:pPr marL="342900" indent="-342900">
              <a:buFont typeface="+mj-lt"/>
              <a:buAutoNum type="arabicPeriod"/>
            </a:pPr>
            <a:r>
              <a:rPr lang="zh-CN" altLang="en-US" sz="4000"/>
              <a:t>没有代码大小限制</a:t>
            </a:r>
            <a:endParaRPr lang="zh-CN" altLang="en-US" sz="4000"/>
          </a:p>
          <a:p>
            <a:pPr marL="342900" indent="-342900">
              <a:buFont typeface="+mj-lt"/>
              <a:buAutoNum type="arabicPeriod"/>
            </a:pPr>
            <a:r>
              <a:rPr lang="zh-CN" altLang="en-US" sz="4000"/>
              <a:t>可供电子爱好者、学生、学者等群体非商业免费评估和使用。</a:t>
            </a:r>
            <a:endParaRPr lang="zh-CN" altLang="en-US" sz="4000"/>
          </a:p>
        </p:txBody>
      </p:sp>
      <p:sp>
        <p:nvSpPr>
          <p:cNvPr id="7" name="文本框 6"/>
          <p:cNvSpPr txBox="1"/>
          <p:nvPr/>
        </p:nvSpPr>
        <p:spPr>
          <a:xfrm>
            <a:off x="1867535" y="5529580"/>
            <a:ext cx="2108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B050"/>
                </a:solidFill>
              </a:rPr>
              <a:t>下载链接：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76370" y="5606415"/>
            <a:ext cx="6055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2060"/>
                </a:solidFill>
              </a:rPr>
              <a:t>https://www.keil.arm.com/mdk-community/</a:t>
            </a:r>
            <a:endParaRPr lang="zh-CN" altLang="en-US" b="1">
              <a:solidFill>
                <a:srgbClr val="002060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" y="175260"/>
            <a:ext cx="2556510" cy="506095"/>
          </a:xfrm>
          <a:prstGeom prst="rect">
            <a:avLst/>
          </a:prstGeom>
        </p:spPr>
      </p:pic>
      <p:sp>
        <p:nvSpPr>
          <p:cNvPr id="7" name="TextBox 2"/>
          <p:cNvSpPr txBox="1"/>
          <p:nvPr>
            <p:custDataLst>
              <p:tags r:id="rId2"/>
            </p:custDataLst>
          </p:nvPr>
        </p:nvSpPr>
        <p:spPr>
          <a:xfrm>
            <a:off x="3388360" y="252667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58B6E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58B6E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 flipV="1">
            <a:off x="3610610" y="3717925"/>
            <a:ext cx="5203190" cy="49530"/>
          </a:xfrm>
          <a:prstGeom prst="line">
            <a:avLst/>
          </a:prstGeom>
          <a:ln w="25400">
            <a:solidFill>
              <a:srgbClr val="58B6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1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>
          <a:xfrm>
            <a:off x="4875530" y="2792730"/>
            <a:ext cx="4074795" cy="705485"/>
          </a:xfrm>
        </p:spPr>
        <p:txBody>
          <a:bodyPr>
            <a:noAutofit/>
          </a:bodyPr>
          <a:lstStyle/>
          <a:p>
            <a:r>
              <a:rPr lang="zh-CN" altLang="en-US" sz="4800">
                <a:solidFill>
                  <a:srgbClr val="58B6E5"/>
                </a:solidFill>
                <a:sym typeface="Arial" panose="020B0604020202020204" pitchFamily="34" charset="0"/>
              </a:rPr>
              <a:t>下载方式介绍</a:t>
            </a:r>
            <a:endParaRPr lang="zh-CN" altLang="en-US" sz="4800">
              <a:solidFill>
                <a:srgbClr val="58B6E5"/>
              </a:solidFill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40756" y="359251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串口下载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47875" y="4248150"/>
            <a:ext cx="7510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我们使用串口下载需要配置为</a:t>
            </a:r>
            <a:r>
              <a:rPr lang="en-US" altLang="zh-CN"/>
              <a:t>ISP</a:t>
            </a:r>
            <a:r>
              <a:rPr lang="zh-CN" altLang="en-US"/>
              <a:t>模式，也就是将</a:t>
            </a:r>
            <a:r>
              <a:rPr lang="en-US" altLang="zh-CN"/>
              <a:t>BOOT0</a:t>
            </a:r>
            <a:r>
              <a:rPr lang="zh-CN" altLang="en-US"/>
              <a:t>置</a:t>
            </a:r>
            <a:r>
              <a:rPr lang="en-US" altLang="zh-CN"/>
              <a:t>1 BOOT1</a:t>
            </a:r>
            <a:r>
              <a:rPr lang="zh-CN" altLang="en-US"/>
              <a:t>置</a:t>
            </a:r>
            <a:r>
              <a:rPr lang="en-US" altLang="zh-CN"/>
              <a:t>0 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730" y="1188720"/>
            <a:ext cx="5105400" cy="2981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47875" y="4805045"/>
            <a:ext cx="7815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我们下载的时候先按下</a:t>
            </a:r>
            <a:r>
              <a:rPr lang="en-US" altLang="zh-CN"/>
              <a:t>BOOT0</a:t>
            </a:r>
            <a:r>
              <a:rPr lang="zh-CN" altLang="en-US"/>
              <a:t>按键，再按复位按键，最后点击软件上的下载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47875" y="5591175"/>
            <a:ext cx="2494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串口软件放在</a:t>
            </a:r>
            <a:r>
              <a:rPr lang="en-US" altLang="zh-CN"/>
              <a:t>    </a:t>
            </a:r>
            <a:r>
              <a:rPr lang="zh-CN" altLang="en-US"/>
              <a:t>目录下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31231" y="359251"/>
            <a:ext cx="162433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DFU</a:t>
            </a: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下载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28770" y="1554480"/>
            <a:ext cx="5193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http://www.gd32mcu.com/cn/download/7/p/2?kw=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19935" y="1477645"/>
            <a:ext cx="2108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0B050"/>
                </a:solidFill>
              </a:rPr>
              <a:t>下载链接：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59610" y="3014980"/>
            <a:ext cx="2108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chemeClr val="accent2"/>
                </a:solidFill>
              </a:rPr>
              <a:t>工具下载：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19935" y="4996815"/>
            <a:ext cx="2108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chemeClr val="accent2"/>
                </a:solidFill>
              </a:rPr>
              <a:t>驱动下载：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44503" y="359251"/>
            <a:ext cx="243522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SWD</a:t>
            </a:r>
            <a:r>
              <a:rPr kumimoji="0" lang="zh-CN" altLang="en-US" sz="2800" b="1" i="0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下载接口</a:t>
            </a:r>
            <a:endParaRPr kumimoji="0" lang="zh-CN" altLang="en-US" sz="2800" b="1" i="0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110" y="1504315"/>
            <a:ext cx="4152900" cy="36487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58390" y="5596255"/>
            <a:ext cx="1958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核心板接口</a:t>
            </a:r>
            <a:endParaRPr lang="zh-CN" sz="2400" b="1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72425" y="5596255"/>
            <a:ext cx="2098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DAPLink</a:t>
            </a:r>
            <a:r>
              <a:rPr lang="zh-CN" sz="2400" b="1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接口</a:t>
            </a:r>
            <a:endParaRPr lang="zh-CN" sz="2400" b="1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720" y="1504315"/>
            <a:ext cx="3073400" cy="36493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>
            <a:stCxn id="27" idx="2"/>
          </p:cNvCxnSpPr>
          <p:nvPr/>
        </p:nvCxnSpPr>
        <p:spPr>
          <a:xfrm>
            <a:off x="492125" y="877570"/>
            <a:ext cx="3063875" cy="4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56276" y="300196"/>
            <a:ext cx="233680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lvl="0" algn="ctr"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2E8CE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立创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2E8CE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EDA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2E8CE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愿景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任意多边形 3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293955" y="1323220"/>
            <a:ext cx="815283" cy="639829"/>
          </a:xfrm>
          <a:custGeom>
            <a:avLst/>
            <a:gdLst/>
            <a:ahLst/>
            <a:cxnLst/>
            <a:rect l="l" t="t" r="r" b="b"/>
            <a:pathLst>
              <a:path w="346472" h="271909">
                <a:moveTo>
                  <a:pt x="321916" y="0"/>
                </a:moveTo>
                <a:lnTo>
                  <a:pt x="346472" y="52238"/>
                </a:lnTo>
                <a:cubicBezTo>
                  <a:pt x="321171" y="60573"/>
                  <a:pt x="303163" y="72181"/>
                  <a:pt x="292448" y="87064"/>
                </a:cubicBezTo>
                <a:cubicBezTo>
                  <a:pt x="281732" y="101947"/>
                  <a:pt x="276077" y="121741"/>
                  <a:pt x="275481" y="146447"/>
                </a:cubicBezTo>
                <a:lnTo>
                  <a:pt x="336203" y="146447"/>
                </a:lnTo>
                <a:lnTo>
                  <a:pt x="336203" y="271909"/>
                </a:lnTo>
                <a:lnTo>
                  <a:pt x="210741" y="271909"/>
                </a:lnTo>
                <a:lnTo>
                  <a:pt x="210741" y="181719"/>
                </a:lnTo>
                <a:cubicBezTo>
                  <a:pt x="210741" y="145405"/>
                  <a:pt x="213866" y="116830"/>
                  <a:pt x="220117" y="95994"/>
                </a:cubicBezTo>
                <a:cubicBezTo>
                  <a:pt x="226368" y="75158"/>
                  <a:pt x="238200" y="56331"/>
                  <a:pt x="255613" y="39514"/>
                </a:cubicBezTo>
                <a:cubicBezTo>
                  <a:pt x="273026" y="22696"/>
                  <a:pt x="295126" y="9525"/>
                  <a:pt x="321916" y="0"/>
                </a:cubicBezTo>
                <a:close/>
                <a:moveTo>
                  <a:pt x="111175" y="0"/>
                </a:moveTo>
                <a:lnTo>
                  <a:pt x="135732" y="52238"/>
                </a:lnTo>
                <a:cubicBezTo>
                  <a:pt x="110728" y="60573"/>
                  <a:pt x="92795" y="72181"/>
                  <a:pt x="81930" y="87064"/>
                </a:cubicBezTo>
                <a:cubicBezTo>
                  <a:pt x="71066" y="101947"/>
                  <a:pt x="65485" y="121741"/>
                  <a:pt x="65187" y="146447"/>
                </a:cubicBezTo>
                <a:lnTo>
                  <a:pt x="125462" y="146447"/>
                </a:lnTo>
                <a:lnTo>
                  <a:pt x="125462" y="271909"/>
                </a:lnTo>
                <a:lnTo>
                  <a:pt x="0" y="271909"/>
                </a:lnTo>
                <a:lnTo>
                  <a:pt x="0" y="181719"/>
                </a:lnTo>
                <a:cubicBezTo>
                  <a:pt x="0" y="145405"/>
                  <a:pt x="3200" y="116830"/>
                  <a:pt x="9600" y="95994"/>
                </a:cubicBezTo>
                <a:cubicBezTo>
                  <a:pt x="15999" y="75158"/>
                  <a:pt x="27906" y="56331"/>
                  <a:pt x="45319" y="39514"/>
                </a:cubicBezTo>
                <a:cubicBezTo>
                  <a:pt x="62731" y="22696"/>
                  <a:pt x="84684" y="9525"/>
                  <a:pt x="111175" y="0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6" name="任意多边形 3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rot="10800000">
            <a:off x="10018006" y="4894868"/>
            <a:ext cx="859084" cy="674203"/>
          </a:xfrm>
          <a:custGeom>
            <a:avLst/>
            <a:gdLst/>
            <a:ahLst/>
            <a:cxnLst/>
            <a:rect l="l" t="t" r="r" b="b"/>
            <a:pathLst>
              <a:path w="346472" h="271909">
                <a:moveTo>
                  <a:pt x="321916" y="0"/>
                </a:moveTo>
                <a:lnTo>
                  <a:pt x="346472" y="52238"/>
                </a:lnTo>
                <a:cubicBezTo>
                  <a:pt x="321171" y="60573"/>
                  <a:pt x="303163" y="72181"/>
                  <a:pt x="292448" y="87064"/>
                </a:cubicBezTo>
                <a:cubicBezTo>
                  <a:pt x="281732" y="101947"/>
                  <a:pt x="276077" y="121741"/>
                  <a:pt x="275481" y="146447"/>
                </a:cubicBezTo>
                <a:lnTo>
                  <a:pt x="336203" y="146447"/>
                </a:lnTo>
                <a:lnTo>
                  <a:pt x="336203" y="271909"/>
                </a:lnTo>
                <a:lnTo>
                  <a:pt x="210741" y="271909"/>
                </a:lnTo>
                <a:lnTo>
                  <a:pt x="210741" y="181719"/>
                </a:lnTo>
                <a:cubicBezTo>
                  <a:pt x="210741" y="145405"/>
                  <a:pt x="213866" y="116830"/>
                  <a:pt x="220117" y="95994"/>
                </a:cubicBezTo>
                <a:cubicBezTo>
                  <a:pt x="226368" y="75158"/>
                  <a:pt x="238200" y="56331"/>
                  <a:pt x="255613" y="39514"/>
                </a:cubicBezTo>
                <a:cubicBezTo>
                  <a:pt x="273026" y="22696"/>
                  <a:pt x="295126" y="9525"/>
                  <a:pt x="321916" y="0"/>
                </a:cubicBezTo>
                <a:close/>
                <a:moveTo>
                  <a:pt x="111175" y="0"/>
                </a:moveTo>
                <a:lnTo>
                  <a:pt x="135732" y="52238"/>
                </a:lnTo>
                <a:cubicBezTo>
                  <a:pt x="110728" y="60573"/>
                  <a:pt x="92795" y="72181"/>
                  <a:pt x="81930" y="87064"/>
                </a:cubicBezTo>
                <a:cubicBezTo>
                  <a:pt x="71066" y="101947"/>
                  <a:pt x="65485" y="121741"/>
                  <a:pt x="65187" y="146447"/>
                </a:cubicBezTo>
                <a:lnTo>
                  <a:pt x="125462" y="146447"/>
                </a:lnTo>
                <a:lnTo>
                  <a:pt x="125462" y="271909"/>
                </a:lnTo>
                <a:lnTo>
                  <a:pt x="0" y="271909"/>
                </a:lnTo>
                <a:lnTo>
                  <a:pt x="0" y="181719"/>
                </a:lnTo>
                <a:cubicBezTo>
                  <a:pt x="0" y="145405"/>
                  <a:pt x="3200" y="116830"/>
                  <a:pt x="9600" y="95994"/>
                </a:cubicBezTo>
                <a:cubicBezTo>
                  <a:pt x="15999" y="75158"/>
                  <a:pt x="27906" y="56331"/>
                  <a:pt x="45319" y="39514"/>
                </a:cubicBezTo>
                <a:cubicBezTo>
                  <a:pt x="62731" y="22696"/>
                  <a:pt x="84684" y="9525"/>
                  <a:pt x="111175" y="0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520825" y="2404110"/>
            <a:ext cx="9277985" cy="1955165"/>
          </a:xfrm>
          <a:prstGeom prst="rect">
            <a:avLst/>
          </a:prstGeom>
        </p:spPr>
        <p:txBody>
          <a:bodyPr wrap="square" anchor="ctr" anchorCtr="0"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立创</a:t>
            </a:r>
            <a:r>
              <a:rPr kumimoji="0" lang="en-US" altLang="zh-CN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EDA</a:t>
            </a:r>
            <a:endParaRPr kumimoji="0" lang="en-US" altLang="zh-CN" sz="3600" b="1" i="0" u="none" strike="noStrike" kern="1200" cap="none" spc="200" normalizeH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立志成为全球工程师首选的</a:t>
            </a:r>
            <a:r>
              <a:rPr kumimoji="0" lang="en-US" altLang="zh-CN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EDA</a:t>
            </a:r>
            <a:r>
              <a:rPr kumimoji="0" lang="zh-CN" altLang="en-US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设计工具！</a:t>
            </a:r>
            <a:endParaRPr kumimoji="0" lang="zh-CN" altLang="en-US" sz="3600" b="1" i="0" u="none" strike="noStrike" kern="1200" cap="none" spc="200" normalizeH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--</a:t>
            </a:r>
            <a:r>
              <a:rPr kumimoji="0" lang="zh-CN" altLang="en-US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立创</a:t>
            </a:r>
            <a:r>
              <a:rPr kumimoji="0" lang="en-US" altLang="zh-CN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EDA</a:t>
            </a:r>
            <a:r>
              <a:rPr kumimoji="0" lang="zh-CN" altLang="en-US" sz="3600" b="1" i="0" u="none" strike="noStrike" kern="1200" cap="none" spc="200" normalizeH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团队</a:t>
            </a:r>
            <a:endParaRPr kumimoji="0" lang="zh-CN" altLang="en-US" sz="3600" b="1" i="0" u="none" strike="noStrike" kern="1200" cap="none" spc="200" normalizeH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5" name="图片 4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25" y="205105"/>
            <a:ext cx="2322830" cy="4597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1_1"/>
  <p:tag name="KSO_WM_UNIT_ID" val="diagram20198924_4*l_h_a*1_1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f"/>
  <p:tag name="KSO_WM_UNIT_INDEX" val="1_1_1"/>
  <p:tag name="KSO_WM_UNIT_ID" val="diagram20198924_4*l_h_f*1_1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_BRIGHTNESS" val="-0.5"/>
  <p:tag name="KSO_WM_UNIT_TEXT_FILL_FORE_SCHEMECOLOR_INDEX" val="14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f"/>
  <p:tag name="KSO_WM_UNIT_INDEX" val="1_2_1"/>
  <p:tag name="KSO_WM_UNIT_ID" val="diagram20198924_4*l_h_f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_BRIGHTNESS" val="-0.5"/>
  <p:tag name="KSO_WM_UNIT_TEXT_FILL_FORE_SCHEMECOLOR_INDEX" val="14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198924_4*l_h_i*1_1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198924_4*l_h_i*1_1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634_1*i*1"/>
  <p:tag name="KSO_WM_TEMPLATE_CATEGORY" val="diagram"/>
  <p:tag name="KSO_WM_TEMPLATE_INDEX" val="20200634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634_1*i*2"/>
  <p:tag name="KSO_WM_TEMPLATE_CATEGORY" val="diagram"/>
  <p:tag name="KSO_WM_TEMPLATE_INDEX" val="20200634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PRESET_TEXT" val="世界上一成不变的东西，&#13;只有“任何事物都是在不断变化的”这条真理。&#13; &#13;                                             —— 斯里兰卡"/>
  <p:tag name="KSO_WM_UNIT_NOCLEAR" val="0"/>
  <p:tag name="KSO_WM_UNIT_VALUE" val="7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634_1*f*1"/>
  <p:tag name="KSO_WM_TEMPLATE_CATEGORY" val="diagram"/>
  <p:tag name="KSO_WM_TEMPLATE_INDEX" val="20200634"/>
  <p:tag name="KSO_WM_UNIT_LAYERLEVEL" val="1"/>
  <p:tag name="KSO_WM_TAG_VERSION" val="1.0"/>
  <p:tag name="KSO_WM_BEAUTIFY_FLAG" val="#wm#"/>
  <p:tag name="KSO_WM_UNIT_SUBTYPE" val="a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WPS 演示</Application>
  <PresentationFormat>宽屏</PresentationFormat>
  <Paragraphs>68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开发板核心板初探</vt:lpstr>
      <vt:lpstr>PowerPoint 演示文稿</vt:lpstr>
      <vt:lpstr>板载外设讲解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176</cp:revision>
  <dcterms:created xsi:type="dcterms:W3CDTF">2019-06-19T02:08:00Z</dcterms:created>
  <dcterms:modified xsi:type="dcterms:W3CDTF">2022-04-07T08:32:43Z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2052-11.1.0.11369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