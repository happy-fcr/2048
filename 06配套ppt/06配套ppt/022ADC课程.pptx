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9"/>
  </p:handoutMasterIdLst>
  <p:sldIdLst>
    <p:sldId id="409" r:id="rId4"/>
    <p:sldId id="497" r:id="rId6"/>
    <p:sldId id="720" r:id="rId7"/>
    <p:sldId id="722" r:id="rId8"/>
    <p:sldId id="751" r:id="rId9"/>
    <p:sldId id="730" r:id="rId10"/>
    <p:sldId id="738" r:id="rId11"/>
    <p:sldId id="716" r:id="rId12"/>
    <p:sldId id="755" r:id="rId13"/>
    <p:sldId id="759" r:id="rId14"/>
    <p:sldId id="762" r:id="rId15"/>
    <p:sldId id="764" r:id="rId16"/>
    <p:sldId id="766" r:id="rId17"/>
    <p:sldId id="427" r:id="rId18"/>
  </p:sldIdLst>
  <p:sldSz cx="12192000" cy="6858000"/>
  <p:notesSz cx="6858000" cy="9144000"/>
  <p:embeddedFontLst>
    <p:embeddedFont>
      <p:font typeface="微软雅黑" panose="020B0503020204020204" pitchFamily="34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5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75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87.xml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8.xm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0.xml"/><Relationship Id="rId4" Type="http://schemas.openxmlformats.org/officeDocument/2006/relationships/image" Target="../media/image3.png"/><Relationship Id="rId3" Type="http://schemas.openxmlformats.org/officeDocument/2006/relationships/tags" Target="../tags/tag129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132.xml"/><Relationship Id="rId5" Type="http://schemas.openxmlformats.org/officeDocument/2006/relationships/image" Target="../media/image3.png"/><Relationship Id="rId4" Type="http://schemas.openxmlformats.org/officeDocument/2006/relationships/tags" Target="../tags/tag131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4.xml"/><Relationship Id="rId4" Type="http://schemas.openxmlformats.org/officeDocument/2006/relationships/image" Target="../media/image3.png"/><Relationship Id="rId3" Type="http://schemas.openxmlformats.org/officeDocument/2006/relationships/tags" Target="../tags/tag133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7.xml"/><Relationship Id="rId4" Type="http://schemas.openxmlformats.org/officeDocument/2006/relationships/image" Target="../media/image3.png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43.xml"/><Relationship Id="rId6" Type="http://schemas.openxmlformats.org/officeDocument/2006/relationships/image" Target="../media/image3.png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152.xml"/><Relationship Id="rId11" Type="http://schemas.openxmlformats.org/officeDocument/2006/relationships/image" Target="../media/image9.png"/><Relationship Id="rId10" Type="http://schemas.openxmlformats.org/officeDocument/2006/relationships/tags" Target="../tags/tag15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161.xml"/><Relationship Id="rId11" Type="http://schemas.openxmlformats.org/officeDocument/2006/relationships/image" Target="../media/image3.png"/><Relationship Id="rId10" Type="http://schemas.openxmlformats.org/officeDocument/2006/relationships/tags" Target="../tags/tag160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image" Target="../media/image4.png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170.xml"/><Relationship Id="rId10" Type="http://schemas.openxmlformats.org/officeDocument/2006/relationships/image" Target="../media/image3.png"/><Relationship Id="rId1" Type="http://schemas.openxmlformats.org/officeDocument/2006/relationships/tags" Target="../tags/tag16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image" Target="../media/image4.png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78.xml"/><Relationship Id="rId1" Type="http://schemas.openxmlformats.org/officeDocument/2006/relationships/tags" Target="../tags/tag17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image" Target="../media/image10.png"/><Relationship Id="rId7" Type="http://schemas.openxmlformats.org/officeDocument/2006/relationships/image" Target="../media/image3.png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image" Target="../media/image4.png"/><Relationship Id="rId2" Type="http://schemas.openxmlformats.org/officeDocument/2006/relationships/tags" Target="../tags/tag180.xml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185.xml"/><Relationship Id="rId10" Type="http://schemas.openxmlformats.org/officeDocument/2006/relationships/image" Target="../media/image11.png"/><Relationship Id="rId1" Type="http://schemas.openxmlformats.org/officeDocument/2006/relationships/tags" Target="../tags/tag17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86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744845" y="2529205"/>
            <a:ext cx="4109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ADC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98640" y="3676015"/>
            <a:ext cx="30613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ADC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操作流程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781175" y="3676015"/>
            <a:ext cx="322199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ADC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65550" y="2606675"/>
            <a:ext cx="6508115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3765550" y="2596515"/>
            <a:ext cx="4558030" cy="698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0470" y="1628775"/>
            <a:ext cx="536765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ADC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40835" y="2865755"/>
            <a:ext cx="4551680" cy="2624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3200"/>
              <a:t>1.ADC</a:t>
            </a:r>
            <a:r>
              <a:rPr lang="zh-CN" altLang="en-US" sz="3200"/>
              <a:t>介绍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>
                <a:sym typeface="+mn-ea"/>
              </a:rPr>
              <a:t>2.</a:t>
            </a:r>
            <a:r>
              <a:rPr lang="en-US" altLang="zh-CN" sz="3200">
                <a:sym typeface="+mn-ea"/>
              </a:rPr>
              <a:t>ADC</a:t>
            </a:r>
            <a:r>
              <a:rPr lang="zh-CN" altLang="en-US" sz="3200">
                <a:sym typeface="+mn-ea"/>
              </a:rPr>
              <a:t>应用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/>
              <a:t>3.</a:t>
            </a:r>
            <a:r>
              <a:rPr lang="en-US" altLang="zh-CN" sz="3200">
                <a:sym typeface="+mn-ea"/>
              </a:rPr>
              <a:t>GD32ADC</a:t>
            </a:r>
            <a:r>
              <a:rPr lang="zh-CN" altLang="en-US" sz="3200">
                <a:sym typeface="+mn-ea"/>
              </a:rPr>
              <a:t>了解</a:t>
            </a:r>
            <a:endParaRPr lang="zh-CN" altLang="en-US" sz="3200"/>
          </a:p>
          <a:p>
            <a:pPr>
              <a:lnSpc>
                <a:spcPct val="120000"/>
              </a:lnSpc>
            </a:pPr>
            <a:r>
              <a:rPr lang="en-US" altLang="zh-CN" sz="3200"/>
              <a:t>4.</a:t>
            </a:r>
            <a:r>
              <a:rPr lang="en-US" altLang="zh-CN" sz="3200">
                <a:sym typeface="+mn-ea"/>
              </a:rPr>
              <a:t>ADC</a:t>
            </a:r>
            <a:r>
              <a:rPr lang="zh-CN" altLang="en-US" sz="3200">
                <a:sym typeface="+mn-ea"/>
              </a:rPr>
              <a:t>基本参数</a:t>
            </a:r>
            <a:endParaRPr lang="zh-CN" altLang="en-US" sz="3200"/>
          </a:p>
          <a:p>
            <a:pPr>
              <a:lnSpc>
                <a:spcPct val="120000"/>
              </a:lnSpc>
            </a:pP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77035" y="1631950"/>
            <a:ext cx="81083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  ADC是将模拟信号转换成数字信号的</a:t>
            </a:r>
            <a:r>
              <a:rPr lang="zh-CN" altLang="en-US"/>
              <a:t>一种转换器</a:t>
            </a:r>
            <a:r>
              <a:rPr lang="en-US"/>
              <a:t>，用于将模拟量（例如温度、光强）转换为数字信号进行处理。    </a:t>
            </a:r>
            <a:endParaRPr lang="en-US"/>
          </a:p>
        </p:txBody>
      </p:sp>
      <p:pic>
        <p:nvPicPr>
          <p:cNvPr id="3" name="图片 2" descr="a"/>
          <p:cNvPicPr>
            <a:picLocks noChangeAspect="1"/>
          </p:cNvPicPr>
          <p:nvPr/>
        </p:nvPicPr>
        <p:blipFill>
          <a:blip r:embed="rId2"/>
          <a:srcRect r="20423" b="-708"/>
          <a:stretch>
            <a:fillRect/>
          </a:stretch>
        </p:blipFill>
        <p:spPr>
          <a:xfrm>
            <a:off x="1583055" y="2510155"/>
            <a:ext cx="8117840" cy="3702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应用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38175" y="1298575"/>
            <a:ext cx="7886700" cy="46615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 fontAlgn="auto">
              <a:lnSpc>
                <a:spcPct val="150000"/>
              </a:lnSpc>
            </a:pPr>
            <a:r>
              <a:rPr sz="1800" b="0"/>
              <a:t>ADC广泛应用于各种电子系统中，例如：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0"/>
              <a:t>1. 传感器信号采集：ADC可以将传感器采集到的模拟信号转换为数字信号，以便于后续处理和分析，例如温度、压力和湿度等传感器采集的信号。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0"/>
              <a:t>2. 音频处理：ADC可以将音频信号转换为数字信号，用于音频的采集、处理、压缩和传输，例如数字音频录音设备和音频编解码器等。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0"/>
              <a:t>3. 仪器仪表：ADC可以将模拟信号转换为数字信号，进行数据采集和处理，例如医疗设备、工业控制系统等。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0"/>
              <a:t>4. 电源管理：ADC可以监测电池电量，控制电池充电和放电，确保电源的安全和稳定。</a:t>
            </a:r>
            <a:endParaRPr sz="1800" b="0"/>
          </a:p>
          <a:p>
            <a:pPr indent="560705" fontAlgn="auto">
              <a:lnSpc>
                <a:spcPct val="150000"/>
              </a:lnSpc>
            </a:pPr>
            <a:r>
              <a:rPr sz="1800" b="0"/>
              <a:t>总之，ADC在电子系统中的应用非常广泛，尤其是需要将模拟信号转换为数字信号进行处理和控制的领域，ADC发挥着不可替代的作用。</a:t>
            </a:r>
            <a:endParaRPr sz="1800" b="0"/>
          </a:p>
        </p:txBody>
      </p:sp>
      <p:pic>
        <p:nvPicPr>
          <p:cNvPr id="3" name="图片 2" descr="声音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295" y="1361440"/>
            <a:ext cx="3003550" cy="1666240"/>
          </a:xfrm>
          <a:prstGeom prst="rect">
            <a:avLst/>
          </a:prstGeom>
        </p:spPr>
      </p:pic>
      <p:pic>
        <p:nvPicPr>
          <p:cNvPr id="4" name="图片 3" descr="示波器"/>
          <p:cNvPicPr>
            <a:picLocks noChangeAspect="1"/>
          </p:cNvPicPr>
          <p:nvPr/>
        </p:nvPicPr>
        <p:blipFill>
          <a:blip r:embed="rId3"/>
          <a:srcRect t="10191" r="5525" b="29484"/>
          <a:stretch>
            <a:fillRect/>
          </a:stretch>
        </p:blipFill>
        <p:spPr>
          <a:xfrm>
            <a:off x="8548370" y="3429000"/>
            <a:ext cx="3199765" cy="1444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+mn-ea"/>
              </a:rPr>
              <a:t>GD32ADC了解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28700" y="1268095"/>
            <a:ext cx="467296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>
              <a:lnSpc>
                <a:spcPct val="150000"/>
              </a:lnSpc>
            </a:pPr>
            <a:r>
              <a:rPr lang="en-US" sz="1800" b="0"/>
              <a:t>GD32F4</a:t>
            </a:r>
            <a:r>
              <a:rPr lang="zh-CN" altLang="en-US" sz="1800" b="0"/>
              <a:t>采用的是</a:t>
            </a:r>
            <a:r>
              <a:rPr>
                <a:sym typeface="+mn-ea"/>
              </a:rPr>
              <a:t>逐次逼近</a:t>
            </a:r>
            <a:r>
              <a:rPr lang="zh-CN">
                <a:sym typeface="+mn-ea"/>
              </a:rPr>
              <a:t>型的</a:t>
            </a:r>
            <a:r>
              <a:rPr sz="1800" b="0"/>
              <a:t>12 位 ADC</a:t>
            </a:r>
            <a:r>
              <a:rPr lang="zh-CN" sz="1800" b="0"/>
              <a:t>，</a:t>
            </a:r>
            <a:r>
              <a:rPr sz="1800" b="0"/>
              <a:t>它有 19 个多路复用通道可以转换</a:t>
            </a:r>
            <a:r>
              <a:rPr lang="zh-CN" sz="1800" b="0"/>
              <a:t>。</a:t>
            </a:r>
            <a:endParaRPr sz="1800" b="0"/>
          </a:p>
          <a:p>
            <a:pPr indent="560705">
              <a:lnSpc>
                <a:spcPct val="150000"/>
              </a:lnSpc>
            </a:pPr>
            <a:r>
              <a:rPr sz="1800" b="0"/>
              <a:t>来自 16 个外部通道、2 个内部通道和一个电池电压（VBAT）通道的模拟信号。</a:t>
            </a:r>
            <a:endParaRPr sz="1800" b="0"/>
          </a:p>
          <a:p>
            <a:pPr indent="560705">
              <a:lnSpc>
                <a:spcPct val="150000"/>
              </a:lnSpc>
            </a:pPr>
            <a:r>
              <a:rPr sz="1800" b="0"/>
              <a:t>各种通道的 A/D 转换可以配置成单次、连续、扫描或间断转换模式。</a:t>
            </a:r>
            <a:endParaRPr sz="1800" b="0"/>
          </a:p>
          <a:p>
            <a:pPr indent="560705">
              <a:lnSpc>
                <a:spcPct val="150000"/>
              </a:lnSpc>
            </a:pPr>
            <a:r>
              <a:rPr sz="1800" b="0"/>
              <a:t>ADC 转换的结果可以按照左对齐或右对齐的方式存储在16位数据寄存器中。</a:t>
            </a:r>
            <a:endParaRPr sz="1800" b="0"/>
          </a:p>
        </p:txBody>
      </p:sp>
      <p:pic>
        <p:nvPicPr>
          <p:cNvPr id="3" name="图片 2" descr="GD32AD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665" y="1143635"/>
            <a:ext cx="6139180" cy="52025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基本参数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828800" y="1926590"/>
          <a:ext cx="853313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55"/>
                <a:gridCol w="620077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分辨</a:t>
                      </a:r>
                      <a:r>
                        <a:rPr lang="zh-CN" altLang="en-US"/>
                        <a:t>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指ADC可以将模拟信号转换成多少个数字级别，例如12位ADC可以将信号转换成2^12即4096的数字</a:t>
                      </a:r>
                      <a:r>
                        <a:rPr lang="zh-CN" altLang="en-US"/>
                        <a:t>量。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采样率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指ADC以多快的速率获取模拟信号并将其转换成数字信号。采样率的单位是赫兹（Hz），表示每秒采样次数。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转换</a:t>
                      </a:r>
                      <a:r>
                        <a:rPr lang="zh-CN" altLang="en-US"/>
                        <a:t>模式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GD32F470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ADC</a:t>
                      </a:r>
                      <a:r>
                        <a:rPr lang="zh-CN" altLang="en-US"/>
                        <a:t>支持单次、连续、扫描、间断等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种</a:t>
                      </a:r>
                      <a:r>
                        <a:rPr lang="zh-CN" altLang="en-US"/>
                        <a:t>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采集范围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t>指模拟输入信号的电压范围，例如ADC的输入电压范围为0V到3.3V。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48545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ADC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0685" y="3952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以光敏电阻光照传感器作为</a:t>
            </a:r>
            <a:r>
              <a:rPr lang="zh-CN" altLang="en-US"/>
              <a:t>案例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2317115" y="2720975"/>
            <a:ext cx="7150100" cy="341312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>
              <a:lnSpc>
                <a:spcPct val="130000"/>
              </a:lnSpc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//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使能引脚时钟</a:t>
            </a: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rcu_periph_clock_enable(RCU_GPIOC);      </a:t>
            </a: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使能ADC时钟</a:t>
            </a: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rcu_periph_clock_enable(RCU_ADC0);</a:t>
            </a: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//</a:t>
            </a: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配置ADC时钟</a:t>
            </a: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adc_clock_config(ADC_ADCCK_PCLK2_DIV4);</a:t>
            </a:r>
            <a:endParaRPr lang="zh-CN" altLang="en-US"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开启时钟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235" name="图片 23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409825" y="4989195"/>
            <a:ext cx="6629400" cy="96202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6" name="圆角矩形 225"/>
          <p:cNvSpPr/>
          <p:nvPr>
            <p:custDataLst>
              <p:tags r:id="rId2"/>
            </p:custDataLst>
          </p:nvPr>
        </p:nvSpPr>
        <p:spPr>
          <a:xfrm>
            <a:off x="1917065" y="937196"/>
            <a:ext cx="7906385" cy="5566328"/>
          </a:xfrm>
          <a:prstGeom prst="roundRect">
            <a:avLst>
              <a:gd name="adj" fmla="val 346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7" name="圆角矩形 226"/>
          <p:cNvSpPr/>
          <p:nvPr>
            <p:custDataLst>
              <p:tags r:id="rId3"/>
            </p:custDataLst>
          </p:nvPr>
        </p:nvSpPr>
        <p:spPr>
          <a:xfrm>
            <a:off x="2409643" y="904875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8" name="直接连接符 227"/>
          <p:cNvCxnSpPr/>
          <p:nvPr>
            <p:custDataLst>
              <p:tags r:id="rId4"/>
            </p:custDataLst>
          </p:nvPr>
        </p:nvCxnSpPr>
        <p:spPr>
          <a:xfrm>
            <a:off x="1917065" y="2299865"/>
            <a:ext cx="790638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/>
          <p:cNvSpPr txBox="1"/>
          <p:nvPr>
            <p:custDataLst>
              <p:tags r:id="rId5"/>
            </p:custDataLst>
          </p:nvPr>
        </p:nvSpPr>
        <p:spPr>
          <a:xfrm>
            <a:off x="2317115" y="2720975"/>
            <a:ext cx="7150100" cy="3413125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//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配置</a:t>
            </a:r>
            <a:r>
              <a:rPr 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引脚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为</a:t>
            </a:r>
            <a:r>
              <a:rPr lang="zh-CN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模拟输入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模式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gpio_mode_set(</a:t>
            </a:r>
            <a:r>
              <a: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GPIOC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GPIO_MODE_ANALOG,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GPIO_PUPD_NONE, </a:t>
            </a:r>
            <a:r>
              <a:rPr lang="en-US"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GPIO_PIN_1</a:t>
            </a:r>
            <a:r>
              <a:rPr sz="14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); </a:t>
            </a:r>
            <a:endParaRPr sz="14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6"/>
            </p:custDataLst>
          </p:nvPr>
        </p:nvSpPr>
        <p:spPr>
          <a:xfrm>
            <a:off x="2409643" y="2250669"/>
            <a:ext cx="519511" cy="718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0698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</a:t>
            </a:r>
            <a:r>
              <a:rPr lang="zh-CN" altLang="en-US" sz="3200"/>
              <a:t>引脚</a:t>
            </a:r>
            <a:endParaRPr lang="zh-CN" altLang="en-US" sz="320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514600" y="4471670"/>
            <a:ext cx="6629400" cy="962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6"/>
          <p:cNvSpPr txBox="1"/>
          <p:nvPr>
            <p:custDataLst>
              <p:tags r:id="rId2"/>
            </p:custDataLst>
          </p:nvPr>
        </p:nvSpPr>
        <p:spPr>
          <a:xfrm>
            <a:off x="632460" y="1217930"/>
            <a:ext cx="5433060" cy="54229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//配置ADC为独立模式      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adc_sync_mode_config(ADC_SYNC_MODE_INDEPENDENT);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//使能扫描模式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adc_special_function_config(ADC0, ADC_SCAN_MODE, ENABLE);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//数据右对齐     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adc_data_alignment_config(ADC0, ADC_DATAALIGN_RIGHT);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//ADC0设置为12位分辨率               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adc_resolution_config(ADC0, ADC_RESOLUTION_12B);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2" name="Title 6"/>
          <p:cNvSpPr txBox="1"/>
          <p:nvPr>
            <p:custDataLst>
              <p:tags r:id="rId3"/>
            </p:custDataLst>
          </p:nvPr>
        </p:nvSpPr>
        <p:spPr>
          <a:xfrm>
            <a:off x="6256655" y="1217295"/>
            <a:ext cx="5708015" cy="542353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1">
              <a:lnSpc>
                <a:spcPct val="130000"/>
              </a:lnSpc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//ADC0设置为规则组  一共使用 </a:t>
            </a:r>
            <a:r>
              <a:rPr lang="en-US"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个通道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adc_channel_length_config(ADC0,ADC_REGULAR_CHANNEL, 1);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//ADC外部触发禁用, 即只能使用软件触发adc_external_trigger_config(ADC0, ADC_REGULAR_CHANNEL, EXTERNAL_TRIGGER_DISABLE);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//ADC0使能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adc_enable(ADC0);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endParaRPr lang="en-US"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lang="en-US"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/开启ADC自校准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>
              <a:lnSpc>
                <a:spcPct val="130000"/>
              </a:lnSpc>
            </a:pPr>
            <a:r>
              <a:rPr sz="1200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adc_calibration_enable(ADC0); </a:t>
            </a: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endParaRPr sz="1200"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6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8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/>
              <a:t>ADC</a:t>
            </a:r>
            <a:r>
              <a:rPr lang="zh-CN" altLang="en-US" sz="3200"/>
              <a:t>配置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6"/>
          <p:cNvSpPr txBox="1"/>
          <p:nvPr>
            <p:custDataLst>
              <p:tags r:id="rId2"/>
            </p:custDataLst>
          </p:nvPr>
        </p:nvSpPr>
        <p:spPr>
          <a:xfrm>
            <a:off x="824230" y="1851025"/>
            <a:ext cx="11040745" cy="479806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 fontScale="7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unsigned int Get_ADC_Value(uint8_t  ADC_CHANNEL_x)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unsigned int adc_value</a:t>
            </a: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0;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//设置采集通道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adc_regular_channel_config(ADC0, 0, ADC_CHANNEL_x, ADC_SAMPLETIME_15);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//开始软件转换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adc_software_trigger_enable(ADC0, ADC_REGULAR_CHANNEL);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//等待 ADC0 采样完成 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( adc_flag_get(ADC0, ADC_FLAG_EOC) == RESET ) 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//读取采样值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lang="en-US"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</a:t>
            </a: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adc_value = adc_regular_data_read(ADC0);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//返回采样值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return adc_value;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54000" lvl="1" indent="0" algn="l" font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None/>
            </a:pPr>
            <a:r>
              <a:rPr spc="10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pc="10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7"/>
            </p:custDataLst>
          </p:nvPr>
        </p:nvSpPr>
        <p:spPr>
          <a:xfrm>
            <a:off x="4575810" y="1116965"/>
            <a:ext cx="2564130" cy="654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获取测量</a:t>
            </a:r>
            <a:r>
              <a:rPr lang="zh-CN" altLang="en-US" sz="3200"/>
              <a:t>值</a:t>
            </a:r>
            <a:endParaRPr lang="zh-CN" altLang="en-US" sz="3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457155" y="15240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pc="160" baseline="0" dirty="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ADC的操作流程</a:t>
            </a:r>
            <a:endParaRPr lang="en-US" altLang="zh-CN" sz="3200" b="1" spc="160" baseline="0" dirty="0">
              <a:solidFill>
                <a:schemeClr val="l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 descr="32313535353437353b32313535353435333bc8cecef1c6ecd6c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光敏电阻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案例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pic>
        <p:nvPicPr>
          <p:cNvPr id="3" name="图片 2" descr="光敏电阻原理图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315" y="3154680"/>
            <a:ext cx="8295640" cy="31584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039860" y="4046220"/>
            <a:ext cx="2762250" cy="22669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60830" y="1386205"/>
            <a:ext cx="877125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光敏电阻是一种特殊</a:t>
            </a:r>
            <a:r>
              <a:rPr lang="zh-CN" altLang="en-US">
                <a:sym typeface="+mn-ea"/>
              </a:rPr>
              <a:t>的</a:t>
            </a:r>
            <a:r>
              <a:rPr lang="zh-CN" altLang="en-US"/>
              <a:t>电阻器，它随</a:t>
            </a:r>
            <a:r>
              <a:rPr lang="zh-CN" altLang="en-US"/>
              <a:t>着光照强度的升高，电阻值迅速降低，其在无光照时，几乎呈高阻状态，暗时电阻很大。光敏电阻模块一般用来检测周围环境的光线亮度，触发单片机或继电器模块等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UNIT_TABLE_BEAUTIFY" val="smartTable{c4ee1fdc-f112-44c7-b135-118861a44760}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147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05955_1*l_i*1_1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05955_1*l_h_i*1_1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05955_1*l_i*1_2"/>
  <p:tag name="KSO_WM_TEMPLATE_CATEGORY" val="diagram"/>
  <p:tag name="KSO_WM_TEMPLATE_INDEX" val="20205955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USESOURCEFORMAT_APPLY" val="0"/>
</p:tagLst>
</file>

<file path=ppt/tags/tag156.xml><?xml version="1.0" encoding="utf-8"?>
<p:tagLst xmlns:p="http://schemas.openxmlformats.org/presentationml/2006/main">
  <p:tag name="KSO_WM_UNIT_SUBTYPE" val="a"/>
  <p:tag name="KSO_WM_UNIT_PRESET_TEXT" val="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请您尽可能提炼思想的精髓，否则容易造成观者的阅读压力，适得其反。&#13;单点击此处添加正文，文字是您思想的提炼，为了演示发布的良好效果，请您尽可能提炼思想的精髓，然后简单的阐述您的观点。如果您的内容确实非常重要又难以精简，也请使用分段处理，对内容进行简单的梳理和提炼，这样会使逻辑框架相对清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05955_1*l_h_f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05955_1*l_h_i*1_2_1"/>
  <p:tag name="KSO_WM_TEMPLATE_CATEGORY" val="diagram"/>
  <p:tag name="KSO_WM_TEMPLATE_INDEX" val="20205955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63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512_1*f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0"/>
  <p:tag name="KSO_WM_UNIT_SHOW_EDIT_AREA_INDICATION" val="1"/>
  <p:tag name="KSO_WM_CHIP_GROUPID" val="5e6b05596848fb12bee65ac8"/>
  <p:tag name="KSO_WM_CHIP_XID" val="5e6b05596848fb12bee65aca"/>
  <p:tag name="KSO_WM_UNIT_DEC_AREA_ID" val="357087c36d4d4a2cb6aca99e5e95d9d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2b7c1c87bf9a403da2e389b5a10d3715"/>
  <p:tag name="KSO_WM_UNIT_SUPPORT_UNIT_TYPE" val="[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64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13512_1*f*2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12"/>
  <p:tag name="KSO_WM_UNIT_SHOW_EDIT_AREA_INDICATION" val="1"/>
  <p:tag name="KSO_WM_CHIP_GROUPID" val="5e6b05596848fb12bee65ac8"/>
  <p:tag name="KSO_WM_CHIP_XID" val="5e6b05596848fb12bee65aca"/>
  <p:tag name="KSO_WM_UNIT_DEC_AREA_ID" val="792b7968e55d4e51a0038fd14cae53d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f3c78ee26d294e0093f764573bb0e674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72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3512_1*f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0"/>
  <p:tag name="KSO_WM_UNIT_SHOW_EDIT_AREA_INDICATION" val="1"/>
  <p:tag name="KSO_WM_CHIP_GROUPID" val="5e6b05596848fb12bee65ac8"/>
  <p:tag name="KSO_WM_CHIP_XID" val="5e6b05596848fb12bee65aca"/>
  <p:tag name="KSO_WM_UNIT_DEC_AREA_ID" val="357087c36d4d4a2cb6aca99e5e95d9d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rm&quot;,&quot;fill_mode&quot;:&quot;full&quot;,&quot;sacle_strategy&quot;:&quot;smart&quot;}"/>
  <p:tag name="KSO_WM_ASSEMBLE_CHIP_INDEX" val="2b7c1c87bf9a403da2e389b5a10d3715"/>
  <p:tag name="KSO_WM_UNIT_SUPPORT_UNIT_TYPE" val="[&quot;d&quot;,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3512_1*a*1"/>
  <p:tag name="KSO_WM_TEMPLATE_CATEGORY" val="diagram"/>
  <p:tag name="KSO_WM_TEMPLATE_INDEX" val="2021351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01f7f7dbdc24794821773db51a3994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8c4e2203dfe0433a9cdeb4d1856095c7"/>
  <p:tag name="KSO_WM_UNIT_TEXT_FILL_FORE_SCHEMECOLOR_INDEX_BRIGHTNESS" val="0"/>
  <p:tag name="KSO_WM_UNIT_TEXT_FILL_FORE_SCHEMECOLOR_INDEX" val="13"/>
  <p:tag name="KSO_WM_UNIT_TEXT_FILL_TYPE" val="1"/>
  <p:tag name="KSO_WM_TEMPLATE_ASSEMBLE_XID" val="639b2d1f0c9383becdea80ba"/>
  <p:tag name="KSO_WM_TEMPLATE_ASSEMBLE_GROUPID" val="639b2d1f0c9383becdea80ba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SLIDE_ID" val="diagram2021351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3512"/>
  <p:tag name="KSO_WM_SLIDE_LAYOUT" val="a_f"/>
  <p:tag name="KSO_WM_SLIDE_LAYOUT_CNT" val="1_2"/>
  <p:tag name="KSO_WM_UNIT_SHOW_EDIT_AREA_INDICATION" val="1"/>
  <p:tag name="KSO_WM_TEMPLATE_THUMBS_INDEX" val="1、4、7、12、13、14、15、16、17、18、20、24、25、28、33、36、40、43、44"/>
  <p:tag name="KSO_WM_SLIDE_LAYOUT_INFO" val="{&quot;id&quot;:&quot;2022-12-15T22:20:16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15T22:20:16&quot;,&quot;margin&quot;:{&quot;bottom&quot;:0.4230000674724579,&quot;left&quot;:1.2699999809265137,&quot;right&quot;:1.2699999809265137,&quot;top&quot;:0.4230000674724579},&quot;type&quot;:0},{&quot;direction&quot;:1,&quot;id&quot;:&quot;2022-12-15T22:20:16&quot;,&quot;maxSize&quot;:{&quot;size1&quot;:72.73484267192543},&quot;minSize&quot;:{&quot;size1&quot;:30.234842671925435},&quot;normalSize&quot;:{&quot;size1&quot;:50.547342671925435},&quot;subLayout&quot;:[{&quot;id&quot;:&quot;2022-12-15T22:20:16&quot;,&quot;margin&quot;:{&quot;bottom&quot;:1.6929999589920044,&quot;left&quot;:1.6929999589920044,&quot;right&quot;:0,&quot;top&quot;:0.847000002861023},&quot;type&quot;:0},{&quot;id&quot;:&quot;2022-12-15T22:20:16&quot;,&quot;margin&quot;:{&quot;bottom&quot;:1.6929999589920044,&quot;left&quot;:0.847000002861023,&quot;right&quot;:1.6929999589920044,&quot;top&quot;:0.847000002861023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ecf7885ddc3daf3fef3fc22"/>
  <p:tag name="KSO_WM_CHIP_FILLPROP" val="[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164c300f690d423ab1b6e3b65edb0bf9&quot;,&quot;fill_align&quot;:&quot;rm&quot;,&quot;chip_types&quot;:[&quot;pictext&quot;,&quot;text&quot;,&quot;picture&quot;,&quot;chart&quot;,&quot;table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e836bed5e59843b5bc0179a1591ebf37&quot;,&quot;fill_align&quot;:&quot;lm&quot;,&quot;chip_types&quot;:[&quot;diagram&quot;,&quot;pictext&quot;,&quot;text&quot;,&quot;picture&quot;,&quot;chart&quot;,&quot;table&quot;,&quot;video&quot;]}],[{&quot;text_align&quot;:&quot;lm&quot;,&quot;text_direction&quot;:&quot;horizontal&quot;,&quot;support_big_font&quot;:false,&quot;picture_toward&quot;:0,&quot;picture_dockside&quot;:[],&quot;fill_id&quot;:&quot;722accd572074b41a2d4cf8c733c9957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picture_toward&quot;:0,&quot;picture_dockside&quot;:[],&quot;fill_id&quot;:&quot;164c300f690d423ab1b6e3b65edb0bf9&quot;,&quot;fill_align&quot;:&quot;rm&quot;,&quot;chip_types&quot;:[&quot;diagram&quot;,&quot;pictext&quot;,&quot;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e836bed5e59843b5bc0179a1591ebf37&quot;,&quot;fill_align&quot;:&quot;lm&quot;,&quot;chip_types&quot;:[&quot;pictext&quot;,&quot;text&quot;,&quot;picture&quot;]}]]"/>
  <p:tag name="KSO_WM_SLIDE_SIZE" val="960*444"/>
  <p:tag name="KSO_WM_SLIDE_POSITION" val="0*0"/>
  <p:tag name="KSO_WM_SLIDE_CAN_ADD_NAVIGATION" val="1"/>
  <p:tag name="KSO_WM_CHIP_DECFILLPROP" val="[]"/>
  <p:tag name="KSO_WM_CHIP_GROUPID" val="5ed8bf58afe44fab1839c20c"/>
  <p:tag name="KSO_WM_SLIDE_BK_DARK_LIGHT" val="2"/>
  <p:tag name="KSO_WM_SLIDE_BACKGROUND_TYPE" val="navigation"/>
  <p:tag name="KSO_WM_SLIDE_SUPPORT_FEATURE_TYPE" val="0"/>
  <p:tag name="KSO_WM_TEMPLATE_ASSEMBLE_XID" val="639b2d1f0c9383becdea80ba"/>
  <p:tag name="KSO_WM_TEMPLATE_ASSEMBLE_GROUPID" val="639b2d1f0c9383becdea80ba"/>
</p:tagLst>
</file>

<file path=ppt/tags/tag1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p="http://schemas.openxmlformats.org/presentationml/2006/main">
  <p:tag name="KSO_WPP_MARK_KEY" val="20655751-83b5-4141-9554-5e7661096423"/>
  <p:tag name="COMMONDATA" val="eyJjb3VudCI6MTksImhkaWQiOiIxYTQ5ZDdmMGZmNTU3NmU5NzgyYjI3MGJhMjAxODg2NCIsInVzZXJDb3VudCI6MX0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2265</Words>
  <Application>WPS 演示</Application>
  <PresentationFormat>宽屏</PresentationFormat>
  <Paragraphs>156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Wingdings</vt:lpstr>
      <vt:lpstr>Arial</vt:lpstr>
      <vt:lpstr>Segoe UI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莫志宏</cp:lastModifiedBy>
  <cp:revision>406</cp:revision>
  <dcterms:created xsi:type="dcterms:W3CDTF">2019-06-19T02:08:00Z</dcterms:created>
  <dcterms:modified xsi:type="dcterms:W3CDTF">2023-07-09T12:43:16Z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2052-11.1.0.14177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