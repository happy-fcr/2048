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19"/>
  </p:handoutMasterIdLst>
  <p:sldIdLst>
    <p:sldId id="409" r:id="rId4"/>
    <p:sldId id="497" r:id="rId6"/>
    <p:sldId id="720" r:id="rId7"/>
    <p:sldId id="722" r:id="rId8"/>
    <p:sldId id="754" r:id="rId9"/>
    <p:sldId id="732" r:id="rId10"/>
    <p:sldId id="755" r:id="rId11"/>
    <p:sldId id="756" r:id="rId12"/>
    <p:sldId id="733" r:id="rId13"/>
    <p:sldId id="716" r:id="rId14"/>
    <p:sldId id="734" r:id="rId15"/>
    <p:sldId id="717" r:id="rId16"/>
    <p:sldId id="735" r:id="rId17"/>
    <p:sldId id="427" r:id="rId18"/>
  </p:sldIdLst>
  <p:sldSz cx="12192000" cy="6858000"/>
  <p:notesSz cx="6858000" cy="9144000"/>
  <p:embeddedFontLst>
    <p:embeddedFont>
      <p:font typeface="微软雅黑" panose="020B0503020204020204" pitchFamily="34" charset="-122"/>
      <p:regular r:id="rId24"/>
    </p:embeddedFont>
    <p:embeddedFont>
      <p:font typeface="Calibri" panose="020F0502020204030204" charset="0"/>
      <p:regular r:id="rId25"/>
      <p:bold r:id="rId26"/>
      <p:italic r:id="rId27"/>
      <p:boldItalic r:id="rId2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幸全" initials="幸全" lastIdx="1" clrIdx="0"/>
  <p:cmAuthor id="3" name="Author" initials="A" lastIdx="0" clrIdx="2"/>
  <p:cmAuthor id="4" name="USER" initials="U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B6E5"/>
    <a:srgbClr val="F18870"/>
    <a:srgbClr val="FFBA55"/>
    <a:srgbClr val="56CA95"/>
    <a:srgbClr val="6096E6"/>
    <a:srgbClr val="4691C0"/>
    <a:srgbClr val="70AACE"/>
    <a:srgbClr val="79C5D9"/>
    <a:srgbClr val="35729C"/>
    <a:srgbClr val="174A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487"/>
        <p:guide pos="38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schemeClr val="tx1">
                <a:lumMod val="75000"/>
                <a:lumOff val="25000"/>
                <a:alpha val="6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654050" y="640715"/>
            <a:ext cx="10884535" cy="55765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lumMod val="75000"/>
                <a:lumOff val="25000"/>
                <a:alpha val="7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schemeClr val="tx1">
                <a:lumMod val="75000"/>
                <a:lumOff val="2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5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23.xml"/><Relationship Id="rId4" Type="http://schemas.openxmlformats.org/officeDocument/2006/relationships/image" Target="../media/image3.png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24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25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127.xml"/><Relationship Id="rId4" Type="http://schemas.openxmlformats.org/officeDocument/2006/relationships/tags" Target="../tags/tag126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28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29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0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34.xml"/><Relationship Id="rId4" Type="http://schemas.openxmlformats.org/officeDocument/2006/relationships/image" Target="../media/image3.png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5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39.xml"/><Relationship Id="rId4" Type="http://schemas.openxmlformats.org/officeDocument/2006/relationships/image" Target="../media/image3.png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40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5227955" y="2529205"/>
            <a:ext cx="58972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PWM</a:t>
            </a:r>
            <a:r>
              <a:rPr lang="zh-CN" alt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呼吸灯</a:t>
            </a:r>
            <a:endParaRPr lang="zh-CN" altLang="en-US" sz="5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 descr="专业版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143000"/>
            <a:ext cx="4572000" cy="4572000"/>
          </a:xfrm>
          <a:prstGeom prst="rect">
            <a:avLst/>
          </a:prstGeom>
        </p:spPr>
      </p:pic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5" y="187325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" name="文本框 56"/>
          <p:cNvSpPr txBox="1"/>
          <p:nvPr>
            <p:custDataLst>
              <p:tags r:id="rId1"/>
            </p:custDataLst>
          </p:nvPr>
        </p:nvSpPr>
        <p:spPr>
          <a:xfrm>
            <a:off x="4241165" y="3761105"/>
            <a:ext cx="2828925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呼吸灯函数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8536305" y="3761105"/>
            <a:ext cx="1613535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实验现象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8430410" y="1557655"/>
            <a:ext cx="1825625" cy="1099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04" h="2292">
                <a:moveTo>
                  <a:pt x="3741" y="0"/>
                </a:moveTo>
                <a:cubicBezTo>
                  <a:pt x="4063" y="0"/>
                  <a:pt x="4321" y="103"/>
                  <a:pt x="4516" y="308"/>
                </a:cubicBezTo>
                <a:cubicBezTo>
                  <a:pt x="4676" y="476"/>
                  <a:pt x="4756" y="666"/>
                  <a:pt x="4756" y="878"/>
                </a:cubicBezTo>
                <a:cubicBezTo>
                  <a:pt x="4756" y="1178"/>
                  <a:pt x="4592" y="1418"/>
                  <a:pt x="4264" y="1596"/>
                </a:cubicBezTo>
                <a:cubicBezTo>
                  <a:pt x="4460" y="1638"/>
                  <a:pt x="4617" y="1733"/>
                  <a:pt x="4734" y="1879"/>
                </a:cubicBezTo>
                <a:cubicBezTo>
                  <a:pt x="4822" y="1989"/>
                  <a:pt x="4877" y="2115"/>
                  <a:pt x="4899" y="2259"/>
                </a:cubicBezTo>
                <a:lnTo>
                  <a:pt x="4904" y="2292"/>
                </a:lnTo>
                <a:lnTo>
                  <a:pt x="4233" y="2292"/>
                </a:lnTo>
                <a:lnTo>
                  <a:pt x="4233" y="2291"/>
                </a:lnTo>
                <a:cubicBezTo>
                  <a:pt x="4220" y="2168"/>
                  <a:pt x="4177" y="2067"/>
                  <a:pt x="4105" y="1989"/>
                </a:cubicBezTo>
                <a:cubicBezTo>
                  <a:pt x="4016" y="1892"/>
                  <a:pt x="3908" y="1844"/>
                  <a:pt x="3781" y="1844"/>
                </a:cubicBezTo>
                <a:cubicBezTo>
                  <a:pt x="3697" y="1844"/>
                  <a:pt x="3596" y="1860"/>
                  <a:pt x="3480" y="1893"/>
                </a:cubicBezTo>
                <a:lnTo>
                  <a:pt x="3552" y="1358"/>
                </a:lnTo>
                <a:cubicBezTo>
                  <a:pt x="3729" y="1363"/>
                  <a:pt x="3865" y="1325"/>
                  <a:pt x="3958" y="1243"/>
                </a:cubicBezTo>
                <a:cubicBezTo>
                  <a:pt x="4051" y="1161"/>
                  <a:pt x="4098" y="1053"/>
                  <a:pt x="4098" y="917"/>
                </a:cubicBezTo>
                <a:cubicBezTo>
                  <a:pt x="4098" y="802"/>
                  <a:pt x="4064" y="710"/>
                  <a:pt x="3995" y="642"/>
                </a:cubicBezTo>
                <a:cubicBezTo>
                  <a:pt x="3927" y="573"/>
                  <a:pt x="3836" y="539"/>
                  <a:pt x="3722" y="539"/>
                </a:cubicBezTo>
                <a:cubicBezTo>
                  <a:pt x="3610" y="539"/>
                  <a:pt x="3515" y="578"/>
                  <a:pt x="3435" y="656"/>
                </a:cubicBezTo>
                <a:cubicBezTo>
                  <a:pt x="3356" y="734"/>
                  <a:pt x="3308" y="847"/>
                  <a:pt x="3291" y="997"/>
                </a:cubicBezTo>
                <a:lnTo>
                  <a:pt x="2686" y="894"/>
                </a:lnTo>
                <a:cubicBezTo>
                  <a:pt x="2728" y="687"/>
                  <a:pt x="2791" y="522"/>
                  <a:pt x="2876" y="398"/>
                </a:cubicBezTo>
                <a:cubicBezTo>
                  <a:pt x="2961" y="274"/>
                  <a:pt x="3079" y="177"/>
                  <a:pt x="3231" y="106"/>
                </a:cubicBezTo>
                <a:cubicBezTo>
                  <a:pt x="3383" y="35"/>
                  <a:pt x="3553" y="0"/>
                  <a:pt x="3741" y="0"/>
                </a:cubicBezTo>
                <a:close/>
                <a:moveTo>
                  <a:pt x="1111" y="0"/>
                </a:moveTo>
                <a:cubicBezTo>
                  <a:pt x="1442" y="0"/>
                  <a:pt x="1701" y="118"/>
                  <a:pt x="1888" y="355"/>
                </a:cubicBezTo>
                <a:cubicBezTo>
                  <a:pt x="2111" y="635"/>
                  <a:pt x="2222" y="1099"/>
                  <a:pt x="2222" y="1748"/>
                </a:cubicBezTo>
                <a:cubicBezTo>
                  <a:pt x="2222" y="1930"/>
                  <a:pt x="2213" y="2098"/>
                  <a:pt x="2195" y="2251"/>
                </a:cubicBezTo>
                <a:lnTo>
                  <a:pt x="2190" y="2292"/>
                </a:lnTo>
                <a:lnTo>
                  <a:pt x="1516" y="2292"/>
                </a:lnTo>
                <a:lnTo>
                  <a:pt x="1517" y="2289"/>
                </a:lnTo>
                <a:cubicBezTo>
                  <a:pt x="1529" y="2142"/>
                  <a:pt x="1536" y="1961"/>
                  <a:pt x="1536" y="1748"/>
                </a:cubicBezTo>
                <a:cubicBezTo>
                  <a:pt x="1536" y="1347"/>
                  <a:pt x="1516" y="1071"/>
                  <a:pt x="1475" y="921"/>
                </a:cubicBezTo>
                <a:cubicBezTo>
                  <a:pt x="1435" y="771"/>
                  <a:pt x="1384" y="670"/>
                  <a:pt x="1322" y="620"/>
                </a:cubicBezTo>
                <a:cubicBezTo>
                  <a:pt x="1261" y="569"/>
                  <a:pt x="1190" y="544"/>
                  <a:pt x="1111" y="544"/>
                </a:cubicBezTo>
                <a:cubicBezTo>
                  <a:pt x="1032" y="544"/>
                  <a:pt x="961" y="569"/>
                  <a:pt x="899" y="620"/>
                </a:cubicBezTo>
                <a:cubicBezTo>
                  <a:pt x="836" y="670"/>
                  <a:pt x="788" y="761"/>
                  <a:pt x="754" y="892"/>
                </a:cubicBezTo>
                <a:cubicBezTo>
                  <a:pt x="709" y="1061"/>
                  <a:pt x="686" y="1347"/>
                  <a:pt x="686" y="1748"/>
                </a:cubicBezTo>
                <a:cubicBezTo>
                  <a:pt x="686" y="1961"/>
                  <a:pt x="692" y="2139"/>
                  <a:pt x="703" y="2282"/>
                </a:cubicBezTo>
                <a:lnTo>
                  <a:pt x="704" y="2292"/>
                </a:lnTo>
                <a:lnTo>
                  <a:pt x="29" y="2292"/>
                </a:lnTo>
                <a:lnTo>
                  <a:pt x="24" y="2248"/>
                </a:lnTo>
                <a:cubicBezTo>
                  <a:pt x="8" y="2095"/>
                  <a:pt x="0" y="1926"/>
                  <a:pt x="0" y="1741"/>
                </a:cubicBezTo>
                <a:cubicBezTo>
                  <a:pt x="0" y="1097"/>
                  <a:pt x="112" y="633"/>
                  <a:pt x="336" y="350"/>
                </a:cubicBezTo>
                <a:cubicBezTo>
                  <a:pt x="521" y="117"/>
                  <a:pt x="780" y="0"/>
                  <a:pt x="111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1028640" y="1558925"/>
            <a:ext cx="1825200" cy="109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05" h="1365">
                <a:moveTo>
                  <a:pt x="2198" y="0"/>
                </a:moveTo>
                <a:lnTo>
                  <a:pt x="2505" y="0"/>
                </a:lnTo>
                <a:lnTo>
                  <a:pt x="2505" y="1365"/>
                </a:lnTo>
                <a:lnTo>
                  <a:pt x="2127" y="1365"/>
                </a:lnTo>
                <a:lnTo>
                  <a:pt x="2127" y="557"/>
                </a:lnTo>
                <a:cubicBezTo>
                  <a:pt x="1988" y="686"/>
                  <a:pt x="1825" y="782"/>
                  <a:pt x="1637" y="844"/>
                </a:cubicBezTo>
                <a:lnTo>
                  <a:pt x="1637" y="500"/>
                </a:lnTo>
                <a:cubicBezTo>
                  <a:pt x="1736" y="468"/>
                  <a:pt x="1844" y="406"/>
                  <a:pt x="1960" y="316"/>
                </a:cubicBezTo>
                <a:cubicBezTo>
                  <a:pt x="2075" y="226"/>
                  <a:pt x="2155" y="120"/>
                  <a:pt x="2198" y="0"/>
                </a:cubicBezTo>
                <a:close/>
                <a:moveTo>
                  <a:pt x="641" y="0"/>
                </a:moveTo>
                <a:cubicBezTo>
                  <a:pt x="833" y="0"/>
                  <a:pt x="982" y="68"/>
                  <a:pt x="1090" y="205"/>
                </a:cubicBezTo>
                <a:cubicBezTo>
                  <a:pt x="1219" y="367"/>
                  <a:pt x="1283" y="635"/>
                  <a:pt x="1283" y="1009"/>
                </a:cubicBezTo>
                <a:cubicBezTo>
                  <a:pt x="1283" y="1138"/>
                  <a:pt x="1275" y="1254"/>
                  <a:pt x="1260" y="1358"/>
                </a:cubicBezTo>
                <a:lnTo>
                  <a:pt x="1259" y="1365"/>
                </a:lnTo>
                <a:lnTo>
                  <a:pt x="872" y="1365"/>
                </a:lnTo>
                <a:lnTo>
                  <a:pt x="873" y="1351"/>
                </a:lnTo>
                <a:cubicBezTo>
                  <a:pt x="882" y="1261"/>
                  <a:pt x="887" y="1147"/>
                  <a:pt x="887" y="1009"/>
                </a:cubicBezTo>
                <a:cubicBezTo>
                  <a:pt x="887" y="778"/>
                  <a:pt x="875" y="618"/>
                  <a:pt x="852" y="532"/>
                </a:cubicBezTo>
                <a:cubicBezTo>
                  <a:pt x="828" y="445"/>
                  <a:pt x="799" y="387"/>
                  <a:pt x="763" y="358"/>
                </a:cubicBezTo>
                <a:cubicBezTo>
                  <a:pt x="728" y="329"/>
                  <a:pt x="687" y="314"/>
                  <a:pt x="641" y="314"/>
                </a:cubicBezTo>
                <a:cubicBezTo>
                  <a:pt x="596" y="314"/>
                  <a:pt x="555" y="329"/>
                  <a:pt x="519" y="358"/>
                </a:cubicBezTo>
                <a:cubicBezTo>
                  <a:pt x="483" y="387"/>
                  <a:pt x="455" y="439"/>
                  <a:pt x="435" y="515"/>
                </a:cubicBezTo>
                <a:cubicBezTo>
                  <a:pt x="409" y="613"/>
                  <a:pt x="396" y="778"/>
                  <a:pt x="396" y="1009"/>
                </a:cubicBezTo>
                <a:cubicBezTo>
                  <a:pt x="396" y="1154"/>
                  <a:pt x="401" y="1271"/>
                  <a:pt x="410" y="1359"/>
                </a:cubicBezTo>
                <a:lnTo>
                  <a:pt x="411" y="1365"/>
                </a:lnTo>
                <a:lnTo>
                  <a:pt x="22" y="1365"/>
                </a:lnTo>
                <a:lnTo>
                  <a:pt x="21" y="1355"/>
                </a:lnTo>
                <a:cubicBezTo>
                  <a:pt x="7" y="1252"/>
                  <a:pt x="0" y="1136"/>
                  <a:pt x="0" y="1005"/>
                </a:cubicBezTo>
                <a:cubicBezTo>
                  <a:pt x="0" y="633"/>
                  <a:pt x="65" y="366"/>
                  <a:pt x="194" y="202"/>
                </a:cubicBezTo>
                <a:cubicBezTo>
                  <a:pt x="301" y="67"/>
                  <a:pt x="450" y="0"/>
                  <a:pt x="64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657225" y="3761105"/>
            <a:ext cx="2756535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配置</a:t>
            </a:r>
            <a:r>
              <a:rPr lang="en-US" alt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PWM</a:t>
            </a:r>
            <a:r>
              <a:rPr 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流程</a:t>
            </a:r>
            <a:endParaRPr lang="zh-CN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4739790" y="1569720"/>
            <a:ext cx="1948180" cy="11099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815" h="1477">
                <a:moveTo>
                  <a:pt x="2189" y="0"/>
                </a:moveTo>
                <a:cubicBezTo>
                  <a:pt x="2384" y="0"/>
                  <a:pt x="2537" y="53"/>
                  <a:pt x="2648" y="158"/>
                </a:cubicBezTo>
                <a:cubicBezTo>
                  <a:pt x="2760" y="263"/>
                  <a:pt x="2815" y="394"/>
                  <a:pt x="2815" y="550"/>
                </a:cubicBezTo>
                <a:cubicBezTo>
                  <a:pt x="2815" y="639"/>
                  <a:pt x="2799" y="723"/>
                  <a:pt x="2767" y="804"/>
                </a:cubicBezTo>
                <a:cubicBezTo>
                  <a:pt x="2736" y="884"/>
                  <a:pt x="2685" y="969"/>
                  <a:pt x="2616" y="1057"/>
                </a:cubicBezTo>
                <a:cubicBezTo>
                  <a:pt x="2570" y="1115"/>
                  <a:pt x="2487" y="1199"/>
                  <a:pt x="2368" y="1309"/>
                </a:cubicBezTo>
                <a:cubicBezTo>
                  <a:pt x="2293" y="1377"/>
                  <a:pt x="2236" y="1431"/>
                  <a:pt x="2195" y="1471"/>
                </a:cubicBezTo>
                <a:lnTo>
                  <a:pt x="2189" y="1477"/>
                </a:lnTo>
                <a:lnTo>
                  <a:pt x="1710" y="1477"/>
                </a:lnTo>
                <a:lnTo>
                  <a:pt x="1716" y="1469"/>
                </a:lnTo>
                <a:cubicBezTo>
                  <a:pt x="1795" y="1374"/>
                  <a:pt x="1904" y="1261"/>
                  <a:pt x="2043" y="1132"/>
                </a:cubicBezTo>
                <a:cubicBezTo>
                  <a:pt x="2214" y="973"/>
                  <a:pt x="2318" y="865"/>
                  <a:pt x="2357" y="809"/>
                </a:cubicBezTo>
                <a:cubicBezTo>
                  <a:pt x="2409" y="730"/>
                  <a:pt x="2435" y="653"/>
                  <a:pt x="2435" y="577"/>
                </a:cubicBezTo>
                <a:cubicBezTo>
                  <a:pt x="2435" y="492"/>
                  <a:pt x="2413" y="427"/>
                  <a:pt x="2367" y="382"/>
                </a:cubicBezTo>
                <a:cubicBezTo>
                  <a:pt x="2322" y="337"/>
                  <a:pt x="2259" y="314"/>
                  <a:pt x="2179" y="314"/>
                </a:cubicBezTo>
                <a:cubicBezTo>
                  <a:pt x="2100" y="314"/>
                  <a:pt x="2037" y="338"/>
                  <a:pt x="1991" y="385"/>
                </a:cubicBezTo>
                <a:cubicBezTo>
                  <a:pt x="1944" y="433"/>
                  <a:pt x="1917" y="512"/>
                  <a:pt x="1910" y="623"/>
                </a:cubicBezTo>
                <a:lnTo>
                  <a:pt x="1532" y="585"/>
                </a:lnTo>
                <a:cubicBezTo>
                  <a:pt x="1555" y="376"/>
                  <a:pt x="1625" y="227"/>
                  <a:pt x="1744" y="136"/>
                </a:cubicBezTo>
                <a:cubicBezTo>
                  <a:pt x="1862" y="45"/>
                  <a:pt x="2011" y="0"/>
                  <a:pt x="2189" y="0"/>
                </a:cubicBezTo>
                <a:close/>
                <a:moveTo>
                  <a:pt x="641" y="0"/>
                </a:moveTo>
                <a:cubicBezTo>
                  <a:pt x="833" y="0"/>
                  <a:pt x="982" y="68"/>
                  <a:pt x="1090" y="205"/>
                </a:cubicBezTo>
                <a:cubicBezTo>
                  <a:pt x="1219" y="367"/>
                  <a:pt x="1283" y="635"/>
                  <a:pt x="1283" y="1009"/>
                </a:cubicBezTo>
                <a:cubicBezTo>
                  <a:pt x="1283" y="1185"/>
                  <a:pt x="1269" y="1337"/>
                  <a:pt x="1240" y="1466"/>
                </a:cubicBezTo>
                <a:lnTo>
                  <a:pt x="1238" y="1477"/>
                </a:lnTo>
                <a:lnTo>
                  <a:pt x="854" y="1477"/>
                </a:lnTo>
                <a:lnTo>
                  <a:pt x="855" y="1474"/>
                </a:lnTo>
                <a:cubicBezTo>
                  <a:pt x="876" y="1374"/>
                  <a:pt x="887" y="1219"/>
                  <a:pt x="887" y="1009"/>
                </a:cubicBezTo>
                <a:cubicBezTo>
                  <a:pt x="887" y="778"/>
                  <a:pt x="875" y="618"/>
                  <a:pt x="852" y="532"/>
                </a:cubicBezTo>
                <a:cubicBezTo>
                  <a:pt x="828" y="445"/>
                  <a:pt x="799" y="387"/>
                  <a:pt x="763" y="358"/>
                </a:cubicBezTo>
                <a:cubicBezTo>
                  <a:pt x="728" y="329"/>
                  <a:pt x="687" y="314"/>
                  <a:pt x="641" y="314"/>
                </a:cubicBezTo>
                <a:cubicBezTo>
                  <a:pt x="596" y="314"/>
                  <a:pt x="555" y="329"/>
                  <a:pt x="519" y="358"/>
                </a:cubicBezTo>
                <a:cubicBezTo>
                  <a:pt x="483" y="387"/>
                  <a:pt x="455" y="439"/>
                  <a:pt x="435" y="515"/>
                </a:cubicBezTo>
                <a:cubicBezTo>
                  <a:pt x="409" y="613"/>
                  <a:pt x="396" y="778"/>
                  <a:pt x="396" y="1009"/>
                </a:cubicBezTo>
                <a:cubicBezTo>
                  <a:pt x="396" y="1227"/>
                  <a:pt x="406" y="1380"/>
                  <a:pt x="427" y="1470"/>
                </a:cubicBezTo>
                <a:lnTo>
                  <a:pt x="429" y="1477"/>
                </a:lnTo>
                <a:lnTo>
                  <a:pt x="42" y="1477"/>
                </a:lnTo>
                <a:lnTo>
                  <a:pt x="39" y="1462"/>
                </a:lnTo>
                <a:cubicBezTo>
                  <a:pt x="13" y="1335"/>
                  <a:pt x="0" y="1183"/>
                  <a:pt x="0" y="1005"/>
                </a:cubicBezTo>
                <a:cubicBezTo>
                  <a:pt x="0" y="633"/>
                  <a:pt x="65" y="366"/>
                  <a:pt x="194" y="202"/>
                </a:cubicBezTo>
                <a:cubicBezTo>
                  <a:pt x="301" y="67"/>
                  <a:pt x="450" y="0"/>
                  <a:pt x="64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 flipV="1">
            <a:off x="3726815" y="2606675"/>
            <a:ext cx="6564630" cy="635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030470" y="1628775"/>
            <a:ext cx="5699760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配置</a:t>
            </a:r>
            <a:r>
              <a:rPr lang="en-US" altLang="zh-CN" sz="4800">
                <a:solidFill>
                  <a:srgbClr val="6096E6"/>
                </a:solidFill>
                <a:sym typeface="Arial" panose="020B0604020202020204" pitchFamily="34" charset="0"/>
              </a:rPr>
              <a:t>PWM</a:t>
            </a:r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流程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100830" y="2885440"/>
            <a:ext cx="581723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1.</a:t>
            </a:r>
            <a:r>
              <a:rPr lang="zh-CN" altLang="en-US" sz="3200"/>
              <a:t>配置通道引脚</a:t>
            </a:r>
            <a:r>
              <a:rPr lang="en-US" altLang="zh-CN" sz="3200"/>
              <a:t>GPIO</a:t>
            </a:r>
            <a:endParaRPr lang="zh-CN" altLang="en-US" sz="3200"/>
          </a:p>
          <a:p>
            <a:r>
              <a:rPr lang="en-US" altLang="zh-CN" sz="3200">
                <a:sym typeface="+mn-ea"/>
              </a:rPr>
              <a:t>2.</a:t>
            </a:r>
            <a:r>
              <a:rPr lang="zh-CN" altLang="en-US" sz="3200">
                <a:sym typeface="+mn-ea"/>
              </a:rPr>
              <a:t>配置定时器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3.</a:t>
            </a:r>
            <a:r>
              <a:rPr lang="zh-CN" altLang="en-US" sz="3200">
                <a:sym typeface="+mn-ea"/>
              </a:rPr>
              <a:t>配置输出结构体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4.</a:t>
            </a:r>
            <a:r>
              <a:rPr lang="zh-CN" altLang="en-US" sz="3200">
                <a:sym typeface="+mn-ea"/>
              </a:rPr>
              <a:t>配置定时器输出通道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5.</a:t>
            </a:r>
            <a:r>
              <a:rPr lang="zh-CN" altLang="en-US" sz="3200">
                <a:sym typeface="+mn-ea"/>
              </a:rPr>
              <a:t>配置定时器输出通道占空比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6.</a:t>
            </a:r>
            <a:r>
              <a:rPr lang="zh-CN" altLang="en-US" sz="3200">
                <a:sym typeface="+mn-ea"/>
              </a:rPr>
              <a:t>定时器自动重载影子使能</a:t>
            </a:r>
            <a:endParaRPr lang="zh-CN" altLang="en-US" sz="3200">
              <a:sym typeface="+mn-ea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配置通道引脚</a:t>
            </a: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GPIO</a:t>
            </a:r>
            <a:endParaRPr kumimoji="0" lang="en-US" alt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1885315" y="1398905"/>
            <a:ext cx="6021705" cy="1322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/>
            <a:r>
              <a:rPr lang="zh-CN" altLang="en-US" sz="2000" b="0">
                <a:highlight>
                  <a:srgbClr val="C0C0C0"/>
                </a:highlight>
              </a:rPr>
              <a:t>/* PA5  TIMER1_CH0 */#define BSP_PWM_RCU   	RCU_GPIOA#define BSP_PWM_PORT    </a:t>
            </a:r>
            <a:r>
              <a:rPr lang="en-US" altLang="zh-CN" sz="2000" b="0">
                <a:highlight>
                  <a:srgbClr val="C0C0C0"/>
                </a:highlight>
              </a:rPr>
              <a:t>     </a:t>
            </a:r>
            <a:r>
              <a:rPr lang="zh-CN" altLang="en-US" sz="2000" b="0">
                <a:highlight>
                  <a:srgbClr val="C0C0C0"/>
                </a:highlight>
              </a:rPr>
              <a:t>GPIOA#define BSP_PWM_PIN   	GPIO_PIN_5</a:t>
            </a:r>
            <a:endParaRPr lang="zh-CN" altLang="en-US" sz="2000">
              <a:highlight>
                <a:srgbClr val="C0C0C0"/>
              </a:highlight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21155" y="1000125"/>
            <a:ext cx="5080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266700"/>
            <a:r>
              <a:rPr lang="en-US" sz="2000" b="0">
                <a:latin typeface="Calibri" panose="020F0502020204030204" charset="0"/>
                <a:ea typeface="宋体" panose="02010600030101010101" pitchFamily="2" charset="-122"/>
              </a:rPr>
              <a:t>PA5</a:t>
            </a:r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引脚宏定义如下：</a:t>
            </a:r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1816100" y="3335655"/>
            <a:ext cx="8813165" cy="2306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/>
            <a:r>
              <a:rPr lang="en-US" sz="1600" b="0">
                <a:latin typeface="Calibri" panose="020F0502020204030204" charset="0"/>
                <a:ea typeface="宋体" panose="02010600030101010101" pitchFamily="2" charset="-122"/>
              </a:rPr>
              <a:t>static void pwm_gpio_config(void){ </a:t>
            </a:r>
            <a:endParaRPr lang="en-US" sz="1600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 fontAlgn="auto"/>
            <a:r>
              <a:rPr lang="en-US" sz="1600" b="0">
                <a:latin typeface="Calibri" panose="020F0502020204030204" charset="0"/>
                <a:ea typeface="宋体" panose="02010600030101010101" pitchFamily="2" charset="-122"/>
              </a:rPr>
              <a:t>    /* </a:t>
            </a:r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开启时钟 </a:t>
            </a:r>
            <a:r>
              <a:rPr lang="en-US" sz="1600" b="0">
                <a:latin typeface="Calibri" panose="020F0502020204030204" charset="0"/>
                <a:ea typeface="宋体" panose="02010600030101010101" pitchFamily="2" charset="-122"/>
              </a:rPr>
              <a:t>*/</a:t>
            </a:r>
            <a:r>
              <a:rPr lang="en-US" sz="16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    </a:t>
            </a:r>
            <a:r>
              <a:rPr lang="en-US" sz="1600" b="0">
                <a:latin typeface="Calibri" panose="020F0502020204030204" charset="0"/>
                <a:ea typeface="宋体" panose="02010600030101010101" pitchFamily="2" charset="-122"/>
              </a:rPr>
              <a:t>rcu_periph_clock_enable(BSP_PWM_RCU);</a:t>
            </a:r>
            <a:r>
              <a:rPr lang="en-US" sz="16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    </a:t>
            </a:r>
            <a:r>
              <a:rPr lang="en-US" sz="1600" b="0">
                <a:latin typeface="Calibri" panose="020F0502020204030204" charset="0"/>
                <a:ea typeface="宋体" panose="02010600030101010101" pitchFamily="2" charset="-122"/>
              </a:rPr>
              <a:t>gpio_mode_set(BSP_PWM_PORT, GPIO_MODE_AF, GPIO_PUPD_NONE, BSP_PWM_PIN);</a:t>
            </a:r>
            <a:r>
              <a:rPr lang="en-US" sz="16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    </a:t>
            </a:r>
            <a:r>
              <a:rPr lang="en-US" sz="1600" b="0">
                <a:latin typeface="Calibri" panose="020F0502020204030204" charset="0"/>
                <a:ea typeface="宋体" panose="02010600030101010101" pitchFamily="2" charset="-122"/>
              </a:rPr>
              <a:t>gpio_output_options_set(BSP_PWM_PORT,GPIO_OTYPE_PP, GPIO_OSPEED_50MHZ,BSP_PWM_PIN);</a:t>
            </a:r>
            <a:endParaRPr lang="en-US" sz="1600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 fontAlgn="auto"/>
            <a:r>
              <a:rPr lang="en-US" sz="1600" b="0">
                <a:latin typeface="Calibri" panose="020F0502020204030204" charset="0"/>
                <a:ea typeface="宋体" panose="02010600030101010101" pitchFamily="2" charset="-122"/>
              </a:rPr>
              <a:t>    /* </a:t>
            </a:r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配置</a:t>
            </a:r>
            <a:r>
              <a:rPr lang="en-US" sz="1600" b="0">
                <a:latin typeface="Calibri" panose="020F0502020204030204" charset="0"/>
                <a:ea typeface="宋体" panose="02010600030101010101" pitchFamily="2" charset="-122"/>
              </a:rPr>
              <a:t>IO</a:t>
            </a:r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为定时器的通道 </a:t>
            </a:r>
            <a:r>
              <a:rPr lang="en-US" sz="1600" b="0">
                <a:latin typeface="Calibri" panose="020F0502020204030204" charset="0"/>
                <a:ea typeface="宋体" panose="02010600030101010101" pitchFamily="2" charset="-122"/>
              </a:rPr>
              <a:t>*/</a:t>
            </a:r>
            <a:r>
              <a:rPr lang="en-US" sz="16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    </a:t>
            </a:r>
            <a:r>
              <a:rPr lang="en-US" sz="1600" b="0">
                <a:latin typeface="Calibri" panose="020F0502020204030204" charset="0"/>
                <a:ea typeface="宋体" panose="02010600030101010101" pitchFamily="2" charset="-122"/>
              </a:rPr>
              <a:t>gpio_af_set(BSP_PWM_PORT, GPIO_AF_1, BSP_PWM_PIN);}</a:t>
            </a:r>
            <a:endParaRPr lang="zh-CN" altLang="en-US" sz="16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配置定时器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714500" y="874395"/>
            <a:ext cx="720090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前面介绍过</a:t>
            </a:r>
            <a:r>
              <a:rPr lang="en-US" sz="1600" b="0">
                <a:latin typeface="Calibri" panose="020F0502020204030204" charset="0"/>
                <a:ea typeface="宋体" panose="02010600030101010101" pitchFamily="2" charset="-122"/>
              </a:rPr>
              <a:t>PWM</a:t>
            </a:r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输出是依赖于定时器的，所以要对定时器进行配置，但是我们不使用定时器的中断功能，顾不用对定时器的中断进行配置。</a:t>
            </a:r>
            <a:endParaRPr lang="zh-CN" altLang="en-US" sz="1600"/>
          </a:p>
        </p:txBody>
      </p:sp>
      <p:sp>
        <p:nvSpPr>
          <p:cNvPr id="5" name="文本框 4"/>
          <p:cNvSpPr txBox="1"/>
          <p:nvPr/>
        </p:nvSpPr>
        <p:spPr>
          <a:xfrm>
            <a:off x="1714500" y="1384935"/>
            <a:ext cx="950785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/>
            <a:r>
              <a:rPr sz="2000" b="0">
                <a:highlight>
                  <a:srgbClr val="C0C0C0"/>
                </a:highlight>
              </a:rPr>
              <a:t>/* TIMER */</a:t>
            </a:r>
            <a:endParaRPr sz="2000" b="0">
              <a:highlight>
                <a:srgbClr val="C0C0C0"/>
              </a:highlight>
            </a:endParaRPr>
          </a:p>
          <a:p>
            <a:pPr indent="0" fontAlgn="auto"/>
            <a:r>
              <a:rPr sz="2000" b="0">
                <a:highlight>
                  <a:srgbClr val="C0C0C0"/>
                </a:highlight>
              </a:rPr>
              <a:t>#define BSP_PWM_TIMER_RCU   </a:t>
            </a:r>
            <a:r>
              <a:rPr lang="en-US" sz="2000" b="0">
                <a:highlight>
                  <a:srgbClr val="C0C0C0"/>
                </a:highlight>
              </a:rPr>
              <a:t>  </a:t>
            </a:r>
            <a:r>
              <a:rPr sz="2000" b="0">
                <a:highlight>
                  <a:srgbClr val="C0C0C0"/>
                </a:highlight>
              </a:rPr>
              <a:t>RCU_TIMER1  </a:t>
            </a:r>
            <a:r>
              <a:rPr lang="en-US" sz="2000" b="0">
                <a:highlight>
                  <a:srgbClr val="C0C0C0"/>
                </a:highlight>
              </a:rPr>
              <a:t>  </a:t>
            </a:r>
            <a:r>
              <a:rPr sz="2000" b="0">
                <a:highlight>
                  <a:srgbClr val="C0C0C0"/>
                </a:highlight>
              </a:rPr>
              <a:t>// 定时器时钟</a:t>
            </a:r>
            <a:endParaRPr sz="2000" b="0">
              <a:highlight>
                <a:srgbClr val="C0C0C0"/>
              </a:highlight>
            </a:endParaRPr>
          </a:p>
          <a:p>
            <a:pPr indent="0" fontAlgn="auto"/>
            <a:r>
              <a:rPr sz="2000" b="0">
                <a:highlight>
                  <a:srgbClr val="C0C0C0"/>
                </a:highlight>
              </a:rPr>
              <a:t>#define BSP_PWM_TIMER      </a:t>
            </a:r>
            <a:r>
              <a:rPr lang="en-US" sz="2000" b="0">
                <a:highlight>
                  <a:srgbClr val="C0C0C0"/>
                </a:highlight>
              </a:rPr>
              <a:t>      </a:t>
            </a:r>
            <a:r>
              <a:rPr sz="2000" b="0">
                <a:highlight>
                  <a:srgbClr val="C0C0C0"/>
                </a:highlight>
              </a:rPr>
              <a:t> </a:t>
            </a:r>
            <a:r>
              <a:rPr lang="en-US" sz="2000" b="0">
                <a:highlight>
                  <a:srgbClr val="C0C0C0"/>
                </a:highlight>
              </a:rPr>
              <a:t>  </a:t>
            </a:r>
            <a:r>
              <a:rPr sz="2000" b="0">
                <a:highlight>
                  <a:srgbClr val="C0C0C0"/>
                </a:highlight>
              </a:rPr>
              <a:t>TIMER1   </a:t>
            </a:r>
            <a:r>
              <a:rPr lang="en-US" sz="2000" b="0">
                <a:highlight>
                  <a:srgbClr val="C0C0C0"/>
                </a:highlight>
              </a:rPr>
              <a:t>               </a:t>
            </a:r>
            <a:r>
              <a:rPr sz="2000" b="0">
                <a:highlight>
                  <a:srgbClr val="C0C0C0"/>
                </a:highlight>
              </a:rPr>
              <a:t> // 定时器</a:t>
            </a:r>
            <a:endParaRPr sz="2000" b="0">
              <a:highlight>
                <a:srgbClr val="C0C0C0"/>
              </a:highlight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1885" y="2311400"/>
            <a:ext cx="729424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/>
            <a:r>
              <a:rPr lang="en-US" sz="2000" b="0">
                <a:latin typeface="Calibri" panose="020F0502020204030204" charset="0"/>
                <a:ea typeface="宋体" panose="02010600030101010101" pitchFamily="2" charset="-122"/>
              </a:rPr>
              <a:t>timer_parameter_struct timer_initpara; // </a:t>
            </a:r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定义定时器结构体</a:t>
            </a:r>
            <a:endParaRPr lang="zh-CN" altLang="en-US" sz="2000"/>
          </a:p>
        </p:txBody>
      </p:sp>
      <p:sp>
        <p:nvSpPr>
          <p:cNvPr id="11" name="文本框 10"/>
          <p:cNvSpPr txBox="1"/>
          <p:nvPr/>
        </p:nvSpPr>
        <p:spPr>
          <a:xfrm>
            <a:off x="1506220" y="2771140"/>
            <a:ext cx="9924415" cy="37534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400050"/>
            <a:r>
              <a:rPr lang="en-US" sz="1400" b="0">
                <a:latin typeface="Calibri" panose="020F0502020204030204" charset="0"/>
                <a:ea typeface="宋体" panose="02010600030101010101" pitchFamily="2" charset="-122"/>
              </a:rPr>
              <a:t>          /* </a:t>
            </a:r>
            <a:r>
              <a:rPr lang="zh-CN" sz="1400" b="0">
                <a:latin typeface="Calibri" panose="020F0502020204030204" charset="0"/>
                <a:ea typeface="宋体" panose="02010600030101010101" pitchFamily="2" charset="-122"/>
              </a:rPr>
              <a:t>开启时钟 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</a:rPr>
              <a:t>*/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	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</a:rPr>
              <a:t>rcu_periph_clock_enable(BSP_PWM_TIMER_RCU); // </a:t>
            </a:r>
            <a:r>
              <a:rPr lang="zh-CN" sz="1400" b="0">
                <a:latin typeface="Calibri" panose="020F0502020204030204" charset="0"/>
                <a:ea typeface="宋体" panose="02010600030101010101" pitchFamily="2" charset="-122"/>
              </a:rPr>
              <a:t>开启定时器时钟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	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</a:rPr>
              <a:t>/* CK_TIMERx = 4 x CK_APB1  = 4x50M = 200MHZ */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	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</a:rPr>
              <a:t>rcu_timer_clock_prescaler_config(RCU_TIMER_PSC_MUL4); // </a:t>
            </a:r>
            <a:r>
              <a:rPr lang="zh-CN" sz="1400" b="0">
                <a:latin typeface="Calibri" panose="020F0502020204030204" charset="0"/>
                <a:ea typeface="宋体" panose="02010600030101010101" pitchFamily="2" charset="-122"/>
              </a:rPr>
              <a:t>配置定时器时钟</a:t>
            </a:r>
            <a:endParaRPr lang="zh-CN" sz="1400" b="0">
              <a:latin typeface="Calibri" panose="020F0502020204030204" charset="0"/>
              <a:ea typeface="宋体" panose="02010600030101010101" pitchFamily="2" charset="-122"/>
            </a:endParaRPr>
          </a:p>
          <a:p>
            <a:pPr indent="400050"/>
            <a:r>
              <a:rPr lang="en-US" sz="14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</a:rPr>
              <a:t>timer_deinit(BSP_PWM_TIMER); // </a:t>
            </a:r>
            <a:r>
              <a:rPr lang="zh-CN" sz="1400" b="0">
                <a:latin typeface="Calibri" panose="020F0502020204030204" charset="0"/>
                <a:ea typeface="宋体" panose="02010600030101010101" pitchFamily="2" charset="-122"/>
              </a:rPr>
              <a:t>复位定时器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	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</a:rPr>
              <a:t>/* </a:t>
            </a:r>
            <a:r>
              <a:rPr lang="zh-CN" sz="1400" b="0">
                <a:latin typeface="Calibri" panose="020F0502020204030204" charset="0"/>
                <a:ea typeface="宋体" panose="02010600030101010101" pitchFamily="2" charset="-122"/>
              </a:rPr>
              <a:t>配置定时器参数 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</a:rPr>
              <a:t>*/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	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</a:rPr>
              <a:t>timer_initpara.prescaler = 119; //  </a:t>
            </a:r>
            <a:r>
              <a:rPr lang="zh-CN" sz="1400" b="0">
                <a:latin typeface="Calibri" panose="020F0502020204030204" charset="0"/>
                <a:ea typeface="宋体" panose="02010600030101010101" pitchFamily="2" charset="-122"/>
              </a:rPr>
              <a:t>时钟预分频值   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</a:rPr>
              <a:t>PSC_CLK= 200MHZ / 200 = 1MHZ   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	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</a:rPr>
              <a:t>timer_initpara.alignedmode = TIMER_COUNTER_EDGE; // </a:t>
            </a:r>
            <a:r>
              <a:rPr lang="zh-CN" sz="1400" b="0">
                <a:latin typeface="Calibri" panose="020F0502020204030204" charset="0"/>
                <a:ea typeface="宋体" panose="02010600030101010101" pitchFamily="2" charset="-122"/>
              </a:rPr>
              <a:t>边缘对齐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	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</a:rPr>
              <a:t>timer_initpara.counterdirection = TIMER_COUNTER_UP; // </a:t>
            </a:r>
            <a:r>
              <a:rPr lang="zh-CN" sz="1400" b="0">
                <a:latin typeface="Calibri" panose="020F0502020204030204" charset="0"/>
                <a:ea typeface="宋体" panose="02010600030101010101" pitchFamily="2" charset="-122"/>
              </a:rPr>
              <a:t>向上计数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	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</a:rPr>
              <a:t>timer_initpara.period = 10000 -1; // </a:t>
            </a:r>
            <a:r>
              <a:rPr lang="zh-CN" sz="1400" b="0">
                <a:latin typeface="Calibri" panose="020F0502020204030204" charset="0"/>
                <a:ea typeface="宋体" panose="02010600030101010101" pitchFamily="2" charset="-122"/>
              </a:rPr>
              <a:t>周期    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</a:rPr>
              <a:t>T = 10000 * 1MHZ = 10ms  f = 100HZ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	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</a:rPr>
              <a:t>/* </a:t>
            </a:r>
            <a:r>
              <a:rPr lang="zh-CN" sz="1400" b="0">
                <a:latin typeface="Calibri" panose="020F0502020204030204" charset="0"/>
                <a:ea typeface="宋体" panose="02010600030101010101" pitchFamily="2" charset="-122"/>
              </a:rPr>
              <a:t>在输入捕获的时候使用  数字滤波器使用的采样频率之间的分频比例 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</a:rPr>
              <a:t>*/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	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</a:rPr>
              <a:t>timer_initpara.clockdivision = TIMER_CKDIV_DIV1; // </a:t>
            </a:r>
            <a:r>
              <a:rPr lang="zh-CN" sz="1400" b="0">
                <a:latin typeface="Calibri" panose="020F0502020204030204" charset="0"/>
                <a:ea typeface="宋体" panose="02010600030101010101" pitchFamily="2" charset="-122"/>
              </a:rPr>
              <a:t>分频因子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	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</a:rPr>
              <a:t>/* </a:t>
            </a:r>
            <a:r>
              <a:rPr lang="zh-CN" sz="1400" b="0">
                <a:latin typeface="Calibri" panose="020F0502020204030204" charset="0"/>
                <a:ea typeface="宋体" panose="02010600030101010101" pitchFamily="2" charset="-122"/>
              </a:rPr>
              <a:t>只有高级定时器才有 配置为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</a:rPr>
              <a:t>x</a:t>
            </a:r>
            <a:r>
              <a:rPr lang="zh-CN" sz="1400" b="0">
                <a:latin typeface="Calibri" panose="020F0502020204030204" charset="0"/>
                <a:ea typeface="宋体" panose="02010600030101010101" pitchFamily="2" charset="-122"/>
              </a:rPr>
              <a:t>，就重复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</a:rPr>
              <a:t>x+1</a:t>
            </a:r>
            <a:r>
              <a:rPr lang="zh-CN" sz="1400" b="0">
                <a:latin typeface="Calibri" panose="020F0502020204030204" charset="0"/>
                <a:ea typeface="宋体" panose="02010600030101010101" pitchFamily="2" charset="-122"/>
              </a:rPr>
              <a:t>次进入中断 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</a:rPr>
              <a:t>*/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	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</a:rPr>
              <a:t>timer_initpara.repetitioncounter = 0; // </a:t>
            </a:r>
            <a:r>
              <a:rPr lang="zh-CN" sz="1400" b="0">
                <a:latin typeface="Calibri" panose="020F0502020204030204" charset="0"/>
                <a:ea typeface="宋体" panose="02010600030101010101" pitchFamily="2" charset="-122"/>
              </a:rPr>
              <a:t>重复计数器 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</a:rPr>
              <a:t>0-255  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	</a:t>
            </a:r>
            <a:r>
              <a:rPr lang="en-US" sz="1400" b="0">
                <a:latin typeface="Calibri" panose="020F0502020204030204" charset="0"/>
                <a:ea typeface="宋体" panose="02010600030101010101" pitchFamily="2" charset="-122"/>
              </a:rPr>
              <a:t>timer_init(BSP_PWM_TIMER,&amp;timer_initpara); // </a:t>
            </a:r>
            <a:r>
              <a:rPr lang="zh-CN" sz="1400" b="0">
                <a:latin typeface="Calibri" panose="020F0502020204030204" charset="0"/>
                <a:ea typeface="宋体" panose="02010600030101010101" pitchFamily="2" charset="-122"/>
              </a:rPr>
              <a:t>初始化定时器</a:t>
            </a:r>
            <a:endParaRPr lang="zh-CN" altLang="en-US" sz="1400"/>
          </a:p>
          <a:p>
            <a:pPr lvl="1" indent="400050"/>
            <a:r>
              <a:rPr lang="zh-CN" altLang="en-US" sz="1400"/>
              <a:t>/* 使能定时器 */</a:t>
            </a:r>
            <a:endParaRPr lang="zh-CN" altLang="en-US" sz="1400"/>
          </a:p>
          <a:p>
            <a:pPr lvl="1" indent="400050"/>
            <a:r>
              <a:rPr lang="zh-CN" altLang="en-US" sz="1400"/>
              <a:t>timer_enable(BSP_PWM_TIMER);</a:t>
            </a:r>
            <a:endParaRPr lang="zh-CN" altLang="en-US" sz="14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94740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配置输出结构体</a:t>
            </a:r>
            <a:endParaRPr kumimoji="0" 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094740" y="1059815"/>
            <a:ext cx="88392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/>
              <a:t>        </a:t>
            </a:r>
            <a:r>
              <a:rPr sz="2800"/>
              <a:t>	</a:t>
            </a:r>
            <a:r>
              <a:rPr lang="en-US" sz="2000">
                <a:latin typeface="Calibri" panose="020F0502020204030204" charset="0"/>
                <a:ea typeface="宋体" panose="02010600030101010101" pitchFamily="2" charset="-122"/>
              </a:rPr>
              <a:t>timer_oc_parameter_struct timer_ocintpara; //定时器比较输出结构体。</a:t>
            </a:r>
            <a:endParaRPr lang="en-US" sz="2000"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4" name="图片 -21474826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980" y="1762760"/>
            <a:ext cx="7830820" cy="162877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5" name="表格 4"/>
          <p:cNvGraphicFramePr/>
          <p:nvPr>
            <p:custDataLst>
              <p:tags r:id="rId4"/>
            </p:custDataLst>
          </p:nvPr>
        </p:nvGraphicFramePr>
        <p:xfrm>
          <a:off x="1676400" y="3843655"/>
          <a:ext cx="8427720" cy="1979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7900"/>
                <a:gridCol w="6179820"/>
              </a:tblGrid>
              <a:tr h="3771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参数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描述</a:t>
                      </a:r>
                      <a:endParaRPr lang="zh-CN" altLang="en-US"/>
                    </a:p>
                  </a:txBody>
                  <a:tcPr/>
                </a:tc>
              </a:tr>
              <a:tr h="9429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ocpolarity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通道输出的极性，也就是配置为低电平有效还是高电平有效，这里配置为高电平有效TIMER_OC_POLARITY_HIGH。</a:t>
                      </a:r>
                      <a:endParaRPr lang="zh-CN" altLang="en-US"/>
                    </a:p>
                  </a:txBody>
                  <a:tcPr/>
                </a:tc>
              </a:tr>
              <a:tr h="6597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outputstate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通道输出状态，一般是使能TIMER_CCX_ENABLE，使能PWM输出到端口。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94740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配置定时器输出通道</a:t>
            </a:r>
            <a:endParaRPr kumimoji="0" 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0" name="文本框 99"/>
          <p:cNvSpPr txBox="1"/>
          <p:nvPr/>
        </p:nvSpPr>
        <p:spPr>
          <a:xfrm>
            <a:off x="1094740" y="2089150"/>
            <a:ext cx="10339070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/>
            <a:r>
              <a:rPr lang="en-US" sz="1600" b="0">
                <a:latin typeface="Calibri" panose="020F0502020204030204" charset="0"/>
                <a:ea typeface="宋体" panose="02010600030101010101" pitchFamily="2" charset="-122"/>
              </a:rPr>
              <a:t>v</a:t>
            </a:r>
            <a:r>
              <a:rPr lang="en-US" sz="16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oid timer_channel_output_config(uint32_t timer_periph,uint16_t channel, timer_oc_parameter_struct* ocpara);</a:t>
            </a:r>
            <a:endParaRPr lang="zh-CN" altLang="en-US" sz="1600"/>
          </a:p>
        </p:txBody>
      </p:sp>
      <p:sp>
        <p:nvSpPr>
          <p:cNvPr id="3" name="文本框 2"/>
          <p:cNvSpPr txBox="1"/>
          <p:nvPr/>
        </p:nvSpPr>
        <p:spPr>
          <a:xfrm>
            <a:off x="1228725" y="1515110"/>
            <a:ext cx="2805430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/>
            <a:r>
              <a:rPr lang="zh-CN" altLang="en-US" sz="1600" b="0">
                <a:latin typeface="Calibri" panose="020F0502020204030204" charset="0"/>
                <a:ea typeface="宋体" panose="02010600030101010101" pitchFamily="2" charset="-122"/>
              </a:rPr>
              <a:t>初始化输出结构体：</a:t>
            </a:r>
            <a:endParaRPr lang="zh-CN" altLang="en-US" sz="1600"/>
          </a:p>
        </p:txBody>
      </p:sp>
      <p:sp>
        <p:nvSpPr>
          <p:cNvPr id="5" name="文本框 4"/>
          <p:cNvSpPr txBox="1"/>
          <p:nvPr/>
        </p:nvSpPr>
        <p:spPr>
          <a:xfrm>
            <a:off x="1565275" y="3182620"/>
            <a:ext cx="969137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buClrTx/>
              <a:buSzTx/>
              <a:buFontTx/>
            </a:pPr>
            <a:r>
              <a:rPr lang="zh-CN" altLang="en-US" b="0">
                <a:highlight>
                  <a:srgbClr val="C0C0C0"/>
                </a:highlight>
              </a:rPr>
              <a:t>/* 配置定时器输出功能 */</a:t>
            </a:r>
            <a:endParaRPr lang="zh-CN" altLang="en-US" b="0">
              <a:highlight>
                <a:srgbClr val="C0C0C0"/>
              </a:highlight>
            </a:endParaRPr>
          </a:p>
          <a:p>
            <a:pPr>
              <a:buClrTx/>
              <a:buSzTx/>
              <a:buFontTx/>
            </a:pPr>
            <a:r>
              <a:rPr lang="zh-CN" altLang="en-US" b="0">
                <a:highlight>
                  <a:srgbClr val="C0C0C0"/>
                </a:highlight>
              </a:rPr>
              <a:t>timer_channel_output_config(BSP_PWM_TIMER,BSP_PWM_TIMER_CH,&amp;timer_ocintpara);</a:t>
            </a:r>
            <a:endParaRPr lang="zh-CN" altLang="en-US" b="0">
              <a:highlight>
                <a:srgbClr val="C0C0C0"/>
              </a:highligh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65275" y="4660900"/>
            <a:ext cx="950785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/>
            <a:r>
              <a:rPr sz="2000" b="0">
                <a:highlight>
                  <a:srgbClr val="C0C0C0"/>
                </a:highlight>
              </a:rPr>
              <a:t>#define BSP_PWM_TIMER_CH  	TIMER_CH_0  // 定时器通道</a:t>
            </a:r>
            <a:endParaRPr sz="2000" b="0">
              <a:highlight>
                <a:srgbClr val="C0C0C0"/>
              </a:highlight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982845" cy="95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94740" y="330200"/>
            <a:ext cx="464058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配置定时器输出通道占空比</a:t>
            </a:r>
            <a:endParaRPr kumimoji="0" 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824230" y="1397635"/>
            <a:ext cx="100711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/>
            <a:r>
              <a:rPr sz="2000"/>
              <a:t>	</a:t>
            </a:r>
            <a:r>
              <a:rPr lang="en-US" sz="160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void timer_channel_output_pulse_value_config(uint32_t timer_periph, uint16_t channel, uint32_t pulse);</a:t>
            </a:r>
            <a:endParaRPr lang="en-US" sz="160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094740" y="1991360"/>
            <a:ext cx="1061910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buClrTx/>
              <a:buSzTx/>
              <a:buFontTx/>
            </a:pPr>
            <a:r>
              <a:rPr lang="zh-CN" altLang="en-US" b="0">
                <a:highlight>
                  <a:srgbClr val="C0C0C0"/>
                </a:highlight>
              </a:rPr>
              <a:t>timer_channel_output_pulse_value_config(BSP_PWM_TIMER,</a:t>
            </a:r>
            <a:r>
              <a:rPr lang="zh-CN" altLang="en-US">
                <a:highlight>
                  <a:srgbClr val="C0C0C0"/>
                </a:highlight>
                <a:sym typeface="+mn-ea"/>
              </a:rPr>
              <a:t>BSP_PWM_TIMER_CH</a:t>
            </a:r>
            <a:r>
              <a:rPr lang="zh-CN" altLang="en-US" b="0">
                <a:highlight>
                  <a:srgbClr val="C0C0C0"/>
                </a:highlight>
              </a:rPr>
              <a:t>,5000 - 1); </a:t>
            </a:r>
            <a:endParaRPr lang="zh-CN" altLang="en-US" b="0">
              <a:highlight>
                <a:srgbClr val="C0C0C0"/>
              </a:highlight>
            </a:endParaRPr>
          </a:p>
          <a:p>
            <a:pPr>
              <a:buClrTx/>
              <a:buSzTx/>
              <a:buFontTx/>
            </a:pPr>
            <a:r>
              <a:rPr lang="zh-CN" altLang="en-US" b="0">
                <a:highlight>
                  <a:srgbClr val="C0C0C0"/>
                </a:highlight>
              </a:rPr>
              <a:t>// 配置定时器通道输出脉冲值</a:t>
            </a:r>
            <a:endParaRPr lang="zh-CN" altLang="en-US" b="0">
              <a:highlight>
                <a:srgbClr val="C0C0C0"/>
              </a:highligh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69670" y="2817495"/>
            <a:ext cx="9109075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sz="1600" b="0">
                <a:latin typeface="Calibri" panose="020F0502020204030204" charset="0"/>
                <a:ea typeface="宋体" panose="02010600030101010101" pitchFamily="2" charset="-122"/>
              </a:rPr>
              <a:t>这里设置输出脉冲值为5000-1，我们设置的定时器的周期为10000-1，则占空比为5000 / 10000 = 50%。</a:t>
            </a:r>
            <a:endParaRPr sz="1600" b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94740" y="1029335"/>
            <a:ext cx="2697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配置占空比设置为</a:t>
            </a:r>
            <a:r>
              <a:rPr lang="en-US" altLang="zh-CN"/>
              <a:t>50%</a:t>
            </a:r>
            <a:r>
              <a:rPr lang="zh-CN" altLang="en-US"/>
              <a:t>：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08380" y="4769485"/>
            <a:ext cx="1038415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buClrTx/>
              <a:buSzTx/>
              <a:buNone/>
            </a:pPr>
            <a:r>
              <a:rPr lang="zh-CN" altLang="en-US" b="0">
                <a:highlight>
                  <a:srgbClr val="C0C0C0"/>
                </a:highlight>
              </a:rPr>
              <a:t>timer_channel_output_mode_config(BSP_PWM_TIMER,</a:t>
            </a:r>
            <a:r>
              <a:rPr lang="zh-CN" altLang="en-US">
                <a:highlight>
                  <a:srgbClr val="C0C0C0"/>
                </a:highlight>
                <a:sym typeface="+mn-ea"/>
              </a:rPr>
              <a:t>BSP_PWM_TIMER_CH</a:t>
            </a:r>
            <a:r>
              <a:rPr lang="zh-CN" altLang="en-US" b="0">
                <a:highlight>
                  <a:srgbClr val="C0C0C0"/>
                </a:highlight>
              </a:rPr>
              <a:t>,TIMER_OC_MODE_PWM0);</a:t>
            </a:r>
            <a:r>
              <a:rPr lang="en-US" altLang="zh-CN" b="0">
                <a:highlight>
                  <a:srgbClr val="C0C0C0"/>
                </a:highlight>
              </a:rPr>
              <a:t> </a:t>
            </a:r>
            <a:r>
              <a:rPr lang="zh-CN" altLang="en-US" b="0">
                <a:highlight>
                  <a:srgbClr val="C0C0C0"/>
                </a:highlight>
              </a:rPr>
              <a:t>// 配置定时器通道输出比较模式</a:t>
            </a:r>
            <a:endParaRPr lang="zh-CN" altLang="en-US" b="0">
              <a:highlight>
                <a:srgbClr val="C0C0C0"/>
              </a:highlight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13155" y="3689985"/>
            <a:ext cx="440118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indent="0" algn="l" fontAlgn="auto"/>
            <a:r>
              <a:rPr lang="zh-CN" altLang="en-US">
                <a:sym typeface="+mn-ea"/>
              </a:rPr>
              <a:t>配置外设定时器通道输出比较模式：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69670" y="5741035"/>
            <a:ext cx="9109075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sz="1600" b="0">
                <a:latin typeface="Calibri" panose="020F0502020204030204" charset="0"/>
                <a:ea typeface="宋体" panose="02010600030101010101" pitchFamily="2" charset="-122"/>
              </a:rPr>
              <a:t>这里设置为PWM模式0，也就是配置为TIMER_OC_MODE_PWM0。</a:t>
            </a:r>
            <a:endParaRPr sz="1600" b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39775" y="4175760"/>
            <a:ext cx="100711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/>
            <a:r>
              <a:rPr sz="2000"/>
              <a:t>	</a:t>
            </a:r>
            <a:r>
              <a:rPr lang="en-US" sz="160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void timer_channel_output_mode_config(uint32_t timer_periph, uint16_t channel,uint16_t ocmode);</a:t>
            </a:r>
            <a:endParaRPr lang="en-US" sz="160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829810" cy="63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43592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定时器自动重载影子使能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824230" y="1932305"/>
            <a:ext cx="100711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/>
            <a:r>
              <a:rPr sz="2000"/>
              <a:t>	</a:t>
            </a:r>
            <a:r>
              <a:rPr lang="en-US" sz="160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void timer_auto_reload_shadow_enable(uint32_t timer_periph);</a:t>
            </a:r>
            <a:endParaRPr lang="en-US" sz="160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11885" y="2780665"/>
            <a:ext cx="10098405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buClrTx/>
              <a:buSzTx/>
              <a:buFontTx/>
            </a:pPr>
            <a:r>
              <a:rPr lang="zh-CN" altLang="en-US" sz="2000" b="0">
                <a:highlight>
                  <a:srgbClr val="C0C0C0"/>
                </a:highlight>
              </a:rPr>
              <a:t>/* auto-reload preload enable */</a:t>
            </a:r>
            <a:endParaRPr lang="zh-CN" altLang="en-US" sz="2000" b="0">
              <a:highlight>
                <a:srgbClr val="C0C0C0"/>
              </a:highlight>
            </a:endParaRPr>
          </a:p>
          <a:p>
            <a:pPr>
              <a:buClrTx/>
              <a:buSzTx/>
              <a:buFontTx/>
            </a:pPr>
            <a:r>
              <a:rPr lang="zh-CN" altLang="en-US" sz="2000" b="0">
                <a:highlight>
                  <a:srgbClr val="C0C0C0"/>
                </a:highlight>
              </a:rPr>
              <a:t>   timer_auto_reload_shadow_enable(BSP_PWM_TIMER);</a:t>
            </a:r>
            <a:endParaRPr lang="zh-CN" altLang="en-US" sz="2000" b="0">
              <a:highlight>
                <a:srgbClr val="C0C0C0"/>
              </a:highlight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62685" y="1301115"/>
            <a:ext cx="2240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自动重载影子使能：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4" name="直接连接符 3"/>
          <p:cNvCxnSpPr/>
          <p:nvPr>
            <p:custDataLst>
              <p:tags r:id="rId2"/>
            </p:custDataLst>
          </p:nvPr>
        </p:nvCxnSpPr>
        <p:spPr>
          <a:xfrm flipV="1">
            <a:off x="3778250" y="2526665"/>
            <a:ext cx="5265420" cy="4445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030470" y="1628775"/>
            <a:ext cx="5210175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呼吸灯函数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呼吸灯函数</a:t>
            </a:r>
            <a:endParaRPr kumimoji="0" 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0" name="文本框 99"/>
          <p:cNvSpPr txBox="1"/>
          <p:nvPr/>
        </p:nvSpPr>
        <p:spPr>
          <a:xfrm>
            <a:off x="756285" y="1006475"/>
            <a:ext cx="971042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zh-CN" b="0"/>
              <a:t>        </a:t>
            </a:r>
            <a:r>
              <a:rPr lang="zh-CN" b="0"/>
              <a:t>呼吸灯产生的原理就是LED灯逐渐变亮再逐渐变暗，然后一直循环下去。控制LED灯的亮暗是通过改变PWM的占空比，占空比越大，LED灯越亮，占空比越小，LED灯越暗。</a:t>
            </a:r>
            <a:endParaRPr lang="zh-CN" b="0"/>
          </a:p>
        </p:txBody>
      </p:sp>
      <p:sp>
        <p:nvSpPr>
          <p:cNvPr id="5" name="文本框 4"/>
          <p:cNvSpPr txBox="1"/>
          <p:nvPr/>
        </p:nvSpPr>
        <p:spPr>
          <a:xfrm>
            <a:off x="997585" y="1713230"/>
            <a:ext cx="11008360" cy="47694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buClrTx/>
              <a:buSzTx/>
              <a:buFontTx/>
            </a:pPr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void pwm_breathing_lamp(void)</a:t>
            </a:r>
            <a:endParaRPr lang="zh-CN" sz="1600" b="0">
              <a:latin typeface="Calibri" panose="020F0502020204030204" charset="0"/>
              <a:ea typeface="宋体" panose="02010600030101010101" pitchFamily="2" charset="-122"/>
            </a:endParaRPr>
          </a:p>
          <a:p>
            <a:pPr>
              <a:buClrTx/>
              <a:buSzTx/>
              <a:buFontTx/>
            </a:pPr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{</a:t>
            </a:r>
            <a:endParaRPr lang="zh-CN" sz="1600" b="0">
              <a:latin typeface="Calibri" panose="020F0502020204030204" charset="0"/>
              <a:ea typeface="宋体" panose="02010600030101010101" pitchFamily="2" charset="-122"/>
            </a:endParaRPr>
          </a:p>
          <a:p>
            <a:pPr>
              <a:buClrTx/>
              <a:buSzTx/>
              <a:buFontTx/>
            </a:pPr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	static uint16_t value = 0;</a:t>
            </a:r>
            <a:endParaRPr lang="zh-CN" sz="1600" b="0">
              <a:latin typeface="Calibri" panose="020F0502020204030204" charset="0"/>
              <a:ea typeface="宋体" panose="02010600030101010101" pitchFamily="2" charset="-122"/>
            </a:endParaRPr>
          </a:p>
          <a:p>
            <a:pPr>
              <a:buClrTx/>
              <a:buSzTx/>
              <a:buFontTx/>
            </a:pPr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	static uint8_t direct = 0;</a:t>
            </a:r>
            <a:endParaRPr lang="zh-CN" sz="1600" b="0">
              <a:latin typeface="Calibri" panose="020F0502020204030204" charset="0"/>
              <a:ea typeface="宋体" panose="02010600030101010101" pitchFamily="2" charset="-122"/>
            </a:endParaRPr>
          </a:p>
          <a:p>
            <a:pPr>
              <a:buClrTx/>
              <a:buSzTx/>
              <a:buFontTx/>
            </a:pPr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	</a:t>
            </a:r>
            <a:endParaRPr lang="zh-CN" sz="1600" b="0">
              <a:latin typeface="Calibri" panose="020F0502020204030204" charset="0"/>
              <a:ea typeface="宋体" panose="02010600030101010101" pitchFamily="2" charset="-122"/>
            </a:endParaRPr>
          </a:p>
          <a:p>
            <a:pPr>
              <a:buClrTx/>
              <a:buSzTx/>
              <a:buFontTx/>
            </a:pPr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	if(direct == 0)</a:t>
            </a:r>
            <a:endParaRPr lang="zh-CN" sz="1600" b="0">
              <a:latin typeface="Calibri" panose="020F0502020204030204" charset="0"/>
              <a:ea typeface="宋体" panose="02010600030101010101" pitchFamily="2" charset="-122"/>
            </a:endParaRPr>
          </a:p>
          <a:p>
            <a:pPr>
              <a:buClrTx/>
              <a:buSzTx/>
              <a:buFontTx/>
            </a:pPr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	{</a:t>
            </a:r>
            <a:endParaRPr lang="zh-CN" sz="1600" b="0">
              <a:latin typeface="Calibri" panose="020F0502020204030204" charset="0"/>
              <a:ea typeface="宋体" panose="02010600030101010101" pitchFamily="2" charset="-122"/>
            </a:endParaRPr>
          </a:p>
          <a:p>
            <a:pPr>
              <a:buClrTx/>
              <a:buSzTx/>
              <a:buFontTx/>
            </a:pPr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		value += 300;</a:t>
            </a:r>
            <a:endParaRPr lang="zh-CN" sz="1600" b="0">
              <a:latin typeface="Calibri" panose="020F0502020204030204" charset="0"/>
              <a:ea typeface="宋体" panose="02010600030101010101" pitchFamily="2" charset="-122"/>
            </a:endParaRPr>
          </a:p>
          <a:p>
            <a:pPr>
              <a:buClrTx/>
              <a:buSzTx/>
              <a:buFontTx/>
            </a:pPr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		if(value &gt; 10000)</a:t>
            </a:r>
            <a:endParaRPr lang="zh-CN" sz="1600" b="0">
              <a:latin typeface="Calibri" panose="020F0502020204030204" charset="0"/>
              <a:ea typeface="宋体" panose="02010600030101010101" pitchFamily="2" charset="-122"/>
            </a:endParaRPr>
          </a:p>
          <a:p>
            <a:pPr>
              <a:buClrTx/>
              <a:buSzTx/>
              <a:buFontTx/>
            </a:pPr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			direct = 1; // 改变方向</a:t>
            </a:r>
            <a:endParaRPr lang="zh-CN" sz="1600" b="0">
              <a:latin typeface="Calibri" panose="020F0502020204030204" charset="0"/>
              <a:ea typeface="宋体" panose="02010600030101010101" pitchFamily="2" charset="-122"/>
            </a:endParaRPr>
          </a:p>
          <a:p>
            <a:pPr>
              <a:buClrTx/>
              <a:buSzTx/>
              <a:buFontTx/>
            </a:pPr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	}else </a:t>
            </a:r>
            <a:endParaRPr lang="zh-CN" sz="1600" b="0">
              <a:latin typeface="Calibri" panose="020F0502020204030204" charset="0"/>
              <a:ea typeface="宋体" panose="02010600030101010101" pitchFamily="2" charset="-122"/>
            </a:endParaRPr>
          </a:p>
          <a:p>
            <a:pPr>
              <a:buClrTx/>
              <a:buSzTx/>
              <a:buFontTx/>
            </a:pPr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	{</a:t>
            </a:r>
            <a:endParaRPr lang="zh-CN" sz="1600" b="0">
              <a:latin typeface="Calibri" panose="020F0502020204030204" charset="0"/>
              <a:ea typeface="宋体" panose="02010600030101010101" pitchFamily="2" charset="-122"/>
            </a:endParaRPr>
          </a:p>
          <a:p>
            <a:pPr>
              <a:buClrTx/>
              <a:buSzTx/>
              <a:buFontTx/>
            </a:pPr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		value -= 300; </a:t>
            </a:r>
            <a:endParaRPr lang="zh-CN" sz="1600" b="0">
              <a:latin typeface="Calibri" panose="020F0502020204030204" charset="0"/>
              <a:ea typeface="宋体" panose="02010600030101010101" pitchFamily="2" charset="-122"/>
            </a:endParaRPr>
          </a:p>
          <a:p>
            <a:pPr>
              <a:buClrTx/>
              <a:buSzTx/>
              <a:buFontTx/>
            </a:pPr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		if(value &lt;= 0)</a:t>
            </a:r>
            <a:endParaRPr lang="zh-CN" sz="1600" b="0">
              <a:latin typeface="Calibri" panose="020F0502020204030204" charset="0"/>
              <a:ea typeface="宋体" panose="02010600030101010101" pitchFamily="2" charset="-122"/>
            </a:endParaRPr>
          </a:p>
          <a:p>
            <a:pPr>
              <a:buClrTx/>
              <a:buSzTx/>
              <a:buFontTx/>
            </a:pPr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			direct = 0; // 改变方向</a:t>
            </a:r>
            <a:endParaRPr lang="zh-CN" sz="1600" b="0">
              <a:latin typeface="Calibri" panose="020F0502020204030204" charset="0"/>
              <a:ea typeface="宋体" panose="02010600030101010101" pitchFamily="2" charset="-122"/>
            </a:endParaRPr>
          </a:p>
          <a:p>
            <a:pPr>
              <a:buClrTx/>
              <a:buSzTx/>
              <a:buFontTx/>
            </a:pPr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	}</a:t>
            </a:r>
            <a:endParaRPr lang="zh-CN" sz="1600" b="0">
              <a:latin typeface="Calibri" panose="020F0502020204030204" charset="0"/>
              <a:ea typeface="宋体" panose="02010600030101010101" pitchFamily="2" charset="-122"/>
            </a:endParaRPr>
          </a:p>
          <a:p>
            <a:pPr>
              <a:buClrTx/>
              <a:buSzTx/>
              <a:buFontTx/>
            </a:pPr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	timer_channel_output_pulse_value_config(BSP_PWM_TIMER,TIMER_CH_3,value); // 配置定时器通道输出脉冲值</a:t>
            </a:r>
            <a:endParaRPr lang="zh-CN" sz="1600" b="0">
              <a:latin typeface="Calibri" panose="020F0502020204030204" charset="0"/>
              <a:ea typeface="宋体" panose="02010600030101010101" pitchFamily="2" charset="-122"/>
            </a:endParaRPr>
          </a:p>
          <a:p>
            <a:pPr>
              <a:buClrTx/>
              <a:buSzTx/>
              <a:buFontTx/>
            </a:pPr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	delay_1ms(50);</a:t>
            </a:r>
            <a:endParaRPr lang="zh-CN" sz="1600" b="0">
              <a:latin typeface="Calibri" panose="020F0502020204030204" charset="0"/>
              <a:ea typeface="宋体" panose="02010600030101010101" pitchFamily="2" charset="-122"/>
            </a:endParaRPr>
          </a:p>
          <a:p>
            <a:pPr>
              <a:buClrTx/>
              <a:buSzTx/>
              <a:buFontTx/>
            </a:pPr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}	</a:t>
            </a:r>
            <a:endParaRPr lang="zh-CN" sz="1600" b="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03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3755390" y="2613025"/>
            <a:ext cx="4040505" cy="190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030470" y="1628775"/>
            <a:ext cx="2904490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sz="4800">
                <a:solidFill>
                  <a:srgbClr val="6096E6"/>
                </a:solidFill>
                <a:sym typeface="Arial" panose="020B0604020202020204" pitchFamily="34" charset="0"/>
              </a:rPr>
              <a:t>实验现象</a:t>
            </a:r>
            <a:endParaRPr lang="zh-CN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21410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实验现象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2125980" y="1202690"/>
            <a:ext cx="72650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/>
              <a:t>       </a:t>
            </a:r>
            <a:r>
              <a:rPr sz="2000"/>
              <a:t>烧写我们的代码之后，会观察到LED灯由暗变亮，继而由亮变暗的效果。</a:t>
            </a:r>
            <a:endParaRPr sz="20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3329305" y="252539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5500" b="1">
                <a:solidFill>
                  <a:srgbClr val="3572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谢谢大家</a:t>
            </a:r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706370" y="355282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69005" y="170243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6370" y="355409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87325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6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17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BEAUTIFY_FLAG" val="#wm#"/>
  <p:tag name="KSO_WM_TEMPLATE_CATEGORY" val="diagram"/>
  <p:tag name="KSO_WM_TEMPLATE_INDEX" val="20198924"/>
  <p:tag name="KSO_WM_SLIDE_ID" val="diagram20198924_3"/>
  <p:tag name="KSO_WM_TEMPLATE_SUBCATEGORY" val="22"/>
  <p:tag name="KSO_WM_TEMPLATE_MASTER_TYPE" val="0"/>
  <p:tag name="KSO_WM_TEMPLATE_COLOR_TYPE" val="1"/>
  <p:tag name="KSO_WM_SLIDE_TYPE" val="text"/>
  <p:tag name="KSO_WM_SLIDE_SUBTYPE" val="diag"/>
  <p:tag name="KSO_WM_SLIDE_ITEM_CNT" val="5"/>
  <p:tag name="KSO_WM_SLIDE_INDEX" val="3"/>
  <p:tag name="KSO_WM_SLIDE_SIZE" val="900.387*205.958"/>
  <p:tag name="KSO_WM_SLIDE_POSITION" val="29.8064*167.021"/>
  <p:tag name="KSO_WM_DIAGRAM_GROUP_CODE" val="l1-1"/>
  <p:tag name="KSO_WM_SLIDE_DIAGTYPE" val="l"/>
  <p:tag name="KSO_WM_TAG_VERSION" val="1.0"/>
  <p:tag name="KSO_WM_SLIDE_LAYOUT" val="l"/>
  <p:tag name="KSO_WM_SLIDE_LAYOUT_CNT" val="1"/>
</p:tagLst>
</file>

<file path=ppt/tags/tag12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2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6.xml><?xml version="1.0" encoding="utf-8"?>
<p:tagLst xmlns:p="http://schemas.openxmlformats.org/presentationml/2006/main">
  <p:tag name="KSO_WM_UNIT_TABLE_BEAUTIFY" val="smartTable{252e8efd-ee65-4feb-b7e9-6b3ad4a6c5a7}"/>
  <p:tag name="TABLE_ENDDRAG_ORIGIN_RECT" val="663*155"/>
  <p:tag name="TABLE_ENDDRAG_RECT" val="132*297*663*155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3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3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3301</Words>
  <Application>WPS 演示</Application>
  <PresentationFormat>宽屏</PresentationFormat>
  <Paragraphs>163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Wingdings</vt:lpstr>
      <vt:lpstr>Arial</vt:lpstr>
      <vt:lpstr>Calibri</vt:lpstr>
      <vt:lpstr>Times New Roman</vt:lpstr>
      <vt:lpstr>Arial Unicode MS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冷月枫</cp:lastModifiedBy>
  <cp:revision>481</cp:revision>
  <dcterms:created xsi:type="dcterms:W3CDTF">2019-06-19T02:08:00Z</dcterms:created>
  <dcterms:modified xsi:type="dcterms:W3CDTF">2022-05-20T07:22:09Z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2052-11.1.0.11372</vt:lpwstr>
  </property>
  <property fmtid="{D5CDD505-2E9C-101B-9397-08002B2CF9AE}" pid="3" name="KSOTemplateUUID">
    <vt:lpwstr>v1.0_mb_UVDUVYxfrMBBv8iemHXVyg==</vt:lpwstr>
  </property>
  <property fmtid="{D5CDD505-2E9C-101B-9397-08002B2CF9AE}" pid="4" name="ICV">
    <vt:lpwstr>F4FD8076E9E2473C85D3F1F44504090E</vt:lpwstr>
  </property>
  <property fmtid="{D5CDD505-2E9C-101B-9397-08002B2CF9AE}" pid="5" name="KSOSaveFontToCloudKey">
    <vt:lpwstr>203183318_embed</vt:lpwstr>
  </property>
</Properties>
</file>