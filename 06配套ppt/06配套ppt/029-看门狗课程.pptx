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5"/>
  </p:handoutMasterIdLst>
  <p:sldIdLst>
    <p:sldId id="409" r:id="rId4"/>
    <p:sldId id="497" r:id="rId6"/>
    <p:sldId id="722" r:id="rId7"/>
    <p:sldId id="751" r:id="rId8"/>
    <p:sldId id="738" r:id="rId9"/>
    <p:sldId id="810" r:id="rId10"/>
    <p:sldId id="820" r:id="rId11"/>
    <p:sldId id="821" r:id="rId12"/>
    <p:sldId id="822" r:id="rId13"/>
    <p:sldId id="427" r:id="rId14"/>
  </p:sldIdLst>
  <p:sldSz cx="12192000" cy="6858000"/>
  <p:notesSz cx="6858000" cy="9144000"/>
  <p:embeddedFontLst>
    <p:embeddedFont>
      <p:font typeface="微软雅黑" panose="020B0503020204020204" pitchFamily="34" charset="-122"/>
      <p:regular r:id="rId20"/>
    </p:embeddedFont>
    <p:embeddedFont>
      <p:font typeface="黑体" panose="02010609060101010101" charset="-122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6" userDrawn="1">
          <p15:clr>
            <a:srgbClr val="A4A3A4"/>
          </p15:clr>
        </p15:guide>
        <p15:guide id="2" pos="372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486"/>
        <p:guide pos="372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153.xml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6.xml"/><Relationship Id="rId3" Type="http://schemas.openxmlformats.org/officeDocument/2006/relationships/image" Target="../media/image3.png"/><Relationship Id="rId2" Type="http://schemas.openxmlformats.org/officeDocument/2006/relationships/tags" Target="../tags/tag11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3.xml"/><Relationship Id="rId3" Type="http://schemas.openxmlformats.org/officeDocument/2006/relationships/image" Target="../media/image3.png"/><Relationship Id="rId2" Type="http://schemas.openxmlformats.org/officeDocument/2006/relationships/tags" Target="../tags/tag12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5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image" Target="../media/image3.png"/><Relationship Id="rId2" Type="http://schemas.openxmlformats.org/officeDocument/2006/relationships/tags" Target="../tags/tag12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132.xml"/><Relationship Id="rId7" Type="http://schemas.openxmlformats.org/officeDocument/2006/relationships/image" Target="../media/image6.png"/><Relationship Id="rId6" Type="http://schemas.openxmlformats.org/officeDocument/2006/relationships/tags" Target="../tags/tag131.xml"/><Relationship Id="rId5" Type="http://schemas.openxmlformats.org/officeDocument/2006/relationships/image" Target="../media/image5.png"/><Relationship Id="rId4" Type="http://schemas.openxmlformats.org/officeDocument/2006/relationships/tags" Target="../tags/tag130.xml"/><Relationship Id="rId3" Type="http://schemas.openxmlformats.org/officeDocument/2006/relationships/image" Target="../media/image3.png"/><Relationship Id="rId2" Type="http://schemas.openxmlformats.org/officeDocument/2006/relationships/tags" Target="../tags/tag129.xml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136.xml"/><Relationship Id="rId7" Type="http://schemas.openxmlformats.org/officeDocument/2006/relationships/image" Target="../media/image8.png"/><Relationship Id="rId6" Type="http://schemas.openxmlformats.org/officeDocument/2006/relationships/tags" Target="../tags/tag135.xml"/><Relationship Id="rId5" Type="http://schemas.openxmlformats.org/officeDocument/2006/relationships/image" Target="../media/image7.png"/><Relationship Id="rId4" Type="http://schemas.openxmlformats.org/officeDocument/2006/relationships/tags" Target="../tags/tag134.xml"/><Relationship Id="rId3" Type="http://schemas.openxmlformats.org/officeDocument/2006/relationships/image" Target="../media/image3.png"/><Relationship Id="rId2" Type="http://schemas.openxmlformats.org/officeDocument/2006/relationships/tags" Target="../tags/tag133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5.xml"/><Relationship Id="rId14" Type="http://schemas.openxmlformats.org/officeDocument/2006/relationships/tags" Target="../tags/tag139.xml"/><Relationship Id="rId13" Type="http://schemas.openxmlformats.org/officeDocument/2006/relationships/image" Target="../media/image11.png"/><Relationship Id="rId12" Type="http://schemas.openxmlformats.org/officeDocument/2006/relationships/tags" Target="../tags/tag138.xml"/><Relationship Id="rId11" Type="http://schemas.openxmlformats.org/officeDocument/2006/relationships/image" Target="../media/image10.png"/><Relationship Id="rId10" Type="http://schemas.openxmlformats.org/officeDocument/2006/relationships/tags" Target="../tags/tag13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45.xml"/><Relationship Id="rId6" Type="http://schemas.openxmlformats.org/officeDocument/2006/relationships/image" Target="../media/image3.png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47.xml"/><Relationship Id="rId3" Type="http://schemas.openxmlformats.org/officeDocument/2006/relationships/image" Target="../media/image3.png"/><Relationship Id="rId2" Type="http://schemas.openxmlformats.org/officeDocument/2006/relationships/tags" Target="../tags/tag146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image" Target="../media/image3.png"/><Relationship Id="rId2" Type="http://schemas.openxmlformats.org/officeDocument/2006/relationships/tags" Target="../tags/tag148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2.xml"/><Relationship Id="rId2" Type="http://schemas.openxmlformats.org/officeDocument/2006/relationships/image" Target="../media/image3.png"/><Relationship Id="rId1" Type="http://schemas.openxmlformats.org/officeDocument/2006/relationships/tags" Target="../tags/tag1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628640" y="2771775"/>
            <a:ext cx="53981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看门狗</a:t>
            </a:r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定时器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6832600" y="3676015"/>
            <a:ext cx="286702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看门狗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应用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7796530" y="143525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8882223" y="143525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2633285" y="1494314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626235" y="3676015"/>
            <a:ext cx="289623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看门狗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原理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看门狗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1495" y="1086485"/>
            <a:ext cx="10835005" cy="889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10000"/>
              </a:lnSpc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看门狗是一种专门用于监控系统的硬件设备，本质就是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一个倒计时计时器。</a:t>
            </a: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它能定时检测系统是否正常运行，并在系统出现故障或死锁时自动重启系统，以确保系统的稳定性和可靠性。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0860" y="2210435"/>
            <a:ext cx="11019790" cy="91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10000"/>
              </a:lnSpc>
            </a:pPr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其基本原理是定期接收来自主控芯片的“喂狗信号”，如果在规定的时间内没有接收到信号，硬件看门狗将会触发系统复位，重新启动整个系统。</a:t>
            </a:r>
            <a:endParaRPr lang="zh-CN" altLang="en-US" sz="20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39315" y="3211195"/>
            <a:ext cx="7913370" cy="1635125"/>
          </a:xfrm>
          <a:prstGeom prst="rect">
            <a:avLst/>
          </a:prstGeom>
          <a:effectLst>
            <a:softEdge rad="50800"/>
          </a:effectLst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p>
            <a:pPr indent="457200" algn="ctr" fontAlgn="t">
              <a:lnSpc>
                <a:spcPct val="130000"/>
              </a:lnSpc>
            </a:pPr>
            <a:r>
              <a:rPr lang="zh-CN" altLang="en-US"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通过在程序中周期性地喂狗（发送喂狗信号），可以确保程序正常运行并避免陷入无限循环的状态。如果程序由于某种原因停止了对看门狗的喂狗，硬件看门狗将会认为系统出现故障并触发复位。</a:t>
            </a:r>
            <a:endParaRPr lang="zh-CN" altLang="en-US"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4230" y="5506085"/>
            <a:ext cx="10340340" cy="865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40000"/>
              </a:lnSpc>
            </a:pPr>
            <a:r>
              <a:rPr lang="zh-CN" altLang="en-US" sz="160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硬件看门狗特别适用于远程或无人值守的系统设备中，它能确保系统在出现故障时及时自动重启，减少系统停机时间并提高系统的可用性。这在一些关键的嵌入式系统、服务器、网络设备等领域非常重要。</a:t>
            </a:r>
            <a:endParaRPr lang="zh-CN" altLang="en-US" sz="160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81990" y="330200"/>
            <a:ext cx="395224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GD32F4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的看门狗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24230" y="1106805"/>
            <a:ext cx="8234045" cy="650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dist" fontAlgn="t">
              <a:lnSpc>
                <a:spcPct val="10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GD32F4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系列具有两个看门狗，分别是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独立看门狗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窗口看门狗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90015" y="1757680"/>
            <a:ext cx="3825240" cy="28390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effectLst>
            <a:softEdge rad="76200"/>
          </a:effectLst>
        </p:spPr>
        <p:txBody>
          <a:bodyPr wrap="square" rtlCol="0" anchor="t">
            <a:noAutofit/>
          </a:bodyPr>
          <a:p>
            <a:pPr indent="0" algn="ctr" fontAlgn="t">
              <a:lnSpc>
                <a:spcPct val="150000"/>
              </a:lnSpc>
              <a:spcAft>
                <a:spcPts val="1200"/>
              </a:spcAft>
            </a:pPr>
            <a:r>
              <a:rPr lang="zh-CN" altLang="en-US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独立看门狗</a:t>
            </a:r>
            <a:endParaRPr lang="zh-CN" altLang="en-US" sz="2000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6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独立看门狗是一个独立运行的硬件设备，不依赖于系统的其他组件或软件进行操作。它有独立时钟源（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IRC32K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）。因此就算是主时钟失效了，它仍然能保持工作状态，这非常适合于需要独立环境且对计时精度要求不高的场合。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058275" y="3490595"/>
            <a:ext cx="4064000" cy="91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860540" y="1747520"/>
            <a:ext cx="3825240" cy="2839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softEdge rad="76200"/>
          </a:effectLst>
        </p:spPr>
        <p:txBody>
          <a:bodyPr wrap="square" rtlCol="0" anchor="t">
            <a:noAutofit/>
          </a:bodyPr>
          <a:p>
            <a:pPr indent="0" algn="ctr" fontAlgn="t">
              <a:lnSpc>
                <a:spcPct val="150000"/>
              </a:lnSpc>
              <a:spcAft>
                <a:spcPts val="1200"/>
              </a:spcAft>
            </a:pPr>
            <a:r>
              <a:rPr lang="zh-CN" altLang="en-US" sz="2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窗口看门狗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150000"/>
              </a:lnSpc>
            </a:pP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窗口看门狗是一种更灵活的看门狗实现方式。它将定时任务的执行范围定义为一个时间窗口，在这个窗口内，任务被认为是正常的。如果任务超出窗口范围，窗口看门狗将会触发重启操作。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77225" y="6424295"/>
            <a:ext cx="4064000" cy="91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115300" y="5923915"/>
            <a:ext cx="4064000" cy="91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389380" y="4665980"/>
            <a:ext cx="3825240" cy="20008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effectLst>
            <a:softEdge rad="76200"/>
          </a:effectLst>
        </p:spPr>
        <p:txBody>
          <a:bodyPr wrap="square" rtlCol="0" anchor="t">
            <a:noAutofit/>
          </a:bodyPr>
          <a:p>
            <a:pPr indent="0" algn="ctr" fontAlgn="t">
              <a:lnSpc>
                <a:spcPct val="160000"/>
              </a:lnSpc>
            </a:pPr>
            <a:r>
              <a:rPr lang="zh-CN" altLang="en-US" sz="14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功能</a:t>
            </a:r>
            <a:b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独立看门狗定时器启动后开始计数，如果系统无法定期喂独立看门狗，计数器将递减直到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。当计数达到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时，看门狗会触发一个复位信号，导致系统重启。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889115" y="4665980"/>
            <a:ext cx="3796665" cy="20002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softEdge rad="76200"/>
          </a:effectLst>
        </p:spPr>
        <p:txBody>
          <a:bodyPr wrap="square" rtlCol="0" anchor="t">
            <a:noAutofit/>
          </a:bodyPr>
          <a:p>
            <a:pPr indent="0" algn="ctr" fontAlgn="t">
              <a:lnSpc>
                <a:spcPct val="150000"/>
              </a:lnSpc>
              <a:spcAft>
                <a:spcPts val="0"/>
              </a:spcAft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功能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50000"/>
              </a:lnSpc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窗口看门狗利用定时器来监视系统任务的执行时间。如果任务在规定的时间窗口内完成，看门狗会重置定时器。如果任务超出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或没有到达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时间窗口，看门狗将会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触发复位信号。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独立看门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狗</a:t>
            </a:r>
            <a:endParaRPr lang="zh-CN" altLang="en-US" sz="2800" b="1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89375" y="1957705"/>
            <a:ext cx="4412615" cy="23139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300355" y="2046605"/>
            <a:ext cx="3407410" cy="2386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4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独立看门狗定时器带有一个预分频器和一个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12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位的向下递减计数器。当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向控制寄存器（FWDGT_CTL）中写0xCCCC可以开启独立看门狗定时器，计数器开始向下计数。当计数器记到0x000，产生一次复位。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552825" y="4591050"/>
            <a:ext cx="5086350" cy="20091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374380" y="2119630"/>
            <a:ext cx="3467735" cy="2499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4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在任何时候向控制寄存器（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FWDGT_CTL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）中写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0xAAAA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都可以重装载计数器，重装载值来源于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FWDGT_RLD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寄存器。软件可以在计数器计数值达到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之前可以通过重装载计数器来阻止看门狗定时器复位。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窗口看门</a:t>
            </a: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狗</a:t>
            </a:r>
            <a:endParaRPr lang="zh-CN" altLang="en-US" sz="2800" b="1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1495" y="1090295"/>
            <a:ext cx="10455275" cy="837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9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如果窗口看门狗定时器使能（将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WWDGT_CTL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寄存器的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WDGTEN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位置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1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），计数值达到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0x3F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的时候产生复位（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CNT[6]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位被清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</a:t>
            </a: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）。或是在计数值达到窗口寄存器值之前，更新计数器也会产生复位。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11885" y="2315845"/>
            <a:ext cx="5060950" cy="20859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361690" y="5293360"/>
            <a:ext cx="3159760" cy="11264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80035" y="5293360"/>
            <a:ext cx="3081655" cy="10909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942455" y="1866900"/>
            <a:ext cx="3922395" cy="2774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706235" y="5121275"/>
            <a:ext cx="4953635" cy="147066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2718435" y="253175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940685" y="377253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 flipV="1">
            <a:off x="2940685" y="3763010"/>
            <a:ext cx="584771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15765" y="2788285"/>
            <a:ext cx="562864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看门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狗操作流程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40685" y="3952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</a:t>
            </a:r>
            <a:r>
              <a:rPr lang="zh-CN"/>
              <a:t>双看门狗复位</a:t>
            </a:r>
            <a:r>
              <a:rPr lang="zh-CN" altLang="en-US"/>
              <a:t>作为</a:t>
            </a:r>
            <a:r>
              <a:rPr lang="zh-CN" altLang="en-US"/>
              <a:t>案例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独立看门狗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7550" y="1752600"/>
            <a:ext cx="6510020" cy="38690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void FWDGT_Config(void)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//使能 IRC32K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rcu_osci_on(RCU_IRC32K);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//等到IRC32K准备好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while(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SUCCESS != rcu_osci_stab_wait(RCU_IRC32K)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{  }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// 配置FWDGT计数器时钟: 32KHz(IRC32K) / 64 = 0.5 KHz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fwdgt_config(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2*500,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FWDGT_PSC_DIV64);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//看门狗使能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fwdgt_enable();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20610" y="2692400"/>
            <a:ext cx="4130040" cy="1863725"/>
          </a:xfrm>
          <a:prstGeom prst="rect">
            <a:avLst/>
          </a:prstGeom>
          <a:solidFill>
            <a:schemeClr val="accent5"/>
          </a:solidFill>
        </p:spPr>
        <p:txBody>
          <a:bodyPr wrap="square" rtlCol="0" anchor="ctr" anchorCtr="0">
            <a:noAutofit/>
          </a:bodyPr>
          <a:p>
            <a:pPr indent="0" algn="ctr" fontAlgn="t">
              <a:lnSpc>
                <a:spcPct val="9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 重新加载FWDGT计数器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ctr" fontAlgn="t">
              <a:lnSpc>
                <a:spcPct val="9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fwdgt_counter_reload();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窗口看门狗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1495" y="1452880"/>
            <a:ext cx="9881870" cy="4216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9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// 使能 WWDGT 时钟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rcu_periph_clock_enable(RCU_WWDGT);</a:t>
            </a:r>
            <a:b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b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/*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*  System clock up to 200Mhz, PCLK1=50MHz 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*  设置 WWDGT时钟= (PCLK1 (50MHz)/4096)/4 = 3051Hz (~328 us)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*  设置计数器值为127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*  将窗口值设置为80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*  刷新窗口为: ~328 * (127-80)= 15.4ms &lt; 刷新窗口 &lt; ~328 * (127-63)=20.9ms。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*/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wwdgt_config(127, 80, WWDGT_CFG_PSC_DIV4);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b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//使能WWDGT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9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wwdgt_enable();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595235" y="4950460"/>
            <a:ext cx="4130040" cy="1593215"/>
          </a:xfrm>
          <a:prstGeom prst="rect">
            <a:avLst/>
          </a:prstGeom>
          <a:solidFill>
            <a:schemeClr val="accent5"/>
          </a:solidFill>
        </p:spPr>
        <p:txBody>
          <a:bodyPr wrap="square" rtlCol="0" anchor="ctr" anchorCtr="0">
            <a:noAutofit/>
          </a:bodyPr>
          <a:p>
            <a:pPr indent="0" algn="l" fontAlgn="t">
              <a:lnSpc>
                <a:spcPct val="90000"/>
              </a:lnSpc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</a:t>
            </a:r>
            <a:r>
              <a:rPr lang="zh-CN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更新窗口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2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看门狗计数器      wwdgt_counter_update(127);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2115" y="381635"/>
            <a:ext cx="1912620" cy="4972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7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1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4.xml><?xml version="1.0" encoding="utf-8"?>
<p:tagLst xmlns:p="http://schemas.openxmlformats.org/presentationml/2006/main">
  <p:tag name="KSO_WM_BEAUTIFY_FLAG" val=""/>
  <p:tag name="KSO_WM_UNIT_PLACING_PICTURE_USER_VIEWPORT" val="{&quot;height&quot;:783,&quot;width&quot;:3012}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3.xml><?xml version="1.0" encoding="utf-8"?>
<p:tagLst xmlns:p="http://schemas.openxmlformats.org/presentationml/2006/main">
  <p:tag name="KSO_WPP_MARK_KEY" val="20655751-83b5-4141-9554-5e7661096423"/>
  <p:tag name="COMMONDATA" val="eyJjb3VudCI6MTAyLCJoZGlkIjoiMWE0OWQ3ZjBmZjU1NzZlOTc4MmIyNzBiYTIwMTg4NjQiLCJ1c2VyQ291bnQiOjR9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noAutofit/>
      </a:bodyPr>
      <a:lstStyle>
        <a:defPPr indent="457200" algn="l" fontAlgn="t">
          <a:lnSpc>
            <a:spcPct val="90000"/>
          </a:lnSpc>
          <a:defRPr lang="zh-CN" altLang="en-US" sz="1400">
            <a:latin typeface="Arial" panose="020B0604020202020204" pitchFamily="34" charset="0"/>
            <a:cs typeface="Arial" panose="020B0604020202020204" pitchFamily="34" charset="0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1877</Words>
  <Application>WPS 演示</Application>
  <PresentationFormat>宽屏</PresentationFormat>
  <Paragraphs>92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Wingdings</vt:lpstr>
      <vt:lpstr>Arial</vt:lpstr>
      <vt:lpstr>黑体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莫志宏</cp:lastModifiedBy>
  <cp:revision>488</cp:revision>
  <dcterms:created xsi:type="dcterms:W3CDTF">2019-06-19T02:08:00Z</dcterms:created>
  <dcterms:modified xsi:type="dcterms:W3CDTF">2023-07-25T02:54:27Z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