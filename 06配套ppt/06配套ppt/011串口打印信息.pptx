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27"/>
  </p:handoutMasterIdLst>
  <p:sldIdLst>
    <p:sldId id="409" r:id="rId4"/>
    <p:sldId id="497" r:id="rId6"/>
    <p:sldId id="720" r:id="rId7"/>
    <p:sldId id="722" r:id="rId8"/>
    <p:sldId id="732" r:id="rId9"/>
    <p:sldId id="762" r:id="rId10"/>
    <p:sldId id="763" r:id="rId11"/>
    <p:sldId id="764" r:id="rId12"/>
    <p:sldId id="733" r:id="rId13"/>
    <p:sldId id="765" r:id="rId14"/>
    <p:sldId id="766" r:id="rId15"/>
    <p:sldId id="767" r:id="rId16"/>
    <p:sldId id="716" r:id="rId17"/>
    <p:sldId id="734" r:id="rId18"/>
    <p:sldId id="755" r:id="rId19"/>
    <p:sldId id="768" r:id="rId20"/>
    <p:sldId id="769" r:id="rId21"/>
    <p:sldId id="770" r:id="rId22"/>
    <p:sldId id="717" r:id="rId23"/>
    <p:sldId id="752" r:id="rId24"/>
    <p:sldId id="735" r:id="rId25"/>
    <p:sldId id="427" r:id="rId26"/>
  </p:sldIdLst>
  <p:sldSz cx="12192000" cy="6858000"/>
  <p:notesSz cx="6858000" cy="9144000"/>
  <p:embeddedFontLst>
    <p:embeddedFont>
      <p:font typeface="微软雅黑" panose="020B0503020204020204" pitchFamily="34" charset="-122"/>
      <p:regular r:id="rId32"/>
    </p:embeddedFont>
    <p:embeddedFont>
      <p:font typeface="Calibri" panose="020F0502020204030204" charset="0"/>
      <p:regular r:id="rId33"/>
      <p:bold r:id="rId34"/>
      <p:italic r:id="rId35"/>
      <p:boldItalic r:id="rId3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幸全" initials="幸全" lastIdx="1" clrIdx="0"/>
  <p:cmAuthor id="3" name="Author" initials="A" lastIdx="0" clrIdx="2"/>
  <p:cmAuthor id="4" name="USER" initials="U" lastIdx="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B6E5"/>
    <a:srgbClr val="F18870"/>
    <a:srgbClr val="FFBA55"/>
    <a:srgbClr val="56CA95"/>
    <a:srgbClr val="6096E6"/>
    <a:srgbClr val="4691C0"/>
    <a:srgbClr val="70AACE"/>
    <a:srgbClr val="79C5D9"/>
    <a:srgbClr val="35729C"/>
    <a:srgbClr val="174A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460"/>
        <p:guide pos="387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6" Type="http://schemas.openxmlformats.org/officeDocument/2006/relationships/font" Target="fonts/font5.fntdata"/><Relationship Id="rId35" Type="http://schemas.openxmlformats.org/officeDocument/2006/relationships/font" Target="fonts/font4.fntdata"/><Relationship Id="rId34" Type="http://schemas.openxmlformats.org/officeDocument/2006/relationships/font" Target="fonts/font3.fntdata"/><Relationship Id="rId33" Type="http://schemas.openxmlformats.org/officeDocument/2006/relationships/font" Target="fonts/font2.fntdata"/><Relationship Id="rId32" Type="http://schemas.openxmlformats.org/officeDocument/2006/relationships/font" Target="fonts/font1.fntdata"/><Relationship Id="rId31" Type="http://schemas.openxmlformats.org/officeDocument/2006/relationships/commentAuthors" Target="commentAuthors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schemeClr val="tx1">
                <a:lumMod val="75000"/>
                <a:lumOff val="25000"/>
                <a:alpha val="6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654050" y="640715"/>
            <a:ext cx="10884535" cy="55765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lumMod val="75000"/>
                <a:lumOff val="25000"/>
                <a:alpha val="7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schemeClr val="tx1">
                <a:lumMod val="75000"/>
                <a:lumOff val="2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114.xml"/><Relationship Id="rId18" Type="http://schemas.openxmlformats.org/officeDocument/2006/relationships/tags" Target="../tags/tag113.xml"/><Relationship Id="rId17" Type="http://schemas.openxmlformats.org/officeDocument/2006/relationships/tags" Target="../tags/tag112.xml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tags" Target="../tags/tag109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5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8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26.xml"/><Relationship Id="rId5" Type="http://schemas.openxmlformats.org/officeDocument/2006/relationships/image" Target="../media/image3.png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27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28.xml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29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0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2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3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4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5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39.xml"/><Relationship Id="rId4" Type="http://schemas.openxmlformats.org/officeDocument/2006/relationships/image" Target="../media/image3.png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tags" Target="../tags/tag136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40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41.xml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42.xml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43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44.xml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48.xml"/><Relationship Id="rId4" Type="http://schemas.openxmlformats.org/officeDocument/2006/relationships/image" Target="../media/image3.png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tags" Target="../tags/tag145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49.xml"/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50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5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5126355" y="2529205"/>
            <a:ext cx="53549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串口打印信息</a:t>
            </a:r>
            <a:endParaRPr lang="zh-CN" altLang="en-US" sz="5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 descr="专业版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143000"/>
            <a:ext cx="4572000" cy="4572000"/>
          </a:xfrm>
          <a:prstGeom prst="rect">
            <a:avLst/>
          </a:prstGeom>
        </p:spPr>
      </p:pic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05" y="187325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" name="文本框 56"/>
          <p:cNvSpPr txBox="1"/>
          <p:nvPr>
            <p:custDataLst>
              <p:tags r:id="rId1"/>
            </p:custDataLst>
          </p:nvPr>
        </p:nvSpPr>
        <p:spPr>
          <a:xfrm>
            <a:off x="4415790" y="3703955"/>
            <a:ext cx="3032125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串口发送数据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6" name="任意形状 55" descr="A0"/>
          <p:cNvSpPr/>
          <p:nvPr>
            <p:custDataLst>
              <p:tags r:id="rId2"/>
            </p:custDataLst>
          </p:nvPr>
        </p:nvSpPr>
        <p:spPr>
          <a:xfrm>
            <a:off x="4970780" y="1520349"/>
            <a:ext cx="817200" cy="1058400"/>
          </a:xfrm>
          <a:custGeom>
            <a:avLst/>
            <a:gdLst>
              <a:gd name="connsiteX0" fmla="*/ 316687 w 631918"/>
              <a:gd name="connsiteY0" fmla="*/ 0 h 736299"/>
              <a:gd name="connsiteX1" fmla="*/ 631918 w 631918"/>
              <a:gd name="connsiteY1" fmla="*/ 309389 h 736299"/>
              <a:gd name="connsiteX2" fmla="*/ 631918 w 631918"/>
              <a:gd name="connsiteY2" fmla="*/ 736299 h 736299"/>
              <a:gd name="connsiteX3" fmla="*/ 442195 w 631918"/>
              <a:gd name="connsiteY3" fmla="*/ 736299 h 736299"/>
              <a:gd name="connsiteX4" fmla="*/ 442195 w 631918"/>
              <a:gd name="connsiteY4" fmla="*/ 312322 h 736299"/>
              <a:gd name="connsiteX5" fmla="*/ 316687 w 631918"/>
              <a:gd name="connsiteY5" fmla="*/ 170751 h 736299"/>
              <a:gd name="connsiteX6" fmla="*/ 189723 w 631918"/>
              <a:gd name="connsiteY6" fmla="*/ 312311 h 736299"/>
              <a:gd name="connsiteX7" fmla="*/ 189723 w 631918"/>
              <a:gd name="connsiteY7" fmla="*/ 736299 h 736299"/>
              <a:gd name="connsiteX8" fmla="*/ 0 w 631918"/>
              <a:gd name="connsiteY8" fmla="*/ 736299 h 736299"/>
              <a:gd name="connsiteX9" fmla="*/ 0 w 631918"/>
              <a:gd name="connsiteY9" fmla="*/ 309389 h 736299"/>
              <a:gd name="connsiteX10" fmla="*/ 316687 w 631918"/>
              <a:gd name="connsiteY10" fmla="*/ 0 h 736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1918" h="736299">
                <a:moveTo>
                  <a:pt x="316687" y="0"/>
                </a:moveTo>
                <a:cubicBezTo>
                  <a:pt x="485970" y="0"/>
                  <a:pt x="631918" y="110913"/>
                  <a:pt x="631918" y="309389"/>
                </a:cubicBezTo>
                <a:lnTo>
                  <a:pt x="631918" y="736299"/>
                </a:lnTo>
                <a:lnTo>
                  <a:pt x="442195" y="736299"/>
                </a:lnTo>
                <a:lnTo>
                  <a:pt x="442195" y="312322"/>
                </a:lnTo>
                <a:cubicBezTo>
                  <a:pt x="442195" y="224747"/>
                  <a:pt x="391121" y="170751"/>
                  <a:pt x="316687" y="170751"/>
                </a:cubicBezTo>
                <a:cubicBezTo>
                  <a:pt x="242264" y="170751"/>
                  <a:pt x="189723" y="224747"/>
                  <a:pt x="189723" y="312311"/>
                </a:cubicBezTo>
                <a:lnTo>
                  <a:pt x="189723" y="736299"/>
                </a:lnTo>
                <a:lnTo>
                  <a:pt x="0" y="736299"/>
                </a:lnTo>
                <a:lnTo>
                  <a:pt x="0" y="309389"/>
                </a:lnTo>
                <a:cubicBezTo>
                  <a:pt x="0" y="110913"/>
                  <a:pt x="147402" y="0"/>
                  <a:pt x="316687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800"/>
          </a:p>
        </p:txBody>
      </p:sp>
      <p:sp>
        <p:nvSpPr>
          <p:cNvPr id="63" name="任意形状 62" descr="A2"/>
          <p:cNvSpPr/>
          <p:nvPr>
            <p:custDataLst>
              <p:tags r:id="rId3"/>
            </p:custDataLst>
          </p:nvPr>
        </p:nvSpPr>
        <p:spPr>
          <a:xfrm>
            <a:off x="6056473" y="1520349"/>
            <a:ext cx="817200" cy="1058400"/>
          </a:xfrm>
          <a:custGeom>
            <a:avLst/>
            <a:gdLst>
              <a:gd name="connsiteX0" fmla="*/ 319975 w 638478"/>
              <a:gd name="connsiteY0" fmla="*/ 0 h 715701"/>
              <a:gd name="connsiteX1" fmla="*/ 638478 w 638478"/>
              <a:gd name="connsiteY1" fmla="*/ 305251 h 715701"/>
              <a:gd name="connsiteX2" fmla="*/ 526415 w 638478"/>
              <a:gd name="connsiteY2" fmla="*/ 545598 h 715701"/>
              <a:gd name="connsiteX3" fmla="*/ 379875 w 638478"/>
              <a:gd name="connsiteY3" fmla="*/ 715701 h 715701"/>
              <a:gd name="connsiteX4" fmla="*/ 146785 w 638478"/>
              <a:gd name="connsiteY4" fmla="*/ 715701 h 715701"/>
              <a:gd name="connsiteX5" fmla="*/ 392230 w 638478"/>
              <a:gd name="connsiteY5" fmla="*/ 430582 h 715701"/>
              <a:gd name="connsiteX6" fmla="*/ 446798 w 638478"/>
              <a:gd name="connsiteY6" fmla="*/ 303769 h 715701"/>
              <a:gd name="connsiteX7" fmla="*/ 319975 w 638478"/>
              <a:gd name="connsiteY7" fmla="*/ 172535 h 715701"/>
              <a:gd name="connsiteX8" fmla="*/ 191693 w 638478"/>
              <a:gd name="connsiteY8" fmla="*/ 306721 h 715701"/>
              <a:gd name="connsiteX9" fmla="*/ 0 w 638478"/>
              <a:gd name="connsiteY9" fmla="*/ 306721 h 715701"/>
              <a:gd name="connsiteX10" fmla="*/ 319975 w 638478"/>
              <a:gd name="connsiteY10" fmla="*/ 0 h 715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8478" h="715701">
                <a:moveTo>
                  <a:pt x="319975" y="0"/>
                </a:moveTo>
                <a:cubicBezTo>
                  <a:pt x="505776" y="0"/>
                  <a:pt x="638478" y="116486"/>
                  <a:pt x="638478" y="305251"/>
                </a:cubicBezTo>
                <a:cubicBezTo>
                  <a:pt x="638478" y="406990"/>
                  <a:pt x="598670" y="461547"/>
                  <a:pt x="526415" y="545598"/>
                </a:cubicBezTo>
                <a:lnTo>
                  <a:pt x="379875" y="715701"/>
                </a:lnTo>
                <a:lnTo>
                  <a:pt x="146785" y="715701"/>
                </a:lnTo>
                <a:lnTo>
                  <a:pt x="392230" y="430582"/>
                </a:lnTo>
                <a:cubicBezTo>
                  <a:pt x="430568" y="384870"/>
                  <a:pt x="446798" y="352422"/>
                  <a:pt x="446798" y="303769"/>
                </a:cubicBezTo>
                <a:cubicBezTo>
                  <a:pt x="446798" y="225622"/>
                  <a:pt x="401073" y="172535"/>
                  <a:pt x="319975" y="172535"/>
                </a:cubicBezTo>
                <a:cubicBezTo>
                  <a:pt x="256563" y="172535"/>
                  <a:pt x="191693" y="204982"/>
                  <a:pt x="191693" y="306721"/>
                </a:cubicBezTo>
                <a:lnTo>
                  <a:pt x="0" y="306721"/>
                </a:lnTo>
                <a:cubicBezTo>
                  <a:pt x="0" y="115028"/>
                  <a:pt x="140089" y="12"/>
                  <a:pt x="319975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6797040" y="3703955"/>
            <a:ext cx="3331210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串口实验</a:t>
            </a:r>
            <a:endParaRPr lang="zh-CN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8302625" y="1520349"/>
            <a:ext cx="1825625" cy="1099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04" h="2292">
                <a:moveTo>
                  <a:pt x="3741" y="0"/>
                </a:moveTo>
                <a:cubicBezTo>
                  <a:pt x="4063" y="0"/>
                  <a:pt x="4321" y="103"/>
                  <a:pt x="4516" y="308"/>
                </a:cubicBezTo>
                <a:cubicBezTo>
                  <a:pt x="4676" y="476"/>
                  <a:pt x="4756" y="666"/>
                  <a:pt x="4756" y="878"/>
                </a:cubicBezTo>
                <a:cubicBezTo>
                  <a:pt x="4756" y="1178"/>
                  <a:pt x="4592" y="1418"/>
                  <a:pt x="4264" y="1596"/>
                </a:cubicBezTo>
                <a:cubicBezTo>
                  <a:pt x="4460" y="1638"/>
                  <a:pt x="4617" y="1733"/>
                  <a:pt x="4734" y="1879"/>
                </a:cubicBezTo>
                <a:cubicBezTo>
                  <a:pt x="4822" y="1989"/>
                  <a:pt x="4877" y="2115"/>
                  <a:pt x="4899" y="2259"/>
                </a:cubicBezTo>
                <a:lnTo>
                  <a:pt x="4904" y="2292"/>
                </a:lnTo>
                <a:lnTo>
                  <a:pt x="4233" y="2292"/>
                </a:lnTo>
                <a:lnTo>
                  <a:pt x="4233" y="2291"/>
                </a:lnTo>
                <a:cubicBezTo>
                  <a:pt x="4220" y="2168"/>
                  <a:pt x="4177" y="2067"/>
                  <a:pt x="4105" y="1989"/>
                </a:cubicBezTo>
                <a:cubicBezTo>
                  <a:pt x="4016" y="1892"/>
                  <a:pt x="3908" y="1844"/>
                  <a:pt x="3781" y="1844"/>
                </a:cubicBezTo>
                <a:cubicBezTo>
                  <a:pt x="3697" y="1844"/>
                  <a:pt x="3596" y="1860"/>
                  <a:pt x="3480" y="1893"/>
                </a:cubicBezTo>
                <a:lnTo>
                  <a:pt x="3552" y="1358"/>
                </a:lnTo>
                <a:cubicBezTo>
                  <a:pt x="3729" y="1363"/>
                  <a:pt x="3865" y="1325"/>
                  <a:pt x="3958" y="1243"/>
                </a:cubicBezTo>
                <a:cubicBezTo>
                  <a:pt x="4051" y="1161"/>
                  <a:pt x="4098" y="1053"/>
                  <a:pt x="4098" y="917"/>
                </a:cubicBezTo>
                <a:cubicBezTo>
                  <a:pt x="4098" y="802"/>
                  <a:pt x="4064" y="710"/>
                  <a:pt x="3995" y="642"/>
                </a:cubicBezTo>
                <a:cubicBezTo>
                  <a:pt x="3927" y="573"/>
                  <a:pt x="3836" y="539"/>
                  <a:pt x="3722" y="539"/>
                </a:cubicBezTo>
                <a:cubicBezTo>
                  <a:pt x="3610" y="539"/>
                  <a:pt x="3515" y="578"/>
                  <a:pt x="3435" y="656"/>
                </a:cubicBezTo>
                <a:cubicBezTo>
                  <a:pt x="3356" y="734"/>
                  <a:pt x="3308" y="847"/>
                  <a:pt x="3291" y="997"/>
                </a:cubicBezTo>
                <a:lnTo>
                  <a:pt x="2686" y="894"/>
                </a:lnTo>
                <a:cubicBezTo>
                  <a:pt x="2728" y="687"/>
                  <a:pt x="2791" y="522"/>
                  <a:pt x="2876" y="398"/>
                </a:cubicBezTo>
                <a:cubicBezTo>
                  <a:pt x="2961" y="274"/>
                  <a:pt x="3079" y="177"/>
                  <a:pt x="3231" y="106"/>
                </a:cubicBezTo>
                <a:cubicBezTo>
                  <a:pt x="3383" y="35"/>
                  <a:pt x="3553" y="0"/>
                  <a:pt x="3741" y="0"/>
                </a:cubicBezTo>
                <a:close/>
                <a:moveTo>
                  <a:pt x="1111" y="0"/>
                </a:moveTo>
                <a:cubicBezTo>
                  <a:pt x="1442" y="0"/>
                  <a:pt x="1701" y="118"/>
                  <a:pt x="1888" y="355"/>
                </a:cubicBezTo>
                <a:cubicBezTo>
                  <a:pt x="2111" y="635"/>
                  <a:pt x="2222" y="1099"/>
                  <a:pt x="2222" y="1748"/>
                </a:cubicBezTo>
                <a:cubicBezTo>
                  <a:pt x="2222" y="1930"/>
                  <a:pt x="2213" y="2098"/>
                  <a:pt x="2195" y="2251"/>
                </a:cubicBezTo>
                <a:lnTo>
                  <a:pt x="2190" y="2292"/>
                </a:lnTo>
                <a:lnTo>
                  <a:pt x="1516" y="2292"/>
                </a:lnTo>
                <a:lnTo>
                  <a:pt x="1517" y="2289"/>
                </a:lnTo>
                <a:cubicBezTo>
                  <a:pt x="1529" y="2142"/>
                  <a:pt x="1536" y="1961"/>
                  <a:pt x="1536" y="1748"/>
                </a:cubicBezTo>
                <a:cubicBezTo>
                  <a:pt x="1536" y="1347"/>
                  <a:pt x="1516" y="1071"/>
                  <a:pt x="1475" y="921"/>
                </a:cubicBezTo>
                <a:cubicBezTo>
                  <a:pt x="1435" y="771"/>
                  <a:pt x="1384" y="670"/>
                  <a:pt x="1322" y="620"/>
                </a:cubicBezTo>
                <a:cubicBezTo>
                  <a:pt x="1261" y="569"/>
                  <a:pt x="1190" y="544"/>
                  <a:pt x="1111" y="544"/>
                </a:cubicBezTo>
                <a:cubicBezTo>
                  <a:pt x="1032" y="544"/>
                  <a:pt x="961" y="569"/>
                  <a:pt x="899" y="620"/>
                </a:cubicBezTo>
                <a:cubicBezTo>
                  <a:pt x="836" y="670"/>
                  <a:pt x="788" y="761"/>
                  <a:pt x="754" y="892"/>
                </a:cubicBezTo>
                <a:cubicBezTo>
                  <a:pt x="709" y="1061"/>
                  <a:pt x="686" y="1347"/>
                  <a:pt x="686" y="1748"/>
                </a:cubicBezTo>
                <a:cubicBezTo>
                  <a:pt x="686" y="1961"/>
                  <a:pt x="692" y="2139"/>
                  <a:pt x="703" y="2282"/>
                </a:cubicBezTo>
                <a:lnTo>
                  <a:pt x="704" y="2292"/>
                </a:lnTo>
                <a:lnTo>
                  <a:pt x="29" y="2292"/>
                </a:lnTo>
                <a:lnTo>
                  <a:pt x="24" y="2248"/>
                </a:lnTo>
                <a:cubicBezTo>
                  <a:pt x="8" y="2095"/>
                  <a:pt x="0" y="1926"/>
                  <a:pt x="0" y="1741"/>
                </a:cubicBezTo>
                <a:cubicBezTo>
                  <a:pt x="0" y="1097"/>
                  <a:pt x="112" y="633"/>
                  <a:pt x="336" y="350"/>
                </a:cubicBezTo>
                <a:cubicBezTo>
                  <a:pt x="521" y="117"/>
                  <a:pt x="780" y="0"/>
                  <a:pt x="111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>
            <a:off x="1537910" y="1520349"/>
            <a:ext cx="1825200" cy="109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05" h="1365">
                <a:moveTo>
                  <a:pt x="2198" y="0"/>
                </a:moveTo>
                <a:lnTo>
                  <a:pt x="2505" y="0"/>
                </a:lnTo>
                <a:lnTo>
                  <a:pt x="2505" y="1365"/>
                </a:lnTo>
                <a:lnTo>
                  <a:pt x="2127" y="1365"/>
                </a:lnTo>
                <a:lnTo>
                  <a:pt x="2127" y="557"/>
                </a:lnTo>
                <a:cubicBezTo>
                  <a:pt x="1988" y="686"/>
                  <a:pt x="1825" y="782"/>
                  <a:pt x="1637" y="844"/>
                </a:cubicBezTo>
                <a:lnTo>
                  <a:pt x="1637" y="500"/>
                </a:lnTo>
                <a:cubicBezTo>
                  <a:pt x="1736" y="468"/>
                  <a:pt x="1844" y="406"/>
                  <a:pt x="1960" y="316"/>
                </a:cubicBezTo>
                <a:cubicBezTo>
                  <a:pt x="2075" y="226"/>
                  <a:pt x="2155" y="120"/>
                  <a:pt x="2198" y="0"/>
                </a:cubicBezTo>
                <a:close/>
                <a:moveTo>
                  <a:pt x="641" y="0"/>
                </a:moveTo>
                <a:cubicBezTo>
                  <a:pt x="833" y="0"/>
                  <a:pt x="982" y="68"/>
                  <a:pt x="1090" y="205"/>
                </a:cubicBezTo>
                <a:cubicBezTo>
                  <a:pt x="1219" y="367"/>
                  <a:pt x="1283" y="635"/>
                  <a:pt x="1283" y="1009"/>
                </a:cubicBezTo>
                <a:cubicBezTo>
                  <a:pt x="1283" y="1138"/>
                  <a:pt x="1275" y="1254"/>
                  <a:pt x="1260" y="1358"/>
                </a:cubicBezTo>
                <a:lnTo>
                  <a:pt x="1259" y="1365"/>
                </a:lnTo>
                <a:lnTo>
                  <a:pt x="872" y="1365"/>
                </a:lnTo>
                <a:lnTo>
                  <a:pt x="873" y="1351"/>
                </a:lnTo>
                <a:cubicBezTo>
                  <a:pt x="882" y="1261"/>
                  <a:pt x="887" y="1147"/>
                  <a:pt x="887" y="1009"/>
                </a:cubicBezTo>
                <a:cubicBezTo>
                  <a:pt x="887" y="778"/>
                  <a:pt x="875" y="618"/>
                  <a:pt x="852" y="532"/>
                </a:cubicBezTo>
                <a:cubicBezTo>
                  <a:pt x="828" y="445"/>
                  <a:pt x="799" y="387"/>
                  <a:pt x="763" y="358"/>
                </a:cubicBezTo>
                <a:cubicBezTo>
                  <a:pt x="728" y="329"/>
                  <a:pt x="687" y="314"/>
                  <a:pt x="641" y="314"/>
                </a:cubicBezTo>
                <a:cubicBezTo>
                  <a:pt x="596" y="314"/>
                  <a:pt x="555" y="329"/>
                  <a:pt x="519" y="358"/>
                </a:cubicBezTo>
                <a:cubicBezTo>
                  <a:pt x="483" y="387"/>
                  <a:pt x="455" y="439"/>
                  <a:pt x="435" y="515"/>
                </a:cubicBezTo>
                <a:cubicBezTo>
                  <a:pt x="409" y="613"/>
                  <a:pt x="396" y="778"/>
                  <a:pt x="396" y="1009"/>
                </a:cubicBezTo>
                <a:cubicBezTo>
                  <a:pt x="396" y="1154"/>
                  <a:pt x="401" y="1271"/>
                  <a:pt x="410" y="1359"/>
                </a:cubicBezTo>
                <a:lnTo>
                  <a:pt x="411" y="1365"/>
                </a:lnTo>
                <a:lnTo>
                  <a:pt x="22" y="1365"/>
                </a:lnTo>
                <a:lnTo>
                  <a:pt x="21" y="1355"/>
                </a:lnTo>
                <a:cubicBezTo>
                  <a:pt x="7" y="1252"/>
                  <a:pt x="0" y="1136"/>
                  <a:pt x="0" y="1005"/>
                </a:cubicBezTo>
                <a:cubicBezTo>
                  <a:pt x="0" y="633"/>
                  <a:pt x="65" y="366"/>
                  <a:pt x="194" y="202"/>
                </a:cubicBezTo>
                <a:cubicBezTo>
                  <a:pt x="301" y="67"/>
                  <a:pt x="450" y="0"/>
                  <a:pt x="64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-93345" y="3703955"/>
            <a:ext cx="3510280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串口配置</a:t>
            </a:r>
            <a:endParaRPr lang="zh-CN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 flipV="1">
            <a:off x="3733800" y="2604135"/>
            <a:ext cx="3816985" cy="381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>
            <p:custDataLst>
              <p:tags r:id="rId3"/>
            </p:custDataLst>
          </p:nvPr>
        </p:nvCxnSpPr>
        <p:spPr>
          <a:xfrm>
            <a:off x="3733800" y="2593340"/>
            <a:ext cx="3791585" cy="508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826635" y="1640205"/>
            <a:ext cx="4791710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串口配置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089400" y="3333115"/>
            <a:ext cx="5817235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1.</a:t>
            </a:r>
            <a:r>
              <a:rPr lang="zh-CN" altLang="en-US" sz="3200"/>
              <a:t>开启时钟</a:t>
            </a:r>
            <a:endParaRPr lang="zh-CN" altLang="en-US" sz="3200"/>
          </a:p>
          <a:p>
            <a:r>
              <a:rPr lang="en-US" altLang="zh-CN" sz="3200">
                <a:sym typeface="+mn-ea"/>
              </a:rPr>
              <a:t>2.GPIO</a:t>
            </a:r>
            <a:r>
              <a:rPr lang="zh-CN" altLang="en-US" sz="3200">
                <a:sym typeface="+mn-ea"/>
              </a:rPr>
              <a:t>配置</a:t>
            </a:r>
            <a:endParaRPr lang="zh-CN" altLang="en-US" sz="3200"/>
          </a:p>
          <a:p>
            <a:r>
              <a:rPr lang="en-US" altLang="zh-CN" sz="3200"/>
              <a:t>3.</a:t>
            </a:r>
            <a:r>
              <a:rPr lang="zh-CN" altLang="en-US" sz="3200"/>
              <a:t>串口参数配置</a:t>
            </a:r>
            <a:endParaRPr lang="zh-CN" altLang="en-US" sz="3200"/>
          </a:p>
          <a:p>
            <a:r>
              <a:rPr lang="en-US" altLang="zh-CN" sz="3200"/>
              <a:t>4.</a:t>
            </a:r>
            <a:r>
              <a:rPr lang="zh-CN" altLang="en-US" sz="3200"/>
              <a:t>使能串口</a:t>
            </a:r>
            <a:endParaRPr lang="zh-CN" altLang="en-US" sz="3200"/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开启时钟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676400" y="1731645"/>
            <a:ext cx="88392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#define BSP_USART_RCU   		RCU_USART0</a:t>
            </a:r>
          </a:p>
          <a:p>
            <a:r>
              <a:t>#define BSP_USART_TX_RCU   		RCU_GPIOA</a:t>
            </a:r>
          </a:p>
          <a:p>
            <a:r>
              <a:t>#define BSP_USART_RX_RCU   		RCU_GPIOA</a:t>
            </a:r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676400" y="4280535"/>
            <a:ext cx="88392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rcu_periph_clock_enable(BSP_USART_RCU); </a:t>
            </a:r>
            <a:r>
              <a:rPr lang="en-US"/>
              <a:t>	</a:t>
            </a:r>
            <a:r>
              <a:t>// 开启串口时钟</a:t>
            </a:r>
          </a:p>
          <a:p>
            <a:r>
              <a:t>rcu_periph_clock_enable(BSP_USART_TX_RCU); </a:t>
            </a:r>
            <a:r>
              <a:rPr lang="en-US"/>
              <a:t>	</a:t>
            </a:r>
            <a:r>
              <a:t>// 开启端口时钟</a:t>
            </a:r>
          </a:p>
          <a:p>
            <a:r>
              <a:t>rcu_periph_clock_enable(BSP_USART_RX_RCU); </a:t>
            </a:r>
            <a:r>
              <a:rPr lang="en-US"/>
              <a:t>	/</a:t>
            </a:r>
            <a:r>
              <a:t>/ 开启端口时钟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735455" y="1202690"/>
            <a:ext cx="1967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时钟宏定义：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802765" y="3912235"/>
            <a:ext cx="1967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使能时钟：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GPIO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配置之复用功能</a:t>
            </a:r>
            <a:endParaRPr kumimoji="0" lang="en-US" altLang="zh-CN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562100" y="1366520"/>
            <a:ext cx="82143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GPIO</a:t>
            </a:r>
            <a:r>
              <a:rPr lang="zh-CN" altLang="en-US"/>
              <a:t>复用功能</a:t>
            </a:r>
            <a:r>
              <a:rPr lang="en-US" altLang="zh-CN"/>
              <a:t>: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void gpio_af_set(uint32_t gpio_periph, uint32_t alt_func_num, uint32_t pin);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3" name="图片 -21474826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3380" y="2336165"/>
            <a:ext cx="7898765" cy="376618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复用功能代码</a:t>
            </a:r>
            <a:endParaRPr kumimoji="0" lang="en-US" altLang="zh-CN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544955" y="1612265"/>
            <a:ext cx="821436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#define BSP_USART_TX_PORT   	GPIOA</a:t>
            </a:r>
          </a:p>
          <a:p>
            <a:r>
              <a:t>#define BSP_USART_TX_PIN   	GPIO_PIN_9</a:t>
            </a:r>
          </a:p>
          <a:p>
            <a:r>
              <a:t>#define BSP_USART_RX_PORT     GPIOA</a:t>
            </a:r>
          </a:p>
          <a:p>
            <a:r>
              <a:t>#define BSP_USART_RX_PIN   	GPIO_PIN_10</a:t>
            </a:r>
          </a:p>
          <a:p>
            <a:r>
              <a:t>#define BSP_USART_AF		GPIO_AF_7  // 串口是引脚复用功能7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544955" y="4166235"/>
            <a:ext cx="83324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/* 配置复用功能 */</a:t>
            </a:r>
          </a:p>
          <a:p>
            <a:r>
              <a:t>gpio_af_set(BSP_USART_TX_PORT,BSP_USART_AF,BSP_USART_TX_PIN); </a:t>
            </a:r>
          </a:p>
          <a:p>
            <a:r>
              <a:t>gpio_af_set(BSP_USART_RX_PORT,BSP_USART_AF,BSP_USART_RX_PIN);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544955" y="1243965"/>
            <a:ext cx="1967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串口</a:t>
            </a:r>
            <a:r>
              <a:rPr lang="en-US" altLang="zh-CN"/>
              <a:t>0</a:t>
            </a:r>
            <a:r>
              <a:rPr lang="zh-CN" altLang="en-US"/>
              <a:t>宏定义：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544955" y="3719830"/>
            <a:ext cx="2349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串口</a:t>
            </a:r>
            <a:r>
              <a:rPr lang="en-US" altLang="zh-CN"/>
              <a:t>0</a:t>
            </a:r>
            <a:r>
              <a:rPr lang="zh-CN" altLang="en-US"/>
              <a:t>设置复用功能：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配置</a:t>
            </a: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GPIO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模式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055370" y="2680970"/>
            <a:ext cx="1008126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sz="1600"/>
              <a:t>/* 配置TX为复用模式 上拉模式 */</a:t>
            </a:r>
            <a:endParaRPr sz="1600"/>
          </a:p>
          <a:p>
            <a:pPr algn="l">
              <a:buClrTx/>
              <a:buSzTx/>
              <a:buNone/>
            </a:pPr>
            <a:r>
              <a:rPr sz="1600"/>
              <a:t>gpio_mode_set(BSP_USART_TX_PORT,GPIO_MODE_AF,GPIO_PUPD_PULLUP,BSP_USART_TX_PIN);</a:t>
            </a:r>
            <a:endParaRPr sz="1600"/>
          </a:p>
          <a:p>
            <a:pPr algn="l">
              <a:buClrTx/>
              <a:buSzTx/>
              <a:buNone/>
            </a:pPr>
            <a:r>
              <a:rPr sz="1600"/>
              <a:t>/* 配置RX为复用模式 上拉模式 */</a:t>
            </a:r>
            <a:endParaRPr sz="1600"/>
          </a:p>
          <a:p>
            <a:pPr algn="l">
              <a:buClrTx/>
              <a:buSzTx/>
              <a:buNone/>
            </a:pPr>
            <a:r>
              <a:rPr sz="1600"/>
              <a:t>gpio_mode_set(BSP_USART_RX_PORT, GPIO_MODE_AF,GPIO_PUPD_PULLUP,BSP_USART_RX_PIN);</a:t>
            </a:r>
            <a:endParaRPr sz="1600"/>
          </a:p>
        </p:txBody>
      </p:sp>
      <p:sp>
        <p:nvSpPr>
          <p:cNvPr id="3" name="文本框 2"/>
          <p:cNvSpPr txBox="1"/>
          <p:nvPr/>
        </p:nvSpPr>
        <p:spPr>
          <a:xfrm>
            <a:off x="1055370" y="1905635"/>
            <a:ext cx="8214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配置为复用功能，配置上拉模式。</a:t>
            </a:r>
            <a:endParaRPr lang="zh-CN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配置</a:t>
            </a: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GPIO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输出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531495" y="2644775"/>
            <a:ext cx="1112393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sz="1600"/>
              <a:t>/* 配置TX为推挽输出 50MHZ */</a:t>
            </a:r>
            <a:endParaRPr sz="1600"/>
          </a:p>
          <a:p>
            <a:pPr algn="l">
              <a:buClrTx/>
              <a:buSzTx/>
              <a:buNone/>
            </a:pPr>
            <a:r>
              <a:rPr sz="1600"/>
              <a:t>gpio_output_options_set(BSP_USART_TX_PORT,GPIO_OTYPE_PP,GPIO_OSPEED_50MHZ,BSP_USART_TX_PIN);</a:t>
            </a:r>
            <a:endParaRPr sz="1600"/>
          </a:p>
          <a:p>
            <a:pPr algn="l">
              <a:buClrTx/>
              <a:buSzTx/>
              <a:buNone/>
            </a:pPr>
            <a:r>
              <a:rPr sz="1600"/>
              <a:t>/* 配置RX为推挽输出 50MHZ */</a:t>
            </a:r>
            <a:endParaRPr sz="1600"/>
          </a:p>
          <a:p>
            <a:pPr algn="l">
              <a:buClrTx/>
              <a:buSzTx/>
              <a:buNone/>
            </a:pPr>
            <a:r>
              <a:rPr sz="1600"/>
              <a:t>gpio_output_options_set(BSP_USART_RX_PORT,GPIO_OTYPE_PP, GPIO_OSPEED_50MHZ, BSP_USART_RX_PIN);</a:t>
            </a:r>
            <a:endParaRPr sz="1600"/>
          </a:p>
        </p:txBody>
      </p:sp>
      <p:sp>
        <p:nvSpPr>
          <p:cNvPr id="3" name="文本框 2"/>
          <p:cNvSpPr txBox="1"/>
          <p:nvPr/>
        </p:nvSpPr>
        <p:spPr>
          <a:xfrm>
            <a:off x="531495" y="1973580"/>
            <a:ext cx="8214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配置为推挽输出功能，配置速度为</a:t>
            </a:r>
            <a:r>
              <a:rPr lang="en-US" altLang="zh-CN"/>
              <a:t>50MHZ</a:t>
            </a:r>
            <a:r>
              <a:rPr lang="zh-CN"/>
              <a:t>。</a:t>
            </a:r>
            <a:endParaRPr lang="zh-CN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串口参数配置函数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562735" y="1451610"/>
            <a:ext cx="7891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需要</a:t>
            </a:r>
            <a:r>
              <a:t>分别</a:t>
            </a:r>
            <a:r>
              <a:rPr lang="zh-CN"/>
              <a:t>配置</a:t>
            </a:r>
            <a:r>
              <a:t>波特率，校验位，数据位，停止位。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562735" y="2282825"/>
            <a:ext cx="7891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void usart_deinit(uint32_t usart_periph);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562735" y="3037840"/>
            <a:ext cx="7891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void usart_baudrate_set(uint32_t usart_periph, uint32_t baudval);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562735" y="3792855"/>
            <a:ext cx="7891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void usart_parity_config(uint32_t usart_periph, uint32_t paritycfg);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664335" y="1985645"/>
            <a:ext cx="11982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复位串口：</a:t>
            </a:r>
            <a:endParaRPr lang="zh-CN"/>
          </a:p>
        </p:txBody>
      </p:sp>
      <p:sp>
        <p:nvSpPr>
          <p:cNvPr id="8" name="文本框 7"/>
          <p:cNvSpPr txBox="1"/>
          <p:nvPr/>
        </p:nvSpPr>
        <p:spPr>
          <a:xfrm>
            <a:off x="1664335" y="2669540"/>
            <a:ext cx="1528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设置波特率：</a:t>
            </a:r>
            <a:endParaRPr lang="zh-CN"/>
          </a:p>
        </p:txBody>
      </p:sp>
      <p:sp>
        <p:nvSpPr>
          <p:cNvPr id="9" name="文本框 8"/>
          <p:cNvSpPr txBox="1"/>
          <p:nvPr/>
        </p:nvSpPr>
        <p:spPr>
          <a:xfrm>
            <a:off x="1664335" y="3487420"/>
            <a:ext cx="2232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设置校验方式：</a:t>
            </a:r>
            <a:endParaRPr lang="zh-CN"/>
          </a:p>
        </p:txBody>
      </p:sp>
      <p:sp>
        <p:nvSpPr>
          <p:cNvPr id="10" name="文本框 9"/>
          <p:cNvSpPr txBox="1"/>
          <p:nvPr/>
        </p:nvSpPr>
        <p:spPr>
          <a:xfrm>
            <a:off x="1613535" y="4610735"/>
            <a:ext cx="7891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void usart_word_length_set(uint32_t usart_periph, uint32_t wlen);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664335" y="4305300"/>
            <a:ext cx="2232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设置数据位长度：</a:t>
            </a:r>
            <a:endParaRPr lang="zh-CN"/>
          </a:p>
        </p:txBody>
      </p:sp>
      <p:sp>
        <p:nvSpPr>
          <p:cNvPr id="12" name="文本框 11"/>
          <p:cNvSpPr txBox="1"/>
          <p:nvPr/>
        </p:nvSpPr>
        <p:spPr>
          <a:xfrm>
            <a:off x="1613535" y="5428615"/>
            <a:ext cx="7891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void usart_stop_bit_set(uint32_t usart_periph, uint32_t stblen);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664335" y="5123180"/>
            <a:ext cx="2232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设置停止位位数：</a:t>
            </a:r>
            <a:endParaRPr lang="zh-CN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串口配置代码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656080" y="2275205"/>
            <a:ext cx="890079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/* 串口配置*/</a:t>
            </a:r>
          </a:p>
          <a:p>
            <a:r>
              <a:t>usart_deinit(BSP_USART); </a:t>
            </a:r>
            <a:r>
              <a:rPr lang="en-US"/>
              <a:t>				</a:t>
            </a:r>
            <a:r>
              <a:t>// 复位串口</a:t>
            </a:r>
          </a:p>
          <a:p>
            <a:r>
              <a:t>usart_baudrate_set(BSP_USART,</a:t>
            </a:r>
            <a:r>
              <a:rPr lang="en-US"/>
              <a:t>115200</a:t>
            </a:r>
            <a:r>
              <a:t>); </a:t>
            </a:r>
            <a:r>
              <a:rPr lang="en-US"/>
              <a:t>			</a:t>
            </a:r>
            <a:r>
              <a:t>// 设置波特率</a:t>
            </a:r>
          </a:p>
          <a:p>
            <a:r>
              <a:t>usart_parity_config(BSP_USART,USART_PM_NONE); </a:t>
            </a:r>
            <a:r>
              <a:rPr lang="en-US"/>
              <a:t>	</a:t>
            </a:r>
            <a:r>
              <a:t>// 没有校验位</a:t>
            </a:r>
          </a:p>
          <a:p>
            <a:r>
              <a:t>usart_word_length_set(BSP_USART,USART_WL_8BIT); </a:t>
            </a:r>
            <a:r>
              <a:rPr lang="en-US"/>
              <a:t>	</a:t>
            </a:r>
            <a:r>
              <a:t>// 8位数据位</a:t>
            </a:r>
          </a:p>
          <a:p>
            <a:r>
              <a:t>usart_stop_bit_set(BSP_USART,USART_STB_1BIT); </a:t>
            </a:r>
            <a:r>
              <a:rPr lang="en-US"/>
              <a:t>	</a:t>
            </a:r>
            <a:r>
              <a:t>// 1位停止位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562735" y="1451610"/>
            <a:ext cx="7891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需要</a:t>
            </a:r>
            <a:r>
              <a:t>分别</a:t>
            </a:r>
            <a:r>
              <a:rPr lang="zh-CN"/>
              <a:t>配置</a:t>
            </a:r>
            <a:r>
              <a:t>波特率，校验位，数据位，停止位。</a:t>
            </a: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使能串口函数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" name="文本框 13"/>
          <p:cNvSpPr txBox="1"/>
          <p:nvPr/>
        </p:nvSpPr>
        <p:spPr>
          <a:xfrm>
            <a:off x="1664335" y="1432560"/>
            <a:ext cx="7891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使能串口，使能串口发送和串口接收</a:t>
            </a:r>
            <a:r>
              <a:t>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664335" y="2353945"/>
            <a:ext cx="7891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void usart_enable(uint32_t usart_periph);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664335" y="1985645"/>
            <a:ext cx="11982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使能串口：</a:t>
            </a:r>
            <a:endParaRPr lang="zh-CN"/>
          </a:p>
        </p:txBody>
      </p:sp>
      <p:sp>
        <p:nvSpPr>
          <p:cNvPr id="5" name="文本框 4"/>
          <p:cNvSpPr txBox="1"/>
          <p:nvPr/>
        </p:nvSpPr>
        <p:spPr>
          <a:xfrm>
            <a:off x="1664335" y="3460750"/>
            <a:ext cx="7891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void usart_transmit_config(uint32_t usart_periph, uint32_t txconfig);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664335" y="3092450"/>
            <a:ext cx="18681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配置串口发送：</a:t>
            </a:r>
            <a:endParaRPr lang="zh-CN"/>
          </a:p>
        </p:txBody>
      </p:sp>
      <p:sp>
        <p:nvSpPr>
          <p:cNvPr id="8" name="文本框 7"/>
          <p:cNvSpPr txBox="1"/>
          <p:nvPr/>
        </p:nvSpPr>
        <p:spPr>
          <a:xfrm>
            <a:off x="1664335" y="4592320"/>
            <a:ext cx="7891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void usart_receive_config(uint32_t usart_periph, uint32_t rxconfig);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664335" y="4224020"/>
            <a:ext cx="18681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配置串口接收：</a:t>
            </a:r>
            <a:endParaRPr lang="zh-CN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使能串口代码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1562735" y="3106420"/>
            <a:ext cx="87655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usart_transmit_config(BSP_USART,USART_TRANSMIT_ENABLE); // 使能串口发送</a:t>
            </a:r>
          </a:p>
          <a:p>
            <a:r>
              <a:t>usart_enable(BSP_USART); // 使能串口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562735" y="1604010"/>
            <a:ext cx="7891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使能串口，使能串口发送</a:t>
            </a:r>
            <a:r>
              <a:t>。</a:t>
            </a: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02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4" name="直接连接符 3"/>
          <p:cNvCxnSpPr/>
          <p:nvPr>
            <p:custDataLst>
              <p:tags r:id="rId2"/>
            </p:custDataLst>
          </p:nvPr>
        </p:nvCxnSpPr>
        <p:spPr>
          <a:xfrm flipV="1">
            <a:off x="3778250" y="2522220"/>
            <a:ext cx="5765800" cy="4889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030470" y="1628775"/>
            <a:ext cx="5210175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sz="4800">
                <a:solidFill>
                  <a:srgbClr val="6096E6"/>
                </a:solidFill>
                <a:sym typeface="Arial" panose="020B0604020202020204" pitchFamily="34" charset="0"/>
              </a:rPr>
              <a:t>串口发送数据</a:t>
            </a:r>
            <a:endParaRPr lang="zh-CN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串口发送数据函数</a:t>
            </a:r>
            <a:endParaRPr kumimoji="0" lang="zh-CN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1486535" y="1760220"/>
            <a:ext cx="7891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void usart_data_transmit(uint32_t usart_periph, uint32_t data);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596390" y="1391920"/>
            <a:ext cx="11982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发送数据：</a:t>
            </a:r>
            <a:endParaRPr lang="zh-CN"/>
          </a:p>
        </p:txBody>
      </p:sp>
      <p:sp>
        <p:nvSpPr>
          <p:cNvPr id="5" name="文本框 4"/>
          <p:cNvSpPr txBox="1"/>
          <p:nvPr/>
        </p:nvSpPr>
        <p:spPr>
          <a:xfrm>
            <a:off x="1499235" y="3009900"/>
            <a:ext cx="7891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FlagStatus usart_flag_get(uint32_t usart_periph, usart_flag_enum flag);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706245" y="2641600"/>
            <a:ext cx="2292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获取状态寄存器标志：</a:t>
            </a:r>
            <a:endParaRPr lang="zh-CN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串口发送数据代码</a:t>
            </a:r>
            <a:endParaRPr kumimoji="0" lang="zh-CN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0" name="文本框 99"/>
          <p:cNvSpPr txBox="1"/>
          <p:nvPr/>
        </p:nvSpPr>
        <p:spPr>
          <a:xfrm>
            <a:off x="1596390" y="2230755"/>
            <a:ext cx="881253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zh-CN" altLang="en-US" sz="1800" b="0"/>
              <a:t>void usart_send_data(uint8_t ucch)</a:t>
            </a:r>
            <a:endParaRPr lang="zh-CN" altLang="en-US" sz="1800" b="0"/>
          </a:p>
          <a:p>
            <a:pPr indent="266700"/>
            <a:r>
              <a:rPr lang="zh-CN" altLang="en-US" sz="1800" b="0"/>
              <a:t>{</a:t>
            </a:r>
            <a:endParaRPr lang="zh-CN" altLang="en-US" sz="1800" b="0"/>
          </a:p>
          <a:p>
            <a:pPr indent="266700"/>
            <a:r>
              <a:rPr lang="en-US" altLang="zh-CN" sz="1800" b="0"/>
              <a:t>   </a:t>
            </a:r>
            <a:r>
              <a:rPr lang="zh-CN" altLang="en-US" sz="1800" b="0"/>
              <a:t>usart_data_transmit(BSP_USART, (uint8_t)ucch);</a:t>
            </a:r>
            <a:endParaRPr lang="zh-CN" altLang="en-US" sz="1800" b="0"/>
          </a:p>
          <a:p>
            <a:pPr indent="266700"/>
            <a:r>
              <a:rPr lang="zh-CN" altLang="en-US" sz="1800" b="0"/>
              <a:t>    while(RESET == usart_flag_get(BSP_USART, USART_FLAG_TBE));</a:t>
            </a:r>
            <a:endParaRPr lang="zh-CN" altLang="en-US" sz="1800" b="0"/>
          </a:p>
          <a:p>
            <a:pPr indent="266700"/>
            <a:r>
              <a:rPr lang="zh-CN" altLang="en-US" sz="1800" b="0"/>
              <a:t> </a:t>
            </a:r>
            <a:r>
              <a:rPr lang="en-US" altLang="zh-CN" sz="1800" b="0"/>
              <a:t>   </a:t>
            </a:r>
            <a:r>
              <a:rPr lang="zh-CN" altLang="en-US" sz="1800" b="0"/>
              <a:t> // 等待发送数据缓冲区标志置位</a:t>
            </a:r>
            <a:endParaRPr lang="zh-CN" altLang="en-US" sz="1800" b="0"/>
          </a:p>
          <a:p>
            <a:pPr indent="266700"/>
            <a:r>
              <a:rPr lang="zh-CN" altLang="en-US" sz="1800" b="0"/>
              <a:t>}</a:t>
            </a:r>
            <a:endParaRPr lang="zh-CN" altLang="en-US" sz="1800" b="0"/>
          </a:p>
        </p:txBody>
      </p:sp>
      <p:sp>
        <p:nvSpPr>
          <p:cNvPr id="8" name="文本框 7"/>
          <p:cNvSpPr txBox="1"/>
          <p:nvPr/>
        </p:nvSpPr>
        <p:spPr>
          <a:xfrm>
            <a:off x="1925320" y="1578610"/>
            <a:ext cx="3840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串口发送数据可以封装为一个函数：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925320" y="4683125"/>
            <a:ext cx="264985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/>
              <a:t>usart_send_data('h');</a:t>
            </a:r>
            <a:endParaRPr lang="zh-CN" altLang="en-US"/>
          </a:p>
          <a:p>
            <a:pPr algn="l"/>
            <a:r>
              <a:rPr lang="zh-CN" altLang="en-US"/>
              <a:t>usart_send_data('e');</a:t>
            </a:r>
            <a:endParaRPr lang="zh-CN" altLang="en-US"/>
          </a:p>
          <a:p>
            <a:pPr algn="l"/>
            <a:r>
              <a:rPr lang="zh-CN" altLang="en-US"/>
              <a:t>usart_send_data('l');</a:t>
            </a:r>
            <a:endParaRPr lang="zh-CN" altLang="en-US"/>
          </a:p>
          <a:p>
            <a:pPr algn="l"/>
            <a:r>
              <a:rPr lang="zh-CN" altLang="en-US"/>
              <a:t>usart_send_data('l');</a:t>
            </a:r>
            <a:endParaRPr lang="zh-CN" altLang="en-US"/>
          </a:p>
          <a:p>
            <a:pPr algn="l"/>
            <a:r>
              <a:rPr lang="zh-CN" altLang="en-US"/>
              <a:t>usart_send_data('o');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2855" y="3810000"/>
            <a:ext cx="5934075" cy="24955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串口发送数据代码</a:t>
            </a:r>
            <a:endParaRPr kumimoji="0" lang="zh-CN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0" name="文本框 99"/>
          <p:cNvSpPr txBox="1"/>
          <p:nvPr/>
        </p:nvSpPr>
        <p:spPr>
          <a:xfrm>
            <a:off x="1596390" y="2230755"/>
            <a:ext cx="8812530" cy="2030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zh-CN" altLang="en-US" sz="1800" b="0"/>
              <a:t>void usart_send_String(uint8_t *ucstr)</a:t>
            </a:r>
            <a:endParaRPr lang="zh-CN" altLang="en-US" sz="1800" b="0"/>
          </a:p>
          <a:p>
            <a:pPr indent="266700"/>
            <a:r>
              <a:rPr lang="zh-CN" altLang="en-US" sz="1800" b="0"/>
              <a:t>{</a:t>
            </a:r>
            <a:endParaRPr lang="zh-CN" altLang="en-US" sz="1800" b="0"/>
          </a:p>
          <a:p>
            <a:pPr indent="266700"/>
            <a:r>
              <a:rPr lang="zh-CN" altLang="en-US" sz="1800" b="0"/>
              <a:t>     while(ucstr &amp;&amp; *ucstr)  // 地址为空或者值为空跳出</a:t>
            </a:r>
            <a:endParaRPr lang="zh-CN" altLang="en-US" sz="1800" b="0"/>
          </a:p>
          <a:p>
            <a:pPr indent="266700"/>
            <a:r>
              <a:rPr lang="zh-CN" altLang="en-US" sz="1800" b="0"/>
              <a:t>     {</a:t>
            </a:r>
            <a:endParaRPr lang="zh-CN" altLang="en-US" sz="1800" b="0"/>
          </a:p>
          <a:p>
            <a:pPr indent="266700"/>
            <a:r>
              <a:rPr lang="zh-CN" altLang="en-US" sz="1800" b="0"/>
              <a:t>           usart_send_data(*ucstr++); </a:t>
            </a:r>
            <a:endParaRPr lang="zh-CN" altLang="en-US" sz="1800" b="0"/>
          </a:p>
          <a:p>
            <a:pPr indent="266700"/>
            <a:r>
              <a:rPr lang="zh-CN" altLang="en-US" sz="1800" b="0"/>
              <a:t>     }</a:t>
            </a:r>
            <a:endParaRPr lang="zh-CN" altLang="en-US" sz="1800" b="0"/>
          </a:p>
          <a:p>
            <a:pPr indent="266700"/>
            <a:r>
              <a:rPr lang="zh-CN" altLang="en-US" sz="1800" b="0"/>
              <a:t>}</a:t>
            </a:r>
            <a:endParaRPr lang="zh-CN" altLang="en-US" sz="1800" b="0"/>
          </a:p>
        </p:txBody>
      </p:sp>
      <p:sp>
        <p:nvSpPr>
          <p:cNvPr id="8" name="文本框 7"/>
          <p:cNvSpPr txBox="1"/>
          <p:nvPr/>
        </p:nvSpPr>
        <p:spPr>
          <a:xfrm>
            <a:off x="1925320" y="1578610"/>
            <a:ext cx="2532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串口发送一个字符串</a:t>
            </a:r>
            <a:r>
              <a:rPr lang="en-US" altLang="zh-CN"/>
              <a:t> </a:t>
            </a:r>
            <a:r>
              <a:rPr lang="zh-CN" altLang="en-US"/>
              <a:t>：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25830" y="5098415"/>
            <a:ext cx="3750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/>
              <a:t>usart_send_String("hello\r\n");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2855" y="3810000"/>
            <a:ext cx="5934075" cy="24955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串口重定向</a:t>
            </a:r>
            <a:endParaRPr kumimoji="0" lang="zh-CN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299845" y="2264410"/>
            <a:ext cx="881253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zh-CN" altLang="en-US" sz="1800" b="0"/>
              <a:t>C语言中的printf函数默认输出设备是显示器，如果要在串口显示，必须重新定义标准库函数里调用的与输出设备相关的函数。需要注意的是，在keil中使用printf一定要勾选“微库”选项。</a:t>
            </a:r>
            <a:endParaRPr lang="zh-CN" altLang="en-US" sz="1800" b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printf</a:t>
            </a: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重定向</a:t>
            </a:r>
            <a:endParaRPr kumimoji="0" lang="zh-CN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0" name="文本框 99"/>
          <p:cNvSpPr txBox="1"/>
          <p:nvPr/>
        </p:nvSpPr>
        <p:spPr>
          <a:xfrm>
            <a:off x="1596390" y="1841500"/>
            <a:ext cx="8812530" cy="2030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zh-CN" altLang="en-US" sz="1800" b="0"/>
              <a:t>int fputc(int ch, FILE *f)</a:t>
            </a:r>
            <a:endParaRPr lang="zh-CN" altLang="en-US" sz="1800" b="0"/>
          </a:p>
          <a:p>
            <a:pPr indent="266700"/>
            <a:r>
              <a:rPr lang="zh-CN" altLang="en-US" sz="1800" b="0"/>
              <a:t>{</a:t>
            </a:r>
            <a:endParaRPr lang="zh-CN" altLang="en-US" sz="1800" b="0"/>
          </a:p>
          <a:p>
            <a:pPr indent="266700"/>
            <a:r>
              <a:rPr lang="zh-CN" altLang="en-US" sz="1800" b="0"/>
              <a:t> </a:t>
            </a:r>
            <a:r>
              <a:rPr lang="en-US" altLang="zh-CN" sz="1800" b="0"/>
              <a:t>    </a:t>
            </a:r>
            <a:r>
              <a:rPr lang="zh-CN" altLang="en-US" sz="1800" b="0"/>
              <a:t>usart_data_transmit(BSP_USART, (uint8_t)ch);</a:t>
            </a:r>
            <a:endParaRPr lang="zh-CN" altLang="en-US" sz="1800" b="0"/>
          </a:p>
          <a:p>
            <a:pPr indent="266700"/>
            <a:r>
              <a:rPr lang="zh-CN" altLang="en-US" sz="1800" b="0"/>
              <a:t>     while(RESET == usart_flag_get(BSP_USART, USART_FLAG_TBE));</a:t>
            </a:r>
            <a:endParaRPr lang="zh-CN" altLang="en-US" sz="1800" b="0"/>
          </a:p>
          <a:p>
            <a:pPr indent="266700"/>
            <a:r>
              <a:rPr lang="zh-CN" altLang="en-US" sz="1800" b="0"/>
              <a:t> </a:t>
            </a:r>
            <a:r>
              <a:rPr lang="en-US" altLang="zh-CN" sz="1800" b="0"/>
              <a:t>   </a:t>
            </a:r>
            <a:r>
              <a:rPr lang="zh-CN" altLang="en-US" sz="1800" b="0"/>
              <a:t> // 等待发送数据缓冲区标志置位</a:t>
            </a:r>
            <a:endParaRPr lang="zh-CN" altLang="en-US" sz="1800" b="0"/>
          </a:p>
          <a:p>
            <a:pPr indent="266700"/>
            <a:r>
              <a:rPr lang="zh-CN" altLang="en-US" sz="1800" b="0"/>
              <a:t>    </a:t>
            </a:r>
            <a:r>
              <a:rPr lang="en-US" altLang="zh-CN" sz="1800" b="0"/>
              <a:t> </a:t>
            </a:r>
            <a:r>
              <a:rPr lang="zh-CN" altLang="en-US" sz="1800" b="0"/>
              <a:t>return ch;</a:t>
            </a:r>
            <a:endParaRPr lang="zh-CN" altLang="en-US" sz="1800" b="0"/>
          </a:p>
          <a:p>
            <a:pPr indent="266700"/>
            <a:r>
              <a:rPr lang="zh-CN" altLang="en-US" sz="1800" b="0"/>
              <a:t>}</a:t>
            </a:r>
            <a:endParaRPr lang="zh-CN" altLang="en-US" sz="1800" b="0"/>
          </a:p>
        </p:txBody>
      </p:sp>
      <p:sp>
        <p:nvSpPr>
          <p:cNvPr id="8" name="文本框 7"/>
          <p:cNvSpPr txBox="1"/>
          <p:nvPr/>
        </p:nvSpPr>
        <p:spPr>
          <a:xfrm>
            <a:off x="1535430" y="1094105"/>
            <a:ext cx="92309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t>首先c语言的printf函数中不断循环调用fputc函数，所以需要重写fputc函数，这个函数的功能就是打印输出一个字符。fputc函数可写为</a:t>
            </a:r>
            <a:r>
              <a:rPr lang="zh-CN"/>
              <a:t>：</a:t>
            </a:r>
            <a:endParaRPr lang="zh-CN"/>
          </a:p>
        </p:txBody>
      </p:sp>
      <p:sp>
        <p:nvSpPr>
          <p:cNvPr id="9" name="文本框 8"/>
          <p:cNvSpPr txBox="1"/>
          <p:nvPr/>
        </p:nvSpPr>
        <p:spPr>
          <a:xfrm>
            <a:off x="1938020" y="4834255"/>
            <a:ext cx="2637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/>
              <a:t>printf</a:t>
            </a:r>
            <a:r>
              <a:rPr lang="zh-CN" altLang="en-US"/>
              <a:t>("hello\r\n");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005" y="3700780"/>
            <a:ext cx="5934075" cy="24955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03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 flipV="1">
            <a:off x="3755390" y="2609850"/>
            <a:ext cx="5908040" cy="317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030470" y="1628775"/>
            <a:ext cx="5313680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串口实验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21410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串口打印信息实验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1005840" y="1346200"/>
            <a:ext cx="356997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sz="2800"/>
              <a:t>烧写我们的代码之后，打开串口调试助手，</a:t>
            </a:r>
            <a:endParaRPr sz="2800"/>
          </a:p>
          <a:p>
            <a:pPr algn="l"/>
            <a:r>
              <a:rPr sz="2800"/>
              <a:t>每隔2s会打印一次信息，信息分别为整数每隔2s+1和小数每隔2s+0.11</a:t>
            </a:r>
            <a:endParaRPr sz="2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1475" y="1263015"/>
            <a:ext cx="5486400" cy="491871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21410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举一反三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2185670" y="1259840"/>
            <a:ext cx="72650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800"/>
              <a:t>        </a:t>
            </a:r>
            <a:r>
              <a:rPr lang="zh-CN" sz="2800"/>
              <a:t>如果要使用串口</a:t>
            </a:r>
            <a:r>
              <a:rPr lang="en-US" altLang="zh-CN" sz="2800"/>
              <a:t>1</a:t>
            </a:r>
            <a:r>
              <a:rPr lang="zh-CN" altLang="en-US" sz="2800"/>
              <a:t>，该如何配置？</a:t>
            </a:r>
            <a:endParaRPr lang="zh-CN" altLang="en-US" sz="2800"/>
          </a:p>
        </p:txBody>
      </p:sp>
      <p:sp>
        <p:nvSpPr>
          <p:cNvPr id="3" name="文本框 2"/>
          <p:cNvSpPr txBox="1"/>
          <p:nvPr/>
        </p:nvSpPr>
        <p:spPr>
          <a:xfrm>
            <a:off x="1260475" y="2162810"/>
            <a:ext cx="1030732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sz="2000"/>
              <a:t>#define BSP_USART_RCU   			RCU_USART1</a:t>
            </a:r>
            <a:endParaRPr sz="2000"/>
          </a:p>
          <a:p>
            <a:pPr algn="l"/>
            <a:r>
              <a:rPr sz="2000"/>
              <a:t>#define BSP_USART_TX_RCU   		RCU_GPIOA</a:t>
            </a:r>
            <a:endParaRPr sz="2000"/>
          </a:p>
          <a:p>
            <a:pPr algn="l"/>
            <a:r>
              <a:rPr sz="2000"/>
              <a:t>#define BSP_USART_TX_PORT   	    </a:t>
            </a:r>
            <a:r>
              <a:rPr lang="en-US" sz="2000"/>
              <a:t>	</a:t>
            </a:r>
            <a:r>
              <a:rPr sz="2000"/>
              <a:t>GPIOA</a:t>
            </a:r>
            <a:endParaRPr sz="2000"/>
          </a:p>
          <a:p>
            <a:pPr algn="l"/>
            <a:r>
              <a:rPr sz="2000"/>
              <a:t>#define BSP_USART_TX_PIN   		</a:t>
            </a:r>
            <a:r>
              <a:rPr lang="en-US" sz="2000"/>
              <a:t>	</a:t>
            </a:r>
            <a:r>
              <a:rPr sz="2000"/>
              <a:t>GPIO_PIN_2</a:t>
            </a:r>
            <a:endParaRPr sz="2000"/>
          </a:p>
          <a:p>
            <a:pPr algn="l"/>
            <a:r>
              <a:rPr sz="2000"/>
              <a:t>#define BSP_USART_RX_RCU   		RCU_GPIOA</a:t>
            </a:r>
            <a:endParaRPr sz="2000"/>
          </a:p>
          <a:p>
            <a:pPr algn="l"/>
            <a:r>
              <a:rPr sz="2000"/>
              <a:t>#define BSP_USART_RX_PORT   	 </a:t>
            </a:r>
            <a:r>
              <a:rPr lang="en-US" sz="2000"/>
              <a:t>	</a:t>
            </a:r>
            <a:r>
              <a:rPr sz="2000"/>
              <a:t>GPIOA</a:t>
            </a:r>
            <a:endParaRPr sz="2000"/>
          </a:p>
          <a:p>
            <a:pPr algn="l"/>
            <a:r>
              <a:rPr sz="2000"/>
              <a:t>#define BSP_USART_RX_PIN   		GPIO_PIN_3</a:t>
            </a:r>
            <a:endParaRPr sz="2000"/>
          </a:p>
          <a:p>
            <a:pPr algn="l"/>
            <a:r>
              <a:rPr sz="2000"/>
              <a:t>#define BSP_USART_AF		</a:t>
            </a:r>
            <a:r>
              <a:rPr lang="en-US" sz="2000"/>
              <a:t>	</a:t>
            </a:r>
            <a:r>
              <a:rPr sz="2000"/>
              <a:t>GPIO_AF_7  // 串口是引脚复用功能7</a:t>
            </a:r>
            <a:endParaRPr sz="2000"/>
          </a:p>
          <a:p>
            <a:pPr algn="l"/>
            <a:r>
              <a:rPr sz="2000"/>
              <a:t>#define BSP_USART			   </a:t>
            </a:r>
            <a:r>
              <a:rPr lang="en-US" sz="2000"/>
              <a:t>	</a:t>
            </a:r>
            <a:r>
              <a:rPr sz="2000"/>
              <a:t> USART1</a:t>
            </a:r>
            <a:endParaRPr sz="20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3329305" y="252539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5500" b="1">
                <a:solidFill>
                  <a:srgbClr val="3572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谢谢大家</a:t>
            </a:r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706370" y="355282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69005" y="170243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6370" y="355409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87325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6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17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98924_4*l_h_i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18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198924_4*l_h_i*1_2_2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20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21.xml><?xml version="1.0" encoding="utf-8"?>
<p:tagLst xmlns:p="http://schemas.openxmlformats.org/presentationml/2006/main">
  <p:tag name="KSO_WM_BEAUTIFY_FLAG" val="#wm#"/>
  <p:tag name="KSO_WM_TEMPLATE_CATEGORY" val="diagram"/>
  <p:tag name="KSO_WM_TEMPLATE_INDEX" val="20198924"/>
  <p:tag name="KSO_WM_SLIDE_ID" val="diagram20198924_3"/>
  <p:tag name="KSO_WM_TEMPLATE_SUBCATEGORY" val="22"/>
  <p:tag name="KSO_WM_TEMPLATE_MASTER_TYPE" val="0"/>
  <p:tag name="KSO_WM_TEMPLATE_COLOR_TYPE" val="1"/>
  <p:tag name="KSO_WM_SLIDE_TYPE" val="text"/>
  <p:tag name="KSO_WM_SLIDE_SUBTYPE" val="diag"/>
  <p:tag name="KSO_WM_SLIDE_ITEM_CNT" val="5"/>
  <p:tag name="KSO_WM_SLIDE_INDEX" val="3"/>
  <p:tag name="KSO_WM_SLIDE_SIZE" val="900.387*205.958"/>
  <p:tag name="KSO_WM_SLIDE_POSITION" val="29.8064*167.021"/>
  <p:tag name="KSO_WM_DIAGRAM_GROUP_CODE" val="l1-1"/>
  <p:tag name="KSO_WM_SLIDE_DIAGTYPE" val="l"/>
  <p:tag name="KSO_WM_TAG_VERSION" val="1.0"/>
  <p:tag name="KSO_WM_SLIDE_LAYOUT" val="l"/>
  <p:tag name="KSO_WM_SLIDE_LAYOUT_CNT" val="1"/>
</p:tagLst>
</file>

<file path=ppt/tags/tag12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2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3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4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3777</Words>
  <Application>WPS 演示</Application>
  <PresentationFormat>宽屏</PresentationFormat>
  <Paragraphs>224</Paragraphs>
  <Slides>22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Wingdings</vt:lpstr>
      <vt:lpstr>Arial</vt:lpstr>
      <vt:lpstr>Arial Unicode MS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冷月枫</cp:lastModifiedBy>
  <cp:revision>389</cp:revision>
  <dcterms:created xsi:type="dcterms:W3CDTF">2019-06-19T02:08:00Z</dcterms:created>
  <dcterms:modified xsi:type="dcterms:W3CDTF">2022-05-11T06:39:43Z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2052-11.1.0.11372</vt:lpwstr>
  </property>
  <property fmtid="{D5CDD505-2E9C-101B-9397-08002B2CF9AE}" pid="3" name="KSOTemplateUUID">
    <vt:lpwstr>v1.0_mb_UVDUVYxfrMBBv8iemHXVyg==</vt:lpwstr>
  </property>
  <property fmtid="{D5CDD505-2E9C-101B-9397-08002B2CF9AE}" pid="4" name="ICV">
    <vt:lpwstr>F4FD8076E9E2473C85D3F1F44504090E</vt:lpwstr>
  </property>
  <property fmtid="{D5CDD505-2E9C-101B-9397-08002B2CF9AE}" pid="5" name="KSOSaveFontToCloudKey">
    <vt:lpwstr>203183318_embed</vt:lpwstr>
  </property>
</Properties>
</file>