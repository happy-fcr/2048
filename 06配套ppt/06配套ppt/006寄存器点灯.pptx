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7"/>
  </p:handoutMasterIdLst>
  <p:sldIdLst>
    <p:sldId id="409" r:id="rId4"/>
    <p:sldId id="497" r:id="rId6"/>
    <p:sldId id="720" r:id="rId7"/>
    <p:sldId id="724" r:id="rId8"/>
    <p:sldId id="722" r:id="rId9"/>
    <p:sldId id="732" r:id="rId10"/>
    <p:sldId id="733" r:id="rId11"/>
    <p:sldId id="716" r:id="rId12"/>
    <p:sldId id="734" r:id="rId13"/>
    <p:sldId id="717" r:id="rId14"/>
    <p:sldId id="735" r:id="rId15"/>
    <p:sldId id="427" r:id="rId16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9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4.xml"/><Relationship Id="rId4" Type="http://schemas.openxmlformats.org/officeDocument/2006/relationships/image" Target="../media/image3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image" Target="../media/image3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寄存器点灯</a:t>
            </a:r>
            <a:endParaRPr lang="en-US" altLang="zh-CN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5098415" y="3761105"/>
            <a:ext cx="170878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点灯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99643" y="3704131"/>
            <a:ext cx="4179794" cy="1116781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灯实验效果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0449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配置</a:t>
            </a: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GPIO</a:t>
            </a: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流程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26815" y="2613025"/>
            <a:ext cx="566864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33800" y="2593340"/>
            <a:ext cx="5674360" cy="825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95300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配置</a:t>
            </a:r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GPIO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58172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开启</a:t>
            </a:r>
            <a:r>
              <a:rPr lang="en-US" altLang="zh-CN" sz="3200"/>
              <a:t>GPIO</a:t>
            </a:r>
            <a:r>
              <a:rPr lang="zh-CN" altLang="en-US" sz="3200"/>
              <a:t>的端口时钟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</a:t>
            </a:r>
            <a:r>
              <a:rPr lang="en-US" altLang="zh-CN" sz="3200">
                <a:sym typeface="+mn-ea"/>
              </a:rPr>
              <a:t>GPIO</a:t>
            </a:r>
            <a:r>
              <a:rPr lang="zh-CN" altLang="en-US" sz="3200">
                <a:sym typeface="+mn-ea"/>
              </a:rPr>
              <a:t>的模式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配置</a:t>
            </a:r>
            <a:r>
              <a:rPr lang="en-US" altLang="zh-CN" sz="3200"/>
              <a:t>GPIO</a:t>
            </a:r>
            <a:r>
              <a:rPr lang="zh-CN" altLang="en-US" sz="3200"/>
              <a:t>的输出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灯原理图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130" y="1202690"/>
            <a:ext cx="7317105" cy="456120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开启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的端口时钟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676400" y="1323975"/>
            <a:ext cx="883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GD32的所有外设资源时钟默认都是关闭的，在配置外设之前需要先开启对应的时钟。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853055" y="2552065"/>
            <a:ext cx="572198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3200"/>
              <a:t>RCU_AHB1EN |= 0x00000008</a:t>
            </a:r>
            <a:endParaRPr lang="zh-CN" altLang="en-US" sz="3200"/>
          </a:p>
          <a:p>
            <a:pPr algn="l"/>
            <a:r>
              <a:rPr lang="zh-CN" altLang="en-US" sz="3200"/>
              <a:t>或者是</a:t>
            </a:r>
            <a:endParaRPr lang="zh-CN" altLang="en-US" sz="3200"/>
          </a:p>
          <a:p>
            <a:pPr algn="l"/>
            <a:r>
              <a:rPr lang="zh-CN" altLang="en-US" sz="3200"/>
              <a:t>RCU_AHB1EN |=(1 &lt;&lt; 3)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90675" y="1028700"/>
            <a:ext cx="883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GPIO的模式配置可分为两步。</a:t>
            </a:r>
            <a:endParaRPr lang="zh-CN" altLang="en-US"/>
          </a:p>
          <a:p>
            <a:r>
              <a:rPr lang="zh-CN" altLang="en-US"/>
              <a:t>第一步就是通过控制寄存器（GPIOx_CTL）配置为输入功能，输出功能，复用功能还是模拟功能。</a:t>
            </a:r>
            <a:endParaRPr lang="zh-CN" altLang="en-US"/>
          </a:p>
          <a:p>
            <a:r>
              <a:rPr lang="zh-CN" altLang="en-US"/>
              <a:t>第二步就是通过 GPIO 上/下拉寄存器（GPIOx_PUD）配置GPIO的上下拉模式或者浮空。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1885" y="2654935"/>
            <a:ext cx="55765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1.</a:t>
            </a:r>
            <a:r>
              <a:rPr lang="zh-CN" altLang="en-US" sz="2800"/>
              <a:t>配置为输出功能</a:t>
            </a:r>
            <a:endParaRPr lang="zh-CN" altLang="en-US" sz="2800"/>
          </a:p>
          <a:p>
            <a:pPr algn="l"/>
            <a:r>
              <a:rPr lang="zh-CN" altLang="en-US" sz="2800"/>
              <a:t>GPIOD_CTL &amp;= 0xffff3fff;</a:t>
            </a:r>
            <a:endParaRPr lang="zh-CN" altLang="en-US" sz="2800"/>
          </a:p>
          <a:p>
            <a:pPr algn="l"/>
            <a:r>
              <a:rPr lang="zh-CN" altLang="en-US" sz="2800"/>
              <a:t>GPIOD_CTL |= 0x00004000;</a:t>
            </a:r>
            <a:endParaRPr lang="zh-CN" altLang="en-US" sz="2800"/>
          </a:p>
          <a:p>
            <a:pPr algn="l"/>
            <a:r>
              <a:rPr lang="zh-CN" altLang="en-US" sz="2800"/>
              <a:t>或者是</a:t>
            </a:r>
            <a:endParaRPr lang="zh-CN" altLang="en-US" sz="2800"/>
          </a:p>
          <a:p>
            <a:pPr algn="l"/>
            <a:r>
              <a:rPr lang="zh-CN" altLang="en-US" sz="2800"/>
              <a:t>GPIOD_CTL &amp;=  ~(0x03 &lt;&lt; (2*7));</a:t>
            </a:r>
            <a:endParaRPr lang="zh-CN" altLang="en-US" sz="2800"/>
          </a:p>
          <a:p>
            <a:pPr algn="l"/>
            <a:r>
              <a:rPr lang="zh-CN" altLang="en-US" sz="2800"/>
              <a:t>GPIOD_CTL |= (0x01 &lt;&lt; (2*7));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5747385" y="2737485"/>
            <a:ext cx="59664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2.</a:t>
            </a:r>
            <a:r>
              <a:rPr lang="zh-CN" altLang="en-US" sz="2800"/>
              <a:t>配置为浮空模式</a:t>
            </a:r>
            <a:endParaRPr lang="zh-CN" altLang="en-US" sz="2800"/>
          </a:p>
          <a:p>
            <a:pPr algn="l"/>
            <a:r>
              <a:rPr lang="zh-CN" altLang="en-US" sz="2800"/>
              <a:t>GPIOD_PUD &amp;=  ~(0x03 &lt;&lt; (2*7));</a:t>
            </a:r>
            <a:endParaRPr lang="zh-CN" altLang="en-US" sz="2800"/>
          </a:p>
          <a:p>
            <a:pPr algn="l"/>
            <a:r>
              <a:rPr lang="zh-CN" altLang="en-US" sz="2800"/>
              <a:t>GPIOD_PUD |=  (0x00 &lt;&lt; (2*7));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的输出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90700" y="1202690"/>
            <a:ext cx="883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第一步配置端口输出模式寄存器GPIOx_OMODE，推挽输出模式或者是开漏输出模式。</a:t>
            </a:r>
            <a:endParaRPr lang="zh-CN" altLang="en-US"/>
          </a:p>
          <a:p>
            <a:r>
              <a:rPr lang="zh-CN" altLang="en-US"/>
              <a:t>第二步配置端口速度寄存器GPIOx_OSPD。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07715" y="2517140"/>
            <a:ext cx="55765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1.</a:t>
            </a:r>
            <a:r>
              <a:rPr lang="zh-CN" altLang="en-US" sz="2800"/>
              <a:t>配置为推挽输出</a:t>
            </a:r>
            <a:endParaRPr lang="zh-CN" altLang="en-US" sz="2800"/>
          </a:p>
          <a:p>
            <a:pPr algn="l"/>
            <a:r>
              <a:rPr lang="zh-CN" altLang="en-US" sz="2800"/>
              <a:t>GPIOD_OMODE &amp;=  ~(0x01 &lt;&lt; 7)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3307715" y="4139565"/>
            <a:ext cx="68738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2.</a:t>
            </a:r>
            <a:r>
              <a:rPr lang="zh-CN" altLang="en-US" sz="2800"/>
              <a:t>配置为速度为</a:t>
            </a:r>
            <a:r>
              <a:rPr lang="en-US" altLang="zh-CN" sz="2800"/>
              <a:t>50MHZ</a:t>
            </a:r>
            <a:endParaRPr lang="zh-CN" altLang="en-US" sz="2800"/>
          </a:p>
          <a:p>
            <a:pPr algn="l"/>
            <a:r>
              <a:rPr lang="zh-CN" altLang="en-US" sz="2800"/>
              <a:t>GPIOD_OSPD &amp;=  ~(0x03 &lt;&lt; (2 * 7));</a:t>
            </a:r>
            <a:endParaRPr lang="zh-CN" altLang="en-US" sz="2800"/>
          </a:p>
          <a:p>
            <a:pPr algn="l"/>
            <a:r>
              <a:rPr lang="zh-CN" altLang="en-US" sz="2800"/>
              <a:t>GPIOD_OSPD |=  (0x02 &lt;&lt; (2 * 7));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42540"/>
            <a:ext cx="3399155" cy="285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点灯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点灯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90700" y="1202690"/>
            <a:ext cx="883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我们让</a:t>
            </a:r>
            <a:r>
              <a:rPr lang="en-US" altLang="zh-CN"/>
              <a:t>LED2</a:t>
            </a:r>
            <a:r>
              <a:rPr lang="zh-CN" altLang="en-US"/>
              <a:t>点亮就是让</a:t>
            </a:r>
            <a:r>
              <a:rPr lang="en-US" altLang="zh-CN"/>
              <a:t>PD7</a:t>
            </a:r>
            <a:r>
              <a:rPr lang="zh-CN" altLang="en-US"/>
              <a:t>输出高电平，这里给大家总结了几种操作的方式。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26615" y="1742440"/>
            <a:ext cx="55765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1.</a:t>
            </a:r>
            <a:r>
              <a:rPr lang="zh-CN" altLang="en-US" sz="2800"/>
              <a:t>端口输出控制寄存器</a:t>
            </a:r>
            <a:r>
              <a:rPr lang="en-US" altLang="zh-CN" sz="2800"/>
              <a:t>OCTL</a:t>
            </a:r>
            <a:endParaRPr lang="zh-CN" altLang="en-US" sz="2800"/>
          </a:p>
          <a:p>
            <a:pPr algn="l"/>
            <a:r>
              <a:rPr lang="zh-CN" altLang="en-US" sz="2800"/>
              <a:t>输出低电平转换代码为GPIOD_OCTL &amp;= ~ (0x01 &lt;&lt; 7);</a:t>
            </a:r>
            <a:endParaRPr lang="zh-CN" altLang="en-US" sz="2800"/>
          </a:p>
          <a:p>
            <a:pPr algn="l"/>
            <a:r>
              <a:rPr lang="zh-CN" altLang="en-US" sz="2800"/>
              <a:t>输出高电平转换代码为GPIOD_OCTL |=  (0x01 &lt;&lt; 7);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2126615" y="4159250"/>
            <a:ext cx="69037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/>
              <a:t>2.</a:t>
            </a:r>
            <a:r>
              <a:rPr lang="zh-CN" sz="2800"/>
              <a:t>端口位操作寄存器</a:t>
            </a:r>
            <a:r>
              <a:rPr lang="en-US" altLang="zh-CN" sz="2800"/>
              <a:t>BOP</a:t>
            </a:r>
            <a:endParaRPr lang="zh-CN" altLang="en-US" sz="2800"/>
          </a:p>
          <a:p>
            <a:pPr algn="l"/>
            <a:r>
              <a:rPr lang="zh-CN" altLang="en-US" sz="2800"/>
              <a:t>输出低电平转换代码为</a:t>
            </a:r>
            <a:endParaRPr lang="zh-CN" altLang="en-US" sz="2800"/>
          </a:p>
          <a:p>
            <a:pPr algn="l"/>
            <a:r>
              <a:rPr lang="zh-CN" altLang="en-US" sz="2800"/>
              <a:t>GPIOD_BOP |= (0x01 &lt;&lt; (7 + 16));</a:t>
            </a:r>
            <a:endParaRPr lang="zh-CN" altLang="en-US" sz="2800"/>
          </a:p>
          <a:p>
            <a:pPr algn="l"/>
            <a:r>
              <a:rPr lang="zh-CN" altLang="en-US" sz="2800"/>
              <a:t>输出高电平转换代码为</a:t>
            </a:r>
            <a:endParaRPr lang="zh-CN" altLang="en-US" sz="2800"/>
          </a:p>
          <a:p>
            <a:pPr algn="l"/>
            <a:r>
              <a:rPr lang="zh-CN" altLang="en-US" sz="2800"/>
              <a:t>GPIOD_BOP |= (0x01 &lt;&lt; 7);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7806690" y="3902075"/>
            <a:ext cx="3421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800">
                <a:highlight>
                  <a:srgbClr val="00FF00"/>
                </a:highlight>
              </a:rPr>
              <a:t>3.端口位翻转寄存器</a:t>
            </a:r>
            <a:endParaRPr lang="zh-CN" altLang="en-US" sz="2800">
              <a:highlight>
                <a:srgbClr val="00FF0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4040505" cy="19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29044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实验现象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355215" y="1599565"/>
            <a:ext cx="7265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/>
              <a:t>烧录代码之后，可以看到</a:t>
            </a:r>
            <a:r>
              <a:rPr lang="en-US" altLang="zh-CN" sz="2800"/>
              <a:t>LED2</a:t>
            </a:r>
            <a:r>
              <a:rPr lang="zh-CN" altLang="en-US" sz="2800"/>
              <a:t>将被点亮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WPS 演示</Application>
  <PresentationFormat>宽屏</PresentationFormat>
  <Paragraphs>89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265</cp:revision>
  <dcterms:created xsi:type="dcterms:W3CDTF">2019-06-19T02:08:00Z</dcterms:created>
  <dcterms:modified xsi:type="dcterms:W3CDTF">2022-05-09T05:58:24Z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