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28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2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32"/>
  </p:handoutMasterIdLst>
  <p:sldIdLst>
    <p:sldId id="409" r:id="rId4"/>
    <p:sldId id="497" r:id="rId6"/>
    <p:sldId id="720" r:id="rId7"/>
    <p:sldId id="722" r:id="rId8"/>
    <p:sldId id="751" r:id="rId9"/>
    <p:sldId id="738" r:id="rId10"/>
    <p:sldId id="773" r:id="rId11"/>
    <p:sldId id="774" r:id="rId12"/>
    <p:sldId id="775" r:id="rId13"/>
    <p:sldId id="776" r:id="rId14"/>
    <p:sldId id="777" r:id="rId15"/>
    <p:sldId id="786" r:id="rId16"/>
    <p:sldId id="730" r:id="rId17"/>
    <p:sldId id="766" r:id="rId18"/>
    <p:sldId id="716" r:id="rId19"/>
    <p:sldId id="795" r:id="rId20"/>
    <p:sldId id="755" r:id="rId21"/>
    <p:sldId id="797" r:id="rId22"/>
    <p:sldId id="798" r:id="rId23"/>
    <p:sldId id="800" r:id="rId24"/>
    <p:sldId id="809" r:id="rId25"/>
    <p:sldId id="802" r:id="rId26"/>
    <p:sldId id="803" r:id="rId27"/>
    <p:sldId id="805" r:id="rId28"/>
    <p:sldId id="806" r:id="rId29"/>
    <p:sldId id="807" r:id="rId30"/>
    <p:sldId id="427" r:id="rId31"/>
  </p:sldIdLst>
  <p:sldSz cx="12192000" cy="6858000"/>
  <p:notesSz cx="6858000" cy="9144000"/>
  <p:embeddedFontLst>
    <p:embeddedFont>
      <p:font typeface="微软雅黑" panose="020B0503020204020204" pitchFamily="34" charset="-122"/>
      <p:regular r:id="rId39"/>
    </p:embeddedFont>
    <p:embeddedFont>
      <p:font typeface="黑体" panose="02010609060101010101" charset="-122"/>
      <p:regular r:id="rId40"/>
    </p:embeddedFont>
    <p:embeddedFont>
      <p:font typeface="Calibri" panose="020F0502020204030204" charset="0"/>
      <p:regular r:id="rId41"/>
      <p:bold r:id="rId42"/>
      <p:italic r:id="rId43"/>
      <p:boldItalic r:id="rId44"/>
    </p:embeddedFont>
  </p:embeddedFontLst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90" userDrawn="1">
          <p15:clr>
            <a:srgbClr val="A4A3A4"/>
          </p15:clr>
        </p15:guide>
        <p15:guide id="2" pos="374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490"/>
        <p:guide pos="374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5" Type="http://schemas.openxmlformats.org/officeDocument/2006/relationships/tags" Target="tags/tag282.xml"/><Relationship Id="rId44" Type="http://schemas.openxmlformats.org/officeDocument/2006/relationships/font" Target="fonts/font6.fntdata"/><Relationship Id="rId43" Type="http://schemas.openxmlformats.org/officeDocument/2006/relationships/font" Target="fonts/font5.fntdata"/><Relationship Id="rId42" Type="http://schemas.openxmlformats.org/officeDocument/2006/relationships/font" Target="fonts/font4.fntdata"/><Relationship Id="rId41" Type="http://schemas.openxmlformats.org/officeDocument/2006/relationships/font" Target="fonts/font3.fntdata"/><Relationship Id="rId40" Type="http://schemas.openxmlformats.org/officeDocument/2006/relationships/font" Target="fonts/font2.fntdata"/><Relationship Id="rId4" Type="http://schemas.openxmlformats.org/officeDocument/2006/relationships/slide" Target="slides/slide1.xml"/><Relationship Id="rId39" Type="http://schemas.openxmlformats.org/officeDocument/2006/relationships/font" Target="fonts/font1.fntdata"/><Relationship Id="rId38" Type="http://schemas.openxmlformats.org/officeDocument/2006/relationships/customXml" Target="../customXml/item1.xml"/><Relationship Id="rId37" Type="http://schemas.openxmlformats.org/officeDocument/2006/relationships/customXmlProps" Target="../customXml/itemProps281.xml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因为大家都是按照其协议做的，我们只需要有一套IIC模板，就可以与大多数的IIC设备，进行通信。除了一些特殊的设备，比如IIC接口的屏幕，屏幕为了高刷新率，要求IIC的速率是要快一点的，所以使用统用的IIC模板，不一定那够通信成功，需要根据屏幕的数据手册，确定通信时序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algn="l">
              <a:buClrTx/>
              <a:buSzTx/>
              <a:buNone/>
            </a:pPr>
            <a:r>
              <a:rPr>
                <a:sym typeface="+mn-ea"/>
              </a:rPr>
              <a:t>具体来说，IIC总线的上拉电阻需要连接到SCL和SDA线上，以将它们的电平拉高至Vcc（系统电源电压）。当主设备或从设备需要拉低SCL或SDA线时，会在其信号输出口发出高阻态，使得线上的电平可以被拉低到0V。这也就保证了SCL和SDA线的电平在正确的时刻可以被改变，并减少了通信出错的可能性。</a:t>
            </a:r>
            <a:endParaRPr b="0"/>
          </a:p>
          <a:p>
            <a:pPr algn="l">
              <a:buClrTx/>
              <a:buSzTx/>
              <a:buNone/>
            </a:pPr>
            <a:endParaRPr b="0"/>
          </a:p>
          <a:p>
            <a:pPr algn="l">
              <a:buClrTx/>
              <a:buSzTx/>
              <a:buNone/>
            </a:pPr>
            <a:r>
              <a:rPr>
                <a:sym typeface="+mn-ea"/>
              </a:rPr>
              <a:t>总之，IIC总线上拉电阻的作用是为了保证总线空闲时的电平状态，避免通信出错。</a:t>
            </a:r>
            <a:endParaRPr b="0"/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接下来我们以AHT10温度传感器作为案例，来运用我们之前学习的IIC通信流程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接下来我们以AHT10温度传感器作为案例，来运用我们之前学习的IIC通信流程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，I2C 协议要求</a:t>
            </a:r>
            <a:r>
              <a:rPr lang="zh-CN" altLang="en-US">
                <a:sym typeface="+mn-ea"/>
              </a:rPr>
              <a:t>在快速模式下，需要</a:t>
            </a:r>
            <a:r>
              <a:rPr lang="zh-CN" altLang="en-US">
                <a:sym typeface="+mn-ea"/>
              </a:rPr>
              <a:t>抑制 SDA 和 SCL 线上峰值达到 50ns 的噪声。噪声滤波器默认情况下是使能的。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如果开启</a:t>
            </a:r>
            <a:r>
              <a:rPr lang="en-US" altLang="zh-CN">
                <a:sym typeface="+mn-ea"/>
              </a:rPr>
              <a:t>PEC</a:t>
            </a:r>
            <a:r>
              <a:rPr lang="zh-CN" altLang="en-US">
                <a:sym typeface="+mn-ea"/>
              </a:rPr>
              <a:t>寄存器，那么在发送模式下，它将会计算所有通过I2C总线发送的数据（包括地址）。然后在最后一个字节发送完毕后发送PEC值，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如果在接收模式，在接收完成后检查接收到的PEC值是否正确。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6.xml"/><Relationship Id="rId3" Type="http://schemas.openxmlformats.org/officeDocument/2006/relationships/image" Target="../media/image3.png"/><Relationship Id="rId2" Type="http://schemas.openxmlformats.org/officeDocument/2006/relationships/tags" Target="../tags/tag115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28.xml"/><Relationship Id="rId7" Type="http://schemas.openxmlformats.org/officeDocument/2006/relationships/image" Target="../media/image3.png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12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5.xml"/><Relationship Id="rId7" Type="http://schemas.openxmlformats.org/officeDocument/2006/relationships/tags" Target="../tags/tag131.xml"/><Relationship Id="rId6" Type="http://schemas.openxmlformats.org/officeDocument/2006/relationships/image" Target="../media/image6.png"/><Relationship Id="rId5" Type="http://schemas.openxmlformats.org/officeDocument/2006/relationships/tags" Target="../tags/tag130.xml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tags" Target="../tags/tag129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135.xml"/><Relationship Id="rId7" Type="http://schemas.openxmlformats.org/officeDocument/2006/relationships/image" Target="../media/image8.png"/><Relationship Id="rId6" Type="http://schemas.openxmlformats.org/officeDocument/2006/relationships/tags" Target="../tags/tag134.xml"/><Relationship Id="rId5" Type="http://schemas.openxmlformats.org/officeDocument/2006/relationships/image" Target="../media/image3.png"/><Relationship Id="rId4" Type="http://schemas.openxmlformats.org/officeDocument/2006/relationships/tags" Target="../tags/tag133.xml"/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15.xml"/><Relationship Id="rId16" Type="http://schemas.openxmlformats.org/officeDocument/2006/relationships/tags" Target="../tags/tag139.xml"/><Relationship Id="rId15" Type="http://schemas.openxmlformats.org/officeDocument/2006/relationships/image" Target="../media/image12.png"/><Relationship Id="rId14" Type="http://schemas.openxmlformats.org/officeDocument/2006/relationships/tags" Target="../tags/tag138.xml"/><Relationship Id="rId13" Type="http://schemas.openxmlformats.org/officeDocument/2006/relationships/image" Target="../media/image11.png"/><Relationship Id="rId12" Type="http://schemas.openxmlformats.org/officeDocument/2006/relationships/tags" Target="../tags/tag137.xml"/><Relationship Id="rId11" Type="http://schemas.openxmlformats.org/officeDocument/2006/relationships/image" Target="../media/image10.png"/><Relationship Id="rId10" Type="http://schemas.openxmlformats.org/officeDocument/2006/relationships/tags" Target="../tags/tag136.xml"/><Relationship Id="rId1" Type="http://schemas.openxmlformats.org/officeDocument/2006/relationships/tags" Target="../tags/tag13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5.xml"/><Relationship Id="rId6" Type="http://schemas.openxmlformats.org/officeDocument/2006/relationships/tags" Target="../tags/tag143.xml"/><Relationship Id="rId5" Type="http://schemas.openxmlformats.org/officeDocument/2006/relationships/image" Target="../media/image3.png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image" Target="../media/image13.png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image" Target="../media/image3.png"/><Relationship Id="rId2" Type="http://schemas.openxmlformats.org/officeDocument/2006/relationships/tags" Target="../tags/tag144.xml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55.xml"/><Relationship Id="rId8" Type="http://schemas.openxmlformats.org/officeDocument/2006/relationships/image" Target="../media/image14.png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image" Target="../media/image3.png"/><Relationship Id="rId2" Type="http://schemas.openxmlformats.org/officeDocument/2006/relationships/tags" Target="../tags/tag150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image" Target="../media/image15.png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image" Target="../media/image3.png"/><Relationship Id="rId2" Type="http://schemas.openxmlformats.org/officeDocument/2006/relationships/tags" Target="../tags/tag156.xml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image" Target="../media/image16.png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image" Target="../media/image3.png"/><Relationship Id="rId2" Type="http://schemas.openxmlformats.org/officeDocument/2006/relationships/tags" Target="../tags/tag162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../media/image17.png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image" Target="../media/image3.png"/><Relationship Id="rId2" Type="http://schemas.openxmlformats.org/officeDocument/2006/relationships/tags" Target="../tags/tag168.xml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175.xml"/><Relationship Id="rId10" Type="http://schemas.openxmlformats.org/officeDocument/2006/relationships/tags" Target="../tags/tag174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image" Target="../media/image18.png"/><Relationship Id="rId7" Type="http://schemas.openxmlformats.org/officeDocument/2006/relationships/tags" Target="../tags/tag180.xml"/><Relationship Id="rId6" Type="http://schemas.openxmlformats.org/officeDocument/2006/relationships/tags" Target="../tags/tag179.xml"/><Relationship Id="rId5" Type="http://schemas.openxmlformats.org/officeDocument/2006/relationships/tags" Target="../tags/tag178.xml"/><Relationship Id="rId4" Type="http://schemas.openxmlformats.org/officeDocument/2006/relationships/tags" Target="../tags/tag177.xml"/><Relationship Id="rId3" Type="http://schemas.openxmlformats.org/officeDocument/2006/relationships/image" Target="../media/image3.png"/><Relationship Id="rId2" Type="http://schemas.openxmlformats.org/officeDocument/2006/relationships/tags" Target="../tags/tag176.xml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8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tags" Target="../tags/tag187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image" Target="../media/image3.png"/><Relationship Id="rId2" Type="http://schemas.openxmlformats.org/officeDocument/2006/relationships/tags" Target="../tags/tag183.xml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88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5.xml"/><Relationship Id="rId6" Type="http://schemas.openxmlformats.org/officeDocument/2006/relationships/tags" Target="../tags/tag191.xml"/><Relationship Id="rId5" Type="http://schemas.openxmlformats.org/officeDocument/2006/relationships/image" Target="../media/image21.png"/><Relationship Id="rId4" Type="http://schemas.openxmlformats.org/officeDocument/2006/relationships/tags" Target="../tags/tag190.xml"/><Relationship Id="rId3" Type="http://schemas.openxmlformats.org/officeDocument/2006/relationships/image" Target="../media/image3.png"/><Relationship Id="rId2" Type="http://schemas.openxmlformats.org/officeDocument/2006/relationships/tags" Target="../tags/tag189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97.xml"/><Relationship Id="rId7" Type="http://schemas.openxmlformats.org/officeDocument/2006/relationships/image" Target="../media/image3.png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205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212.xml"/><Relationship Id="rId7" Type="http://schemas.openxmlformats.org/officeDocument/2006/relationships/tags" Target="../tags/tag211.xml"/><Relationship Id="rId6" Type="http://schemas.openxmlformats.org/officeDocument/2006/relationships/tags" Target="../tags/tag210.xml"/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2" Type="http://schemas.openxmlformats.org/officeDocument/2006/relationships/notesSlide" Target="../notesSlides/notesSlide17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213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220.xml"/><Relationship Id="rId7" Type="http://schemas.openxmlformats.org/officeDocument/2006/relationships/tags" Target="../tags/tag219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image" Target="../media/image4.png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2" Type="http://schemas.openxmlformats.org/officeDocument/2006/relationships/notesSlide" Target="../notesSlides/notesSlide18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221.xml"/><Relationship Id="rId1" Type="http://schemas.openxmlformats.org/officeDocument/2006/relationships/tags" Target="../tags/tag214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28.xml"/><Relationship Id="rId8" Type="http://schemas.openxmlformats.org/officeDocument/2006/relationships/image" Target="../media/image3.png"/><Relationship Id="rId7" Type="http://schemas.openxmlformats.org/officeDocument/2006/relationships/tags" Target="../tags/tag227.xml"/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4" Type="http://schemas.openxmlformats.org/officeDocument/2006/relationships/tags" Target="../tags/tag224.xml"/><Relationship Id="rId3" Type="http://schemas.openxmlformats.org/officeDocument/2006/relationships/image" Target="../media/image4.png"/><Relationship Id="rId2" Type="http://schemas.openxmlformats.org/officeDocument/2006/relationships/tags" Target="../tags/tag223.xml"/><Relationship Id="rId11" Type="http://schemas.openxmlformats.org/officeDocument/2006/relationships/notesSlide" Target="../notesSlides/notesSlide19.xml"/><Relationship Id="rId10" Type="http://schemas.openxmlformats.org/officeDocument/2006/relationships/slideLayout" Target="../slideLayouts/slideLayout15.xml"/><Relationship Id="rId1" Type="http://schemas.openxmlformats.org/officeDocument/2006/relationships/tags" Target="../tags/tag22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image" Target="../media/image4.png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image" Target="../media/image22.png"/><Relationship Id="rId16" Type="http://schemas.openxmlformats.org/officeDocument/2006/relationships/notesSlide" Target="../notesSlides/notesSlide20.xml"/><Relationship Id="rId15" Type="http://schemas.openxmlformats.org/officeDocument/2006/relationships/slideLayout" Target="../slideLayouts/slideLayout15.xml"/><Relationship Id="rId14" Type="http://schemas.openxmlformats.org/officeDocument/2006/relationships/tags" Target="../tags/tag237.xml"/><Relationship Id="rId13" Type="http://schemas.openxmlformats.org/officeDocument/2006/relationships/image" Target="../media/image24.png"/><Relationship Id="rId12" Type="http://schemas.openxmlformats.org/officeDocument/2006/relationships/tags" Target="../tags/tag236.xml"/><Relationship Id="rId11" Type="http://schemas.openxmlformats.org/officeDocument/2006/relationships/image" Target="../media/image23.png"/><Relationship Id="rId10" Type="http://schemas.openxmlformats.org/officeDocument/2006/relationships/tags" Target="../tags/tag235.xml"/><Relationship Id="rId1" Type="http://schemas.openxmlformats.org/officeDocument/2006/relationships/tags" Target="../tags/tag229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243.xml"/><Relationship Id="rId6" Type="http://schemas.openxmlformats.org/officeDocument/2006/relationships/image" Target="../media/image3.png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" Type="http://schemas.openxmlformats.org/officeDocument/2006/relationships/tags" Target="../tags/tag238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tags" Target="../tags/tag249.xml"/><Relationship Id="rId7" Type="http://schemas.openxmlformats.org/officeDocument/2006/relationships/image" Target="../media/image3.png"/><Relationship Id="rId6" Type="http://schemas.openxmlformats.org/officeDocument/2006/relationships/tags" Target="../tags/tag248.xml"/><Relationship Id="rId5" Type="http://schemas.openxmlformats.org/officeDocument/2006/relationships/tags" Target="../tags/tag247.xml"/><Relationship Id="rId4" Type="http://schemas.openxmlformats.org/officeDocument/2006/relationships/tags" Target="../tags/tag246.xml"/><Relationship Id="rId3" Type="http://schemas.openxmlformats.org/officeDocument/2006/relationships/image" Target="../media/image4.png"/><Relationship Id="rId2" Type="http://schemas.openxmlformats.org/officeDocument/2006/relationships/tags" Target="../tags/tag245.xml"/><Relationship Id="rId12" Type="http://schemas.openxmlformats.org/officeDocument/2006/relationships/notesSlide" Target="../notesSlides/notesSlide22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250.xml"/><Relationship Id="rId1" Type="http://schemas.openxmlformats.org/officeDocument/2006/relationships/tags" Target="../tags/tag244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256.xml"/><Relationship Id="rId8" Type="http://schemas.openxmlformats.org/officeDocument/2006/relationships/image" Target="../media/image26.png"/><Relationship Id="rId7" Type="http://schemas.openxmlformats.org/officeDocument/2006/relationships/tags" Target="../tags/tag255.xml"/><Relationship Id="rId6" Type="http://schemas.openxmlformats.org/officeDocument/2006/relationships/image" Target="../media/image3.png"/><Relationship Id="rId5" Type="http://schemas.openxmlformats.org/officeDocument/2006/relationships/tags" Target="../tags/tag254.xml"/><Relationship Id="rId4" Type="http://schemas.openxmlformats.org/officeDocument/2006/relationships/tags" Target="../tags/tag253.xml"/><Relationship Id="rId3" Type="http://schemas.openxmlformats.org/officeDocument/2006/relationships/image" Target="../media/image4.png"/><Relationship Id="rId2" Type="http://schemas.openxmlformats.org/officeDocument/2006/relationships/tags" Target="../tags/tag252.xml"/><Relationship Id="rId13" Type="http://schemas.openxmlformats.org/officeDocument/2006/relationships/notesSlide" Target="../notesSlides/notesSlide23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257.xml"/><Relationship Id="rId10" Type="http://schemas.openxmlformats.org/officeDocument/2006/relationships/image" Target="../media/image27.png"/><Relationship Id="rId1" Type="http://schemas.openxmlformats.org/officeDocument/2006/relationships/tags" Target="../tags/tag25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263.xml"/><Relationship Id="rId8" Type="http://schemas.openxmlformats.org/officeDocument/2006/relationships/image" Target="../media/image28.png"/><Relationship Id="rId7" Type="http://schemas.openxmlformats.org/officeDocument/2006/relationships/tags" Target="../tags/tag262.xml"/><Relationship Id="rId6" Type="http://schemas.openxmlformats.org/officeDocument/2006/relationships/image" Target="../media/image3.png"/><Relationship Id="rId5" Type="http://schemas.openxmlformats.org/officeDocument/2006/relationships/tags" Target="../tags/tag261.xml"/><Relationship Id="rId4" Type="http://schemas.openxmlformats.org/officeDocument/2006/relationships/tags" Target="../tags/tag260.xml"/><Relationship Id="rId3" Type="http://schemas.openxmlformats.org/officeDocument/2006/relationships/image" Target="../media/image4.png"/><Relationship Id="rId2" Type="http://schemas.openxmlformats.org/officeDocument/2006/relationships/tags" Target="../tags/tag259.xml"/><Relationship Id="rId11" Type="http://schemas.openxmlformats.org/officeDocument/2006/relationships/notesSlide" Target="../notesSlides/notesSlide24.xml"/><Relationship Id="rId10" Type="http://schemas.openxmlformats.org/officeDocument/2006/relationships/slideLayout" Target="../slideLayouts/slideLayout15.xml"/><Relationship Id="rId1" Type="http://schemas.openxmlformats.org/officeDocument/2006/relationships/tags" Target="../tags/tag258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270.xml"/><Relationship Id="rId7" Type="http://schemas.openxmlformats.org/officeDocument/2006/relationships/tags" Target="../tags/tag269.xml"/><Relationship Id="rId6" Type="http://schemas.openxmlformats.org/officeDocument/2006/relationships/tags" Target="../tags/tag268.xml"/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2" Type="http://schemas.openxmlformats.org/officeDocument/2006/relationships/notesSlide" Target="../notesSlides/notesSlide25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271.xml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278.xml"/><Relationship Id="rId7" Type="http://schemas.openxmlformats.org/officeDocument/2006/relationships/tags" Target="../tags/tag277.xml"/><Relationship Id="rId6" Type="http://schemas.openxmlformats.org/officeDocument/2006/relationships/tags" Target="../tags/tag276.xml"/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2" Type="http://schemas.openxmlformats.org/officeDocument/2006/relationships/notesSlide" Target="../notesSlides/notesSlide26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279.xml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80.xml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744845" y="2529205"/>
            <a:ext cx="41090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I2C</a:t>
            </a:r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介绍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6898640" y="3676015"/>
            <a:ext cx="286702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I2C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操作流程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7796530" y="143525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8882223" y="143525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2633285" y="1494314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1781175" y="3676015"/>
            <a:ext cx="289623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I2C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基础知识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3765550" y="2606675"/>
            <a:ext cx="6508115" cy="63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2"/>
          <p:cNvSpPr txBox="1"/>
          <p:nvPr>
            <p:custDataLst>
              <p:tags r:id="rId3"/>
            </p:custDataLst>
          </p:nvPr>
        </p:nvSpPr>
        <p:spPr>
          <a:xfrm>
            <a:off x="3543300" y="1362720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V="1">
            <a:off x="3765550" y="2596515"/>
            <a:ext cx="4558030" cy="698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030470" y="1628775"/>
            <a:ext cx="536765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I2C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基础知识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40835" y="2865755"/>
            <a:ext cx="4551680" cy="3340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 altLang="zh-CN" sz="3200"/>
              <a:t>1.I2C</a:t>
            </a:r>
            <a:r>
              <a:rPr lang="zh-CN" altLang="en-US" sz="3200"/>
              <a:t>介绍</a:t>
            </a:r>
            <a:endParaRPr lang="zh-CN" altLang="en-US" sz="3200"/>
          </a:p>
          <a:p>
            <a:pPr>
              <a:lnSpc>
                <a:spcPct val="120000"/>
              </a:lnSpc>
            </a:pPr>
            <a:r>
              <a:rPr lang="en-US" altLang="zh-CN" sz="3200">
                <a:sym typeface="+mn-ea"/>
              </a:rPr>
              <a:t>2.I2C</a:t>
            </a:r>
            <a:r>
              <a:rPr lang="zh-CN" altLang="en-US" sz="3200">
                <a:sym typeface="+mn-ea"/>
              </a:rPr>
              <a:t>应用</a:t>
            </a:r>
            <a:endParaRPr lang="zh-CN" altLang="en-US" sz="3200"/>
          </a:p>
          <a:p>
            <a:pPr>
              <a:lnSpc>
                <a:spcPct val="120000"/>
              </a:lnSpc>
            </a:pPr>
            <a:r>
              <a:rPr lang="en-US" altLang="zh-CN" sz="3200"/>
              <a:t>3.</a:t>
            </a:r>
            <a:r>
              <a:rPr lang="en-US" altLang="zh-CN" sz="3200">
                <a:sym typeface="+mn-ea"/>
              </a:rPr>
              <a:t>I2C</a:t>
            </a:r>
            <a:r>
              <a:rPr lang="zh-CN" altLang="en-US" sz="3200">
                <a:sym typeface="+mn-ea"/>
              </a:rPr>
              <a:t>基本参数</a:t>
            </a:r>
            <a:endParaRPr lang="zh-CN" altLang="en-US" sz="3200"/>
          </a:p>
          <a:p>
            <a:pPr>
              <a:lnSpc>
                <a:spcPct val="120000"/>
              </a:lnSpc>
            </a:pPr>
            <a:r>
              <a:rPr lang="en-US" altLang="zh-CN" sz="3200">
                <a:sym typeface="+mn-ea"/>
              </a:rPr>
              <a:t>4.</a:t>
            </a:r>
            <a:r>
              <a:rPr lang="en-US" sz="3200">
                <a:sym typeface="+mn-ea"/>
              </a:rPr>
              <a:t>I2C</a:t>
            </a:r>
            <a:r>
              <a:rPr lang="zh-CN" altLang="en-US" sz="3200">
                <a:sym typeface="+mn-ea"/>
              </a:rPr>
              <a:t>通信时序</a:t>
            </a:r>
            <a:endParaRPr lang="zh-CN" altLang="en-US" sz="3200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>
                <a:sym typeface="+mn-ea"/>
              </a:rPr>
              <a:t>5.I2C</a:t>
            </a:r>
            <a:r>
              <a:rPr lang="zh-CN" altLang="en-US" sz="3200">
                <a:sym typeface="+mn-ea"/>
              </a:rPr>
              <a:t>通信过程</a:t>
            </a:r>
            <a:endParaRPr lang="zh-CN" altLang="en-US" sz="3200"/>
          </a:p>
          <a:p>
            <a:pPr>
              <a:lnSpc>
                <a:spcPct val="120000"/>
              </a:lnSpc>
            </a:pPr>
            <a:endParaRPr lang="zh-CN" altLang="en-US" sz="320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I2C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介绍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4230" y="1085850"/>
            <a:ext cx="10687050" cy="32613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b="1"/>
              <a:t>IIC通信</a:t>
            </a:r>
            <a:r>
              <a:t>是一种串行通信接口协议，常用于连接微控制器、传感器和其他外设，也被称为</a:t>
            </a:r>
            <a:r>
              <a:rPr b="1"/>
              <a:t>I2C（Inter-IC）总线</a:t>
            </a:r>
            <a:r>
              <a:t>。IIC协议具有双向数据传输和多个从设备同时连接的特点，是一种非常常见的通信</a:t>
            </a:r>
            <a:r>
              <a:rPr lang="zh-CN"/>
              <a:t>协议</a:t>
            </a:r>
            <a:r>
              <a:t>。</a:t>
            </a:r>
          </a:p>
          <a:p/>
          <a:p>
            <a:r>
              <a:t>IIC总线由两条线组成：SDA（数据线）和SCL（时钟线）。可以连接多个设备（如存储器、传感器、芯片等）到同一条总线上，每个设备都有唯一的地址，可以通过地址选择来与之通信。</a:t>
            </a:r>
          </a:p>
          <a:p/>
          <a:p>
            <a:r>
              <a:t>该协议具有以下优点：</a:t>
            </a:r>
          </a:p>
          <a:p>
            <a:r>
              <a:t>1. 使用少量的实体连接</a:t>
            </a:r>
            <a:r>
              <a:rPr lang="zh-CN"/>
              <a:t>；</a:t>
            </a:r>
            <a:endParaRPr lang="zh-CN"/>
          </a:p>
          <a:p>
            <a:r>
              <a:t>2. 使用简单，协议明确，易于实现</a:t>
            </a:r>
            <a:r>
              <a:rPr lang="zh-CN"/>
              <a:t>；</a:t>
            </a:r>
            <a:endParaRPr lang="zh-CN"/>
          </a:p>
          <a:p>
            <a:r>
              <a:t>3. 可以连接多个设备</a:t>
            </a:r>
            <a:r>
              <a:rPr lang="zh-CN"/>
              <a:t>；</a:t>
            </a:r>
            <a:endParaRPr lang="zh-CN"/>
          </a:p>
          <a:p>
            <a:r>
              <a:rPr lang="en-US"/>
              <a:t> </a:t>
            </a:r>
            <a:endParaRPr 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pic>
        <p:nvPicPr>
          <p:cNvPr id="6" name="图片 5" descr="I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985" y="4425950"/>
            <a:ext cx="6344285" cy="17754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56070" y="3703955"/>
            <a:ext cx="5129530" cy="270192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828915" y="5064760"/>
            <a:ext cx="2192655" cy="1412240"/>
          </a:xfrm>
          <a:prstGeom prst="rect">
            <a:avLst/>
          </a:prstGeom>
        </p:spPr>
      </p:pic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I2C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应用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02895" y="1116330"/>
            <a:ext cx="7886700" cy="52063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560705" fontAlgn="auto">
              <a:lnSpc>
                <a:spcPct val="150000"/>
              </a:lnSpc>
            </a:pPr>
            <a:r>
              <a:rPr sz="1800" b="0"/>
              <a:t>由于</a:t>
            </a:r>
            <a:r>
              <a:rPr>
                <a:sym typeface="+mn-ea"/>
              </a:rPr>
              <a:t>IIC总线</a:t>
            </a:r>
            <a:r>
              <a:rPr lang="zh-CN">
                <a:sym typeface="+mn-ea"/>
              </a:rPr>
              <a:t>的</a:t>
            </a:r>
            <a:r>
              <a:rPr sz="1800" b="0"/>
              <a:t>连接方式简单、应用广泛，因此在各种电子产品中都有着重要的应用。以下是IIC总线在实际应用中的一些典型应用场景</a:t>
            </a:r>
            <a:r>
              <a:rPr lang="zh-CN" sz="1800" b="0"/>
              <a:t>：</a:t>
            </a:r>
            <a:endParaRPr sz="1800" b="0"/>
          </a:p>
          <a:p>
            <a:pPr indent="560705" fontAlgn="auto">
              <a:lnSpc>
                <a:spcPct val="150000"/>
              </a:lnSpc>
            </a:pPr>
            <a:r>
              <a:rPr b="1">
                <a:solidFill>
                  <a:schemeClr val="tx1"/>
                </a:solidFill>
              </a:rPr>
              <a:t>传感器</a:t>
            </a:r>
            <a:r>
              <a:rPr b="0">
                <a:solidFill>
                  <a:schemeClr val="tx1"/>
                </a:solidFill>
              </a:rPr>
              <a:t>：例如温度传感器、湿度传感器、光线传感器、气压传感器等；</a:t>
            </a:r>
            <a:endParaRPr b="0">
              <a:solidFill>
                <a:schemeClr val="tx1"/>
              </a:solidFill>
            </a:endParaRPr>
          </a:p>
          <a:p>
            <a:pPr indent="560705" fontAlgn="auto">
              <a:lnSpc>
                <a:spcPct val="150000"/>
              </a:lnSpc>
            </a:pPr>
            <a:r>
              <a:rPr b="1">
                <a:sym typeface="+mn-ea"/>
              </a:rPr>
              <a:t>存储器</a:t>
            </a:r>
            <a:r>
              <a:rPr>
                <a:sym typeface="+mn-ea"/>
              </a:rPr>
              <a:t>：例如EEPROM、Flash存储器等；</a:t>
            </a:r>
            <a:endParaRPr sz="1800" b="1"/>
          </a:p>
          <a:p>
            <a:pPr indent="560705" fontAlgn="auto">
              <a:lnSpc>
                <a:spcPct val="150000"/>
              </a:lnSpc>
            </a:pPr>
            <a:r>
              <a:rPr sz="1800" b="1"/>
              <a:t>外设控制</a:t>
            </a:r>
            <a:r>
              <a:rPr sz="1800" b="0"/>
              <a:t>：例如显示屏控制器、触摸屏控制器、LED控制器等；</a:t>
            </a:r>
            <a:endParaRPr sz="1800" b="0"/>
          </a:p>
          <a:p>
            <a:pPr indent="560705" fontAlgn="auto">
              <a:lnSpc>
                <a:spcPct val="150000"/>
              </a:lnSpc>
            </a:pPr>
            <a:r>
              <a:rPr sz="1800" b="1"/>
              <a:t>音频芯片</a:t>
            </a:r>
            <a:r>
              <a:rPr sz="1800" b="0"/>
              <a:t>：例如音频DAC/ADC、编解码器等；</a:t>
            </a:r>
            <a:endParaRPr sz="1800" b="0"/>
          </a:p>
          <a:p>
            <a:pPr indent="560705" fontAlgn="auto">
              <a:lnSpc>
                <a:spcPct val="150000"/>
              </a:lnSpc>
            </a:pPr>
            <a:r>
              <a:rPr sz="1800" b="1"/>
              <a:t>无线模块</a:t>
            </a:r>
            <a:r>
              <a:rPr sz="1800" b="0"/>
              <a:t>：例如蓝牙、Wi-Fi、RFID等；</a:t>
            </a:r>
            <a:endParaRPr sz="1800" b="0"/>
          </a:p>
          <a:p>
            <a:pPr indent="560705" fontAlgn="auto">
              <a:lnSpc>
                <a:spcPct val="150000"/>
              </a:lnSpc>
            </a:pPr>
            <a:r>
              <a:rPr sz="1800" b="1"/>
              <a:t>电源管理</a:t>
            </a:r>
            <a:r>
              <a:rPr sz="1800" b="0"/>
              <a:t>：例如电池管理IC、DC-DC转换器等；</a:t>
            </a:r>
            <a:endParaRPr sz="1800" b="0"/>
          </a:p>
          <a:p>
            <a:pPr indent="560705" fontAlgn="auto">
              <a:lnSpc>
                <a:spcPct val="150000"/>
              </a:lnSpc>
            </a:pPr>
            <a:endParaRPr sz="1800" b="0"/>
          </a:p>
          <a:p>
            <a:pPr indent="560705" fontAlgn="auto">
              <a:lnSpc>
                <a:spcPct val="150000"/>
              </a:lnSpc>
            </a:pPr>
            <a:r>
              <a:rPr sz="1800" b="0"/>
              <a:t>除了以上应用场景外，IIC总线还可以用于实现其他各种功能，总之，由于其协议标准化，IIC总线在各种电子产品中都有着广泛的应用。</a:t>
            </a:r>
            <a:endParaRPr sz="1800" b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568055" y="1184910"/>
            <a:ext cx="1144270" cy="11353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813290" y="1116330"/>
            <a:ext cx="1170940" cy="13436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568055" y="2807335"/>
            <a:ext cx="1985010" cy="20212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0021570" y="5019040"/>
            <a:ext cx="1911985" cy="14579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835005" y="2879090"/>
            <a:ext cx="890270" cy="948690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I2C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基本参数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1828800" y="1926590"/>
          <a:ext cx="853313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355"/>
                <a:gridCol w="620077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参数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描述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速率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I2C总线有标准模式（100 kbit/s）和快速模式（400 kbit/s）两种传输模式，还有更快的扩展模式和高速模式可供选择。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器件地址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每个设备都有唯一的7位或10位地址，可以通过地址选择来</a:t>
                      </a:r>
                      <a:r>
                        <a:rPr lang="zh-CN" altLang="en-US" sz="1800">
                          <a:sym typeface="+mn-ea"/>
                        </a:rPr>
                        <a:t>确定</a:t>
                      </a:r>
                      <a:r>
                        <a:rPr lang="zh-CN" altLang="en-US" sz="1800">
                          <a:sym typeface="+mn-ea"/>
                        </a:rPr>
                        <a:t>与谁</a:t>
                      </a:r>
                      <a:r>
                        <a:rPr lang="zh-CN" altLang="en-US" sz="1800">
                          <a:sym typeface="+mn-ea"/>
                        </a:rPr>
                        <a:t>进行通信。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总线状态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I2C总线有五种状态，</a:t>
                      </a:r>
                      <a:r>
                        <a:rPr lang="zh-CN" altLang="en-US"/>
                        <a:t>分别是空闲状态、起始信号、结束信号、响应信号、数据传输。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800">
                          <a:sym typeface="+mn-ea"/>
                        </a:rPr>
                        <a:t>数据格式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t>I2C总线有两种数据格式</a:t>
                      </a:r>
                      <a:r>
                        <a:rPr lang="zh-CN"/>
                        <a:t>，</a:t>
                      </a:r>
                      <a:r>
                        <a:t>标准格式和快速格式。标准格式是8位数据字节加上1位ack/nack（确认/非确认）位，快速格式允许两个字节同时传输。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908050" y="5464175"/>
            <a:ext cx="10642600" cy="906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algn="l">
              <a:buClrTx/>
              <a:buSzTx/>
              <a:buNone/>
            </a:pPr>
            <a:r>
              <a:rPr b="0"/>
              <a:t>由于SCL和SDA线是双向的，它们也可能会由于外部原因（比如线路中的电容等）出现电平误差，而从而导致通信出错。因此，在IIC总线中，通常使用上拉电阻来保证信号线在空闲状态下的电平为高电平。</a:t>
            </a:r>
            <a:endParaRPr b="0"/>
          </a:p>
          <a:p>
            <a:pPr algn="l">
              <a:buClrTx/>
              <a:buSzTx/>
              <a:buNone/>
            </a:pPr>
            <a:endParaRPr b="0"/>
          </a:p>
          <a:p>
            <a:pPr algn="l">
              <a:buClrTx/>
              <a:buSzTx/>
              <a:buNone/>
            </a:pPr>
            <a:endParaRPr b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en-US" altLang="zh-CN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I2C</a:t>
            </a: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通信时序</a:t>
            </a:r>
            <a:endParaRPr lang="zh-CN" altLang="en-US" sz="2800" b="1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4230" y="1068705"/>
            <a:ext cx="10398760" cy="880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14980" y="1860550"/>
            <a:ext cx="2216150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设备地址</a:t>
            </a:r>
            <a:endParaRPr lang="zh-CN" altLang="en-US"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5297805" y="1860550"/>
            <a:ext cx="2117725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设备应答</a:t>
            </a:r>
            <a:endParaRPr lang="en-US" altLang="zh-CN" sz="3200" b="1">
              <a:solidFill>
                <a:srgbClr val="FFFFFF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5"/>
            </p:custDataLst>
          </p:nvPr>
        </p:nvSpPr>
        <p:spPr>
          <a:xfrm>
            <a:off x="798830" y="1860550"/>
            <a:ext cx="2216150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起始信号</a:t>
            </a:r>
            <a:endParaRPr lang="en-US" altLang="zh-CN" sz="3200" b="1">
              <a:solidFill>
                <a:srgbClr val="FFFFFF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7700010" y="1860550"/>
            <a:ext cx="3128010" cy="3999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void IIC_Start(void)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{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lang="en-US" altLang="zh-CN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//</a:t>
            </a:r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设置</a:t>
            </a:r>
            <a:r>
              <a:rPr lang="en-US" altLang="zh-CN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</a:t>
            </a:r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为输出</a:t>
            </a:r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模式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SDA_OUT();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	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SDA(1);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SCL(1); 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delay_us(5);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	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SDA(0);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delay_us(5);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SCL(0);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delay_us(5);               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}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24230" y="1661160"/>
            <a:ext cx="5845810" cy="410273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en-US" altLang="zh-CN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I2C</a:t>
            </a: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通信时序</a:t>
            </a:r>
            <a:endParaRPr lang="zh-CN" altLang="en-US" sz="2800" b="1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4230" y="1068705"/>
            <a:ext cx="10398760" cy="880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14980" y="1860550"/>
            <a:ext cx="2216150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设备地址</a:t>
            </a:r>
            <a:endParaRPr lang="zh-CN" altLang="en-US"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5297805" y="1860550"/>
            <a:ext cx="2117725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设备应答</a:t>
            </a:r>
            <a:endParaRPr lang="en-US" altLang="zh-CN" sz="3200" b="1">
              <a:solidFill>
                <a:srgbClr val="FFFFFF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5"/>
            </p:custDataLst>
          </p:nvPr>
        </p:nvSpPr>
        <p:spPr>
          <a:xfrm>
            <a:off x="798830" y="1860550"/>
            <a:ext cx="2216150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起始信号</a:t>
            </a:r>
            <a:endParaRPr lang="en-US" altLang="zh-CN" sz="3200" b="1">
              <a:solidFill>
                <a:srgbClr val="FFFFFF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7700010" y="1949450"/>
            <a:ext cx="3128010" cy="3999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void IIC_Stop(void)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{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SDA_OUT();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SCL(0);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SDA(0);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	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SCL(1);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delay_us(5);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SDA(1);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delay_us(5);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lang="zh-CN" alt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}</a:t>
            </a:r>
            <a:endParaRPr lang="zh-CN" altLang="en-US"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11885" y="1860550"/>
            <a:ext cx="5271770" cy="373316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en-US" altLang="zh-CN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I2C</a:t>
            </a: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通信时序</a:t>
            </a:r>
            <a:endParaRPr lang="zh-CN" altLang="en-US" sz="2800" b="1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4230" y="1068705"/>
            <a:ext cx="10398760" cy="880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14980" y="1860550"/>
            <a:ext cx="2216150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设备地址</a:t>
            </a:r>
            <a:endParaRPr lang="zh-CN" altLang="en-US"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5297805" y="1860550"/>
            <a:ext cx="2117725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设备应答</a:t>
            </a:r>
            <a:endParaRPr lang="en-US" altLang="zh-CN" sz="3200" b="1">
              <a:solidFill>
                <a:srgbClr val="FFFFFF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5"/>
            </p:custDataLst>
          </p:nvPr>
        </p:nvSpPr>
        <p:spPr>
          <a:xfrm>
            <a:off x="798830" y="1860550"/>
            <a:ext cx="2216150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起始信号</a:t>
            </a:r>
            <a:endParaRPr lang="en-US" altLang="zh-CN" sz="3200" b="1">
              <a:solidFill>
                <a:srgbClr val="FFFFFF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7700010" y="1949450"/>
            <a:ext cx="4248785" cy="3999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void IIC_Send_Ack(</a:t>
            </a:r>
            <a:r>
              <a:rPr 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void</a:t>
            </a:r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)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{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SDA_OUT();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SCL(0);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SDA(1);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SDA(0);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SCL(1);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delay_us(5);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SCL(0);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SDA(1);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}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26440" y="1461770"/>
            <a:ext cx="5800725" cy="393382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en-US" altLang="zh-CN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I2C</a:t>
            </a: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通信时序</a:t>
            </a:r>
            <a:endParaRPr lang="zh-CN" altLang="en-US" sz="2800" b="1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4230" y="1068705"/>
            <a:ext cx="10398760" cy="880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14980" y="1860550"/>
            <a:ext cx="2216150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设备地址</a:t>
            </a:r>
            <a:endParaRPr lang="zh-CN" altLang="en-US"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5297805" y="1860550"/>
            <a:ext cx="2117725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设备应答</a:t>
            </a:r>
            <a:endParaRPr lang="en-US" altLang="zh-CN" sz="3200" b="1">
              <a:solidFill>
                <a:srgbClr val="FFFFFF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5"/>
            </p:custDataLst>
          </p:nvPr>
        </p:nvSpPr>
        <p:spPr>
          <a:xfrm>
            <a:off x="798830" y="1860550"/>
            <a:ext cx="2216150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起始信号</a:t>
            </a:r>
            <a:endParaRPr lang="en-US" altLang="zh-CN" sz="3200" b="1">
              <a:solidFill>
                <a:srgbClr val="FFFFFF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7700010" y="1949450"/>
            <a:ext cx="4248785" cy="3999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void IIC_Send_Nack(</a:t>
            </a:r>
            <a:r>
              <a:rPr 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void</a:t>
            </a:r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)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{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SDA_OUT();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SCL(0);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   </a:t>
            </a:r>
            <a:r>
              <a:rPr 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     </a:t>
            </a:r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SDA(0);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SDA(1);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SCL(1);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delay_us(5);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SCL(0);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SDA(0);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}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64845" y="1764665"/>
            <a:ext cx="5705475" cy="38862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en-US" altLang="zh-CN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I2C</a:t>
            </a: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通信时序</a:t>
            </a:r>
            <a:endParaRPr lang="zh-CN" altLang="en-US" sz="2800" b="1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4230" y="1068705"/>
            <a:ext cx="10398760" cy="880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14980" y="1860550"/>
            <a:ext cx="2216150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设备地址</a:t>
            </a:r>
            <a:endParaRPr lang="zh-CN" altLang="en-US"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5297805" y="1860550"/>
            <a:ext cx="2117725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设备应答</a:t>
            </a:r>
            <a:endParaRPr lang="en-US" altLang="zh-CN" sz="3200" b="1">
              <a:solidFill>
                <a:srgbClr val="FFFFFF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5"/>
            </p:custDataLst>
          </p:nvPr>
        </p:nvSpPr>
        <p:spPr>
          <a:xfrm>
            <a:off x="798830" y="1860550"/>
            <a:ext cx="2216150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起始信号</a:t>
            </a:r>
            <a:endParaRPr lang="en-US" altLang="zh-CN" sz="3200" b="1">
              <a:solidFill>
                <a:srgbClr val="FFFFFF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8171815" y="1949450"/>
            <a:ext cx="3740785" cy="4746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void </a:t>
            </a:r>
            <a:r>
              <a:rPr 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IIC</a:t>
            </a:r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_Send_Byte(uint8_t dat)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{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int i = 0;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SDA_OUT();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SCL(0);//拉低时钟开始数据传输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	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for( i = 0; i &lt; 8; i++ )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{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SDA( (dat &amp; 0x80) </a:t>
            </a:r>
            <a:r>
              <a:rPr 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&gt;&gt; 7 </a:t>
            </a:r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delay_us(1);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SCL(1);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delay_us(5);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SCL(0);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delay_us(5);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dat&lt;&lt;=1;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}	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}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24143"/>
          <a:stretch>
            <a:fillRect/>
          </a:stretch>
        </p:blipFill>
        <p:spPr>
          <a:xfrm>
            <a:off x="1499235" y="992505"/>
            <a:ext cx="5608320" cy="2613660"/>
          </a:xfrm>
          <a:prstGeom prst="rect">
            <a:avLst/>
          </a:prstGeom>
        </p:spPr>
      </p:pic>
      <p:graphicFrame>
        <p:nvGraphicFramePr>
          <p:cNvPr id="8" name="表格 7"/>
          <p:cNvGraphicFramePr/>
          <p:nvPr>
            <p:custDataLst>
              <p:tags r:id="rId9"/>
            </p:custDataLst>
          </p:nvPr>
        </p:nvGraphicFramePr>
        <p:xfrm>
          <a:off x="2809240" y="3825875"/>
          <a:ext cx="3664071" cy="2594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710"/>
                <a:gridCol w="368186"/>
                <a:gridCol w="362252"/>
                <a:gridCol w="361502"/>
                <a:gridCol w="316973"/>
                <a:gridCol w="281820"/>
                <a:gridCol w="281819"/>
                <a:gridCol w="281819"/>
                <a:gridCol w="300990"/>
              </a:tblGrid>
              <a:tr h="3467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dk1"/>
                          </a:solidFill>
                        </a:rPr>
                        <a:t>发送次数</a:t>
                      </a:r>
                      <a:endParaRPr lang="zh-CN" altLang="en-US" sz="1200" b="1">
                        <a:solidFill>
                          <a:schemeClr val="dk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</a:tr>
              <a:tr h="3086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第一遍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en-US" altLang="zh-CN" sz="120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US" altLang="zh-CN" sz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en-US" altLang="zh-CN" sz="12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457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第二遍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</a:tr>
              <a:tr h="2368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第三遍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</a:tr>
              <a:tr h="2273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第四遍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</a:tr>
              <a:tr h="2451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第五遍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en-US" altLang="zh-CN" sz="120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</a:tr>
              <a:tr h="1987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第六遍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US" altLang="zh-CN" sz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</a:tr>
              <a:tr h="1987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第七遍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en-US" altLang="zh-CN" sz="12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</a:tr>
              <a:tr h="1987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第八遍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130300" y="1924685"/>
            <a:ext cx="4064000" cy="914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1495" y="2526030"/>
            <a:ext cx="1245870" cy="3130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r>
              <a:rPr lang="en-US" altLang="zh-CN" sz="14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SDA</a:t>
            </a:r>
            <a:endParaRPr lang="en-US" altLang="zh-CN" sz="1400" b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531495" y="1860550"/>
            <a:ext cx="1245870" cy="3130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r>
              <a:rPr lang="en-US" altLang="zh-CN" sz="14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SCL</a:t>
            </a:r>
            <a:endParaRPr lang="en-US" altLang="zh-CN" sz="1400" b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en-US" altLang="zh-CN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I2C</a:t>
            </a: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通信时序</a:t>
            </a:r>
            <a:endParaRPr lang="zh-CN" altLang="en-US" sz="2800" b="1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4230" y="1068705"/>
            <a:ext cx="10398760" cy="880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14980" y="1860550"/>
            <a:ext cx="2216150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设备地址</a:t>
            </a:r>
            <a:endParaRPr lang="zh-CN" altLang="en-US"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5297805" y="1860550"/>
            <a:ext cx="2117725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设备应答</a:t>
            </a:r>
            <a:endParaRPr lang="en-US" altLang="zh-CN" sz="3200" b="1">
              <a:solidFill>
                <a:srgbClr val="FFFFFF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5"/>
            </p:custDataLst>
          </p:nvPr>
        </p:nvSpPr>
        <p:spPr>
          <a:xfrm>
            <a:off x="798830" y="1860550"/>
            <a:ext cx="2216150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起始信号</a:t>
            </a:r>
            <a:endParaRPr lang="en-US" altLang="zh-CN" sz="3200" b="1">
              <a:solidFill>
                <a:srgbClr val="FFFFFF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8171815" y="1492250"/>
            <a:ext cx="3740785" cy="4936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unsigned char </a:t>
            </a:r>
            <a:r>
              <a:rPr 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IIC_</a:t>
            </a:r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Read_Byte(void)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{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unsigned char i,receive=0;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SDA_IN();//SDA设置为输入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for(i=0;i&lt;8;i++ )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{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SCL(0);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delay_us(5);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SCL(1);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delay_us(5);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receive&lt;&lt;=1;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 </a:t>
            </a:r>
            <a:r>
              <a:rPr 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	</a:t>
            </a:r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if( SDA_GET() )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{	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914400" lvl="2"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receive</a:t>
            </a:r>
            <a:r>
              <a:rPr 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 </a:t>
            </a:r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|=</a:t>
            </a:r>
            <a:r>
              <a:rPr lang="en-US"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 </a:t>
            </a:r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1;   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} 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}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SCL(0); 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return receive;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}</a:t>
            </a:r>
            <a:endParaRPr sz="16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537970" y="1128395"/>
            <a:ext cx="5170170" cy="23577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24230" y="17595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SCL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798830" y="2510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SDA</a:t>
            </a:r>
            <a:endParaRPr lang="en-US" altLang="zh-CN"/>
          </a:p>
        </p:txBody>
      </p:sp>
      <p:graphicFrame>
        <p:nvGraphicFramePr>
          <p:cNvPr id="11" name="表格 10"/>
          <p:cNvGraphicFramePr/>
          <p:nvPr>
            <p:custDataLst>
              <p:tags r:id="rId9"/>
            </p:custDataLst>
          </p:nvPr>
        </p:nvGraphicFramePr>
        <p:xfrm>
          <a:off x="2517140" y="3851910"/>
          <a:ext cx="3664071" cy="2594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710"/>
                <a:gridCol w="368186"/>
                <a:gridCol w="362252"/>
                <a:gridCol w="361502"/>
                <a:gridCol w="316973"/>
                <a:gridCol w="281940"/>
                <a:gridCol w="281699"/>
                <a:gridCol w="281819"/>
                <a:gridCol w="300990"/>
              </a:tblGrid>
              <a:tr h="3657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dk1"/>
                          </a:solidFill>
                          <a:sym typeface="+mn-ea"/>
                        </a:rPr>
                        <a:t>receive状态</a:t>
                      </a:r>
                      <a:endParaRPr lang="zh-CN" altLang="en-US" sz="1200" b="1">
                        <a:solidFill>
                          <a:schemeClr val="dk1"/>
                        </a:solidFill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</a:tr>
              <a:tr h="3086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第一遍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第二遍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</a:tr>
              <a:tr h="2368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第三遍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</a:tr>
              <a:tr h="2273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第四遍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</a:tr>
              <a:tr h="2451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第五遍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</a:tr>
              <a:tr h="1987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第六遍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</a:tr>
              <a:tr h="1987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第七遍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</a:tr>
              <a:tr h="1987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第八遍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en-US" altLang="zh-CN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I2C</a:t>
            </a: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通信</a:t>
            </a: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过程</a:t>
            </a:r>
            <a:endParaRPr lang="zh-CN" altLang="en-US" sz="2800" b="1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07135" y="5782310"/>
            <a:ext cx="9422130" cy="711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以上是I2C通信的基本过程。一般来说，I2C总线的通信速率较慢，但它的优势在于可以同时连接多个设备，并且仅需要两条线路即可实现传输。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24230" y="1068705"/>
            <a:ext cx="10398760" cy="880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I2C通信过程分为两个阶段：发送和接收。在每个阶段中，I2C发送数据的设备（主设备）控制总线并发出时钟信号，接收数据的设备（从设备）从总线上接收数据并回应。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14980" y="1860550"/>
            <a:ext cx="2216150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设备地址</a:t>
            </a:r>
            <a:endParaRPr lang="zh-CN" altLang="en-US"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5297805" y="1860550"/>
            <a:ext cx="2117725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设备应答</a:t>
            </a:r>
            <a:endParaRPr lang="en-US" altLang="zh-CN" sz="3200" b="1">
              <a:solidFill>
                <a:srgbClr val="FFFFFF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5"/>
            </p:custDataLst>
          </p:nvPr>
        </p:nvSpPr>
        <p:spPr>
          <a:xfrm>
            <a:off x="798830" y="1860550"/>
            <a:ext cx="2216150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起始信号</a:t>
            </a:r>
            <a:endParaRPr lang="en-US" altLang="zh-CN" sz="3200" b="1">
              <a:solidFill>
                <a:srgbClr val="FFFFFF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7440930" y="1860550"/>
            <a:ext cx="2117725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发送</a:t>
            </a:r>
            <a:r>
              <a:rPr lang="zh-CN" altLang="en-US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数据</a:t>
            </a:r>
            <a:endParaRPr lang="zh-CN" altLang="en-US" sz="3200" b="1">
              <a:solidFill>
                <a:srgbClr val="FFFFFF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7"/>
            </p:custDataLst>
          </p:nvPr>
        </p:nvSpPr>
        <p:spPr>
          <a:xfrm>
            <a:off x="9698355" y="1860550"/>
            <a:ext cx="2117725" cy="51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结束</a:t>
            </a:r>
            <a:r>
              <a:rPr lang="zh-CN" altLang="en-US" sz="3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信号</a:t>
            </a:r>
            <a:endParaRPr lang="zh-CN" altLang="en-US" sz="3200" b="1">
              <a:solidFill>
                <a:srgbClr val="FFFFFF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pic>
        <p:nvPicPr>
          <p:cNvPr id="24" name="ECB019B1-382A-4266-B25C-5B523AA43C14-1" descr="C:/Users/win/AppData/Local/Temp/wpp.QQEksjwpp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408" y="1987550"/>
            <a:ext cx="11211560" cy="916940"/>
          </a:xfrm>
          <a:prstGeom prst="rect">
            <a:avLst/>
          </a:prstGeom>
        </p:spPr>
      </p:pic>
      <p:pic>
        <p:nvPicPr>
          <p:cNvPr id="26" name="ECB019B1-382A-4266-B25C-5B523AA43C14-2" descr="wp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4025" y="3251200"/>
            <a:ext cx="8387715" cy="253111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en-US" altLang="zh-CN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I2C</a:t>
            </a: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通信过程</a:t>
            </a:r>
            <a:endParaRPr lang="zh-CN" altLang="en-US" sz="2800" b="1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24230" y="1753870"/>
            <a:ext cx="10353675" cy="37147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100" y="1873885"/>
            <a:ext cx="2238375" cy="2181225"/>
          </a:xfrm>
          <a:prstGeom prst="rect">
            <a:avLst/>
          </a:prstGeom>
        </p:spPr>
      </p:pic>
      <p:sp>
        <p:nvSpPr>
          <p:cNvPr id="7" name="TextBox 2"/>
          <p:cNvSpPr txBox="1"/>
          <p:nvPr>
            <p:custDataLst>
              <p:tags r:id="rId2"/>
            </p:custDataLst>
          </p:nvPr>
        </p:nvSpPr>
        <p:spPr>
          <a:xfrm>
            <a:off x="2718435" y="253175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3"/>
            </p:custDataLst>
          </p:nvPr>
        </p:nvCxnSpPr>
        <p:spPr>
          <a:xfrm>
            <a:off x="2940685" y="3772535"/>
            <a:ext cx="530923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V="1">
            <a:off x="2940685" y="3763010"/>
            <a:ext cx="584771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215765" y="2788285"/>
            <a:ext cx="485457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I2C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操作流程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40685" y="39528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以</a:t>
            </a:r>
            <a:r>
              <a:rPr lang="en-US"/>
              <a:t>SHT20</a:t>
            </a:r>
            <a:r>
              <a:rPr lang="zh-CN" altLang="en-US"/>
              <a:t>温湿度传感器作为</a:t>
            </a:r>
            <a:r>
              <a:rPr lang="zh-CN" altLang="en-US"/>
              <a:t>案例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IIC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6" name="圆角矩形 225"/>
          <p:cNvSpPr/>
          <p:nvPr>
            <p:custDataLst>
              <p:tags r:id="rId2"/>
            </p:custDataLst>
          </p:nvPr>
        </p:nvSpPr>
        <p:spPr>
          <a:xfrm>
            <a:off x="1917065" y="937196"/>
            <a:ext cx="7906385" cy="5566328"/>
          </a:xfrm>
          <a:prstGeom prst="roundRect">
            <a:avLst>
              <a:gd name="adj" fmla="val 346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7" name="圆角矩形 226"/>
          <p:cNvSpPr/>
          <p:nvPr>
            <p:custDataLst>
              <p:tags r:id="rId3"/>
            </p:custDataLst>
          </p:nvPr>
        </p:nvSpPr>
        <p:spPr>
          <a:xfrm>
            <a:off x="2409643" y="904875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8" name="直接连接符 227"/>
          <p:cNvCxnSpPr/>
          <p:nvPr>
            <p:custDataLst>
              <p:tags r:id="rId4"/>
            </p:custDataLst>
          </p:nvPr>
        </p:nvCxnSpPr>
        <p:spPr>
          <a:xfrm>
            <a:off x="1917065" y="2299865"/>
            <a:ext cx="790638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文本框 228"/>
          <p:cNvSpPr txBox="1"/>
          <p:nvPr>
            <p:custDataLst>
              <p:tags r:id="rId5"/>
            </p:custDataLst>
          </p:nvPr>
        </p:nvSpPr>
        <p:spPr>
          <a:xfrm>
            <a:off x="1981835" y="2471420"/>
            <a:ext cx="7842250" cy="3959225"/>
          </a:xfrm>
          <a:prstGeom prst="rect">
            <a:avLst/>
          </a:prstGeom>
          <a:noFill/>
        </p:spPr>
        <p:txBody>
          <a:bodyPr wrap="square" rtlCol="0" anchor="t" anchorCtr="0"/>
          <a:p>
            <a:pPr>
              <a:lnSpc>
                <a:spcPct val="130000"/>
              </a:lnSpc>
            </a:pP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//端口移植</a:t>
            </a:r>
            <a:endParaRPr sz="9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</a:t>
            </a:r>
            <a:r>
              <a:rPr lang="en-US"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</a:t>
            </a: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RCU_SDA </a:t>
            </a:r>
            <a:r>
              <a:rPr lang="en-US"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	</a:t>
            </a: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RCU_GPIOB</a:t>
            </a:r>
            <a:endParaRPr sz="9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</a:t>
            </a:r>
            <a:r>
              <a:rPr lang="en-US"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</a:t>
            </a: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PORT_SDA </a:t>
            </a:r>
            <a:r>
              <a:rPr lang="en-US"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	</a:t>
            </a: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GPIOB</a:t>
            </a:r>
            <a:endParaRPr sz="9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</a:t>
            </a:r>
            <a:r>
              <a:rPr lang="en-US"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</a:t>
            </a: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GPIO_SDA </a:t>
            </a:r>
            <a:r>
              <a:rPr lang="en-US"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	</a:t>
            </a: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GPIO_PIN_9</a:t>
            </a:r>
            <a:endParaRPr sz="9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endParaRPr sz="9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</a:t>
            </a:r>
            <a:r>
              <a:rPr lang="en-US"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</a:t>
            </a: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RCU_SCL </a:t>
            </a:r>
            <a:r>
              <a:rPr lang="en-US"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	</a:t>
            </a: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RCU_GPIOB</a:t>
            </a:r>
            <a:endParaRPr sz="9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</a:t>
            </a:r>
            <a:r>
              <a:rPr lang="en-US"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</a:t>
            </a: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PORT_SCL</a:t>
            </a:r>
            <a:r>
              <a:rPr lang="en-US"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</a:t>
            </a: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</a:t>
            </a: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GPIOB</a:t>
            </a:r>
            <a:endParaRPr sz="9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</a:t>
            </a:r>
            <a:r>
              <a:rPr lang="en-US"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</a:t>
            </a: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GPIO_SCL </a:t>
            </a:r>
            <a:r>
              <a:rPr lang="en-US"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	</a:t>
            </a: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GPIO_PIN_8</a:t>
            </a:r>
            <a:b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</a:br>
            <a:b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</a:b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//设置SDA输出模式</a:t>
            </a:r>
            <a:endParaRPr sz="9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SDA_OUT()</a:t>
            </a:r>
            <a:r>
              <a:rPr lang="en-US"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</a:t>
            </a: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gpio_mode_set(PORT_SDA,GPIO_MODE_OUTPUT,GPIO_PUPD_PULLUP,GPIO_SDA)</a:t>
            </a:r>
            <a:endParaRPr sz="9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endParaRPr sz="9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//设置SDA输入模式</a:t>
            </a:r>
            <a:endParaRPr sz="9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SDA_IN()	gpio_mode_set(PORT_SDA,GPIO_MODE_INPUT,GPIO_PUPD_PULLUP,GPIO_SDA)</a:t>
            </a:r>
            <a:endParaRPr sz="9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endParaRPr sz="9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//获取SDA引脚的电平变化</a:t>
            </a:r>
            <a:endParaRPr sz="9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SDA_GET()	gpio_input_bit_get(PORT_SDA,GPIO_SDA)</a:t>
            </a:r>
            <a:r>
              <a:rPr lang="en-US"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endParaRPr lang="en-US" sz="9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endParaRPr sz="9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//SDA与SCL输出</a:t>
            </a:r>
            <a:endParaRPr sz="9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SDA(x)         </a:t>
            </a:r>
            <a:r>
              <a:rPr lang="en-US"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</a:t>
            </a: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gpio_bit_write(PORT_SDA,GPIO_SDA, (x?SET:RESET)</a:t>
            </a:r>
            <a:r>
              <a:rPr lang="en-US"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</a:t>
            </a:r>
            <a:endParaRPr sz="9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SCL(x)          </a:t>
            </a:r>
            <a:r>
              <a:rPr lang="en-US"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</a:t>
            </a: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gpio_bit_write(PORT_SCL,GPIO_SCL, (x?SET:RESET)</a:t>
            </a:r>
            <a:r>
              <a:rPr lang="en-US"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</a:t>
            </a:r>
            <a:r>
              <a:rPr sz="9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</a:t>
            </a:r>
            <a:endParaRPr sz="9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0" name="圆角矩形 229"/>
          <p:cNvSpPr/>
          <p:nvPr>
            <p:custDataLst>
              <p:tags r:id="rId6"/>
            </p:custDataLst>
          </p:nvPr>
        </p:nvSpPr>
        <p:spPr>
          <a:xfrm>
            <a:off x="2409643" y="2250669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1" name="圆角矩形 230"/>
          <p:cNvSpPr/>
          <p:nvPr>
            <p:custDataLst>
              <p:tags r:id="rId7"/>
            </p:custDataLst>
          </p:nvPr>
        </p:nvSpPr>
        <p:spPr>
          <a:xfrm>
            <a:off x="4575810" y="1116965"/>
            <a:ext cx="2506980" cy="912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分配</a:t>
            </a:r>
            <a:r>
              <a:rPr lang="zh-CN" altLang="en-US" sz="3200"/>
              <a:t>引脚</a:t>
            </a:r>
            <a:endParaRPr lang="zh-CN" altLang="en-US" sz="3200"/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IIC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6" name="圆角矩形 225"/>
          <p:cNvSpPr/>
          <p:nvPr>
            <p:custDataLst>
              <p:tags r:id="rId2"/>
            </p:custDataLst>
          </p:nvPr>
        </p:nvSpPr>
        <p:spPr>
          <a:xfrm>
            <a:off x="1917065" y="937196"/>
            <a:ext cx="7906385" cy="5566328"/>
          </a:xfrm>
          <a:prstGeom prst="roundRect">
            <a:avLst>
              <a:gd name="adj" fmla="val 346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7" name="圆角矩形 226"/>
          <p:cNvSpPr/>
          <p:nvPr>
            <p:custDataLst>
              <p:tags r:id="rId3"/>
            </p:custDataLst>
          </p:nvPr>
        </p:nvSpPr>
        <p:spPr>
          <a:xfrm>
            <a:off x="2409643" y="904875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8" name="直接连接符 227"/>
          <p:cNvCxnSpPr/>
          <p:nvPr>
            <p:custDataLst>
              <p:tags r:id="rId4"/>
            </p:custDataLst>
          </p:nvPr>
        </p:nvCxnSpPr>
        <p:spPr>
          <a:xfrm>
            <a:off x="1917065" y="2299865"/>
            <a:ext cx="790638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文本框 228"/>
          <p:cNvSpPr txBox="1"/>
          <p:nvPr>
            <p:custDataLst>
              <p:tags r:id="rId5"/>
            </p:custDataLst>
          </p:nvPr>
        </p:nvSpPr>
        <p:spPr>
          <a:xfrm>
            <a:off x="1981200" y="2720975"/>
            <a:ext cx="7842250" cy="3413125"/>
          </a:xfrm>
          <a:prstGeom prst="rect">
            <a:avLst/>
          </a:prstGeom>
          <a:noFill/>
        </p:spPr>
        <p:txBody>
          <a:bodyPr wrap="square" rtlCol="0" anchor="t" anchorCtr="0">
            <a:normAutofit fontScale="80000"/>
          </a:bodyPr>
          <a:p>
            <a:pPr>
              <a:lnSpc>
                <a:spcPct val="130000"/>
              </a:lnSpc>
            </a:pP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/* 使能时钟 */</a:t>
            </a:r>
            <a:endParaRPr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rcu_periph_clock_enable(RCU_SCL);</a:t>
            </a:r>
            <a:endParaRPr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rcu_periph_clock_enable(RCU_SDA);</a:t>
            </a:r>
            <a:endParaRPr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</a:t>
            </a:r>
            <a:endParaRPr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/* 配置SCL为输出模式 */</a:t>
            </a:r>
            <a:endParaRPr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gpio_mode_set(PORT_SCL,GPIO_MODE_OUTPUT,GPIO_PUPD_PULLUP,GPIO_SCL);</a:t>
            </a:r>
            <a:endParaRPr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/* 配置为</a:t>
            </a:r>
            <a:r>
              <a:rPr lang="zh-CN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开漏</a:t>
            </a: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输出 50MHZ */</a:t>
            </a:r>
            <a:endParaRPr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gpio_output_options_set(PORT_SCL,</a:t>
            </a:r>
            <a:r>
              <a:rPr sz="1400" spc="15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GPIO_OTYPE_OD</a:t>
            </a: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,GPIO_OSPEED_50MHZ,GPIO_SCL);</a:t>
            </a:r>
            <a:endParaRPr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</a:t>
            </a:r>
            <a:endParaRPr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/* 配置SDA为输出模式 */</a:t>
            </a:r>
            <a:endParaRPr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gpio_mode_set(PORT_SDA,GPIO_MODE_OUTPUT,GPIO_PUPD_PULLUP,GPIO_SDA);</a:t>
            </a:r>
            <a:endParaRPr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/* 配置为</a:t>
            </a:r>
            <a:r>
              <a:rPr lang="zh-CN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开漏</a:t>
            </a: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输出 50MHZ */</a:t>
            </a:r>
            <a:endParaRPr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gpio_output_options_set(PORT_SDA,</a:t>
            </a:r>
            <a:r>
              <a:rPr sz="1400" spc="15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GPIO_OTYPE_OD</a:t>
            </a: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,GPIO_OSPEED_50MHZ,GPIO_SDA);</a:t>
            </a:r>
            <a:endParaRPr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0" name="圆角矩形 229"/>
          <p:cNvSpPr/>
          <p:nvPr>
            <p:custDataLst>
              <p:tags r:id="rId6"/>
            </p:custDataLst>
          </p:nvPr>
        </p:nvSpPr>
        <p:spPr>
          <a:xfrm>
            <a:off x="2409643" y="2250669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1" name="圆角矩形 230"/>
          <p:cNvSpPr/>
          <p:nvPr>
            <p:custDataLst>
              <p:tags r:id="rId7"/>
            </p:custDataLst>
          </p:nvPr>
        </p:nvSpPr>
        <p:spPr>
          <a:xfrm>
            <a:off x="4575810" y="1116965"/>
            <a:ext cx="2506980" cy="912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配置</a:t>
            </a:r>
            <a:r>
              <a:rPr lang="zh-CN" altLang="en-US" sz="3200"/>
              <a:t>引脚</a:t>
            </a:r>
            <a:endParaRPr lang="zh-CN" altLang="en-US" sz="3200"/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6"/>
          <p:cNvSpPr txBox="1"/>
          <p:nvPr>
            <p:custDataLst>
              <p:tags r:id="rId2"/>
            </p:custDataLst>
          </p:nvPr>
        </p:nvSpPr>
        <p:spPr>
          <a:xfrm>
            <a:off x="632460" y="2577465"/>
            <a:ext cx="1927225" cy="279273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/>
            <a:r>
              <a:rPr altLang="zh-CN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//</a:t>
            </a:r>
            <a:r>
              <a:rPr lang="zh-CN" altLang="en-US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起始</a:t>
            </a:r>
            <a:r>
              <a:rPr lang="zh-CN" altLang="en-US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信号</a:t>
            </a:r>
            <a:endParaRPr lang="zh-CN" altLang="en-US"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algn="l"/>
            <a:r>
              <a:rPr lang="zh-CN" altLang="en-US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void IIC_Start(void)</a:t>
            </a:r>
            <a:endParaRPr lang="zh-CN" altLang="en-US"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algn="l"/>
            <a:r>
              <a:rPr lang="zh-CN" altLang="en-US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{</a:t>
            </a:r>
            <a:endParaRPr lang="zh-CN" altLang="en-US"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algn="l"/>
            <a:r>
              <a:rPr lang="zh-CN" altLang="en-US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SDA_OUT();</a:t>
            </a:r>
            <a:endParaRPr lang="zh-CN" altLang="en-US"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algn="l"/>
            <a:r>
              <a:rPr lang="zh-CN" altLang="en-US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SDA(1);</a:t>
            </a:r>
            <a:endParaRPr lang="zh-CN" altLang="en-US"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algn="l"/>
            <a:r>
              <a:rPr lang="zh-CN" altLang="en-US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SCL(1); </a:t>
            </a:r>
            <a:endParaRPr lang="zh-CN" altLang="en-US"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algn="l"/>
            <a:r>
              <a:rPr lang="zh-CN" altLang="en-US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delay_us(5);</a:t>
            </a:r>
            <a:endParaRPr lang="zh-CN" altLang="en-US"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algn="l"/>
            <a:r>
              <a:rPr lang="zh-CN" altLang="en-US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SDA(0);</a:t>
            </a:r>
            <a:endParaRPr lang="zh-CN" altLang="en-US"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algn="l"/>
            <a:r>
              <a:rPr lang="zh-CN" altLang="en-US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delay_us(5);</a:t>
            </a:r>
            <a:endParaRPr lang="zh-CN" altLang="en-US"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algn="l"/>
            <a:r>
              <a:rPr lang="zh-CN" altLang="en-US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SCL(0);</a:t>
            </a:r>
            <a:endParaRPr lang="zh-CN" altLang="en-US"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algn="l"/>
            <a:r>
              <a:rPr lang="zh-CN" altLang="en-US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delay_us(5);               </a:t>
            </a:r>
            <a:endParaRPr lang="zh-CN" altLang="en-US"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algn="l"/>
            <a:r>
              <a:rPr lang="zh-CN" altLang="en-US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}</a:t>
            </a:r>
            <a:endParaRPr lang="zh-CN" altLang="en-US" sz="1400" b="1" spc="100">
              <a:ln w="3175">
                <a:noFill/>
                <a:prstDash val="dash"/>
              </a:ln>
              <a:solidFill>
                <a:srgbClr val="FF0000"/>
              </a:solidFill>
              <a:effectLst/>
              <a:uFillTx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5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IIC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1" name="圆角矩形 230"/>
          <p:cNvSpPr/>
          <p:nvPr>
            <p:custDataLst>
              <p:tags r:id="rId7"/>
            </p:custDataLst>
          </p:nvPr>
        </p:nvSpPr>
        <p:spPr>
          <a:xfrm>
            <a:off x="4575810" y="1116965"/>
            <a:ext cx="2564130" cy="654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/>
              <a:t>IIC</a:t>
            </a:r>
            <a:r>
              <a:rPr lang="zh-CN" altLang="en-US" sz="3200"/>
              <a:t>配置</a:t>
            </a:r>
            <a:endParaRPr lang="zh-CN" altLang="en-US" sz="32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37180" y="2731770"/>
            <a:ext cx="2176145" cy="2479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1400" b="1">
                <a:solidFill>
                  <a:srgbClr val="FF0000"/>
                </a:solidFill>
                <a:effectLst/>
                <a:ea typeface="黑体" panose="02010609060101010101" charset="-122"/>
                <a:cs typeface="+mn-lt"/>
                <a:sym typeface="+mn-ea"/>
              </a:rPr>
              <a:t>//</a:t>
            </a:r>
            <a:r>
              <a:rPr lang="zh-CN" altLang="en-US" sz="1400" b="1">
                <a:solidFill>
                  <a:srgbClr val="FF0000"/>
                </a:solidFill>
                <a:effectLst/>
                <a:ea typeface="黑体" panose="02010609060101010101" charset="-122"/>
                <a:cs typeface="+mn-lt"/>
                <a:sym typeface="+mn-ea"/>
              </a:rPr>
              <a:t>停止</a:t>
            </a:r>
            <a:r>
              <a:rPr lang="zh-CN" altLang="en-US" sz="1400" b="1">
                <a:solidFill>
                  <a:srgbClr val="FF0000"/>
                </a:solidFill>
                <a:effectLst/>
                <a:ea typeface="黑体" panose="02010609060101010101" charset="-122"/>
                <a:cs typeface="+mn-lt"/>
                <a:sym typeface="+mn-ea"/>
              </a:rPr>
              <a:t>信号</a:t>
            </a:r>
            <a:endParaRPr lang="zh-CN" altLang="en-US" sz="1400" b="1">
              <a:solidFill>
                <a:srgbClr val="FF0000"/>
              </a:solidFill>
              <a:effectLst/>
              <a:ea typeface="黑体" panose="02010609060101010101" charset="-122"/>
              <a:cs typeface="+mn-lt"/>
              <a:sym typeface="+mn-ea"/>
            </a:endParaRPr>
          </a:p>
          <a:p>
            <a:pPr algn="l"/>
            <a:r>
              <a:rPr lang="zh-CN" altLang="en-US" sz="1400" b="1">
                <a:solidFill>
                  <a:srgbClr val="FF0000"/>
                </a:solidFill>
                <a:effectLst/>
                <a:ea typeface="黑体" panose="02010609060101010101" charset="-122"/>
                <a:cs typeface="+mn-lt"/>
                <a:sym typeface="+mn-ea"/>
              </a:rPr>
              <a:t>void IIC_Stop(void)</a:t>
            </a:r>
            <a:endParaRPr lang="zh-CN" altLang="en-US" sz="1400" b="1">
              <a:solidFill>
                <a:srgbClr val="FF0000"/>
              </a:solidFill>
              <a:effectLst/>
              <a:ea typeface="黑体" panose="02010609060101010101" charset="-122"/>
              <a:cs typeface="+mn-lt"/>
              <a:sym typeface="+mn-ea"/>
            </a:endParaRPr>
          </a:p>
          <a:p>
            <a:pPr algn="l"/>
            <a:r>
              <a:rPr lang="zh-CN" altLang="en-US" sz="1400" b="1">
                <a:solidFill>
                  <a:srgbClr val="FF0000"/>
                </a:solidFill>
                <a:effectLst/>
                <a:ea typeface="黑体" panose="02010609060101010101" charset="-122"/>
                <a:cs typeface="+mn-lt"/>
                <a:sym typeface="+mn-ea"/>
              </a:rPr>
              <a:t>{</a:t>
            </a:r>
            <a:endParaRPr lang="zh-CN" altLang="en-US" sz="1400" b="1">
              <a:solidFill>
                <a:srgbClr val="FF0000"/>
              </a:solidFill>
              <a:effectLst/>
              <a:ea typeface="黑体" panose="02010609060101010101" charset="-122"/>
              <a:cs typeface="+mn-lt"/>
              <a:sym typeface="+mn-ea"/>
            </a:endParaRPr>
          </a:p>
          <a:p>
            <a:pPr indent="457200" algn="l"/>
            <a:r>
              <a:rPr lang="zh-CN" altLang="en-US" sz="1400" b="1">
                <a:solidFill>
                  <a:srgbClr val="FF0000"/>
                </a:solidFill>
                <a:effectLst/>
                <a:ea typeface="黑体" panose="02010609060101010101" charset="-122"/>
                <a:cs typeface="+mn-lt"/>
                <a:sym typeface="+mn-ea"/>
              </a:rPr>
              <a:t>SDA_OUT();</a:t>
            </a:r>
            <a:endParaRPr lang="zh-CN" altLang="en-US" sz="1400" b="1">
              <a:solidFill>
                <a:srgbClr val="FF0000"/>
              </a:solidFill>
              <a:effectLst/>
              <a:ea typeface="黑体" panose="02010609060101010101" charset="-122"/>
              <a:cs typeface="+mn-lt"/>
              <a:sym typeface="+mn-ea"/>
            </a:endParaRPr>
          </a:p>
          <a:p>
            <a:pPr indent="457200" algn="l"/>
            <a:r>
              <a:rPr lang="zh-CN" altLang="en-US" sz="1400" b="1">
                <a:solidFill>
                  <a:srgbClr val="FF0000"/>
                </a:solidFill>
                <a:effectLst/>
                <a:ea typeface="黑体" panose="02010609060101010101" charset="-122"/>
                <a:cs typeface="+mn-lt"/>
                <a:sym typeface="+mn-ea"/>
              </a:rPr>
              <a:t>SCL(0);</a:t>
            </a:r>
            <a:endParaRPr lang="zh-CN" altLang="en-US" sz="1400" b="1">
              <a:solidFill>
                <a:srgbClr val="FF0000"/>
              </a:solidFill>
              <a:effectLst/>
              <a:ea typeface="黑体" panose="02010609060101010101" charset="-122"/>
              <a:cs typeface="+mn-lt"/>
              <a:sym typeface="+mn-ea"/>
            </a:endParaRPr>
          </a:p>
          <a:p>
            <a:pPr indent="457200" algn="l"/>
            <a:r>
              <a:rPr lang="zh-CN" altLang="en-US" sz="1400" b="1">
                <a:solidFill>
                  <a:srgbClr val="FF0000"/>
                </a:solidFill>
                <a:effectLst/>
                <a:ea typeface="黑体" panose="02010609060101010101" charset="-122"/>
                <a:cs typeface="+mn-lt"/>
                <a:sym typeface="+mn-ea"/>
              </a:rPr>
              <a:t>SDA(0);</a:t>
            </a:r>
            <a:endParaRPr lang="zh-CN" altLang="en-US" sz="1400" b="1">
              <a:solidFill>
                <a:srgbClr val="FF0000"/>
              </a:solidFill>
              <a:effectLst/>
              <a:ea typeface="黑体" panose="02010609060101010101" charset="-122"/>
              <a:cs typeface="+mn-lt"/>
              <a:sym typeface="+mn-ea"/>
            </a:endParaRPr>
          </a:p>
          <a:p>
            <a:pPr indent="457200" algn="l"/>
            <a:r>
              <a:rPr lang="zh-CN" altLang="en-US" sz="1400" b="1">
                <a:solidFill>
                  <a:srgbClr val="FF0000"/>
                </a:solidFill>
                <a:effectLst/>
                <a:ea typeface="黑体" panose="02010609060101010101" charset="-122"/>
                <a:cs typeface="+mn-lt"/>
                <a:sym typeface="+mn-ea"/>
              </a:rPr>
              <a:t>SCL(1);</a:t>
            </a:r>
            <a:endParaRPr lang="zh-CN" altLang="en-US" sz="1400" b="1">
              <a:solidFill>
                <a:srgbClr val="FF0000"/>
              </a:solidFill>
              <a:effectLst/>
              <a:ea typeface="黑体" panose="02010609060101010101" charset="-122"/>
              <a:cs typeface="+mn-lt"/>
              <a:sym typeface="+mn-ea"/>
            </a:endParaRPr>
          </a:p>
          <a:p>
            <a:pPr indent="457200" algn="l"/>
            <a:r>
              <a:rPr lang="zh-CN" altLang="en-US" sz="1400" b="1">
                <a:solidFill>
                  <a:srgbClr val="FF0000"/>
                </a:solidFill>
                <a:effectLst/>
                <a:ea typeface="黑体" panose="02010609060101010101" charset="-122"/>
                <a:cs typeface="+mn-lt"/>
                <a:sym typeface="+mn-ea"/>
              </a:rPr>
              <a:t>delay_us(5);</a:t>
            </a:r>
            <a:endParaRPr lang="zh-CN" altLang="en-US" sz="1400" b="1">
              <a:solidFill>
                <a:srgbClr val="FF0000"/>
              </a:solidFill>
              <a:effectLst/>
              <a:ea typeface="黑体" panose="02010609060101010101" charset="-122"/>
              <a:cs typeface="+mn-lt"/>
              <a:sym typeface="+mn-ea"/>
            </a:endParaRPr>
          </a:p>
          <a:p>
            <a:pPr indent="457200" algn="l"/>
            <a:r>
              <a:rPr lang="zh-CN" altLang="en-US" sz="1400" b="1">
                <a:solidFill>
                  <a:srgbClr val="FF0000"/>
                </a:solidFill>
                <a:effectLst/>
                <a:ea typeface="黑体" panose="02010609060101010101" charset="-122"/>
                <a:cs typeface="+mn-lt"/>
                <a:sym typeface="+mn-ea"/>
              </a:rPr>
              <a:t>SDA(1);</a:t>
            </a:r>
            <a:endParaRPr lang="zh-CN" altLang="en-US" sz="1400" b="1">
              <a:solidFill>
                <a:srgbClr val="FF0000"/>
              </a:solidFill>
              <a:effectLst/>
              <a:ea typeface="黑体" panose="02010609060101010101" charset="-122"/>
              <a:cs typeface="+mn-lt"/>
              <a:sym typeface="+mn-ea"/>
            </a:endParaRPr>
          </a:p>
          <a:p>
            <a:pPr indent="457200" algn="l"/>
            <a:r>
              <a:rPr lang="zh-CN" altLang="en-US" sz="1400" b="1">
                <a:solidFill>
                  <a:srgbClr val="FF0000"/>
                </a:solidFill>
                <a:effectLst/>
                <a:ea typeface="黑体" panose="02010609060101010101" charset="-122"/>
                <a:cs typeface="+mn-lt"/>
                <a:sym typeface="+mn-ea"/>
              </a:rPr>
              <a:t>delay_us(5);</a:t>
            </a:r>
            <a:endParaRPr lang="zh-CN" altLang="en-US" sz="1400" b="1">
              <a:solidFill>
                <a:srgbClr val="FF0000"/>
              </a:solidFill>
              <a:effectLst/>
              <a:ea typeface="黑体" panose="02010609060101010101" charset="-122"/>
              <a:cs typeface="+mn-lt"/>
              <a:sym typeface="+mn-ea"/>
            </a:endParaRPr>
          </a:p>
          <a:p>
            <a:pPr algn="l"/>
            <a:r>
              <a:rPr lang="zh-CN" altLang="en-US" sz="1400" b="1">
                <a:solidFill>
                  <a:srgbClr val="FF0000"/>
                </a:solidFill>
                <a:effectLst/>
                <a:ea typeface="黑体" panose="02010609060101010101" charset="-122"/>
                <a:cs typeface="+mn-lt"/>
                <a:sym typeface="+mn-ea"/>
              </a:rPr>
              <a:t>}</a:t>
            </a:r>
            <a:endParaRPr lang="zh-CN" altLang="en-US" sz="1400" b="1">
              <a:solidFill>
                <a:srgbClr val="FF0000"/>
              </a:solidFill>
              <a:effectLst/>
              <a:ea typeface="黑体" panose="02010609060101010101" charset="-122"/>
              <a:cs typeface="+mn-lt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90820" y="2722245"/>
            <a:ext cx="251206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//</a:t>
            </a:r>
            <a:r>
              <a:rPr lang="zh-CN" altLang="en-US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发送</a:t>
            </a:r>
            <a:r>
              <a:rPr lang="zh-CN" altLang="en-US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非应答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void IIC_Send_Nack(</a:t>
            </a:r>
            <a:r>
              <a:rPr lang="en-US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void</a:t>
            </a:r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)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{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SDA_OUT();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SCL(0);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   </a:t>
            </a:r>
            <a:r>
              <a:rPr lang="en-US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     </a:t>
            </a:r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SDA(0);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SDA(1);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SCL(1);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delay_us(5);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SCL(0);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SDA(0);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}</a:t>
            </a:r>
            <a:endParaRPr lang="zh-CN" altLang="en-US"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90560" y="2750185"/>
            <a:ext cx="285686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//</a:t>
            </a:r>
            <a:r>
              <a:rPr lang="zh-CN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发送应答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void IIC_Send_Ack(</a:t>
            </a:r>
            <a:r>
              <a:rPr lang="en-US"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void</a:t>
            </a:r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)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{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SDA_OUT();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SCL(0);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SDA(1);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SDA(0);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SCL(1);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delay_us(5);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SCL(0);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SDA(1);</a:t>
            </a:r>
            <a:endParaRPr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4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}</a:t>
            </a:r>
            <a:endParaRPr lang="zh-CN" altLang="en-US" sz="14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4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IIC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1" name="圆角矩形 230"/>
          <p:cNvSpPr/>
          <p:nvPr>
            <p:custDataLst>
              <p:tags r:id="rId6"/>
            </p:custDataLst>
          </p:nvPr>
        </p:nvSpPr>
        <p:spPr>
          <a:xfrm>
            <a:off x="4575810" y="1116965"/>
            <a:ext cx="2564130" cy="654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/>
              <a:t>IIC</a:t>
            </a:r>
            <a:r>
              <a:rPr lang="zh-CN" altLang="en-US" sz="3200"/>
              <a:t>配置</a:t>
            </a:r>
            <a:endParaRPr lang="zh-CN" altLang="en-US" sz="32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6835" y="1920240"/>
            <a:ext cx="4225925" cy="4687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r>
              <a:rPr lang="en-US" altLang="zh-CN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//</a:t>
            </a: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等待从机应答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unsigned char I2C_WaitAck(void)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{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char ack = 0;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unsigned char ack_flag = 10;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SCL(0);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SDA(1);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SDA_IN();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delay_us(5);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SCL(1);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    </a:t>
            </a:r>
            <a:r>
              <a:rPr lang="en-US" altLang="zh-CN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</a:t>
            </a: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delay_us(5);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while( (SDA_GET()==1) </a:t>
            </a:r>
            <a:r>
              <a:rPr lang="en-US" altLang="zh-CN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&amp;&amp; </a:t>
            </a:r>
            <a:r>
              <a:rPr lang="en-US" altLang="zh-CN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( ack_flag</a:t>
            </a:r>
            <a:r>
              <a:rPr lang="en-US" altLang="zh-CN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--</a:t>
            </a: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 ) )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{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	delay_us(5);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}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</a:t>
            </a: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if( ack_flag &lt;= 0 )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{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	IIC_Stop();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	return 1;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}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else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{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	SCL(0);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	SDA_OUT();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}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	return ack;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}</a:t>
            </a:r>
            <a:endParaRPr lang="zh-CN" altLang="en-US" sz="120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995795" y="3237865"/>
            <a:ext cx="4064000" cy="914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408805" y="1901190"/>
            <a:ext cx="3068320" cy="48215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//</a:t>
            </a:r>
            <a:r>
              <a:rPr lang="zh-CN"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发送</a:t>
            </a:r>
            <a:r>
              <a:rPr lang="zh-CN"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一个字节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void </a:t>
            </a:r>
            <a:r>
              <a:rPr lang="en-US"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IIC</a:t>
            </a:r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_Send_Byte(uint8_t dat)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{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int i = 0;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SDA_OUT();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SCL(0);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	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for( i = 0; i &lt; 8; i++ )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{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SDA( (dat &amp; 0x80) </a:t>
            </a:r>
            <a:r>
              <a:rPr lang="en-US"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&gt;&gt; 7 </a:t>
            </a:r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);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lang="en-US"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delay_us(1);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SCL(1);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delay_us(5);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SCL(0);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delay_us(5);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dat&lt;&lt;=1;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}	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}</a:t>
            </a:r>
            <a:endParaRPr lang="zh-CN" altLang="en-US"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048000" y="1543685"/>
            <a:ext cx="3671570" cy="2844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583170" y="1901190"/>
            <a:ext cx="300037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//</a:t>
            </a:r>
            <a:r>
              <a:rPr lang="zh-CN"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接收</a:t>
            </a:r>
            <a:r>
              <a:rPr lang="zh-CN"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一个字节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unsigned char </a:t>
            </a:r>
            <a:r>
              <a:rPr lang="en-US"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IIC_</a:t>
            </a:r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Read_Byte(void)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{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unsigned char i,receive=0;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SDA_IN();//SDA设置为输入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for(i=0;i&lt;8;i++ )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{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SCL(0);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delay_us(5);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SCL(1);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delay_us(5);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receive&lt;&lt;=1;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 </a:t>
            </a:r>
            <a:r>
              <a:rPr lang="en-US"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	</a:t>
            </a:r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if( SDA_GET() )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{	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914400" lvl="2"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receive</a:t>
            </a:r>
            <a:r>
              <a:rPr lang="en-US"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 </a:t>
            </a:r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|=</a:t>
            </a:r>
            <a:r>
              <a:rPr lang="en-US"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 </a:t>
            </a:r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1;   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marL="457200" lvl="1"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} 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}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SCL(0); 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indent="457200"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return receive;</a:t>
            </a:r>
            <a:endParaRPr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  <a:p>
            <a:pPr algn="l"/>
            <a:r>
              <a:rPr sz="12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  <a:sym typeface="+mn-ea"/>
              </a:rPr>
              <a:t>}</a:t>
            </a:r>
            <a:endParaRPr lang="zh-CN" altLang="en-US" sz="1200" b="1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charset="-122"/>
              <a:cs typeface="+mn-ea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A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063355" y="1007745"/>
            <a:ext cx="2118360" cy="2064385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3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6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温湿度传感器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案例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24230" y="1094740"/>
            <a:ext cx="7843520" cy="1569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20000"/>
              </a:lnSpc>
            </a:pPr>
            <a:r>
              <a:rPr sz="1800">
                <a:sym typeface="+mn-ea"/>
              </a:rPr>
              <a:t>SHT20是一种数字式温湿度传感器，它采用电容式测量技术，具有高准确度和稳定性，并采用标准的I2C数字接口进行通信。SHT20的测量范围涵盖了温度-40到+125°C和相对湿度0到100%RH。它广泛应用于空气质量监测、气象监测、恒温恒湿控制、食品贮藏等领域。</a:t>
            </a:r>
            <a:endParaRPr sz="18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84530" y="3512820"/>
            <a:ext cx="4044950" cy="27095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800600" y="3512820"/>
            <a:ext cx="6934200" cy="2740025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2718435" y="253175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2940685" y="3772535"/>
            <a:ext cx="530923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 flipV="1">
            <a:off x="2940685" y="3763010"/>
            <a:ext cx="584771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215765" y="2788285"/>
            <a:ext cx="515112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硬件</a:t>
            </a:r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I2C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操作流程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40685" y="39528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以</a:t>
            </a:r>
            <a:r>
              <a:rPr lang="en-US"/>
              <a:t>SHT20</a:t>
            </a:r>
            <a:r>
              <a:rPr lang="zh-CN" altLang="en-US"/>
              <a:t>温湿度传感器作为</a:t>
            </a:r>
            <a:r>
              <a:rPr lang="zh-CN" altLang="en-US"/>
              <a:t>案例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4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GD32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I2C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接口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24230" y="1237615"/>
            <a:ext cx="10320020" cy="15049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20000"/>
              </a:lnSpc>
            </a:pPr>
            <a:r>
              <a:rPr lang="zh-CN" altLang="en-US" sz="180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GD32提供有硬件方式的I2C</a:t>
            </a:r>
            <a:r>
              <a:rPr lang="zh-CN" altLang="en-US" sz="1800">
                <a:solidFill>
                  <a:schemeClr val="dk1"/>
                </a:solidFill>
                <a:sym typeface="+mn-ea"/>
              </a:rPr>
              <a:t>接口，可</a:t>
            </a:r>
            <a:r>
              <a:rPr lang="zh-CN" altLang="en-US" sz="180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用于 MCU 和外部I2C 设</a:t>
            </a:r>
            <a:r>
              <a:rPr lang="zh-CN" altLang="en-US" sz="1800">
                <a:solidFill>
                  <a:schemeClr val="dk1"/>
                </a:solidFill>
                <a:sym typeface="+mn-ea"/>
              </a:rPr>
              <a:t>备的通讯。</a:t>
            </a:r>
            <a:endParaRPr lang="zh-CN" altLang="en-US" sz="1800">
              <a:solidFill>
                <a:schemeClr val="dk1"/>
              </a:solidFill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zh-CN" altLang="en-US" sz="1800">
                <a:solidFill>
                  <a:schemeClr val="dk1"/>
                </a:solidFill>
                <a:sym typeface="+mn-ea"/>
              </a:rPr>
              <a:t>实现了</a:t>
            </a:r>
            <a:r>
              <a:rPr lang="zh-CN" altLang="en-US" sz="1800">
                <a:solidFill>
                  <a:schemeClr val="dk1"/>
                </a:solidFill>
                <a:latin typeface="+mn-ea"/>
                <a:sym typeface="+mn-ea"/>
              </a:rPr>
              <a:t> I2C </a:t>
            </a:r>
            <a:r>
              <a:rPr lang="zh-CN" altLang="en-US" sz="1800">
                <a:solidFill>
                  <a:schemeClr val="dk1"/>
                </a:solidFill>
                <a:sym typeface="+mn-ea"/>
              </a:rPr>
              <a:t>协议的标准模式和快速模式，</a:t>
            </a:r>
            <a:r>
              <a:rPr lang="zh-CN" altLang="en-US" sz="180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I2C 接口模块也支持 DMA 模式，可有效减轻 CPU 的负担</a:t>
            </a:r>
            <a:r>
              <a:rPr lang="zh-CN" altLang="en-US" sz="1800">
                <a:solidFill>
                  <a:schemeClr val="dk1"/>
                </a:solidFill>
                <a:sym typeface="+mn-ea"/>
              </a:rPr>
              <a:t>。</a:t>
            </a:r>
            <a:endParaRPr lang="zh-CN" altLang="en-US" sz="1800">
              <a:solidFill>
                <a:schemeClr val="dk1"/>
              </a:solidFill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571750" y="2178685"/>
            <a:ext cx="6673215" cy="426021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GD32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I2C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发送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447540" y="762000"/>
            <a:ext cx="5372100" cy="57423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61620" y="2352040"/>
            <a:ext cx="4283075" cy="256222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GD32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I2C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接收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219575" y="650240"/>
            <a:ext cx="4723130" cy="58928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硬件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IIC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6" name="圆角矩形 225"/>
          <p:cNvSpPr/>
          <p:nvPr>
            <p:custDataLst>
              <p:tags r:id="rId2"/>
            </p:custDataLst>
          </p:nvPr>
        </p:nvSpPr>
        <p:spPr>
          <a:xfrm>
            <a:off x="1917065" y="937196"/>
            <a:ext cx="7906385" cy="5566328"/>
          </a:xfrm>
          <a:prstGeom prst="roundRect">
            <a:avLst>
              <a:gd name="adj" fmla="val 346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7" name="圆角矩形 226"/>
          <p:cNvSpPr/>
          <p:nvPr>
            <p:custDataLst>
              <p:tags r:id="rId3"/>
            </p:custDataLst>
          </p:nvPr>
        </p:nvSpPr>
        <p:spPr>
          <a:xfrm>
            <a:off x="2409643" y="904875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8" name="直接连接符 227"/>
          <p:cNvCxnSpPr/>
          <p:nvPr>
            <p:custDataLst>
              <p:tags r:id="rId4"/>
            </p:custDataLst>
          </p:nvPr>
        </p:nvCxnSpPr>
        <p:spPr>
          <a:xfrm>
            <a:off x="1917065" y="2299865"/>
            <a:ext cx="790638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文本框 228"/>
          <p:cNvSpPr txBox="1"/>
          <p:nvPr>
            <p:custDataLst>
              <p:tags r:id="rId5"/>
            </p:custDataLst>
          </p:nvPr>
        </p:nvSpPr>
        <p:spPr>
          <a:xfrm>
            <a:off x="1981835" y="2471420"/>
            <a:ext cx="7842250" cy="3959225"/>
          </a:xfrm>
          <a:prstGeom prst="rect">
            <a:avLst/>
          </a:prstGeom>
          <a:noFill/>
        </p:spPr>
        <p:txBody>
          <a:bodyPr wrap="square" rtlCol="0" anchor="t" anchorCtr="0"/>
          <a:p>
            <a:pPr>
              <a:lnSpc>
                <a:spcPct val="130000"/>
              </a:lnSpc>
            </a:pP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/* 使能引脚时钟 */</a:t>
            </a:r>
            <a:endParaRPr sz="10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rcu_periph_clock_enable(RCU_SCL);</a:t>
            </a:r>
            <a:endParaRPr sz="10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rcu_periph_clock_enable(RCU_SDA);</a:t>
            </a:r>
            <a:endParaRPr sz="10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endParaRPr sz="10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/* 配置SCL引脚复用IIC功能 */</a:t>
            </a:r>
            <a:endParaRPr sz="10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gpio_af_set(PORT_SCL, </a:t>
            </a:r>
            <a:r>
              <a:rPr sz="1000" spc="15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GPIO_AF_4</a:t>
            </a: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, GPIO_SCL);</a:t>
            </a:r>
            <a:endParaRPr sz="10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/* 配置SDA引脚复用IIC功能 */</a:t>
            </a:r>
            <a:endParaRPr sz="10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gpio_af_set(PORT_SDA, </a:t>
            </a:r>
            <a:r>
              <a:rPr sz="1000" spc="15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GPIO_AF_4</a:t>
            </a: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, GPIO_SDA);</a:t>
            </a:r>
            <a:endParaRPr sz="10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</a:t>
            </a:r>
            <a:endParaRPr sz="10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/* 配置SCL引脚 */</a:t>
            </a:r>
            <a:endParaRPr sz="10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gpio_mode_set(PORT_SCL, </a:t>
            </a:r>
            <a:r>
              <a:rPr sz="1000" spc="15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GPIO_MODE_AF</a:t>
            </a: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, GPIO_PUPD_PULLUP, GPIO_SCL);</a:t>
            </a:r>
            <a:endParaRPr sz="10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gpio_output_options_set(PORT_SCL, </a:t>
            </a:r>
            <a:r>
              <a:rPr sz="1000" spc="15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GPIO_OTYPE_OD</a:t>
            </a: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, GPIO_OSPEED_50MHZ, GPIO_SCL);</a:t>
            </a:r>
            <a:endParaRPr sz="10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</a:t>
            </a:r>
            <a:endParaRPr sz="10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</a:t>
            </a: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/* 配置SDA引脚 */</a:t>
            </a:r>
            <a:endParaRPr sz="10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gpio_mode_set(PORT_SDA, </a:t>
            </a:r>
            <a:r>
              <a:rPr sz="1000" spc="15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GPIO_MODE_AF</a:t>
            </a: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, GPIO_PUPD_PULLUP, GPIO_SDA);</a:t>
            </a:r>
            <a:endParaRPr sz="10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gpio_output_options_set(PORT_SDA, </a:t>
            </a:r>
            <a:r>
              <a:rPr sz="1000" spc="15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GPIO_OTYPE_OD</a:t>
            </a:r>
            <a:r>
              <a:rPr sz="10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, GPIO_OSPEED_50MHZ, GPIO_SDA);</a:t>
            </a:r>
            <a:endParaRPr sz="10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endParaRPr lang="en-US" sz="10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0" name="圆角矩形 229"/>
          <p:cNvSpPr/>
          <p:nvPr>
            <p:custDataLst>
              <p:tags r:id="rId6"/>
            </p:custDataLst>
          </p:nvPr>
        </p:nvSpPr>
        <p:spPr>
          <a:xfrm>
            <a:off x="2409643" y="2250669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1" name="圆角矩形 230"/>
          <p:cNvSpPr/>
          <p:nvPr>
            <p:custDataLst>
              <p:tags r:id="rId7"/>
            </p:custDataLst>
          </p:nvPr>
        </p:nvSpPr>
        <p:spPr>
          <a:xfrm>
            <a:off x="4575810" y="1116965"/>
            <a:ext cx="2506980" cy="912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分配</a:t>
            </a:r>
            <a:r>
              <a:rPr lang="zh-CN" altLang="en-US" sz="3200"/>
              <a:t>引脚</a:t>
            </a:r>
            <a:endParaRPr lang="zh-CN" altLang="en-US" sz="3200"/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硬件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IIC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6" name="圆角矩形 225"/>
          <p:cNvSpPr/>
          <p:nvPr>
            <p:custDataLst>
              <p:tags r:id="rId2"/>
            </p:custDataLst>
          </p:nvPr>
        </p:nvSpPr>
        <p:spPr>
          <a:xfrm>
            <a:off x="1917065" y="937196"/>
            <a:ext cx="7906385" cy="5566328"/>
          </a:xfrm>
          <a:prstGeom prst="roundRect">
            <a:avLst>
              <a:gd name="adj" fmla="val 346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7" name="圆角矩形 226"/>
          <p:cNvSpPr/>
          <p:nvPr>
            <p:custDataLst>
              <p:tags r:id="rId3"/>
            </p:custDataLst>
          </p:nvPr>
        </p:nvSpPr>
        <p:spPr>
          <a:xfrm>
            <a:off x="2409643" y="904875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8" name="直接连接符 227"/>
          <p:cNvCxnSpPr/>
          <p:nvPr>
            <p:custDataLst>
              <p:tags r:id="rId4"/>
            </p:custDataLst>
          </p:nvPr>
        </p:nvCxnSpPr>
        <p:spPr>
          <a:xfrm>
            <a:off x="1917065" y="2299865"/>
            <a:ext cx="790638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文本框 228"/>
          <p:cNvSpPr txBox="1"/>
          <p:nvPr>
            <p:custDataLst>
              <p:tags r:id="rId5"/>
            </p:custDataLst>
          </p:nvPr>
        </p:nvSpPr>
        <p:spPr>
          <a:xfrm>
            <a:off x="1981835" y="2308860"/>
            <a:ext cx="7842250" cy="4121785"/>
          </a:xfrm>
          <a:prstGeom prst="rect">
            <a:avLst/>
          </a:prstGeom>
          <a:noFill/>
        </p:spPr>
        <p:txBody>
          <a:bodyPr wrap="square" rtlCol="0" anchor="t" anchorCtr="0"/>
          <a:p>
            <a:pPr>
              <a:lnSpc>
                <a:spcPct val="13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/* 使能IIC时钟 */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rcu_periph_clock_enable(RCU_I2C</a:t>
            </a: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0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);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/* IIC</a:t>
            </a:r>
            <a:r>
              <a:rPr lang="zh-CN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复位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*/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i2c_deinit(I2C</a:t>
            </a: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0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);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/* 配置IIC</a:t>
            </a:r>
            <a:r>
              <a:rPr lang="zh-CN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速率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*/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i2c_clock_config(I2C</a:t>
            </a: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0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, </a:t>
            </a: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400000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, I2C_DTCY_2);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/* 配置I2C地址 */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i2c_mode_addr_config(I2C</a:t>
            </a: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0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, I2C_I2CMODE_ENABLE, I2C_ADDFORMAT_7BITS, </a:t>
            </a: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0X80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);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/* 使能I2C */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i2c_enable(I2C</a:t>
            </a: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0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);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/* 使能应答功能 */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i2c_ack_config(I2C</a:t>
            </a: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0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, I2C_ACK_ENABLE);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0" name="圆角矩形 229"/>
          <p:cNvSpPr/>
          <p:nvPr>
            <p:custDataLst>
              <p:tags r:id="rId6"/>
            </p:custDataLst>
          </p:nvPr>
        </p:nvSpPr>
        <p:spPr>
          <a:xfrm>
            <a:off x="2409643" y="2250669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1" name="圆角矩形 230"/>
          <p:cNvSpPr/>
          <p:nvPr>
            <p:custDataLst>
              <p:tags r:id="rId7"/>
            </p:custDataLst>
          </p:nvPr>
        </p:nvSpPr>
        <p:spPr>
          <a:xfrm>
            <a:off x="4575810" y="1116965"/>
            <a:ext cx="2506980" cy="912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软件初始化</a:t>
            </a:r>
            <a:endParaRPr lang="zh-CN" altLang="en-US" sz="3200"/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7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27.xml><?xml version="1.0" encoding="utf-8"?>
<p:tagLst xmlns:p="http://schemas.openxmlformats.org/presentationml/2006/main">
  <p:tag name="KSO_WM_BEAUTIFY_FLAG" val=""/>
  <p:tag name="KSO_WM_UNIT_PLACING_PICTURE_USER_VIEWPORT" val="{&quot;height&quot;:783,&quot;width&quot;:3012}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0.xml><?xml version="1.0" encoding="utf-8"?>
<p:tagLst xmlns:p="http://schemas.openxmlformats.org/presentationml/2006/main">
  <p:tag name="KSO_WM_UNIT_TABLE_BEAUTIFY" val="smartTable{c4ee1fdc-f112-44c7-b135-118861a44760}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4.xml><?xml version="1.0" encoding="utf-8"?>
<p:tagLst xmlns:p="http://schemas.openxmlformats.org/presentationml/2006/main">
  <p:tag name="KSO_WM_BEAUTIFY_FLAG" val=""/>
  <p:tag name="KSO_WM_UNIT_PLACING_PICTURE_USER_VIEWPORT" val="{&quot;height&quot;:783,&quot;width&quot;:3012}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0.xml><?xml version="1.0" encoding="utf-8"?>
<p:tagLst xmlns:p="http://schemas.openxmlformats.org/presentationml/2006/main">
  <p:tag name="KSO_WM_BEAUTIFY_FLAG" val=""/>
  <p:tag name="KSO_WM_UNIT_PLACING_PICTURE_USER_VIEWPORT" val="{&quot;height&quot;:783,&quot;width&quot;:3012}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6.xml><?xml version="1.0" encoding="utf-8"?>
<p:tagLst xmlns:p="http://schemas.openxmlformats.org/presentationml/2006/main">
  <p:tag name="KSO_WM_BEAUTIFY_FLAG" val=""/>
  <p:tag name="KSO_WM_UNIT_PLACING_PICTURE_USER_VIEWPORT" val="{&quot;height&quot;:783,&quot;width&quot;:3012}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2.xml><?xml version="1.0" encoding="utf-8"?>
<p:tagLst xmlns:p="http://schemas.openxmlformats.org/presentationml/2006/main">
  <p:tag name="KSO_WM_BEAUTIFY_FLAG" val=""/>
  <p:tag name="KSO_WM_UNIT_PLACING_PICTURE_USER_VIEWPORT" val="{&quot;height&quot;:783,&quot;width&quot;:3012}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8.xml><?xml version="1.0" encoding="utf-8"?>
<p:tagLst xmlns:p="http://schemas.openxmlformats.org/presentationml/2006/main">
  <p:tag name="KSO_WM_BEAUTIFY_FLAG" val=""/>
  <p:tag name="KSO_WM_UNIT_PLACING_PICTURE_USER_VIEWPORT" val="{&quot;height&quot;:783,&quot;width&quot;:3012}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  <p:tag name="KSO_WM_UNIT_PLACING_PICTURE_USER_VIEWPORT" val="{&quot;height&quot;:4116,&quot;width&quot;:11643}"/>
</p:tagLst>
</file>

<file path=ppt/tags/tag173.xml><?xml version="1.0" encoding="utf-8"?>
<p:tagLst xmlns:p="http://schemas.openxmlformats.org/presentationml/2006/main">
  <p:tag name="KSO_WM_UNIT_TABLE_BEAUTIFY" val="smartTable{fb054b27-ca6e-4c79-bfad-b75f8b5d344a}"/>
  <p:tag name="TABLE_ENDDRAG_ORIGIN_RECT" val="622*120"/>
  <p:tag name="TABLE_ENDDRAG_RECT" val="21*398*622*120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6.xml><?xml version="1.0" encoding="utf-8"?>
<p:tagLst xmlns:p="http://schemas.openxmlformats.org/presentationml/2006/main">
  <p:tag name="KSO_WM_BEAUTIFY_FLAG" val=""/>
  <p:tag name="KSO_WM_UNIT_PLACING_PICTURE_USER_VIEWPORT" val="{&quot;height&quot;:783,&quot;width&quot;:3012}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UNIT_TABLE_BEAUTIFY" val="smartTable{fb054b27-ca6e-4c79-bfad-b75f8b5d344a}"/>
  <p:tag name="TABLE_ENDDRAG_ORIGIN_RECT" val="622*120"/>
  <p:tag name="TABLE_ENDDRAG_RECT" val="21*398*622*120"/>
  <p:tag name="KSO_WM_BEAUTIFY_FLAG" val=""/>
</p:tagLst>
</file>

<file path=ppt/tags/tag1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3.xml><?xml version="1.0" encoding="utf-8"?>
<p:tagLst xmlns:p="http://schemas.openxmlformats.org/presentationml/2006/main">
  <p:tag name="KSO_WM_BEAUTIFY_FLAG" val=""/>
  <p:tag name="KSO_WM_UNIT_PLACING_PICTURE_USER_VIEWPORT" val="{&quot;height&quot;:783,&quot;width&quot;:3012}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5955_1*l_i*1_1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05955_1*l_h_i*1_1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05955_1*l_i*1_2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USESOURCEFORMAT_APPLY" val="0"/>
</p:tagLst>
</file>

<file path=ppt/tags/tag201.xml><?xml version="1.0" encoding="utf-8"?>
<p:tagLst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&#13;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5955_1*l_h_f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05955_1*l_h_i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5955_1*l_i*1_1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05955_1*l_h_i*1_1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05955_1*l_i*1_2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USESOURCEFORMAT_APPLY" val="0"/>
</p:tagLst>
</file>

<file path=ppt/tags/tag209.xml><?xml version="1.0" encoding="utf-8"?>
<p:tagLst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&#13;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5955_1*l_h_f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05955_1*l_h_i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215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，但信息却千丝万缕、错综复杂，需要用更多的文字来表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3512_1*f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20"/>
  <p:tag name="KSO_WM_UNIT_SHOW_EDIT_AREA_INDICATION" val="1"/>
  <p:tag name="KSO_WM_CHIP_GROUPID" val="5e6b05596848fb12bee65ac8"/>
  <p:tag name="KSO_WM_CHIP_XID" val="5e6b05596848fb12bee65aca"/>
  <p:tag name="KSO_WM_UNIT_DEC_AREA_ID" val="357087c36d4d4a2cb6aca99e5e95d9d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2b7c1c87bf9a403da2e389b5a10d3715"/>
  <p:tag name="KSO_WM_UNIT_SUPPORT_UNIT_TYPE" val="[&quot;d&quot;,&quot;α&quot;,&quot;β&quot;]"/>
  <p:tag name="KSO_WM_UNIT_TEXT_FILL_FORE_SCHEMECOLOR_INDEX_BRIGHTNESS" val="0.25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2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23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4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2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25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5955_1*l_i*1_1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05955_1*l_h_i*1_1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05955_1*l_i*1_2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USESOURCEFORMAT_APPLY" val="0"/>
</p:tagLst>
</file>

<file path=ppt/tags/tag267.xml><?xml version="1.0" encoding="utf-8"?>
<p:tagLst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&#13;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5955_1*l_h_f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05955_1*l_h_i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5955_1*l_i*1_1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05955_1*l_h_i*1_1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05955_1*l_i*1_2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USESOURCEFORMAT_APPLY" val="0"/>
</p:tagLst>
</file>

<file path=ppt/tags/tag275.xml><?xml version="1.0" encoding="utf-8"?>
<p:tagLst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&#13;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5955_1*l_h_f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05955_1*l_h_i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82.xml><?xml version="1.0" encoding="utf-8"?>
<p:tagLst xmlns:p="http://schemas.openxmlformats.org/presentationml/2006/main">
  <p:tag name="KSO_WPP_MARK_KEY" val="20655751-83b5-4141-9554-5e7661096423"/>
  <p:tag name="COMMONDATA" val="eyJjb3VudCI6NzEsImhkaWQiOiIyZDU1MDlmYTQyZTMzNzIzZGVjZTA0NmEwODYzZjZkMCIsInVzZXJDb3VudCI6M30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noAutofit/>
      </a:bodyPr>
      <a:lstStyle>
        <a:defPPr indent="457200" algn="l" fontAlgn="t">
          <a:lnSpc>
            <a:spcPct val="90000"/>
          </a:lnSpc>
          <a:defRPr lang="zh-CN" altLang="en-US" sz="1400">
            <a:latin typeface="Arial" panose="020B0604020202020204" pitchFamily="34" charset="0"/>
            <a:cs typeface="Arial" panose="020B0604020202020204" pitchFamily="34" charset="0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M4NjA2NzQ5NTMxIiwKCSJHcm91cElkIiA6ICI1MTE0NDg5MzIiLAoJIkltYWdlIiA6ICJpVkJPUncwS0dnb0FBQUFOU1VoRVVnQUFCdTBBQUFDUkNBWUFBQURIR1BWMkFBQUFDWEJJV1hNQUFBc1RBQUFMRXdFQW1wd1lBQUFnQUVsRVFWUjRuT3pkZVhoVTVka0c4UHZNWkUrQWhDMHNBUktRVlFTQ2JFSFpSR1d4RmRDaXRiWnVRS210V2orcjFWb3FXTFV1MWFyVnFtaUJ1bFdyTFlLSUNxSWdzbStCc084a2dZUVFJQ0Zra3BCbHp2Zkhrek5uWmpJem1jbDJ6bVR1MzNYbG1uM21UU0JQbm5kN1hvQ0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LQmdvUmpmQURGUWdIRUEvQUQwQXRBVVFCZjVzeURncWdFc0F6Z0k0RG1DUEFwUWIyeVF5R3VNVW1RempGTlV3Zi83ODhMQ3dzSDUydTcySDFXcHRDeUJLVVJUR0tUS0VxcW9xZ0V1cXFwNnRyS3c4bnBDUXNPZVdXMjVobkFweHpLZklaSmhQVVEzTXA4aE1tRStSSjh5bnlHU2FaVDRWc3I5UUt0QUt3RFFBdHdPNENrQzBzUzBpOHFvTXdHWUFId0pZckFEbkRHNFBOUkhHS1FvaWpGTWhhdjc4K2EzQ3dzS21LWXJDT0VWbVZ3WmdzNklvSDlwc3RzWDMzWGNmNDFTSVlENUZRWVQ1VkloaVBrVkJoUGxVaUdJK1JVR2tXZVJUSVRkcHB3SnRBUHdCd0svQkFFUEI1eEtBQlFDZVVvRFRSamVHR2dmakZBVTV4cWtROE82Nzc3YXByS3o4ZzZJb2pGTVVqQzZwcXJyQVlyRThkZmZkZHpOT05WUE1weWpJTVo4S0FjeW5LTWd4bndvQnpLY295QVZ0UGhVeWszYXFmSysvQlBBOFpIV0FUbEdBN3QyQnZuMkJoQVNnWlVzZ0xNeUlaaElCVlZWQVVSRlFVQUFjUEFnY1BneW9xdnV6aWdFOEFlQlZCYkEzZlNPcE1UQk9VZEJnbkFwWnFxb3FpeFl0OGh5bkFMUm8wUUt0V3JWQ1pHUWtJaUlpd0dwT1pCUlZWVkZlWG83eThuSmN1SEFCUlVWRm5wNVRyQ2pLRTFsWldhL09temVQY2FxWllENUZRWVA1Vk1oaVBrWEJndmxVNkdJK1JVR2ptZVpUSWZHWFh3VVNBTHdENEdiSG5Zb0NwS1VCZDl3QjNId3owTGF0WWUwajhxbXdFUGpzTStEZGQ0RzFhOTBEendvQXYxQ0FmSU5hUncyRWNZcUNHdU5VU0hqampUY1NJaU1qMzFFVTVXYm4rOXUzYjQ4ZVBYb2dPVGtaVVZGUlJqV1B5S2RMbHk0aEt5c0xSNDRjd2VuVE5SWlpyZ0R3aTN2dXVZZHhLc2d4bjZLZ3hud3FKRENmb21ER2ZDbzBNSitpb05aTThxbG1QMm1uQXAwQXJBTFExM0huaUJIQUs2OEF3NGNiMWk2aU90bTFDM2p3UVdETkd1ZDdUd0M0UnBIRE5pa0lNVTVSczhJNDFTd3RXTENnazZJb0xuR3FYYnQyR0Q1OE9OcTFhMmRneTRnQ2QvNzhlV3pldk5sOXNPbEVWVlhWTmJObXpXS2NDbExNcDZoWllUN1ZMREdmb3VhRStWVHp4SHlLbXBVZ3pxZWE5YVNkQ25RQjhCMkF5d0FBVVZIQUN5OEE5OTBuS3dTSWdwR3F5bXFCMy93R0tDblI3ajBKQ1RpSERXd1oxUUhqRkRWTGpGUE55c0tGQzEzaWxOVnF4ZENoUTlHM2IxL2ZMeVF5dWNPSEQyUFRwazJvckt3RUFLaXFldEppc1Z4ejk5MTNNMDRGR2VaVDFDd3huMnBXbUU5UmM4VjhxdmxnUGtYTlVwRG1VODMyTjA0RldnTFlBT0J5QUVDSERzRFNwY0N3WVlhMmk2akI3TjBMM0hBRGtKbXAzWE1Nd0ZBRk9HOWdxeWdBakZQVTdERk9CYjBQUHZpZ1pYbDV1U05PUlVkSFkvejQ4VndOVHMxR1FVRUJ2dm5tRzloc051MnVZM2E3ZmVqTW1UTVpwNElFOHlscTlwaFBCVDNtVTlUY01aOEtmc3lucU5rTHNuektZblFER29NS1dBRzhEeTNRZE93SXJGN05RRVBOeStXWEE5OS9EeVFuYS9kMEI3QllCWGo2YXhCZ25LS1F3RGdWMUQ3NTVCUHJwVXVYSEhFcU9qb2FFeWRPNUFBVE5Tc0pDUW1ZUEhreTR1TGl0THU2V3l5V3hmUG16V09jQ2dMTXB5Z2tNSjhLYXN5bktCUXdud3B1ektjb0pBUlpQdFVzSiswQVBBRGdSZ0JBcTFiQXFsVkFuejdHdG9pb01YVHJCbnozSGRDbWpYYlBHQUIvTnJCRjVEL0dLUW9OakZOQnE3aTQrQUZGVVc0RWdQRHdjRXlZTUFIeDhmRkdONHVvd2NYRnhXSGl4SW1Jakl6VTdoclR0V3RYeHFuZ3dIeUtRZ1B6cWFERmZJcENCZk9wb01aOGlrSkRFT1ZUemE0OHBncjBCckFMUUNTc1Z1RFRUNEZwMDR4dUZsSGpXcjBhdU80Nm9Lb0tBQ29BakZDQUhRYTNpcnhnbktLUXhEZ1ZWQllzV05CYlVaUmRBQ0lWUmNHNGNlUFFyVnMzbzV0RjFLaHljM094WXNVS3FLb0tBQlVWRlJValpzK2V6VGhsVXN5bktDUXhud29xektjb0ZER2ZDaTdNcHlna0JVRSsxYXgyMnFreUNmazJBRm5XTVhzMkF3MkZobkhqZ0RsenRGdmhBUDZwTnNOSitlYUFjWXBDRnVOVU1IR0pVNzE3OStZQUU0V0VqaDA3WXVEQWdkck44UER3OEgrQ2NjcVVtRTlSeUdJK0ZVeVlUMUZJWWo0VlBKaFBVY2dLZ256S1ZJMnBMeFg0RVlCbEFHUzc0NzU5UUV5TXNZMGlhaXBsWlVCcUtuRGdnSGJQM1Fyd0x3TmJSQjR3VGxGSVk1d0tDZ3NYTG5URXFiaTRPRXliTmcxaFlhWXM4MDdVNEtxcXFyQjA2VkpjdUhBQkFLQ3E2dDB6WnN6NGw3R3RJbmZNcHlpa01aOEtDc3luS0pReG53b096S2NvcEprOG4ybzJPKzJxRHczOHErT09GMTVnb0tIUUVoVUZ2UGFhOHoxelZTRENxT1pRVFl4VEZQSVlwMHl2K3JCNFI1d2FNbVFJQjVnb3BGaXRWb3dZTWNKeFcxR1V1ZlBteldPY01oSG1VeFR5bUUrWkh2TXBDblhNcDh5UCtSU0ZQSlBuVTgxbTBnNnlPa0JPeVJ3OEdKZyszZGpXRUJsaC9IaGc3Rmp0VmpLQU93MXJDM25DT0VYRU9HVnFTVWxKampqVnBrMGJwS1NrR053aW9xYlhxVk1uZE9qUVFidVozSzFiTjhZcGMyRStSY1I4eXRTWVR4RXhud29DektlSVRKeFBOYWRKdTBjYzE1NTRBbENhVmVWUEl2OG9DdkRrazg3MzNHZFVVOGdqeGlraXhpbFRzMWdzampnMWFOQWdJNXRDWktqVTFGVEhkYnZkempobExzeW5pSmhQbVJyektTTEJmTXJVbUU4Um1UaWZhaGFUZGlwd0pZQ1JBSUR1M1lFYmJ6UzJRVVJHR2pVSzZOOWZ1elZBQmNZWjJSd1NqRk5FVGhpblRPbWRkOTV4eEtrV0xWcWdTNWN1QnJlSXlEaUppWW1JajQ4SEFDaUtNbURCZ2dXTVV5YkFmSXJJQ2ZNcFUySStSYVJqUG1WT3pLZUluSmcwbjJvV2szWUFibk5jbXpHRHF3TW90Q2tLOE5CRHp2Zk1NS29wNUlKeGlrakRPR1ZLRm92RkVhZDY5dXdKaFhHS1FwaWlLT2l2ZDk0QXhpbXpZRDVGcEdFK1pVck1wNGgwektkTWkva1VrY2FrK1ZUUS8xYXFRRGlBVXdEYXdXb0ZUcDRFOUpySlJLSHAzRG41UGFpc0JJQUNBQjBVb056Z1ZvVXN4aWtpRHhpblRHWCsvUG5oNGVIaHB3QzBVeFFGdDl4eUMySjRFRG1GdUxLeU1uejg4Y2RRVlJVQUN1TGk0anJjY3NzdGpGTUdZVDVGNUFIektWTmhQa1ZVRS9NcGMyRStSZVNCQ2ZPcDVyRFQ3aW9BN1FBQUkwY3kwQkFCUUpzMndPVEoycTBFeUFHelpCekdLU0ozakZPbVlyRllISEdxZmZ2MkhHRHlVMmxwcWRGTm9FWVVGUldGcEtRazdXYUN6V1pqbkRJVzh5a2lkOHluVElYNVZOMHduMnJlbUUrWkR2TXBJbmNtektlYXc2VGR0WTVyUHpMODUxbTdRNGVBanorV3I2YTBiQmt3Wnc3dzNudEFSWVgvcjh2SUFHNjVCZmowVThCbXEzODdEaDRFamh3SjdQTXZYS2ovNTRhaTZkT2Rid1hCTDBlekZseHh5bWpyMWdIbnp3ZjJtaTFiZ05kZmw2KzZHalJJdms2Y0NQeTFVVkh5VlovUG56Tkh2dExUNi9iNmh4K1dyNVVyNjk2R3BzWTRaUnFLb2pqaUZNOWU4VTlCUVFFKytlUVRmUFhWVjhqTnpUVzZPUzRxS3l1eGMrZE83Tnk1czhIZnU2Q2dBTWVQSDhmeDQ4ZHg1c3dadjE5Mzl1eFp4K3VxcXFvYXZGMk5KVGs1MlhGZFZWWEdLV01GZno2Vm5RMGNPQUNVbFRYOGU1Zjd1UmpZWmdQV3J2WC9mWmNzMFZZZEI2NjBWUEs2ZGV2OGY4MEhIMGpmOCtEQnVuM21raVh5VlZ4Y3Q5Y0hJK1pUcHNGOEtuRE1wNWhQVVpNTGpueXFvZ0pZdkRpd01Xek4xMS9MVnlEanozVng1SWhNZW5ib0FPelkwVGlmd1hIMHBtT3lmQ3JNNkFZMGdDbU9hei8rc1lITjhOT1hYd0wvOTM5eS9hYy9iYnJQWGI0Y21EOGZpSTRHZnZFTC8xLzN5aXZTYWZyMFUrQ2JiNEJycjYzOU5iNDgraWl3ZENuUXBRdXdZUU9ncjdaeHBhckFQZmZJSk9Pc1djQmJiOVh2YzZ1cWdQejgrcjJISjRtSjVxMzlmTlZWenJkR0c5VU1BaEJzY2NwSU5odHcvZlhBcFV0QVdocncvZmVBMVZyNzY3NzhFbmp5U2JsKzMzMTErK3hkdStTeUxnTnBseTdKWlYwSHRRRGdtV2ZrOHJMTGdOVFV3Ri8vMGt0eUdSY25QOE5nd0RobEdvcWlPT0tVV1FlWnpwdzVnOWpZV01UR3hocmRGS2lxaXZYcjE4TnV0eU12THc5V2YrSlVFMXF4WW9WakFLaGR1M2JvM0xsemc3MzNtalZyVUZoWUNBQzRQb0JZczI3ZE9oUVVGQ0F1TGc0cEtTa04xcDdHbHBpWTZIeVRjY3BZNXMrbmlvdmw3N0EzTDcwRXZQcXE5QitPSEFHNmQ2LzUrbG16Z0QvK0VYQTlBOGkzUFh1a2J6bDdObkQvL2Q2Zmw1NE8zSHFyTEZCYXNzUjVSYkZubXpZQjA2YkpvcVlGQzREQmc3MC8xMjRIU2twY3YvL01UR0RVS0xrdVpkRjB1M2NEVjF6aGVwK3FTdnNMQzZYUCt0NTd2dHZueWJScGNybC9QOUNuVCtDdkQwYk1wMHlEK1ZSZ21FOHhueUpEbUQrZkFvQi8veHU0Nnk2Z2ZYc1pSeDR4d3YvWFRwb2tsM1BuQXZQbU5VYnJSR1Vsa0pjbjEvMWRQQlVvanFNM0haUGxVMEU5YWFjQ2lRQ2tOOU9wVS9OSnl0OTZDN2ozM3NCZTg5bG53TlNwM2g4L2VsUXVlL2YyLzVjalAxK0NKQ0QvY2VzN1lXZXo2VHRBV3JmMkhtZ0FhV1BidHRMNWUvdHQ0TTQ3WlFDL3JnNGZCdnIycmZ2cnZTa29BT0xqRy81OUcwSnlNcENTQWh3L0RnQTlWS0NMQW1RYjNLcVFFeFJ4YXZkdWZVQ2xOaGtaUU5ldWdiOHVLZ280ZmJyMjUzMzVwYXpLQnVUbjVkNXhPM3hZQnJoTTFxR2pPbUtjTW9WMzNua25VVkdVL2dBUUV4T0RlQlArWFR0OCtEQTJiTmlBMk5oWVRKbzB5ZWRBMDZKRml3SjY3MkhEaHVIeXl5OFA2RFY3OXV4QmZuVW5wbi8vL21qZnZuMUFyMjlzdzRZTncvTGx5NkdxS3RhdFc0ZWJicm9KNGVIaDlYN2ZyS3dzeHdCVFVsS1MzNE5YNTgrZlIwRkJBUUFFMVFBVEFMUm8wUUp4Y1hFb2xsMDdQUll1WE5qbG5udnVZWnhxWWtHUlQ5bnQwdCtJaTVOQnBrY2ZyZm1jL2Z2bE1pcEsvZ2E2bXprVCtNOS9aR1g1SC84SS9PRVBnRCsvdTdObkEzdjNBci83blV5d2VjdlB3c05sY0ttaUF2akpUMlJScHVzQWhhNnFDdmpOYitUNnpwM3l0OXJicEYxbXBreXl4Y1hKWXRIYStwc1pHY0RRb2NBMTEwaGZUNXZjT0hSSUp1d0E3KzJxcStKaW9FV0xobmt2OXdsSW96R2ZNZ1htVTh5bi9NVjhpdm1VVVlJaW53TGs3K3lMTDhyMTZPaTZMV3B1RGppTzNyUk1sazhGOWFRZGdJR09hMWRlYWQ2WldqUFFKdTBDQ2NpdnY2N3ZIcGs3dC81dCtQcHJmVEIrNXN6YW56OXZucFFSUFhsU2RzNXMzUXBZbWtORjF5YWlLTklSWHJCQXUyY1VnSDhiMktKUVpmNDRWVlhsLy9aNXU3MXVyL04zOTlyLy9xZGZ2L1BPbW8rUEdTUHY5ZnZmQTQ4OTV0OTdrbmt4VHBtQ3hXSnh4S2syYmRvWTJSU3ZTa3BLWUxmYmNmSGlSWHo5OWRlWU5HbVNZZWZFNU9ibVl2djI3WTdidTNmdnh1N2R1K3YxbnJmZGRodWlvcUxxMnpTSGR1M2FvWC8vL3RpOWV6ZEtTa3F3WThjT0RCOCt2Rjd2cWFvcTBxdkw5eXFLZ3I1OSsrSkNMWDhEb3FPakVSRVJnVDE3OXJpMHJiYlh4Y1RFTk1pZ1dFUHAyTEVqRGg4K0RBQ3cyKzJNVThZd2Z6NzF6VGZTYndFa1IvTGt3QUc1N052WGM3L212dnVBOWV2bGZlYk9sZDF3SDMwa0N5OTllZjk5bVZDN2NFRksrMnpmRG5nYUJPN2ZYeXFvM0hDRDlNdW1UQUUyYmdSNjlxejUzRmRlMFVzOVBmSUljUFBOM2o5Ly9YcmdoeC9rK2xOUEFVODg0ZjI1RlJXUzQ1V1h5NHJ4a2hMOXNjMmI5ZXNqUjNwL0QzTEZmTW9VbUU4Rmh2a1U4eWt3VGhuQi9Qa1VJSXU1dGYvdlR6MEZSRVkyN3VkZHVxUk4xQVRHK1RXWm1YV2JqT3JaMC91aWRJNmpOeTJUNVZQQlBtbW5ML1ViT05ESDB3emlxWTYrODNaWlQ0L0h4VWxwazdGamEzLy9peGVCWWNOcWYxNTV1UVFQQU9qWHIvYm5hKy85Mm10eWZmUm80THJyWEIvZnVsVUd6djNkWlFQb2cvRlJVY0RQZjY1M1duMzUxYStBUC8xSk9xcTdkL3NYcUd1Ym1QemdBK21vMXRXaVJjQkREOVg5OVUxcDZGRG5ZRE1TVElxTVlPNDQ1U3d5MHZQa1dsbVpyRzRLOUhXQXJNejJkMVZVV1ptc3pnYWtKdmpFaWE2UEh6b0VhT2NjR0xIVFRpdFQ5ZGhqRXNPb1lUQk9tWUVqVHJWdTNkcklkbmcxY09CQWxKU1U0TUNCQXlncUtzTEtsU3N4ZWZKa1JFUkVlSDNOZ0FFRGNObGxsM2w5ZlBIaXhRRzNvN2k0R0d2V3JJRnF3QzZMN096QUZ2bTFhZE1HVnFzVnNiR3hhTk9tamQrdlZ4UUZTUjVXY2U3ZnZ4L25xODhiVlZVVjMzenpUYTN2bFphV2hnNGRPdUM0VTRmMnUrKytxL1YxWThlT05kVUs4bmJ0MmprR21SUkZZWnd5aHZuenFYZmZsY3Z3Y0dER2pKcVBYN3dvWjlvQjNrdGZYbjIxNUU1MzN5MW5rcWVueTJUY3l5OER2L3lsOTgvdTNsMCtmK3BVMlVuM3M1OEIzMzNuT1YrNi9ucmdMMytSQlZEbnprbS9LQ05EK21pYWZmdmtuRjN0K2M4KzYvdDcvOW5QWklEdHd3K2xYUG1vVWNDNGNaNmYrL2pqOGowcWlyVFplVUpTaXcvdDJ3ZFdIalJRcTFmTGpzUkFIRDdzWDkvYktNeW56SUQ1bEorWVR6R2ZZajVsR1BQblU0Qis5TW5BZ2NEdHR6Zis1KzNmWC8vZGZIVTlBaXMzVjhhL1BPRTRldE16VVQ0VjdKTjJldFpjbnkyZmphVzI4aHVlSGxkVm1abjNaM1plS3gxU215Tkg5TjB4L25aKzNuaER0cXdDK2psTG1oZGZsTldXM2J0TGg4NmZBSEQrdkpUd0JDU1F4Y2NEQ1FuK3RRV1FGYVlmZmVUZmMydEwvR0pqNjdjVjE5ZmtoZG00bmhQUmlEMWY4c0hjY2NwTVB2dE1YOHd3YzJiTmdhYnZ2OWV2dXk4a2FBcDc5OHJsMmJOTi85bk5HZU9VNFJSRmNjU3BkdTNhR2RrVW4wYU1HQUdielliczdHd1VGQlRnbTIrK3dZUUpFeEFXcHFlemRxZmR3TEd4c1dqVnFsV0RmWDVKU1FsV3JGaUJNcWRGQ2xhckZlUEhqdy9vNTFaWldZbDE2OWJoMUtsVEFJQnUzYm9oMG85Y2F0V3FWWUUzR2tCUlVSRiswSGJBK01GcXRlS09PKzV3dWErNHVCZzc2bmk0K3NhTkcxMytYWUpSZ212T3lqaGxESFBuVTJmUFNrbExBTGpwSmptdnc5MzI3WG8veGRma1Q1czJjbmJKVTAvSml1bVNFdURQZjVhZGJyNTI3MHlaSW1lbnYvd3lzSGF0dlBhcHB6dy85NUZIWklmZDd0M0FQLy9wT21GWFZpYVRjR1Zsc3ZyNzQ0LzlXeXoxajMvSTUyWm5TeDUzOEdETjUzejFsWDRHN3hOUHVCN3ZVRkVCZlA2NVhMLysrc1pkL1I4WEYzaC9zS0ZLYXpZVzVsT0dZejdsSCtaVHpLZXFNVTRadzl6NUZDQTUwTmF0Y3YybGwycnVGRHR5Uk02Uzg4ZlpzN1ZQZEptMVJDakgwWTFob253cTJDZnQ5QjllWTY3RUMzYk9IU1ovZms1RlJjQmYveXJYSjArV0ZaL09KaytXTXhxT0haTUErdmpqdGIvbm9rWFM4Vk1VNE9HSC9XODcxWS9yNGZibVdXSVZXaGluL0RWL3ZseUdoM3MrMS9PTEwrUXlLU253MWRGR3lzNldPdVFyVjhwZ1dpQUhLRHV6MjJXaEJBQjA2MmIrd1NOL01VNlpnU000SlFUU0VXaGlpcUpnOU9qUldMWnNHWXFLaWxCY1hJeVNraEswYk5uUzhSeWJ6ZWE0M3BEbGtjckt5ckJpeFFvVUZSVkJVUlNrcGFWaC8vNzlLQ2dvd0pvMWEzRGRkZGY1ZFE3THhZc1hzV2JOR3B5dG52enYzTGt6eG80ZEM4V3NwV2tBVkZWVllmWHExYWlvcUFBQWpCczNEc25KeVNncUtzTFJvMGZScjE4L3I0TmtlL2Jzd2VucTgweFRVbEl3dHJxU3hKRWpSNUNZbUlnV1FSTEhuTnRwc1ZnWXA0eGg3bnhxNFVMOVdJSDc3L2Y4SEcwQUNxaDl4NWFpeUtUV3dJRnlYdDNTcGI0bjdEVFBQaXY1eHQ2OXNwdHUzRGdwOCtOcHdPcnh4MlVnTENiRzlmRy8vUTNZdFV2eXNSZGVrSjE3ZVhtdXIvVTB3TldxbGF4TWZ2UlJPUmM5ek1OUVE4K2V3SUFCd09XWHk2U2lzOVdyOVVXamd3WUJKMDc0L2w0akl1UThIbStEY2M0bHExcTJsSy9talBtVUdUQ2ZxZ1h6S2VaVEd1WlRoakYzUG1XM3l5NHhBUGpSajREeDQycys1K3FyYStZbDN2empIL0xsaTZwSzNsR1huYjhIRHVqbnZtM2NXUGV4SGs4NGptNE1FK1ZUUVR0cHB3SVJBT1FuR1JucCt6QkdvM2phTnI5Z2dkNUJDWEJiZmtDOEpTdTlldFc4cjFzMzEwN1JYLzhxcFZJc0Z1RDU1MnMrdjE4L09TdmhQLytSanVGZGQwbUh5UnRWMVFmamI3aEJPbW5hL2RTNEVoTmxSWVBVUUU1U2dTZ0Y4UE53TWFxdm9JaFRabkhnZ0w2VGJ2cjBtakdsdUZnL2dIZjQ4Sm9ETk02NzMzeXRwSXFKQWJwMnJYOTdmU2t1QnRhc2tiTnRWcTUwYlkrM2dUeC9GQlhwcTM0Kys4eDFkWG93WTV3eTFDZWZmQkpSWEZ6Y0hZQ2o5SStaUlVSRVlQejQ4VmkzYmgzR2pSdFhvNzNhYW11ZzRVcFQyV3cyckZ5NUVvWFZGUTVHamh5SlhyMTZvWFBuenZqeXl5OWhzOW53MVZkZklTMHREYjA4NVZuVkRoOCtqTTJiTnpzR2EzcjE2b1cwdERSWUFqeG5JQ1VsQlNNYXNrUG94bjNBYTlPbVRZNUJzZDY5ZXlNNU9SbUZoWVZZdW5RcDdIWTdjbkp5TUhIaVJGamRkdUtVbDVjakl5TURnSnlwb3JVNUt5c0xQL3p3QTFxMmJJa2JicmloUVFjREcwdFVWQlNzVml1cXFxcGd0OXVUNXMyYkZ6VnYzanpHcVNZU0ZQbVUxdGZwMFVNbTF6emxJbHFlWTdYSzkrRlBpYVBldldWM1duUjB6ZWVucE5Tc2VCSVpLZWZiRFI4T1RKcWs1dzNhZ0ZJZ0tpcUFhZE04UCtiY2p5c3IwOHVrRHgwS3JGb2wvY2pDUWlrSnFpa3NCTnEybFZMb1lXRjYxUmh0NWZaLy9xTS85K0dIYXgrZ0dqaFF5bXg2Kzk0bVQ5YXYzM3FyN0Noc3pwaFBHWXI1Vk8yWVR6R2ZZajVscktESXA5NTVSNm9BUkVUb08vTUJLVkc5YzZkVU13Z0ZIRWMzam9ueXFhQ2R0QU9RQkVEK21uWHBZczZERlQwRlFPZXlBbVlNa0NkUFNra1ZRQTRJOTdieVlzNGM0Sk5QWkhENnNjZUE5OTd6L3A0clYwcUFCV1RscGRGT25mS3ZrK3lOdnlzNnpFQlJaRVdySkhrV0FKY0IyT1A3UmFIdHlpdXY3RkZWVlRYY2FyV3UzTDU5ZTMzcklKby9Uam03ZEtsdVc5NTl2YTZxeXIvMzBCSVN3SE90N0MrLzFBZUUvdmMvdmJhM0o3NEdwcTY2Q2xpM3pyODIxY1dMTDhvWk1kV2R5QnEwemxSWm1mY1Y1TG01TldPVVdVczJOQVRHcVlBMVpKd3FMaTUyeEttWW1CaFRyMURXeE1mSDQwYy8rbEdOKzZ1cXFyQ24rc0R5K1BoNGx4WGp2dmdxTlhUdTNEbXNXclVLSlNVbEFJRGh3NGM3QnBMaTR1SXdlZkpreDRyeDlldlhJeXNyQzJscGFTNkRYK2ZQbjhlbVRadVFWNTAvV0sxV0RCMDZGSDNyTW9oZS9mcW1HcGpadG0wYkRoMDZCRUIyRFF3ZlBoeUEvSHl2dnZwcXJGMjdGbWZPbk1IYXRXc3hydnI4cWt1WExtSHIxcTJvckt4RXAwNmRVRnBhaWlGRGhqamEzTFZyVnlRbUppSXZMdy9mZnZzdEprMmFGUEJBVzFOVEZBVXRXN1pFUVVFQkZFV3hKQ1VsTVU3Vkl1VHlxV1BINVBMbzBkb255S3FxR3VZY21mUjB6NVVIVWxObFYxOVRuVlh6M0hQNjJUTytlTnQ1cEtyU3Yvcnd3NFp0bHk5RGh6YmRaelVWNWxNQll6N0ZmSXI1Vk5OaVBoVzRrTXFuenAzVEs3azk5SkRycHBONzd3VysvVlkvcHFtMnhRUmFESjQ3dCtiTy9tREFjWFRqbUNpZkN1Wkp1N2FPYXlhdUYyNFk1N3ExRHo0b3Z5QVRKc2l1T00xNzc4bktUZWRFNWFHSEFKdE42dncvL2JUMzkrL2ZYN1lxTDFzbUIxTGVmNy8zenMrZi82eGZkeSsxV1ZRa2RYb2JRbkt5ZjgrNzc3NkcrYnhnMGJtekZtd0FvQ09ZRlBsa3Q5dVRMQmJMaDZxcVZxYW1wbjRENE9PS2lvb1ZlL2JzcWN0Zm1lQ0xVeGN1Tk8zckFDbUZ0SENoZnR0VDhyaG9VZDNmM3h0dm5Xbm5qbDlrcEQ1WjZLeThYSGJUTFYycW43OENTRElEeUwvM3BFa3lBV20xQWovNWlkeXYxZkxldWRON0RmbkhINjlaZHJpNXI2aGluQXBJUThZcHU5M2VWdXZnQjhNS1hWODJiTmlBaTlXN09pN1hWaVA2RUIwZGpkTFNVaHc5ZWhTSmlZa3VKWW1pbzZNUkZoYUd0V3ZYb3FTa0JCYUxCVmRkZFJVdXUrd3lsL2VJaTR2RGpUZmVpQjkrK0FHWm1abkl6czVHVGs0Tyt2WHJoNjVkdTJMdjNyMDQ0VFJCMzY1ZE80d2FOYXBCejRieHBxU2tCS2RPblVMWHJsMzlPdVBGM2ZIang3Rjc5MjRBOG4xZWYvMzFMcXUvZS9Ub2dRc1hMbURYcmwzSXpzN0d1WFBuMEtKRkM2eGN1ZEt4a2h5UUZmRHVaOVJjZGRWVldMSmtDYzZjT1lPdFc3YzZCcS9NTENZbUJnWFZwZnVzVml2alZDMUNQcDh5bXZ1RVhXMTV4SklsK3E2NkV5ZWtFa3RUZXUwMXZiem9zbVhTejNRM2ViTDBYWWNQQnpadDB1OTMvOTYwL0c3L2Z0ZEZUOXE1eWMwWjg2bUFNSi95alBtVUsrWlREWXY1VkdCQ0twOTYrR0VaSCs3V1RUYUthRDc0UUNic0FHRDA2Tm9uN09xcnNEQ3dzK00wZ1p3UjZKNmp1T000dXJGTWtrOEY4NlNkWHRTL3NYOWhqZURQRExaenVSRjNQLzJwWEY2NkJQemlGM0o5eWhUOWZrQTZSSUNzc0FDQVR6K1ZMd0Q0d3g5Y3k5T3BxbnhlVVpFTXpsKzhLQjJtWmN2a3NULzlDZmo2NjVydFdMRUMyTERCZXpzWExwUXpuaHBDY3gvVXJxdkVST2RiSFkxcVJoQUtVeFJsRW9CSkVSRVJWWU1IRC83ZWJyZC9aTGZidjg3SXlEanA1M3NFVjV6eU5rRlZWcVpQTnAwK0xRZi85dXlwLzg1cHI5dXpCM2pxS2VDTk4vUnpWM2J1bEJYZnZyejhzc1FXYjQ0ZjEwdGpQdnFvck9oMk4yK2V2c3E3c1dQQlcyL0ppaTFQYlo0eVJYWWZEeHVtVHo0Nng4YW1PSUQzeVNlOXIzZ2ZNMFltRzgyR2NhcXU2aDJuRkVWeHhLbTZERVEwcHFxcUtwU1hsM3Q4TE5ycGQ2bWlvZ0xyMTYvSDhlcnppenAwNklDZVBYdlcrdjVKU1VrNGZQZ3dDZ29Lc0h6NWNwZkhScENGeGZ3QUFDQUFTVVJCVkk4ZWpSNDlldUQ2NjYvSHlwVXJNV3pZTUhUdTNObmorNFNIaCtPYWE2N0IwYU5Ic1hYclZwU1dsbUwzN3QyT0FScEFCaWdHRHg3c1Y3c0NaYmZiYTZ5c1BuUG1qT043R2pObURMcTcxdVozS0NzcncrZWZmNDZPSFRzaUpTVUZTVTVWSUpLVGszSFpaWmZoMUtsVG1EaHhJbUppWW1xOFBqVTFGWGE3SGIxNjlZTFZhc1h5NWNzZFphOFNFaEpRVUZDQVE0Y09vYkt5RXFOR2pYSzBzMVdyVnVqVHB3OEtDd3ZScjErL0J2azVORGJuLzNOMnU1MXh5bitoa1UvVmxuczgvYlIrUmt0R2h2c2g5OFp6Ym4rZ080VG16YXU1aXIyeVVpb1BhQlZjQU9tWGhvZlhmUDhMRjRBMzM5UnZlenViU1R0YXd0OEJKbDlXci9aK1B2Sy8vaVdYMDZhNVZzazVmTGoyc3dpTnhueXFycGhQZ2ZrVTg2bW13WHlxenBwM1B2WFpaL3JmM3pmZkJHSmpaYUYwWHA0K1p0eW1qUnpuMU54eEhOMTRKc21uZ25uU1RwLzJya3M1dDhibWJkTHR6Qm5mejRtTGs3S1pkZHppWDhPK2ZkSnBBb0RCZzEwZnF6N0lGbDI3U29CMDNvVzNiSmxNNEJVV3lsZFJrUndJNm8wV1ZFYU9kTDNmak51UTYzc1cxRnR2eWRic1lPRzZncWIyVTUzSkV5dUFheXdXeXpXS290aFRVMU0zQXZnQXdGZnA2ZW1aUGw1bjdqaWw2ZFJKenFjTTgvSW5JVEpTVmdJQnNyTDU3cnZsZWthRzNHK3hTS21uVzI2UjIrdlhBeDkvTEN1Q2V2U1FWZEZ1dGZrZENndUJ2Ly9kZC92bXo1ZjRveWpBckZsMSt4NDkwYjRualJaM3YveFN6b2tCcE16VlgvOHFPK28wQncvS3BhSkl6SnMrWFhZMEE4RFlzVFVQSDNZdWxhbDFVa2FNOEw0eWZORWkxM2djQ2hpbkdrS2Q0cFRGWWtsUXEvOHZtbTJRNmRTcFUvaFdXMVhwNW80NzdvRFZha1Z1Ymk3V3JWdUg0dW9kRlBIeDhSZzNicHhmWmFtR0RoMkt5c3BLNU9UazRKSzJ3Nk5hWEZ3Y0FDQTJOaFpUcDA2dDlmM09uRG5qc2hyYW5hcXF5TXZMUTNoNE9EcDA2TkFncS9BUEhUcUVRNGNPSVNvcUN0ZGVlNjNMWXdrSkNWQVVCYXFxSWljbngrc2cwK25UcDJHejJYRGt5QkZFUmthNkRESXBpb0tycjc0YU5wdk44Zk53cHlnS2hnd1pndHpjWEh6Ly9mY29sZHIvU0UxTnhhQkJnN0I1ODJiczI3Y1B4NDRkZzgxbXc5aXhZeDJEVlVPSERqVjlHU2RuenY5bWlxSXdUdFZOODg2bmZQbnNNN2xNVG03NENUdHYvYzVBU212NzZ1Y0Y2dFFweVFrM2JKRGNVdXVMM25hYjlDbmZmeC9vMEVGLy91T1B1NjRZUDNGQ0ZobTVhOGhKdTdnNDcvK1h0SUd3aVJOZGR4eGVlYVZVaHpBejVsTU5nZmtVbUU5cG1FODFQT1pURGFMNTVWUE9rM0UzM1NRTGZkekhTMTU0UWM3R2JVcno1d1BYWCsvOThhTkhBUzF1TEY3c2U4RjZlcnAvWi9KeEhOMTRKc21uZ25uU1RvLzBaaXcvNE0ra202Zm5USmpnZWNkYVhlM1lJWmNSRVRWWEUrYmt5R1hYcmxJcXM3cStPQURYa2lPZVJFVElkdUg0ZUgwQSs0a241T0J4emYvK1YvdjdQUGlnUHRqZG1McDBrWWtEb09ia1phQnV2MTA2Y1FEZ1ozMTNRN211NUlwSlRVMjlId0FVUlZFVlJiSGI3WFlWUUkzcmlxS29ubTRyaW1LdnZrKzEyKzEyUlZGcXZONWlzZGlycXFwVTdUR0x4V0lIb0ZaVlZUbXV1Ny9lL2JyMkhJdkZZcTl1cTFwWldlbTRYVkZSb1Zvc0ZydkZZbkZjMTU1bnRWcnQ1ZVhsanVzV2kwVzlkT21TYXJGWUhMZkx5c3BVUlZIVThQQnd1ODFtVXkwV2l4b2VIbTYzMiswdDNBOS9kcVlvaWdYQVZkVmY2dURCZzdlb3F2cHZSVkcrM0xGanh4RzNwNXM3VG1uYXQ1ZmRZZDRvaWo3dzgvNzdjaGtkRGZUcjV6b1o5K2Fid0syM3ltRE5OZGRJcWFQWnMvWGZGMDllZnRsM2FjMkNBbjMxOWZqeE1nbllVTHdOWnFXazZJLzkrYyt1NVlZQktRODhhNWFVdk5SMkpQdUtZODRyV3oyc3JHeHdVNlo0VDZpY0I4bk1oSEhLRkhISzEzdWFWVUpDQWlJakkxRmNYSXd1WGJwZzlPalJpSWlJOE91MWtaR1JHRHQyYkszUDh6VEFkT25TSmVUazVPRFVxVk00ZGVxVTQ0d1dUZnYyN1pHWW1JZ1RKMDdnNHNXTEtDMHR4ZUhEaDNHNCtteUMyTmhZdEczYkZna0pDV2pSb2dWYXRHaUJ1TGc0UkVaR0lzemJBZ28zcDArZlJuNStQaXdXQ3lvcUtoQWVIdTU0TER3OEhBa0pDVGgvL2p4eXRIelBnOXpjWE1mMUpBOW5MU3VLNG5XQUNaRFYrenQzN3NUdTNidWhxaXFzVml2UzB0SWNLK0NIRHgrTzJOaFliTnUyRFhsNWVWaTZkQ25TMHRLUW5Kd2NWQU5NQU56L1hSaW5tRS81THl0TDc1UDVNMWdUS0cvOXprQldUenMvdHo2L215dFdTSldYL0h5Z1kwZmdiMytUeVRwQUZuWGw1UUVEQmdEdnZpdGx4TGR0azRFY1o1N08vTDE0VWM4WEcyTFNyaTRzRnZNTmNycGpQbVdLT01WOHlqUG1VOHluQU9aVFpvbFRwc3VucnI0YTJMaFJybnVxL2pScWxMNTRIQUF5TTRIcXlXMmZ6cDcxWGNtdXRnVk83ZHY3emp1YzI5cXhvKy9uYWh0bmZPRTR1am00NVZOR05TT1lKKzMwNVV0K0poTkJ5ZGVPaTZJaTZmUUEzZ2VDdDIyVHk0RURaYmVNcHFKQ1ZnUUFNZ2crZmJyc3JrdE9sbzVmWXFJRXAvYnRaWVpaKzJyZFdyWWtPeWNjMTE0cjlZVy8vUlpZdTFacURCY1g2MEdrVmF2Nm5YZlZFR0pqZlU4Y0JLSkZDKzlsVzh6STlZOXhGSUJYbGVxTVdWVlZsK1RaUGVHcnoyMVBpWVg3ZmQ2ZTd5bngxSkpYalhNeTdkNmhVRlhWNVhGVlZWMmVvNnFxeXdwSVh3bDBMUlFBd3hWRkdRN2cxY0dEQis5U1ZmVzlxcXFxNVJrWkdRZGg5amhWV1JuNCtSN2ZmQ09YUTRiVUxORTdjS0E4ZnZQTlVrTG82NjlsRXMrZE51QngvTGkrb2lvNTJmTWd6ZC8rcHBlaGZPQ0J3TnJhRUs2NFFuWWRqeG1qMTFHZk1TT3d0amovakp0aTBtN1FvT0RicWNjNFpWaWNVbFhWOFNGbTYvUW5KU1hoOXR0dmQ5ek96TXpFdW5YclhKNFRGUldGQ1JNbUlDOHZEMTI3ZG0yVWRsUlVWS0N3c0JEbnpwMURmbjQrOHZQemNjRkRYaE1iRzR1VWxCVDA2dFhMY2NiS2tDRkRrSmVYaDJQSGp1SGt5Wk9PRmV3Mm13MDJtdzJabVRVWHcxcXRWb3dkTzdiVzd5Y3BLUWxIang2RjNXNUhWbFlXZXJndGFtamZ2ajNPbno4UG04MkdpeGN2b29XSDNPVlU5VG1jMm9yMVFPVGs1R0RUcGsyT24wVnNiQ3pHalJ0WDQ3eVYvdjM3SXlFaEFXdlhya1ZaV1JsV3IxNk5ybDI3WXVqUW9XZ1pESjIyYW02eGdYRUt6S2Y4OXVHSCt2WEJnLzA3QnNHVGhBVDNjajBOeDNtQlVWMG1IREl6NVN5YS8vNVhidmZwSTNtZzg0RGF0bTJ5c0dqSERqbno5L0hINWZ1eDI2VnM1alhYeUtTZlV5azhoMTI3OU90dVoyR1JFK1pUektjOFlEN0ZmTXBNbUU4eG4vTG9WNytTTWFZT0hXVHNPVDVlRnZmczJpVTV3bHR2dVpiWHZ2VldZUFBtMnQvM0gvK1FMMi9NVkI2UzQram1VVE9mTWtRd1Q5bzVMMzh4c0JsZStQckYvL2hqZmNWaGZRSkV5NWFlQjdtZGFaTjI3Z2RpSGppZ2wyeExUWlVkTTNsNStqbFVnWmc3Vndhem82Smt1Ky9vMFhMZnllcXl5czg4NC8zUXlzWTZRRFBRc3hnYWlyY3p3WXprK3NjNDB0TUtOMm93QXhWRmVTa3NMT3lsMU5UVWZROFhGaDZiblp1TG5tVmw1b3hUNjlZQjQ4YlY3YlUvL0ZENzRieExsc2lYT3kzdVBmQ0FET1lvaXBRNnVPV1dtcy9WWXR5Z1FjQ1BmMXkzdHRiSDNYZExBcG1RVVBlNG9rM2FoWWViOC8rQkdUQk9OU1dYT1BYbGwxOGVHelpzR05xMmJXdTZRU2FMeGVMU29mVzJZam95TXRKcjJhZEFhQ1dpTkR0MzdzU2hRNGRnczlrOFBsOVJGTFJ1M1JwZHVuUkIxNjVkMGNaTERwV1ltSWpFNm9IMndzSkM1T1RrT01vL1hmUndQbkduVHAxOERqQnB2eCtkTzNkMmxHenlOc2gwb0hweTRQVHAwelVHbVM1ZXZPajQvRTZkT3ZuOTczLysvSG5zMkxFRDJWcXBPZ0FwS1NrWU9YS2sxMVg1blR0M3hyUnAwN0J1M1Rwa1oyY2pLeXNMSjArZVJNK2VQZEcvZi8rZ0dHeHkvdm1vcXNvNDFiaUNLNStxemJ2djZ0ZC8vdk82djgvczJUVjNwUUd1L2NsWFhxbDV6a21IRHRMUDg1Znp1ZWErcUtya2NjOC9MM21jTmtFM2JweE0zclZ1N1RwQm1aUWt1ZWNkZDhqanp6d2psVnArK1V0Wm5kNjFxMHphZVZwaHZuMjdYQ29LTUhTb2YrMDdjVUpLbm4vNktmRDU1NjRMV1AxNWo5b3E1OFRHQnI3NHJiRXhuMnBLektlOFlEN0ZmTW9YNWxOTktuanlxZTdkNVVzemY3NitZT2NQZjVBeDYrYU80K2ptNFpaUEdkV01ZSjYwMHc4SmNqNHZ5R3p5OGlTaGo0MXQrbCtBMGxKZzUwNjVQbXFVNjJNWkdYSVpFNk52QjY3TGhKMzIzZ3NXQURmZUtQV0Y4L0wwTTZwdXYxMUsybm5EQXpRYm45UEtXVHRRRGxsOVE0MHYrbnhFUklzU3JjTmk1amhsaENWTGdDKytrT3QzM2VWOThPVDk5K1U4a1N1dmJMS211V2lJY3BMYVRzSFkyUHEvVjNQRk9HV1U2SktTa2hZVjFmSEozcEJuR2pVRHljbkoyS25sVVpCQmh0YXRXeU14TVJFZE9uUkFodzRkL0M0ZHBZbVBqMGQ4ZkR6NlZYYzhMMTI2aElLQ0FseTRjQUZGUlVXNGVQRWlScmlmaXduWGZ4dHRjQ015TWhMdDI3ZEhYbDRlVHAwNkJidmQ3aklRMHI2OVhuNy96Smt6amhKTEd1Y3lUNTVLT2JuTHo4L0g3dDI3WFZheng4VEVZTVNJRWVqbWZPNlRGOXBaTVNkT25NQ1dMVnRnczlsdzhPQkJIRHAwQ0YyNmRFR3ZYcjJRbEpUazEvazVSbkQ3L1dDY2FqckJuVSt0VzZjZkpkQWNuVG9scGM1TFM2VmYrWmUveUtJc2I3L0gwZEhBZi80aks4bTNiZ1YrLzNzWkdGRVVmWER1MUNrNXY2NUxGLzExMnFSZG56NnkrdHdiNTUvMXBFbjY5WFBuNnQ3WERTYk1wNHpDZk1vSDVsT3VtRTh4bnpKSThPUlRaODdJYm54QUZtL1BtVlB6T2JXVmtBdzJIRWMzRitjS0ZCS25EQkhNazNiNkQ4M013YVpQSDZDdzBIZVp5L29xS2dMZWZsdFdMVG9sRk5peVJjcmZLWXJzZm5QMjNYZHlPV0JBM1VxZ3VMdm5IdjE2WWlMUXM2ZHM1WDMxVlRuVG9LbnQzKy81L3M4L0J4NTlWSzUvL0xHVTgydElKbHRWQjBBT2NLMW1CMHkyZktGNVVWWDFNSUJsVlZWVkgyWmtaT3pZQWN3QU1BYUFPZVBVMkxIKy9aRStlbFRPY0Z1OVdtNS8vcmtNZm1nMXhXZlBsaktYZ1d4M3J6NkhBTzNhQWM4OTUzcW1wcnVubi9iL2ZjMUlLMFZjMjg3RVVNWTQxV1RjNDlSOTk5MDNRMUdVTVVCd0R6TGRkTk5OS0M4dngvTGx5NkdxS2thTUdJRk90ZXdXS1MwdHhkZGZmdzFWVmRHcVZhc2FKWExpNCtNeGN1UklBRUNiTm0wUUV4T0RMNzc0QXBtWm1SN0xNTlhIbENsVGZBNVlPZi9iT0xjektTa0plWGw1cUtpb1FHNXVManAzN3V4NHJFV0xGb2lPamtacGFTbk9uRGxUNHoxUFZxL2tWQlFGWFp3SHg1MVVWVlVoTXpNVCsvYnRRNzVUUGhjV0ZvWisvZm9oSXlNRDMyazVaUURDdzhNeGFOQWc3Tm16QjVXVmxjakt5a0pXVmhhaW82UFJ0V3RYOU96WnMwWlpLS05WVlZVNXJ0dnRkc2FwUmhSMCtaUXZMNzhzbDFGUnNzdnVuLytVZnRuMzMvdjMrdm56WmNjL1VITVJwci9XclpNK29TKy8vclhrZVQxN1NwN25yOHN1aysvcDFWZWx2K3M4bUgzampWTFJKVDFkZHRscExCWVptQ290bFVrOHpSVlh5QUlubTAxS2E4NmFKZmVycW41dSt2RGhycDlmWEN5bDJWZXVsTmU0VjZHSmlwS2pIS0tpWEZkeHIxa2ppOEk4U1VtUnkxV3JmSitsekg1ZlNHTStwV00reFh3cUVNeW5tazdRNWxQMzN5ODd5U0lpcEZxQmtic0N6NXp4WGVHdXVqUXVBQ0EzMS9kem5jNitySUhqNk9iaWxFOEI4T1B3eE1ZUnpKTjJlbkEzMnpaS1oxcVpFRjhyQXVzclB4OTQ1QkhaTXZ6OTkwQjFRb1MxYStXeWYzL1h5VHhBU284QTBvblIvT3RmcmdkN0JzSjlVdkpYdndJdXYxeFdOUG9LTm8xMWdLYTN3MFFmZmxndXUzV1RVbndtWFgzVW9Gd25RMHBWVmYxYjlXRzFpcXFxbHVyNjRZcXFxaGJJS2lkRlVSU0xxcXFPNjlXUGU3d053T1U5M04rdityYTM5M04rZnEzdlZjdnJIZGUxZG1uWGZYeHZudG9XRHNEdlgxaFZWZTJxcXI1b3NWZytURTlQejNCN09EamlsQ2RGUlJJblB2cEl6cnVzckFUQ3dtU1FSU3RUZWZHaXJQQ1pQeDlZdkZpU3F6dnZsUEpHdFprMUM1ZzNEM2p6VFlsUDNwS2J3a0wvMnV2ODg2M3ROVlpyNDliVFBueFlkaDNIeE1pNUxaOStLdmZ6REJidkdLZE1FYWVjTzlIQlJqdnpwRXVYTHNqS3lrSm1aaWI2MWxMYTdOQ2hRMUNyRnk2a3BxWjZmRTZ2WHIwYzE4dkt5aHhucURTMDJnYjRLcDBHM0ozTFdpVWxKV0Y3OVE2VTdPeHNsMEVtQUVoSVNFQnBhU2t1WExpQWlvb0t4M2thZHJzZHVkVWR4N1p0MnlMYWVlQzgycjU5KzVDZW5vNXlwNVdHVnFzVmZmcjB3WUFCQXhBVkZZV01EUGYvVHY1UkZBV3BxYW5vMDZjUDB0UFRjZmp3WWRqdGRwU1dsdUxnd1lOSTBRYk5UY1J0a0lseGl2bFU3WTRlMWN1RTMza244TmhqVXAxazdWcGd6eDdwby9sU1VTRUxtd0FwR2ZYVG45YXRIYlhsSDZxcTcxRHIxczE3UDhxYjZkT0JuL3pFdFYrMWZMbmtqOHVXeVNMUlFZTnF2czQ5N2tSRXlCbkNXa2xMYmRKdTgyWjlvR3ZzV05mWGZQc3RjTk5ObnR2MTJtdlNQOVhPQm5MYTZZTisvV1RobUMrZE83dVdqUW9HektkTUVhZVlUOVhFZklyNWxJYjVsRG5pbEduenFVOC9CVDc1Uks3UG5TczVoSkZtei9iL3VkN3lFWDl4SE4wODNQSXBvNW9SekpOMkJZNXIvZzdxTnJWTGwvVFpXVytUZHU0SGtjZkUrRGZnN2V6Y09ibXNyTlE3SlFDd2NhTmNIanNtQStwYUFObStYVjhOY01NTmdYMld2KzY3ejN5ejVYbDUrbVRsN2JlSFJxQUJYSUo5R0pDWG5wNytnb0d0TWIzVTFOUXhpcUtzOGZhNHFxcXFvaWk3VlZWZFdyMWl5VmZOSS9QSEtVQW02QTRjQUhidmx0WFFtemJKd0laemgzUFVLRmt0N2x5bTh2NzdnUkVqNUhMelpqbVg1SWtuWkJCcTVFaFpnWk9TSW9NZXJWckpSSm5GSWl1bDR1T0JmLzhibURMRmQ5dnFzanV0dHRmMDdsMHo5amFrcVZPQmZmdHEzbi96elkzM21jR09jU29nRFJtbkxCWkxnVGJRVWw1dVdPV0hCdE9uVHg5a1pXVWhOemNYdWJtNTZOaXhvOGZuRlJjWE84NG5hZDI2ZGNDREdyZmRkaHVpb2p5ZlNWMVdWb2FQUHZvb29PZlZwc3lwWSszOGZxMWJ0MFpNVEF4S1NrcHd5bm1sWjdXRWhBVGs1T1JBVlZXY1BYdlc4ZlBRVnBNRDhIcmVTMkppb3VNNTBkSFI2TjI3TjNyMzdvMlltQmpIYzI2Ly9YYS8ydTlOZEhRMFJvNGNpVUdEQm1ILy92MDRlUEFna3BLU3ZQNjdHY241M3lBOFBKeHhxaFlobVUrNWUvcHB3RzZYM09kM3Y1TUpvTW1UWlVMcmlTZWtmK2JMU3kvcGk1cm16R21ZNmlpZXJGd0phT1hkVnEyU3ljRzMzcEpjelIrZS9rMmVla291azVQbGpEdHYvMjd1bnpGeG9remFyVjR0dVVHN2R2ckVaMFJFemJ4UjJ5MFhHUWxjZjcxTUh0NTVwOXgzN2JXdWZXUHRYRDlGOGY5N0N6Yk1wd0xDZk1vNzVsT3VtRTgxSE9aVGdRbXBmQ296VTg2NUJZQmh3L1RkWFlDYzliWi9QM0Q4dUR5bnBBVEl5cXJmNTNYdEttUHdac0Z4ZFBOd25UU3R1Y1c2aVFUenBOMDV4N1dHT29DeG9UbTN5MzJubThaOTFkS1lNVkt1SXhET1cvU2RFNFVYWDVSVm5Oblowb0Y1OGtuZ1QzK1NVcHBhbTRZTjgveWUzcmJGdXZPMjZzcmZRRk5lcm5jUzY2Tk5tOXAzem56MGtWNGFadGl3aGhtMGI5RkNKaVRNelBYZytkTkdOU09ZcWFwcUI3QkRWZFV2ckZickI5dTNiei9xNTB2Tkc2ZTJiNWVrNFBoeDkvOGp1dGF0WlhCazFpd2dMYzN6YzRZT2xVbStiNytWOGtqTGxrbmMyYlBIKzJlLzlCTHcwRU8xVDlnRnE5VFVtcE4yUC80eE1HT0dNZTBKQm94VDlWYlhPS1dxcWlOT1hYSXRBeEdVT25mdWpNVEVST1RsNVdIVHBrMllNbVdLeTdra21nMGJOcUN5c2hLS29qaEtOcG1adDBFbUFPalFvUU9PSFR1R29xSWlGQlVWb1dYTGxvN0hFcHdXTVp3N2Q4NHhlSk9kbmUyNDM5djVLVzNhdE1HVlYxNkptSmdZcEtTa2VQdzVCbm9HalRjeE1URzQ4c29yTVdqUUlOUHVVQ2d0ZFZsa3lUaFZCODB5bi9KbTN6NDVseGVRZkVjckcvbnNzMUxHOGJQUGdLVkx2ZWRDZS9kS1JRSkF5bWsyMWpFTGxaV3VnMktBbkRtM1lZT1VwQm8zcnZiMzhMVlk2c1FKMzJmSnVaZHBuejVkcWpoVVZnSnZ2Q0ZuM2kxY0tJOWRkMTNOeWJZZVBlVG5QR1dLM2hmVUp1M2NIVDh1bDUwNkdWdHFxekV4bjZvMzVsT0MrUlR6cWNiQ2ZLcittbVUrWmJQSjRtZHRNakU1V2NxS0h6b2tYOXJ1M1A3OVpkSnV5eGIvY2hSZlZxK3V1WU1ma0lWQTJnNjdlKy8xWEE2eXJFeHlzLy84eC9YKzIyK1hTblNlOG96ang0SG5uNWZybm5JbmpxT2JoMG55cWVZeGFYZjJySUhOOE1INWw4aVBBMmxkS0lwMFl2eEorSnpQUzNMdXlQVHJKeDJ1aVJPbDQvZkVFMEJHaG5RVUFUbUh6bHRRQ0xRc1NsMWxaTWlnZjMyOSthWiszb00zenVYM3BrNnQvMmNDTWdqL3ozODJ6SHMxRnRkZzNnQ1JQV1JVcWFxNkJjRG5GUlVWSCs3WnN5ZTcxbGZVWk40NGxab3E4Y1g1ajFIYnRzRGd3Y0JWVjBrQ2xKWW1KVEg5TVg2OGZKV1hBei84SUxGbjJ6YUpQWm1aK2gvNmpoM2wzQlIvK2FyNzdlekZGMlV5MEovWCtQczkxZFdERCtybnprUkd5czYrdERRWndDc3BBWVlNOGU5OXpweVIwaEFmZkNBRGU1R1JqZGRtb3pGTzFWVzk0NVRkYmorbkRSNlVtYlZNU29DR0RCbUM1Y3VYbzdDd0VGdTJiTUdJRVNOY0h0KzdkNjlqRlhXL2Z2MU1kOWFISnhjdlhuUmNqM1BlT1FLZ1k4ZU9PSGJzR0FEZzFLbFRQZ2VaTkZuVksxUGo0K01kcGJBOHVlS0tLMnJjZCtIQ2hRQmI3NXZ6NTF1dDFocG40WmhGaVZPWkZFVlJHS2Y4MTd6ektXOSsvM3VwV0dDMVNua256UlZYQUROblNtbnhXYk5rOE1uOTNMUno1NEJwMHlSUGk0NldCWmVOdGJMNW9ZZUFYYnYwTnJkcEEvenhqN0xvODlwclpZZmcwMC9MTHJlbTBLRURNR0dDN0xaNy9YVVoyTkZXTzNzcUQ5cWloUXpxK1VOYlVKV1NJb05PdFpUODgvcjR3SUd1cFRiTmhQbFVYVEdmOG9ENUZQT3B4c0I4cXM2YWR6NTEvTGpyMzFhdFJLYXo2R2p2RzA4YVVuUzBWQnp3Smo5ZkZndHQzQ2hIVEMxYUpQZFBuUXA4K0tHTTR5eGU3THJiSDVEOHc5Zjcrb3ZqNkkzUEpQbFVNRS9hblFSZ0IyQkJkclpNY0psdG02YTI2c1pxOWQ3UmNWOWRxT25jV2JiL2Z2Q0I3TkR3ZFBpdjNTNEQ0cSsvTHJjOW5SV1FsQ1RuSmt5YUpDc1IvdnRmdVQ4c0RQak5id0w3ZnFnbUx3Y05tNGFxQWtlT2FMZnNBUHhkZ1JPeUZFVTVvNnJxd3dBK1NrOVByMjl3Tm0rY3NsaGtCZlA2OVVCVWxKUzRyS2lRTXBlYk53Ti8rNXZuMTIzZHFxOFdQM3pZdjJRaE1sSW03VmF2QmxxMmxNL3pWNGNPL2ozUE9TSHk5elcxVVZYWlJkaTd0K3c2OU5lUUlaNG41cFl2bHdHeHJsMWxaNkszTTJaV3JKRFNvZDk5cDVjb1BYdlcvS3VSNm9weEttQU5HYWVzVnV2SjZ0V2FGcHZOQmxWVm9aZ2xUdm1wc3JJU2xaV1ZqaFhUN2R1M3grV1hYNDY5ZS9kaS8vNzlhTnUyTFM2ci9uM0x6czdHMXExYkFjalpJMWM2bC93MU1lZUJIZmRCb1E1T01TOG5KOGZsN0puNCtIZ29pZ0pWVlhHK2VrWHQrZlBuSFlOVzNsYUYrN0s0dHBKK0FicTdydWNwTnlGVlZWRlVWS1RkdEplWGx6Tk8xU0prOGlsUC92dGYrWnNQeUdwdzl4WGFMN3dnZitNUEg1WSsydnIxK3ZscXBhVXlFSFQ0c054ZXNFRHlrSWFtcXBLVHZQYWEzTDc4Y3BsY2pJbVJoVWUzM0NKOTBiLytWZHI2eVNkeXJwNjM5OUw4L3ZmeW10aFlxYnJnNlV5NDJiTmxJdkxxcXoyLzM3MzN5cVRkMmJQNkxzQXVYYVJOOWJGamgxeDZHRHh2RnBoUEJZejVsQ3ZtVTh5bkdodnpxY0NGVEQ3VnI1OGNxVkpVSk9QWWZmcEkvdE9uRDlDcmwxenYwc1Z6ZTlQVFBZK0hlN0p6cHl4Z3I2dU1ESm04T240Y2VPWVpPWVpLbTdSNzlGRnA1L1BQU3hXOUpVdk1QMlpzQkxQL1RFeVVUd1h0cEowQ2xLbkFjUUE5VUZvcXM2Qm1HOUE4ZEVndXE2cGtsOXVMTC9yLzJodHVrQldZNjliNS8zM2RjWWZuKzF1M2xnSGlILzlZTDcyWmtPQjZYcFVaYk4zcS93NFVUU0IvWUY1NVJiN3F5M2xsWnFEbkR6YTEvSHg5R3ptUXF3QWx2cDVPd0k0ZE8vWUQ4TE0rckcrbWoxTWpSc2pYZ1FQeWg4bWYxWDdPY2FPcXlyL1hhRHlWSGpDajlldGxRblB4WWpuL2M5TW1ZUGp3K3IvdnlaTnltWlhsV2c2aHJBejQvSFA5OXNjZnU3NHVMUzJ3aWM1Z3d6Z1ZzSWFNVTNmZmZYZlp3b1VMandQb1VWVlZoWktTRXNUR3hqYkVXemVKL1B4OHJGMjdGc09HRFVNWHB3N0FsVmRlaVp5Y0hCUVVGR0Q5K3ZVSUR3K0hxcXBZdTNZdFZGVkZkSFEweG84ZlgrZFZ5TXVYTC9jNkdLYzZEV0Q3Kzd6YW5LMWVEUnNWRllYbzZHaVh4MXEyYkluWTJGalliRGFjUG4zYVphQXdMQ3dNL2ZyMVEzeDh2S09VVTJabXB1TzF5WjRHMUttR3NySXlWR283eG9IYzJiTm5NMDdWSXFUeUtXZm56d01QUENEWFc3ZVdYV3J1V3JhVWliMFJJMlJ5YnVSSW1lUnIxMDc2YSt2WHkvTWVmeHk0N2JhR2IyTk9qdXoyKytvcnVkMnBrK1FoMnJrdWFXa3lBUGF6bndIZmZDTWwxVk5UWlZYMDlPbmUzM2ZiTm4zUjExLys0bm5DYnRzMmZYWDFJNDk0ZnA4Zi9VZytMejFkcjlUd2h6L1ViN2RmYWFuME5RSFg4NWtCb0tDZzV2TTlXYnpZM0tYT21VOEZqUG1VanZrVTg2bW13SHdxY0NHVFQxa3NraU4wNm1TdWMrYWN2ZmFhNUM2WExrbCs5L2pqTmN0RlB2ZWNsUHA4L1hWZ3dBRFp6ZWFwVWtCRDRUaDZ3ek5SUGhXMGszYlY5Z0tRZWlKNzlwZ24yR2ljejNUNjI5K2tBM1R6emY2OTlybm5wQVB4My8vS2pqcGYycllGSG43WTkxa0hNVEd1cXlEejg2VUUzb29Wc3JLUy9PZThQZGpzeVZsMWVRZnRsbEhOQ0hIbWpsUHV2SFY2YXZ2RDd1MTEvcFFmTW9NTkcvVHJNMmU2UHRZUTljSUJQWGEwYVNPcnlGYXNrQnJobjMwbUs4cWNKU2NEdi9pRkxNYlFkdVNaOGJEb2hzQTRaVGhWVmZjcWl0SURBQW9MQzROaWtNbHV0MlBYcmwzWXZYczM3SFo3alZKVVZxc1YxMTEzSFpZdlh3NmJ6WVkxYTlaQVZWWEhBTk9FQ1JNUVU0OE9ZWkg3NzJ3OW4rZUwzVzUzRERJbEppWjZmRTZIRGgxdzlPaFJ4TVRFMUJnb0hPWldSdVo0OWJsT3JWcTFRdXRBZGhHN0dUWnNHQzZ2WXc2NWQrOWViTm15cGM2ZjNkU0s5WTRid0RobGxPRElwKzY2U3kvVC9mVFQzbmZxRHhnZ2swRFRwc2xxM3JRMElERlJQMWY4Ly81UFZuQTNwTEl5R1hENnkxLzBuS0pYTDluVjVyNkxybTFiT1ZKaHpoenBseFlWeVU2M2UrK1ZmcTM3WXFKTGwrUXNPVzF4VjBHQmxQbDBQcy91NGtYSnNleDJLY04rNDQzZTIzckhIVEpwQjBnL3RyNW4rcTFhSlNYY0FWbEVWbEdoUCtaK1RwNDNaaDFFMURDZk1oenpxY0F4bjJJK1JVM092UG1VdDBwRVJzdlBsektZeTVmTEFxS0ZDK1cyTjMvL3UrUS9UejRwaTYrKytFSW04ZnpOTjVvampxUFhTYkJQMm0wQklObitwazFTLzk1TXREK2ViZHBJcCtWblA1T1NaLzZJajVjRExjdkxwY3ltYzhkQ295anl2UGJ0YXg5UW56Y1ArUDU3dWQ2bmp3eWtuem9sQjV0Ly9YWEQxTU1ORlFjUDZ0ZmR6NkF3RytlSlkvbmpURTNQM0hFcWxPM2JKNU5tSDM0bzVRMmNXYTFTc21ybVRObjVYQnQvVm5ocXE3QXV2eHg0LzMwNVY5UlpiS3dNaU4xNXA4Um1zNVNxYUd5TVU0WlRGTVVScDg2Y09ZUE9adXE4T1hGYW1Zc3Z2dmdDaGRXRHpwR1JrUzduam1oaVkyTXhiTmd3ckY2OUd2YnFCVkNLb21EOG9VbFl2Z0FBRitOSlJFRlUrUEV1WjVQVXhXMjMzZVlvSCtXdXJLd01IMzMwVVVEUDh5VTNOeGNWMVhsZ0J5L2xmd2NNR0lEVTFGUzBxT1V3OFhQbnpqbEtRM1gzVnVxT2FpaHcyb21qcWlyamxESE1uMC85OWEvQXNtVnlmZkxrMnM4Sm1UaFJkcmhObWlRNzlLcExydUgvL3M5N21mTGFuRDVkODc0elorUU1sVGZmZEgzOGpqdGtFczlEL0FRZ3E5Ny84aGM1UCthT08yVFM3YzAzWmNMT3ZYMFJFY0N6ejhwRTQ1WXQwdmQ4NFFYSm8zNzNPNW1RbkRwVnpzOXIxVXJLZm5wejVBancxRlA2N1pJU2ViL25uL2YzcDFDVEZtdDc5SkF2OTVYeHpRSHpLY014bndvYzg2blF3bnpLRk15ZlQ3bFRWYWxrdDJtVGZNMmExVFNmYTdkTEJidzVjeVJIYTl0V0ZseU5HdVg3ZFlvaWVVdmZ2aks1OStHSCtrS29YLys2NmM0Sk5oT09vOWRKc0UvYTdYQmNNOXRoMERrNStuL0s5OTZUanM2NWMxSlNKSkFKc29pSSt2K0hmdTg5dmVNemZib0VqTnR1QS83M1B3azgxMTRyS3l6SlA1czJ5V1ZNak5SYU5qT3RESXpZYUZRelFweDU0MVFvVzdKRVZyZTc2OUZESnRQdXVxdm1XYUtLSWdtajZ3cEIveFFWNlN0MkJneVExZVZoWVZMMmFlUkkrY3hiYjYxNVdIRW9ZSnd5bktxcU83VHlQOW81SFdaMDVzd1p4M1Z0Z0tsYnQyNUlTMHVyVWVLb3JLd002ZW5wT09qY1FZQ1VVRnExYWhVR0R4Nk1uajE3d21LeE5IN0Q2K25vVWIyTXZyY3pVK0w5WExsNXpHbmxJQWVaL0tldHpLL0dPR1VNYytkVGl4Y0RqejBtMTVPU3BQOVYyK0tiNWN1QlAvMnA1cEVGNzc0ck9jaDk5d1ZXSHZ2cHAxMG50djd4RHpuRHZLUkVybXN4ZFBCZ21XQzg1aHIvM25mcVZPbi9USmtpdS9YKytNZWF6MUVVeVcxdXZGRkthdjc1ejNMTXc5Ly9MaVhIZS9hVVhZUmhZZElYVFVueC9GbW5UMHQ1VE8xdmtkVXFQNThYWHBDVjJmZmU2L2VQd3lFblIvcTlnT1JhelJYektjTXhuekkzNWxQR1l6NWxDdWJPcHdBNVRtVEhEdm5hc2tXK25FdFplenNhcWlGdDNDaDVtSFllN3JCaGNveUp0L3pGazF0dmxmR2xuLzRVT0hwVUZtWDkvZStTcjkxeWkrUkVvWUxqNkhVUzdQOURkam11N2RoaHJrTTB0Zk9KNHVLQTY2NlRNcGNUSnNqT3VhYmN2djdwcDNxcHQ5UlVXZFVZSGk3QjVxYy9sUTZNb3NpS1IyZk9XMWRKZCtLRWZyRDgwS0d5QXRXc1ZGVS93MUQ4WUZCTFFwMTU0MVFvR3p0V1ltRkZoU3lPbURwVlZteU5IKy85M3ljaFFRYVJWcXlRQWF0QS9oM2Zla3MvbCtXcXEyUUg5cHR2eWlxdDNyMDl2OFoxaFkrc2NOZGtaZFY4WEhQbWpQZkhBQ21CVWM5VnNRMkdjY29zSEhIcTNMbHpScmJEcThMQ1FwZkJsb2lJQ0l3WU1RSTkzQlkyRlJVVlljK2VQVGh5NUFpcXFnZkN3OFBETVhqd1lCUVhGMlBmdm4wb0t5dkRoZzBic0d2WEx2VHQyeGU5ZXZWQ1pHUmtrMzQvL2lvcEtYR1VYMHBNVEt4WHFTMjczZTc0R2JacjE4N2phbnJ5TEZjcmR3akFicmN6VGhuRHZQblU2dFhBejM4dUs3S3RWdG5WNVZ3VzB0bUZDN0xiL3EyM2dMMU9pM2V2dXc3bzEwOG11TTZmbHpOVFhub0ptRDBiK09VdmF5NGtjbFpaS2J2NnROMXJYYnRLbm5EZmZiSmdhTjQ4NEpOUFpDZmMvZmY3VjBIQVhiOStNb2lSbGVYOWUzUCtYcTY3RHZqdU8xbFJmdkNnWHZhemQyL3Znelc1dVRLUnFFME9USmtpMzhPa1NmSTkvdnJYMHBmKzdXOERhL3NMTDhqckZLWCtaVGJOaXZtVVdUQ2ZZajVGUGpDZk1nVno1bE56NThwRVdYbzY0RHE1S3hSRmNvamh3NEZ1M1dUblhXUFl2bDAydlh6K3VmeHN3c0prN0dmT25McE5zZzBaQW1Sa3lNS3UxMStYQ2srMzN3NzgvdmN5L2pSenBybEtsRFlHanFQWFdWQlAyaWxBamdvY0JOQWJXVmxTU3FOblQ2T2JKZDU5Vnk2dnYxNEdoc2VPbGUydzA2ZkxqanROVXBKMG5NYU9sVi9VRGgxcXI1ZGZWU1VkRiszUytTc3lFaGc0VUo3M3pqdXlHckdxU3M0cCtQSkxRTnZtSHhZbUhjcWYvMXllMDcrL0hQcXBDV1QxUUVNeHFrUm5XWmtNd3JkcEkrVkdXN2FVeWRhWUdIM2JjbDZlbEJlZE0wY2ZPUC81ejQxcHI3OU9ublQrUTVhcHlJR3oxTVJNSGFjOHFXdWRiVyt2cSsxTVRxUEV4MHVDbEpJaUF6anQydFgrbXBFanBSNzV1blVTMjIrK1dVb2srSEwyckF6bS9mZS9janN1VGovRHhmM3NQSGRYWE9IOU1WOERWbSsrS1YrK0hxK3RaRmRUWVp3eWhSa3padVFzV0xEZ29LSW92VzAyRzRxS2lrdzNBQkVYRjRlNHVEaGN1SEFCaVltSkdETm1qR1BBcGFLaUFpZE9uTUNSSTBkdzJxbjBtNklvNk42OU80WU1HZUk0YjZWYnQyN1lzR0VEQ2dzTFliUFpzRzNiTnV6WXNRTWRPM1pFdDI3ZDBMRmpSMU45Nzl1M2IzZVVvdXBiZlQ3b3A1OSs2bjRtU01EeTgvT3hhTkVpcjQvZjdldWNobXBidG13SnFuTlU2a3I3bmFpV09XdldMTVlwQTVnMm4vcm1HNWxjS2kyVjIyKzhBVng5dGV0elNrb2tmL2prRSttUGFjOEZaQURxMldmMTNmK3pad01QUENCbnNKMCtMZWVoUFBPTW5BRTNiWnJrRU02RE96YWJyTmJXcXFhTUdTUFhIMzhjZVBWVktXUDV3UWV5MnZ0M3Y1TmpFcXFxWkhJeFVDMWJTbnR0TnBrRUN3dlQrNWJ1OXV3QjNuNWIveHV2VlN2WXV4Y1lORWgyMHozK3VKemxCd0M3ZDh2M3BpMGNUVXVUWXlWaVltU1FTOHRiSG54UTN1TzExNlRmNjg3NUhKTFlXSG5mZi94RGJrK1o0dm4vakJrR0srdUwrWlFwTUo5aVB1V08rWlNPK1pRNW1EYWYycmhSY2lwTmJLeU12MXg5dFV6VURSL3VPdWJrUEdtWG1sci96OSs3VnliU25LdlE5ZTR0WS92RGg5ZnZ2V05pWklmZDlPbXlFRXM3cm1yZVBKa2dYTE9tWnU3b0w0NmpOeXlUNVZOQlBXbFhiUW1BUndGSVorai8vcy9ZMWdEeW4zSDdkcm4razUvbzk0OGJKNnNNNTh5UlgveExsK1FYOWUyMzVhc2gvT1kzRWd4KysxdnA0QUJ5d1BpMzM4cUVvTFB3Y0RrM0w5UkZSZ0svK0lYckxwYmFwS1g1UG5qVUROYXZkNzYxMXFobUVBQXp4aWx2cW12ek45bnJqUFRHRzRFOWY4NGNTVXdxS21Rd2JkV3F3RjZ2S0RKaFZvL0QycHNkeGluVFVCVEZFYWV5czdOeCtlV1hHOXdpVjJGaFlSZzdkaXlPSHorT3dZTUhvNktpQWdjT0hFQjJkalp5YzNNZHE4QUJHVnhLVGs1R2Ftb3FXcmxWRWtoTVRNVFVxVk54NU1nUnBLZW53MmF6d1c2MzQ5U3BVemgxNmhRQUlDb3FDdGRlZXkzYStaak05K2ZzbEVDZTUwbG1aaWFPSERrQ1FNbzFlU3ZsUkkwckx5L1BjVjFWVmNZcFk1a3ZuNHFJMEhmU3YvU1NETVlBTWdqMjlkZnl0WHExVE53NVMwMlZWZGMvK1lucml1TytmV1hRNnB0dnBIVG01czN5L3RwOXYvNjFMTVljT1ZJbSs4TEQ5WFBMaHd5Um4wdE1qRXpXZGVzR1BQR0U3TUIvN1RYNUFtVENMaXBLTGkwVzE4OVhWZm15MitYTGVaR28rL205aXhlN2xob3ZMQVNXTGdVV0xkTGJCTWh6WG4xVmZoWno1OHFPdWkrK2tQYWxwVW5sbDd2dTBzdVBYM1VWOE5WWGVyNDBlN1pNZEdyLzN1KzhJeitYdDkrV24rUE5OOHNaNzFGUmVtNFdFU0VEU05vdVBhdFZQcnU1WWo1bEdzeW5tRStSWjh5blRNVjgrZFF0dDBoT00yWU1NSHEwNURSTldUNHlQbDR2aGRtaWhZejlQUGhndzU0L04ycVVMR3A2OTExWmxKV1ZKV1BSZFoyd014TEgwWnRFYzVpMFd3V3pCWnNXTFlDZi9VemFjOU5Ocm8rMWF5Y0hXVDd6akd5My9lNDdXUUdZblMyRDN2WGRsWExubmRMeDBnYlFodzZWQTlFVEV3TjdIL2RPbVRjTnVUTHg4ODk5N3l6eHBDRjJCQ3FLbk8zZzNMbjB4bUtSbGFwdnZGRzNGYXBOU1R1N1FTdzNxaGtFd0l4eHlodHZ2L3UxL2E1N2U5MkJBeklBMVJ3TUh5NXhZdTVjNEljZlpIV1JQOXEwa1JqejZLTlNmdE5mcnJXMEc0NlpPcXFNVTJiaWlGTm1IR1FDZ05hdFc2TjE2OVlBQUl2RmduMzc5dUdDMDRLQnFLZ285T3JWQzMzNjlQRlo5a2hSRlBUczJSTTlldlJBWm1ZbTl1L2Y3ektRMEtWTEY1OERUQUFRR3hzTHBaNDVrS3Fxc05sc1hoK3YxQ1lDQUF3Yk5zeHhYc3pRb1VOUlVWRlJyODl1Q0FNR0RNQmxsMTFXcDljZU9YSUVHUmtaRGR5aXhwR1ptZW00cmlnSzQ1U3h6SmRQalJramsyY1hMd0lQUFNUMzVlZkxZczJUSjEyZkd4V2xyN0t1YllCR0t6RzVZb1ZNQmpxdlBqOTJUSTVkME1wTS92YTNzaER6eXkvMXMzRXRGdm41M0hxcjdGaGJza1JLVHBXVXlFU2NqOWpqbDlSVUtTMSs0b1NjMzdkbWpWUWljSTVOdzRiSjJYWVRKc2p0V2JPa2ovemNjOUtteHg0RFpzd0FGaTdVWC9QakgwczFHUGNZL3VDRDBzZSs5MTc1akl3TXlhbE9uSkF6ZWR4LzFuZmRKU1dvcWdmcWNlKzlzc1BQRStlZGo3NTgrbW5UbktOVEY4eW56SVQ1VkRYbVUvNWhQa1VHTUY4K05YTm03WldJdlBuc002a2s0SThEQjF3WEhHazZkNVpqcEJZdWxEeWxZOGU2dGFVMlZpdHd6ejJ5NDJ6UklpbVZXUjhjUjI5WUpzdW5tc09rM1ZvQUJRQVNzSGF0bEo2c3JjNStVL2p0YjJVcnJiZWEzbTNieWkvcVBmZm85Nm1xbEJyUlZqTldWY21YdHRKUm05RFRWa0JxZytSYWtxTW9ldWZ0cmJja3lNeWJCN2dkSm14YUhUdktBZU5HZU80NU9UK2h2RnkrS2lwY2YvWVJFZEsrcTY4Mi82R1pnRXphTGwycTNib0lZS21QWjFQak0yZWMwc1RFeUtDVEw5cUFpellZcEYzWDdxL1Bld2VUdERSZzVVcTVYbG9xY2NLWDhIRHZmd2RxTTJSSTNWNFhMQmluVENVdUxtNXRjWEZ4QVlDRTA2ZFBvNnlzREZGUlVVWTN5NnV3c0RDTUhqMGFLMWFzUUZKU0VycDM3NDdPblRzN0JtTDhZYkZZa0pLU2dwU1VGRnk4ZUJISGp4OUhmbjQrUm93WTRmSDVWcXNWWGJ0MkJRQ01IajBhNGVIaDlmb2VLaW9xc0hidFdzZDd1K3ZSb3dlS2lvcFFWbGFHems3bDhKS055cFhjUkVWRjFWaDVIOGhyZzBGNWVUbXlzckswbXhjVlJXR2NNcFk1ODZuZi9jNzFkcnQyc21neUxVMzZGR1BHeUdERjlPbUJueWs3WVlKODdkMHJaOWI5Kzk5eXZweTJhdzZROCsrOGxmcnUxQWw0K0dINUFvQ0NBaW03V1ZibTJ0L1VkdGNCcmd1eEZFWC9zbGoweXk1ZDVIcGtKUEQ4OC9wT3d2QndLWFA1cTE4QjExNWJzejJ4c1ZJS2F1NWM2WHQ5OFlYK09ZODhJaE9nM3VMNGpCbEFqeDR5OFplYksvMjN0bTFsWjk3bXpkTCtkdTJraFBuY3VkSzJ0OTRDWG54UjJ1aU52L0dvbmpHLzBUQ2ZNaFhtVTh5bkFzVjhpZ3hnem55cXJwS1QvWiswODdYd2VzeVlwaHU3aW9pUVNnTDF4WEgwaG1QQ2ZLb1pGSEFIVk9CVkFBOEFrS1RjdmVOa2xJb0s4eWIzbnBTWDZ4MHVmOCsxMGdKZWVMajNHZlBpWXIxVXlkU3BybzhWRnVxSFBJNGRHL2g1V2t1V3lPV2dRY1lGS2pQNjhFUG5Xc0dmS01DdFJqYUhUQnluek1KdUI4NmZsK3N0V3daZWhrQkxGQURYaVVVeUw4WXAwMW00Y0tFalRnMGRPaFQ5Ky9jM3VFVzFzOXZ0QVEwc0JhT3FxaXFQZzFCRzBjcGV0V3JWQ25GMWpMZWxwYVdPYzJScVc0VnZwS05IanpvR0FsVlYvV1RHakJtTVV3WUxxbnhxODJicG53UmE4Y1NYeWtvNVlzSEg3cGNtOSt5enNzdHU2bFQ1Q3VSM2V1OWVLUkg2OHN2QXhJbit2ZWJjT1ptMG5Edlh2Nm92d1Q0WVdSdm1VNmJEZk1xY21FOFpoL21VK1FSVlB1WEppUlBBdi80bDEzLzFxNXJIUVhseityUXM2QUZrd1pOWng1RTVqdDcwVEpoUE5aZEp1eEVBTmdLUTJmVjkrNXJIZ2RKRWRhR3FVaFpWTzFjUm1LUUFYeHZaSkdLY0luTEJPR1ZLaXhZdEdxR3E2a1pBQmhDbVRadFc3NUpGUk1GS1ZWVXNXN1lNNTg2ZEF3RFk3ZlpKTTJmT1pKd3lHUE9wWmtoVitXOVlWOHluVEluNUZKR08rWlE1TVo4aWNtTFNmS3BaTEtWUmdFMEE1Q2Q3NElCZXVvd29GRzNlN0J4b0RwZ2gwQkRqRkpFTHhpbFR1dnZ1dXgxeDZzS0ZDOGpKeVRHNFJVVEdPWHYyckdPQUNjQUJEakNaQS9PcFpvaURoSFhIZk1xVW1FOFI2WmhQbVJQektTSW5KczJubXNXa1hiVVhITmVlZk5LMUZqOVJxRkJWT2ZCZDk0WlJUU0dQR0tlSUdLZE1UVlZWUjV4S1QwODNzaWxFaG5MKy82K3FLdU9VdVRDZkltSStaV3JNcDRnRTh5bFRZejVGWk9KOHFqbE4yaTBCY0J3QXNIR2pmcWcxVVNoWnZ4NzQ2aXZ0Vmc2QXR3MXNEZFhFT0VYRU9HVnEyZG5aU3hSRk9RNEErZm41em9mR0U0V012THc4eDFrekFISnNOaHZqbExrd255SmlQbVZxektlSW1FOEZBZVpUUkNiT3A1ck5wSjBDbEFQNHZlT09oeDhHeXNxTWF4QlJVeXN2Qng1NHdQbWVweFhna2xITm9ab1lweWprTVU2WjNyeDU4OHBWVlhYRXFhMWJ0NktxcXNySUpoRTFxYXFxS216YXRNbjVycWNmZU9BQnhpa1RZVDVGSVkvNWxPa3huNkpReDN6Sy9KaFBVY2d6ZVQ3VmJDYnRxdjBQd0RZQXdLRkR3Si8rWkd4cmlKclNLNjhBZXVtQi9RRG1HOWdhOG81eGlrSVg0MVJRdU9lZWUvNm5xdW8yQUNncUtzS09IVHVNYmhKUms5bTNieC9Pbno4UEFGQlZkWDlXVmhiamxEa3huNkxReFh3cUtEQ2ZvbERHZkNwb01KK2kwR1h5ZktwWlRkb3BnQXBnSm9BS0FNRExMd09yVmhuYUpxSW1zV1VMOE1jL2FyY3FBZnhTQWV3R3RvaThZSnlpa01VNEZVeGM0dFRldlh1Ums1TmpiSXVJbWtCK2ZqNjJWeDlDcnFwcUpZQmZ6cHMzajNIS2hKaFBVY2hpUGhWTW1FOVJTR0krRlR5WVQxSEkrdi8yN3VlMXJqSUI0L2p6dHJVL1o5R1FLdFNXT3M2aUMzSEVSZk1IK0t0VVhRZ0REdTVLbXJyclZncURpeXdWTnk3aW9pNjY2RUtoR3cwRmFTbWRxVEFnRGtVY2tBRXJWSG9aVFZCU2FOTW02VFRtekNJbXhHbW5vcmJjKzU3eitTelBUY0s3ZXZpU2M4KzlGZlJVcTI3YUpVbEovcGxrK1JzRWYvZ2hlZVdWNU91diszc291SisrL1RaNTZhVmtjWEhseWpzbCtYcy9qOFRkMlNrNngwNVZaMnhzYkhXbm1xYkorZlBuTXpzNzIrZFR3ZjB6TnplWGMrZk9wV21hSkVrcDVaMnhzVEU3TmNEMEZKMmpwNnFqcCtnYVBWVWZQVVhuVk5KVHJidHA5Nk0za3Z3dFNUSXpreno5ZEhMNWNuOVBCUGZEMUZUeTNIUEo5UFRLbFF0Wis1blVEREk3UlRmWXFXcjFlcjNWbmJwNTgyWk9uejZkNjlldjkvbFVjTy9OemMzbHpKa3ptWitmWDdsMG9kZnIyYWs2NkNtNlFVOVZTMC9SRlhxcWFucUticWlvcDBxL0QzQy9OTWx3a244aytVT1M1SkZIa284K1NoNTdySy9uZ252bTBxWGtoUmVTTDc5Y3VmSk5rbjBsbWI3TGJ6RkE3QlN0WjZlcU56RXhNYngxNjliVm5kcTJiVnYyNzkrZjdkdTM5L2xrY0cvTXpzN203Tm16dVhyMTZzcWxiMG9wKzBaSFIrMVVKZlFVcmFlbnFxZW5hRHM5VlQ4OVJldFYxbE50ZmRJdUpabEpjaURKdjVNc3YwTmdaQ1I1Nzcza3g4ZTBvVXBOazB4T0prOCt1WFpvdmt2eTRxQU9EWGRtcDJndE85VWFSNDRjbVNtbHJPN1VqUnMzY3VyVXFWeTZkS25QSjRQZnJ0ZnJaWEp5Y3UwL21MNXJtdVpGLzJDcWk1Nml0ZlJVYStncDJreFB0WU9lb3JVcTdhbldQbW0zb2trZVRmTFhKTDlmdlhqZ1FQTFdXOG5qai9mcldQRHJmUFZWY3ZSbzhzRUhhNjlPSlhtMkpQL3EwNm40amV3VXJXS25XdW5FaVJPUExpNHUvbVNuZHUzYWxaR1JrUXdORGZYdllQQXJYTHQyTFJjdVhNamxOUi83MHpUTlZDbmwyVU9IRHRtcFN1a3BXa1ZQdFpLZW9rMzBWRHZwS1ZxbDRwNXEvVTI3SkdtU0I1TzhuK1NaMVl1bEpNOC9ueHcrbkR6MVZPSmpDUmhVczdQSnh4OG54NDh2dnpOZ2FXbnRxNThrZWJrc1A5Skx4ZXdVVmJOVG5YRDgrUEVIU3ludk4wM3p6TnJydTNmdnp0NjllN056NTg1czNMaXhYOGVEdTdwMTYxYW1wNmR6OGVMRjlIcTkvMzM1ay9YcjE3OTg4T0JCTzFVNVBVWFY5RlFuNkNscXBxZTZRVTlSdFpiMFZDZHUyaVZKcy94Um9IOUpjalRKNzM3eVlpbkw3eGJZdHk5NTZLRmtlRGg1NElGK0hCT1N4Y1hsTDM3OS92dmtzOCtTenorLzA2UG84MG5lVHZKNlNaWnUveVBVeUU1UkRUdlZXZVBqNCt2MjdObHo1NTFLTWpRMGxCMDdkbVR6NXMzWnRHbFQxcTFyN1NleE0rQ2Fwc25Dd2tJV0ZoWXlNek9USzFldTNPbkg1cE84M2V2MVhoOGZIN2RUTGFHbnFJYWU2aXc5UlMzMFZIZnBLYXJSMHA3cXpFMjdGVTJ5TThtYlNmNmNaRk9mandPLzFLMGtIeVo1clNTWGYrNkhxWk9kb25KMnFnT09IVHUyYzhPR0RXK1dVdXdVMVdtYTVsWXA1Y09scGFYWERoOCtiS2RhU2s5Uk9UM1ZBWHFLbXVtcGJ0QlRWSzdhbnVyY1Ric1ZUVEtjNU5Va2Ywcnl4eVNiKzNzaStMLytrK1NMSkpOSjNoM2tMOG5rM3JKVFZNUk9kZFRFeE1Ud2xpMWJYaTJsMkNrRzNlcE9sVkxlSFIwZHRWTWRvYWVvaUo3cUtEMUZSZlJVUitrcEt0S0tudXJzVGJ1MW1tUmprcEVrVHlSNU9NbldMRDhHRFAyd2xPWEhkcWV5UERLZmxtU2h2MGVpMyt3VUE4Wk9jWnVUSjA5dW5KdWJHMWxhV25vaXljTk4wOWdwK21tcGxETGZOTTFVS2VXTFVzcW5vNk9qZHFyajlCUURSazl4R3ozRmdORlQzRVpQTVdEMEZ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EQXdQb3Y2MXR0MnBOZFdBc0FBQUFBU1VWT1JLNUNZSUk9IiwKCSJUaGVtZSIgOiAiIiwKCSJUeXBlIiA6ICJmbG93IiwKCSJWZXJzaW9uIiA6ICIiCn0K"/>
    </extobj>
    <extobj name="ECB019B1-382A-4266-B25C-5B523AA43C14-2">
      <extobjdata type="ECB019B1-382A-4266-B25C-5B523AA43C14" data="ewoJIkZpbGVJZCIgOiAiMjM4NjA4NDA2MzgxIiwKCSJHcm91cElkIiA6ICI1MTE0NDg5MzIiLAoJIkltYWdlIiA6ICJpVkJPUncwS0dnb0FBQUFOU1VoRVVnQUFCVjhBQUFHZkNBWUFBQUJJaEtLM0FBQUFDWEJJV1hNQUFBc1RBQUFMRXdFQW1wd1lBQUFnQUVsRVFWUjRuT3pkZVhpVTVkVUc4UHVaSVh1QWhDMHNBY0sraWdUWmdzb2lLb2l0NEVJcjFhS0lsbXF0dGxacjNYRnA3VmMzV3EwVksxZ3RWb3RWUVFWWkJSRVEyY0srQnBBRUFpRkFJUHM2Ny9mSHlUdnZPNU5aazBsbUpybC8xNVVyczgrVFFKNDV6M1lPUU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OU1lxR0EzSUJSb1FBU0EvZ0I2QUdnRElCcjgzVkR3YUFES0FKd0ZjQXpBSGdXVUI3ZEpaTVkrZzBJTSs0d3dNSGZ1M0lobXpacjF0OWxzUGF4V2F4c0EwVW9wOWhzVUZKcW1hUURLTkUwN1cxbFplU3d4TVhIUFQzN3lFL1liSVVRRExBRDZBdWdGb0IwazFyQUV0VkZFdFZjQklCL0FTUUM3RkhBdXlPMGhFOFlvRkVvYWE0elNaUCtnTktBbGdCc0IzQWJnY2dBeHdXMFJrVnVsQUw0SDhBR0FUeG1zQkFmN0RBb2o3RE5DeE55NWMxczJhOWJzUnFVVSt3MEtkYVVBdmxkS2ZWQlVWUFRwL2ZmZnozNGpDRFRwSTI0QU1CM0FhQUR4d1cwUlViMDVCR0F4Z0FVSzJCWHN4alJGakZFb2pEU0tHS1hKVGI1cVFHc0Fqd0c0RCt4Z0tQeVVBWmdINEhrRm5BNTJZNW9DOWhrVTV0aG5CTUY3NzczWHVyS3k4akdsRlBzTkNrZGxtcWJOczFnc3o4K1lNWVA5UmdQUWdEZ0F2d1B3ZThobG9xYmtld0NQS3VDYllEZWtLV0NNUW1FdWJHT1VKalA1cXNuUCtnc0Evd2Zad1daUUN1amVIZWpYRDBoTUJGcTBBSm8xQzBZemlZQ3FLaUEvSDhqTEF3NGVCQTRmQmpUTitWR0ZBSjRHOEZjRjJCcStrWTBmK3d3S0crd3pRb2FtYWVyZGQ5OTEzVzhBYU42OE9WcTJiSW1vcUNoRVJrYUNKL29vV0RSTlEzbDVPY3JMeTNIeDRrWGs1K2U3ZWt5aFV1cnB6TXpNdjg2ZVBadjlSajJvampWdUIvQWFaTEhYVWRldXdJQUJFbXUwYkFsRVJEUjBFNGtDbzdBUXVIZ1JPSEVDMkxrVEtDbHg5YWd2QWZ4U1NXb0NDakRHS0JRdUdtdU0waVQrb2pRZ0VjQS9BZHhzdjFFcElDME5tRDRkdVBsbW9FMmJvTFdQeUtNTEY0RFBQZ1BlZXc5WXQ4NTVVbVU1Z0o4cklEZElyV3VVMkdkUVdHT2ZFUlJ2dnZsbVlsUlUxRCtWVWplYmIyL1hyaDE2OU9pQmxKUVVSRWRIQjZ0NVJCNlZsWlVoTXpNVEdSa1pPSDI2eGthUzVRQitmdGRkZDdIZkNDQk5VZ3E4RHVCT2h6dUdEQUZ1dXcyWU5nM28wQ0VZVFNPcVgxVlZ3SGZmQWZQbUFaOStLZ3ZJaGp3QTA1VDBPeFFnakZFb25EV1dHS1hSVDc1cVFFY0Fxd0Qwczk4NGNpUXdadzR3WWtUUTJrVlVLenQzQXIvNURiQjJyZm5XSHdCY3BhVFFEdFVSK3d4cVZOaG5OSWg1OCtaMVZFbzU5QnR0MjdiRmlCRWowTFp0MnlDMmpNaC81OCtmeC9mZmYrODh3UG1ocXFycXFudnV1WWY5UmdCb1FDc0FLd0VNc2Q4NGNDRHc2cXZBTmRjRXJWMUVEYTY0R0hqNmFlRE5ONTEzdzk2bmdIOEVxMW1OQ1dNVWFrekNPVVpwMUpPdkd0QVp3TmNBZWdJQW9xT0J2L3dGdVA5KzJjVkdGSTQwVFhhMC9lcFhFckNJRTVESmxNTkJiRm5ZWTU5QmpSTDdqSG8xZi81OGgzN0RhclZpMkxCaDZOZXZuK2NuRW9XNHc0Y1BZOU9tVGFpc3JBUUFhSnAyd21LeFhEVmp4Z3oyRzNXZ0FXMEFyQUV3RUFBUUdRazg5aGp3ekRPTU5hanBPbklFK01sUGdPM2J6YmYrVmdGemd0V2t4b0F4Q2pWVzRSaWpOTnBQZUExb0FXQWpnQUVBZ1BidGdjV0xnZUhEZzlvdW9vRFp1eGU0L25yZytISDlscU1BaGluZ2ZCQmJGYmJZWjFDanh6NGo0QllzV05DaXZMemMzbS9FeE1SZy9QangzRWxDalVaZVhoNVdybHlKb3FJaS9hYWpOcHR0Mk4xMzM4MStveFkwSUJiQVdnRERBRWd1MTA4L0JjYU9EV0tyaUVKRVpTVnd6ejNBdi81bHZuV2FBajRLVW92Q0dtTVVhdXpDTFVheEJMc0I5VUVEckFEK0RYMFNwVU1IWU0wYVRxSlE0ekpnQVBETk4wQktpbjVMZHdDZmFnQXJQL21KZlFZMUNld3pBbXJod29YV3NySXllNzhSRXhPRGlSTW5jbEJEalVwaVlpSW1UWnFFK1BoNC9hYnVGb3ZsMDltelo3UGY4Sk1tNDY1L1FKOTRiZFVLV0wyYUU2OUV1bWJOZ0hmZkJlNjkxM3pyKzVvNVBRZjVoREVLTlFYaEZxTTB5c2xYQUE4QXVBR0FWQVpkdFFybzJ6ZTRMU0txRDEyN0FsOS9EYlMyRjhnZEErQzVJTFlvWExIUG9LYUJmVWJBRkJZV1BxQ1V1Z0VBSWlJaU1HSENCQ1FrSkFTN1dVUUJGeDhmajRrVEp5SXFLa3EvYVV5WExsM1liL2p2WndDbUF3QmlZNEhseTRIVTFPQzJpQ2dVdmZrbWNPdXQrclVJQUlzMGdCK3dmbUNNUWsxRk9NVW9qUzd0Z0FiMEFiQVRRQlNzVnVEamo0RWJid3gyczRqcTE1bzFVcUNocWdvQUtnQ01WTUIyTDg4aXNNK2dKb3A5UnAzTW16ZXZqMUpxSjRBb3BSVEdqUnVIcmwyN0JydFpSUFhxMUtsVFdMNThPVFJOQTRDS2lvcUtrYk5teldLLzRRTU42QVpnSDRCb1dDekFPKzhBTTJZRXUxbEVvYXVpUWs2ZzdkaWgzekpQQVhjSHMwbmhnakVLTlVYaEVLTTBxcDJ2bWt3bXZ3MUFwcjFuemVJa0NqVU40OFlCVHo2cFg0c0E4STdXQ0JkWEFvMTlCalZaN0RQcXdxSGY2Tk9uRHdjMTFDUjA2TkFCbDE1NnFYNDFJaUlpNGgydzMvQ3F1bStkQ3lBYUFIRHp6Wng0SmZJbUlrTHlJY2ZGNmJmTTFJQ3hRV3hSdUdDTVFrMVNPTVFvaldyeUZjRDFBRVlEa0tPVkw3MFUzTllRTmFRLy9NRjhWRDRWd0IxQmJFMjRZSjlCVFJmN2pGcVpQMy8rOVVxcDBZQWNkUm8yYkZpd20wVFVZQVlOR29TV0xWdnFWMVBuelp2SGZzTzdjUUN1QVFDMGF3Zk1ueC9jMWhDRmkyN2RnTWNmTjkveXN0YjQ1aThDaWpFS05XV2hIcU0wbXM2cnVtQ0lNWFB5bDc5SVBpV2lwaUk2R25qOWRmTXR6MmhBWkxDYUUrcllaMUNUeHo3RGI5VUovTzM5eHRDaFE5R3NXVWptOUNlcUYxYXJGU05IanJSZlYwbzlNM3YyYlBZYmJsVEhHblBzTjh5ZURSaUZRWWpJbThjZUEzcjMxcTlkQnVDV0lMWW1wREZHb2FZdTFHT1VSalA1Q3VCSEFHUUx6NUFod05TcHdXME5VVENNSDIrdW1wc0M3bVR6aEgwR0Vmc012eVFuSjl2N2pkYXRXNk5idDI1QmJoRlJ3K3ZZc1NQYXQyK3ZYMDNwMnJVcit3MzN4Z0c0QkFEUXN5Znd5MThHdHpWRTRVWXA0TmxuemJjOHhUUkpyakZHSVFydEdLVXhUYjQrWXIvMDlOUFNVUk0xTlRVRGxQdUQxWlF3d0Q2RGlIMkdYeXdXaTczZkdEeDRjRENiUWhSVXFhbXA5c3MybTQzOWhudVAyUzg5OFFSakRhTGF1UFZXMlNnaEJrSVdOY2dKWXhRaUVhb3hTcU9ZZk5Ya0NNSW9BRUQzN3NBTk53UzNRVVRCZE9XVndNQ0IrclZCR2dPVUd0aG5FSm13ei9ESlAvLzVUM3UvMGJ4NWMzVHUzRG5JTFNJS25xU2tKQ1FrSkFBQWxGS0Q1czJieDM3RGlRWU1nTjZmZHU0TVRKOGUzQVlSaGJONzd6VmZleUJZelFoVmpGR0lES0Vhb3pTS3lWY0EwK3lYWnM3a3FqSTFiVW9CRHoxa3ZtVm1zSm9Td3RobkVPbllaL2pFWXJIWSs0MWV2WHBCc2QrZ0prd3BoWUhHb2czQWZzTVZJemZsN2JjRGxzWXk3Q0lLZ3VuVGdUWnQ5R3MvMW9CMndXeE9xR0dNUW1RSTFSZ2w3S01BRFlnQUlFdkpWaXR3MTEzQmJSQlJLTGpoQnNCSXNENkpSWFFNN0RPSVhHQ2Y0ZEhjdVhNamxGTFRBUW5vZXZYcUZld21FUVZkNTg2ZDdRTjhwZFNraFFzWHN0K29WbDFvUzdicVdhM0EvU0Z6NnBFb1BFVkdBai8rc1g3TkFtQktFRnNUVWhpakVOVVVpakZLMkUrK0FyZ2NRRnNBd0toUmdKRmNsNmpwYXQwYW1EUkp2NVlJS1M1RmduMEdrVFAyR1I1WkxCWjd2OUd1WFR2RXhzWUd1VVhob2FTa0pOaE5vSG9VSFIyTjVPUmsvV3BpVVZFUit3M0RaUUNTQUFDcHFVREhqc0Z0RFZGamNQdnQ1bXUzQmFzWm9ZWXhTdTB3Um1uY1FqRkdhUXlUcjFmYkwvMG82TDlQN3c0ZEFqNzZTTDRhMGhkZkFFOCtDYnovUGxCUjRmdnpkdTBDZnZJVDRPT1BnYUtpdXJmajRFRWdJOE8vOTc5NHNlN3YyeFJObldxK0ZnWi9IQTBtdlBxTXVscS9IamgvM3IvbmJONE12UEdHZk5YVzRNSHk5Y01QL2o4M09scSs2dkwrVHo0cFgrbnB0WHYrd3cvTDE0b1Z0VzlEdUdHZjRaWlN5dDV2TUkrYWIvTHk4ckJ3NFVKODlkVlhPSFhxVkxDYjQ2Q3lzaEk3ZHV6QWpoMDdBdjdhZVhsNU9IYnNHSTRkTzRZelo4NzQvTHl6WjgvYW4xZFZWUlh3ZHRXWGxKUVUrMlZOMDlodkdNYllMMDJjR1BoWHo4b0NEaHdBU2tzRC85cmw1YjQ5cnFnSVdMZk85OWRkdEFpb3JLeGRtM3hWVWdLY1BpMWY0WTV4VkUxang1cFREMXloQVFtQmUvSHd4UmpGZjR4UkdLTUVRelB2RHdsNWsrMlhqS01Jb1d2cFV1QzN2NVhMdDk3YWNPKzdaQWt3ZHk0UUV3UDgvT2UrUDIvT0hKbDQvZmhqWU9WSzRPcXJ2VC9IazBjZkJSWXZsc0lER3pjQ3htcUVJMDJUNCtEdnZ3L2Njdy93MWx0MWU5K3FLaUEzdDI2djRVcFNVdWptQzczOGN2TzEwY0ZxUmdnS3J6NmpMb3FLZ0d1dkJjcktnTFEwNEp0djVQaWpOMHVYQXM4K0s1ZHJlMVJ5NTA3NVhwdUJZVm1aZksvTElPMlBmNVR2UFh2S3JpTi92ZktLZkkrUGw5OWhVOEErd3kybGxMM2ZDTldCelprelp4QVhGNGU0dUxoZ053V2FwbUhEaGcydzJXekl5Y21CMVpkK3B3RXRYNzdjUHVobzI3WXRPblhxRkxEWFhydDJMUzVjdUFBQXVOYVB2bVA5K3ZYSXk4dERmSHc4dW5YckZyRDIxTGVrcENUelZmWWJCaVBJZDF6WThrMWhvWHordVBQS0s4QmYveW94YUVhR0ZBOTFmdjQ5OXdCUFBHRXVxT2pkbmoweVBwazFDL2oxcjkwL0xqMGQrT2xQWldKdzBTTHp5UW5YTm0wQ2JyeFJKaFBuelROWHJuZmRocFFVenorL08vLzlMekJqaGx6V05OK2ZwMmwxMit6UnZMbHY4WlUvR0VmVlpMRklyTEo0TVNDYnlLNEU4RVZnWGp4OE1VYnhEMk1VeGlqQkV0YVRyNW9jNTVHSW9tTkhvRy9mNERZb1VONTZ5N21pbzNlZmZRWk04WkQ2NXNnUitkNm5qKytUaGJtNXdILytJNWN2djd6dUU2OUZSY2JxWjZ0VzdpZGVBV2xqbXphQXpRYTgvVFp3eHgweWVWUmJodzhEL2ZyVi92bnU1T1VCQ1NHNjZKcVNBblRyQmh3N0JnQTlOS0N6QXJLQzNLcWdhcEErWS9kdXFSN3ZpMTI3Z0M1ZC9IOWVkTFJ2dXpxV0xwVmRJSUQ4dk03QnhlSERNbUFMc2FBamJEWDBRc3lERDhvQ1dhQ3d6M0Rwbi8vOFo1SlNhaUFBeE1iRzJxdW5ocExEaHc5ajQ4YU5pSXVMdzNYWFhlZHhjUFB1dSsvNjlkckRody9IZ0FFRC9Ick9uajE3a0Z1OTREbHc0RUMwYXhkYWRWR0dEeCtPSlV1V1FOTTByRisvSGpmZGRCTWlJaUxxL0xxWm1abjJRVTF5Y3JMUEE2Yno1ODhqTHk4UEFNSnFVQU5JVmUzNCtIZ1VGaFlDUUkvNTgrZDN2dXV1dTVwMHY2RUJyUUhJYkZXN2RzQWxsL2ozQWphYnhLeng4Y0NkZDhyR0JXZjc5OHYzNkdqcHU1M2RmYmRNUkg3NnFVekFQdllZNE12LzhWbXpnTDE3Z2QvOVRpWkszY1VsRVJGQVRvNmNwcnZsRnRtZzRiaUFaNmlxQW43MUs3bThZNGQ4eHJpYmZQM0xYNENubmdJR0RRSysrc3E4eTdGKzVlUUFIVHJVL3ZuZmZRZU1IQm00OXBCNzQ4YnBrNjhBTUJaTmZQS1ZNUXBqRkY4eFJnbCtqQkxXazY4QUxyVmZ1dXl5ME4yQkdBcjB5VmQvSnB2ZWVNTllPWDNtbWJxM1lka3lZeUxvN3J1OVAzNzJiRW5QY09LRTdMN2Jzb1dWWXYyaEZIRFZWYkxEUUZ3SjREOUJiRkVvcVA4K282cks5OTBUTmx2dG51ZnJMb2hQUGpFdTMzRkh6ZnZIakpIWCt2M3ZnVC84d2JmWHBNYUxmWVpMRm92RjNtKzBidDA2bUUxeHE3aTRHRGFiRFFVRkJWaTJiQm11dSs2Nm9PVjhPM1hxRkxadDIyYS92bnYzYnV6ZXZidE9yemx0MmpSRVIwZlh0V2wyYmR1MnhjQ0JBN0Y3OTI0VUZ4ZGorL2J0R0RGaVJKMWVVOU0wcEZjZnoxVktvVisvZnJqb3BVK1BpWWxCWkdRazl1elo0OUEyYjgrTGpZME55RUFzVURwMDZJRERodzhEQUd3Mkcvc053Rmp0SHpqUS8xaGo1VXFKZlFHSkRWdzVjS0Q2bmZxNWpvM3Z2eC9Zc0VGZTU1bG5aSGZxaHgvS0pneFAvdjF2bVJpOWVGRjI3RzdiQnJnYW9BOGNLS2ZpcnI5ZVl2dkprMlVDMGxXaG56bHpnTzNiNWZJamp3QTMzK3orL2ZQekplM0IxcTNBRlZmSXBnMTlrVHFVMVdhRFNGSlM0MGlQME5DdXVzcDg3WXBnTlNOVU1FYnhEMk1VeGlnSVlvd1M3cE92eHJMcHBaZDZlRmlReUF5N0kzTWVKVmYzeDhmTGNaK3hZNzIvZmtFQk1IeTQ5OGVWbHdQSGo4dmwvdjI5UDE1LzdkZGZsOHVqUndQWFhPTjQvNVl0TW1uajYwNDl3SmdJaW82V2hPbDY0T2pKTDM4cEsrQjkrc2pPd0tnbzc4L3hOc0c4WUlFRWk3WDE3cnZBUXcvVi92a05hZGd3ODBUS0tIQkExSEI5UmxTVTYwblMwbEpKLytIdjh3RFpNZUxyMGEvU1VrazNBa2hSTWVlY2M0Y09BWHFPbzJEc2ZOV1BRZjdoRDg0RkZNTGZkZGNCMDZmWDMrdFBtMVovcjgwK3d4Vjd2OUdxVmF0Z3RzT3RTeSs5Rk1YRnhUaHc0QUR5OC9PeFlzVUtUSm8wQ1pHUjdndTdEaG8wQ0QxNzluUjcvNmVmZnVwM093b0xDN0YyN1Zwby9oejNEWkNzTFA4Mk1yUnUzUnBXcXhWeGNYRm8zYnExejg5WFNwa0xPTmp0Mzc4ZjU2dnphMnVhaHBVclYzcDlyYlMwTkxSdjN4N0haTGM1QU9EcnI3LzIrcnl4WThlRzFPNlR0bTNiMmdjMlNpbjJHNEN4MWRXZkkvKzY5OTZUN3hFUndNeVpOZTh2S0pDY3I1NWUvNG9ySkdhWU1VUHFQcVNueTZUcWE2OEJ2L2lGKy9mdTNsM2VmOG9VMlEzNnM1OEJYMy90T2s2NDlscmdUMytTQmR4ejV5UzIzclZMNG56ZHZuMlNOMVIvL0lzdmV2N1pYM2hCeGl3TEZraWRpTkdqNWYzMXRBcFRwcGgzUFhybXk2UzMzbGUxYTJmRVJQb08yTGZla2tsbFo4dVdHYWtOZnZoQjRyYmE3SnF0NndhQXhoeEhlVEpnQUJBWHA5Y2lTZFdBYUFYVVEvTGpzTUVZeFVlTVVSaWpCRHRHQ2ZmSlYyUG1zUzVIMHV0TDgrYiszNjlwY296ZGx5TUQxZHZHdmNySU1IYlkrUm9FdnZtbUhLa0hqSncvdXBkZmxwWHI3dDBscVBKbFF2VDhlVW1OQU1qa2NrSUNrSmpvVzFzQVdhMy84RVBmSHV1dFE0MkxxMXVxQUU4VFo2SEc4YWhiTFVZQWpVNW85eG1COU5sbnhnTFAzWGZYSERoOTg0MXgyWGx4cFNIczNTdmZ6NTV0K1BldWI3MTdHem05Q3dxTWZIOVRwc2lDVWwzVjUrUXIrNHdhbEZMMmZxTnQyN2JCYklwSEkwZU9SRkZSRWJLeXNwQ1hsNGVWSzFkaXdvUUphTmJNQ1BWc3B0MzJjWEZ4YU5teVpjRGV2N2k0R011WEwwZXBhZkhJYXJWaS9QanhmdjNlS2lzcnNYNzllcHc4ZVJJQTBMVnJWMFQ1RUdlc1dyWEsvMFlEeU0vUHg3ZmZmdXZ6NDYxV0s2WTdMYTRVRmhaaXU3Nnp6MC9mZmZlZHc3OUxPRXAwak9mWWI1aDM0NDBaNCtGaExwdzlLNmtDQU9DbW0yUjNwTE50MjR4WTE5TW1qTmF0WmFMeStlZmxORmx4TWZEY2M3THoxTk1PdWNtVHBUN0ZhNjlKUWEzWnMrVTFYSG5rRWRueHVuczM4TTQ3amhPdnBhVXllVnRhS2p0aVAvckl0OFhlZWZOa2N2bWJiMlFpVnArQTdkM2IrM05yeTJLUmhXcXpsaTFyM2dZNGppR1NrdVJuUG54WTJxZHA4dS9uYWFIOHVlZGtJNGVyZjF0L05PWTR5aE9MUlRZVGJka0NBQkVBK2dJSWZHV2lNTUVZeFRlTVVSaWpWQXRxakJMdWs2L0dMNjgySzh0TnhjR0R4bVZmZmsvNStjQkxMOG5sU1pOazlkeHMwaVRKUDNYMHFDUlRmL3h4NzYvNTdyc1NmQ2tsbFMrcFlUZ1dZQWlkSmFqZ2FUcDl4dHk1OGowaXduVU82UysvbE8vSnlaTFhMVnhrWmNreHhCVXJaSEJZMnh4ck5wc3NIZ0ZBMTY3ZUY4dHFhOXMyWVBseXVWeWJvaXNOalgyR0svYk9JdEdmUmNNR3BwVEM2TkdqOGNVWFh5QS9QeCtGaFlVb0xpNUdpeFl0N0k4cGtwMUNBQkRRSTNLbHBhVll2bnc1OHZQem9aUkNXbG9hOXUvZmo3eThQS3hkdXhiWFhIT05Uem5WQ2dvS3NIYnRXcHl0bmt6bzFLa1R4bzRkQ3hYQ2FhV3FxcXF3WnMwYVZGUlVBQURHalJ1SGxKUVU1T2ZuNDhpUkkramZ2Ny9iZ2RtZVBYdHd1dnJZY2JkdTNUQzIrdFJUUmtZR2twS1MwTHkrK3FVQU03ZlRZckd3MzlEenZRTCtGeXFhUDk5SStlV3U0SlZNT2dsdkorQ1VBcDUrV2s3N3pKb2xrN0crSEUxKzhVWDVuTjI3VjNhM2poc254NzFkblZwNy9IR1pFSXVOZGJ6LzFWZWxhRlJFaE9SeXpjbVJMek5YcDlVaUl5V2x3YkJoTXZsNityVHMzTzNkRy9qNzM0RS8vOWw5dXovN3pCaVg2SGx4RzBMUG5wS2ZOamRYaWx5NXlzT3IwMU5LK0pzTE9GRENMWTV5cFVjUDg5OUJkelRoeVZjd1J2R0tNUXBqRkYyd1k1U3duWHpWZ0VoSVp5czdMejBWYndvV1Y5dkQ1ODJURldSMzl3ZUt1MDdBMWFweDE2NXliRWIzMGt0eWZNaGlBZjd2LzJvK3ZuOS9tVVQ0NzM4bE9MdnpUaW5tNDQ2bUdSTkIxMTh2eDBYMDI2bCtKU1hKVGwzSnRadmNsSS9taEVXZkVTZ0hEaGc3VzZkT3JmbjNXVmhvRkw4Yk1hTG1ZTXE4aThKVGVwRFkyUHJQeFZaWUNLeGRLem53VnF4d2JJK25Tc3plNU9jYkF4OXZCUXQ5MWJXcmZEY2YrOXE2MWJnOGJGamQzOFBkK3dRSyt3d0hDeGN1akN3c0xPd093SDc4SzVSRlJrWmkvUGp4V0w5K1BjYU5HMWVqdmZwT0RTQnd4eE9MaW9xd1lzVUtleEdIVWFOR29YZnYzdWpVcVJPV0xsMktvcUlpZlBYVlYwaExTME52RHp2WERoOCtqTysvLzk0K1FPamR1emZTMHRKZzhUUFhlN2R1M1RDeUhndmZPQSt5Tm0zYVpCK0k5ZW5UQnlrcEtiaHc0UUlXTDE0TW04Mkc3T3hzVEp3NHNVWTE1Zkx5Y3V6YXRRdUE1RWZUMjV5Wm1ZbHZ2LzBXTFZxMHdQWFhYeC9RQVdoOWlZNk9odFZxUlZWVkZXdzJXL0xzMmJPalo4K2UzU1Q3RFUxMjRzbC85TWhJbzcvMmxSNHY5K2doazZTdVBvUDF6M2VyVmVJWlg5SjQ5ZWtqQmF4aVltbyt2bHUzbXFmWW9xSWsvK3VJRVpKS1IvKzhyRTN4Mm9vSzRNWWJYZC9uYml6UXRxM2txYjNxS3BtUTFqK2p2UldJTVIvL2IraEN6SjA3eStSclpxYm54K241SlJ0cThqV2M0aWhmT1U1dTkyaTROdzR0akZHOFk0ekNHQ1dVWXBTd25Yd0ZrQXhBL3BkMDdoeWFoWmhjVGU2WXQ4K0g0dVRQaVJOeXpBaVFBajN1ZGdjKytTU3djS0Y4b1AvaEQ4RDc3N3QvelJVcjVEZ080THBpYTBNN2VkSzNRTlVkNTFYN1VLYVVIUFdTenRNQ29DZUFQWjZmRkZLYURSNDgrRW1MeGZMRjl1M2J0M2wvdUVjTjIyZVVsZFV1dllXbjU3a3J2T0ZNSDd3QnJ2TWJMMTFxNUpYOTVCUEh3bHpPUEEyMExyOGNXTC9ldHpiVnhzc3ZTeTY1NmtDbkJ2MER2N1RVY1FISjdOU3Btbi92OVRVZ2M5VUdmV2RHVEl5eDhGUWY3eE1vNGQ5bjRKSkxMa2xzMXF6WnJSYUxaY20yYmR1OGpJSTlLeXdzdFBjYnNiR3hJYjI3UVplUWtJQWYvZWhITlc2dnFxcXlGMDFJU0VodzJHM2lpYWZqWnVmT25jT3FWYXRRWEZ3TUFCZ3hZb1I5OEJJZkg0OUpreWJaZDV0czJMQUJtWm1aU0V0TGN4aHduVDkvSHBzMmJVSk85V2VyMVdyRnNHSEQwSzgya3p6VnoyK293Y0RXclZ0eDZOQWhBTExqU0MrSWtaQ1FnQ3V1dUFMcjFxM0RtVE5uc0c3ZE9vd2JOdzRBVUZaV2hpMWJ0cUN5c2hJZE8zWkVTVWtKaGc0ZGFtOXpseTVka0pTVWhKeWNIS3hldlJyWFhYZWQzNE83aHFhVVFvc1dMWkNYbHdlbGxDVTVPVG1zK28xQTloa0Eya09QTlRwMDhEL1dPSHBVdmg4NTRuMmlzNm9xTVBucjA5TmRuNEJKVFpYUHNHRFYxUmc4V0g0ZklWaTkzYVZ1M2FTd21LZkoxK3hzbzhqV2tDSHVIeGNvNFJaSCtjcHhrcXdlODFFRTNxQkJnNjZ5V3EzdE5FMWJ0bVBIRGg5ekNMckdHSVV4aWllTVVVUW94U2poUFBuYXhuNHBoUE9iQkkwNVArcHZmaU1UaGhNbXlDNVYzZnZ2eXlxNHVRTjQ2Q0ZKWUI0ZkwwbnYzUms0RVBqUmp5U0ovNElGc25McWJsZlhjODhabDUxVEdPVG5TejdZUVBCMHhNZnMvdnNEODM3aG9sTW5mU0lGQURvZ2pBWkVBd1lNc0Znc2xtY0FQSk9hbW5wUzA3Ui9hWnIyK2M2ZE96Zlg0dVVhdnMvd1VnMHk0TThESkZmei9QbkdkVmNmaU8rK1cvdlhkOGRkd0djT1R0d1ZFeXN2bDEwWml4Y0RuMzl1M0s2dmdMZHRLenR2cnI5ZWR2cmNjb3ZjcnVkZjNySERmUTdmeHgrdm1ScWxJWGZkNnp0ZlMwcUFaZ0g2eVAzNFkrTjNVQi9DdU04QUFJdkZFcXVVZWxQVE5LU21wbTRHOEYrYnpmYmx6cDA3RC9uN1dqYWJyWTBlVkliRDZyNG5HemR1UkVGQkFRQmdnQThMQVRFeE1TZ3BLY0dSSTBlUWxKVGtjQ3d0SmlZR3pabzF3N3AxNjFCY1hBeUx4WUxMTDcrOFJuR00rUGg0M0hERERmajIyMjl4L1BoeFpHVmxJVHM3Ry8zNzkwZVhMbDJ3ZCs5ZS9HQWE4TGR0MnhaWFhubGxRUE84dVZOY1hJeVRKMCtpUzVjdVB1VnJjM2JzMkRGN2hlVDQrSGhjZSsyMURqdEhldlRvZ1lzWEwyTG56cDNJeXNyQ3VYUG4wTHg1YzZ4WXNjSytDd1dRM1RQTytlWXV2L3h5TEZxMENHZk9uTUdXTFZ2cVhPVzRJY1RHeGlLdnVsYUExV29OcTM0amtIMEdBT1BjYjRnV3YvR0w4OFNydDgvUFJZdU1YYTQvL09EL3psOW41b25YSTBmY1R5THE5S0paZ0c4YkxkcTJkWitHWWRvMC8zS3M2eE9DcHVJME5laFYxcFVDaGc1MXZJOXhsTzhjVDNSNU9INFplaXdXeXlWS3FUa0FiS21wcWN1VVVoK1hsNWQvdFdmUEhyOTM5ekJHWVl6aURtTVVSNkVTbzRUejVLdnhTZGtZZ2h0bnZnUU0xUjJVUzNxeGw3SXk0T2MvbDh1VEp4dTNBekp4Q3NndVFFQUc5QjkvTEpjZmU4enhnMDNUNVAzeTgyVmlxS0JBamlKOThZWGM5OVJUVXYzVDJmTGx3TWFON3RzNWY3N2tHd3FFWUFjQ29jb3hvWDh0eXJHR0JxVlVKNlhVRXdDZUdESmt5R2tBQzZxcXFoYnYzTGx6SXdCZk1vRTNiSi9oTGtBdUxUV0MzZE9ucFNCZXIxN0cvMS85ZVh2MlNJR0xOOTgwQmdZN2RualBIL2ZhYS9KMzZzNnhZMGJLZ1VjZmRaMDdiZlpzNE5sbjVYSjkvMTI5OVJid3pET3Uyeng1c3V5c0h6N2NtRVEyOXpNTlVmenUyV2VOMzRXek1XTmtzT1BPK2ZQR0xxWncwa2o2RE1CZWlHSzQxV3A5WmNpUUlYczBUZnRBS2JWMCsvYnR1d0Y0L2MrdGxMTDNHN1VKZnV0VFZWVVZ5c3ZMWGQ0WFkvcmJxS2lvd0lZTkcrelZhdHUzYjQ5ZXZYcDVmWWZ5K1N3QUFDQUFTVVJCVlAzazVHUWNQbndZZVhsNVdMSmtpY045bzBlUFJvOGVQWER0dGRkaXhZb1ZHRDU4T0RxNU9RNGNFUkdCcTY2NkNrZU9ITUdXTFZ0UVVsS0MzYnQzMndjRmdBVEZRNFlNOGFsZC9yTFpiRFYyWlp3NWM4YitNNDBaTXdiZEhYTWQyNVdXbHVMenp6OUhodzRkMEsxYk40Y0t3aWtwS2VqWnN5ZE9uanlKaVJNbklqWTJ0c2J6VTFOVFliUFowTHQzYjFpdFZpeFpzc1IrOURFeE1SRjVlWGs0ZE9nUUtpc3JjZVdWVjlyYjJiSmxTL1R0MnhjWExseEEvLzc5QS9KN3FHL20vM00ybXkxcys0MjY5aGt3VDc3V1pvRHU3VFAzaFJjazVnWmtrU3hZZVVQZE1iYy8wTHZ3eG93eEpoTjk0Y3ZPdEpkZUNsd3RDdjM5MHRQZFArYTc3K1I3Nzk2QjI5SGJtT01vZHh6akZCZFYwVUtmVXNvQ1lCS0FTWkdSa1VoTlRWMnJsUHBRMDdUbDZlbnB4MzE4RGNZb2pGRVlvL2dnVkdLVWNKNThOWUtiVUR5TzRtN3k5TXdaejQrSmo1ZDBCTFhjeWw3RHZuMlMrQjJvZWJ4RlAvYlNwWXZrNmpIdml2M2lDNW1JdlhCQnZ2THpKYkc2Ty9vazY2aFJqcmZyK1cxRFNWM3pFcjMxbHVzQ1JxSEtjYlhLZXpieDhOQWV3TU5XcS9YaDFOVFVYS1hVZnpSTit5dzlQWDBEZ0VvM3oybVlQcU5qUjhtRjdHNlhZMVNVVVFSaTB5Wmd4Z3k1dkd1WDNHNnh5RkhDbi94RXJtL1lJQldDcjdoQ2NzQjk5Wlg3YXNFWExnQi8rNXZuOXMyZEszL0xTZ0gzM0ZPN245RVY1OElXZWgrMmRLa2N4UU5rMThwTEw4bk9ESjFlRUZBcDZUK21UcFhkK2dBd2Rtek5RaERtWFMvNkIrbklrVFVIclBxZzc5MTNIZnUyaG1UTzl6cG5qcHcrQ0FSdk9lL3FxbkgyR1FBd1VDbjFJb0FYaHd3WmNrVFR0QThBZkpHZW5yNGRiaFp3TEJaTG9sYjlmeXZVQmpZblQ1N0U2dFdyWGQ0M2ZmcDBXSzFXbkRwMUN1dlhyMGRoWVNFQU9XbzJidHc0bjQ0bURoczJESldWbGNqT3prYVpYZ0NvV254OFBBQ3BSanhseWhTdnIzZm16Qm1IblJUT05FMURUazRPSWlJaTBMNTkrNERzNERsMDZCQU9IVHFFNk9ob1hIMzExUTczSlNZbVFpa0ZUZE9RblozdGRtQnordlJwRkJVVklTTWpBMUZSVVE0REc2VVVycmppQ2hRVkZkbC9IODZVVWhnNmRDaE9uVHFGYjc3NUJpV1NTeG1wcWFrWVBIZ3d2di8rZSt6YnR3OUhqeDVGVVZFUnhvNGRheDhnRFJzMkxPU1A4cG1aLzgyVVVvMmwzL0M3endCZ25KWDE4ZGlzWHo3N1RMNm5wQVIrNHRYZDJNV2ZJK2ExcllvOWRxeVJ5OWJzd3c4ZE40NEVtcWZGZUhmdmJkN2RhNmFuYmpoeFFzWlk3VjNNQ2VwVnkwZVBybmtmNHlqZk9SWkhhaFQ5alZKcUxJQ3hTaW1rcHFadTFqVHRQeGFMWmNuMjdkc3ozRDJITVFwakZNWW92Z21WR0NXY0oxK04zMkFvYnJQM1pmTFUxV01tVEhDOWc3UzJ0bStYNzVHUk5mTTVaV2ZMOXk1ZEpBVkJkVDRVQURJcDVFbGtKSkNZS0pOWStvZiswMDhEcTFZWmovbmtFKyt2ODV2ZkdBRkNmZXJjV1NhdGdMcm5XTHJ0Tm1EaVJMbGNINEYxb0RtdWRNVU9Iano0UWFXVWh1b2RITldYWWI1dXM5bk1FWmptL0JqVC9lYlhjSGc5ODJOTXo3ZGZyNnFxY3ZuZVR1M3cya2NwcGRvQ2VGQXA5V0JxYXVvRkFCOEMrS1M4dlB6YnZYdjNtcGRjRzZiUGFOZE9kaG00bzVReGtQbjN2K1Y3VEl3VXNqTlBxdjdqSDhCUGZ5cTdQSzY2Q25qOWRhbFVyUC9mYytXMTF6eW5MTWpMazljRmdQSGpaVEkzVU53TnpycDFNKzU3N2puSGxDaUFwREM1NXg0NUFxZnZ0dmZVSjVoWDBWMnM0Z2JjNU1udUYydGNEYXpNekpPdjExNGIvQnhwdm5MZlp3QXUrZ05mL3A0QmFOVjV1ZHoyTzRDOTM2aDEzNlNVMGpSTjg2WGNidytsMU5NQW5rNU5UVDJobFBxb2VpZjlKamd1NE5nN0MrZGlCT0VnTVRFUlVWRlJLQ3dzUk9mT25URjY5R2hFUmtiNjlOeW9xQ2g3WlZ0UFhBMXF5c3JLa0oyZGpaTW5UK0xreVpQMmZHdTZkdTNhSVNrcENULzg4QU1LQ2dwUVVsS0N3NGNQNDNCMWZ2aTR1RGkwYWRNR2lZbUphTjY4T1pvM2I0NzQrSGhFUlVXaG1ZL3BPMDZmUG8zYzNGeFlMQlpVVkZRZ0lpTENmbDlFUkFRU0V4Tngvdng1Wk91eGtBdW5URWVZazEzazZWZEt1UjNVQUxMelo4ZU9IZGk5ZXpjMFRZUFZha1ZhV3BwOTk4eUlFU01RRnhlSHJWdTNJaWNuQjRzWEwwWmFXaHBTVWxMQ2FsQUR3T0hmWmZYcTFWZWxwcWJxblhWVDZ6T01HWkJBVDRaa1pocHgvVTAzQmZhMUFmZGpGMzlPd0pnZkcrai93eWRPR0plTGkrV1VYcjkrd005K1ZqTWV6OG9DOXU2VnVPcWFhMnErVm9jT01rRWF5T3J3L2ZwSmZGbGFLcmx5Zi94angvdUxpNDA4OEs3NlZzWlJ2ak8xKy8xMjdWcWxkdXIwUVBYVlFQWTM5di9NVG4ySnkvN0dack81SE84NFAwZlROQzlIMkdRSGZ2VXUvRGxEaGd6WnFXbmFSMVZWVlYvdTJyWEwrYWcwWXhRdkdLTXdSZ0hnL08vU0FCMmZtM1lFNjQwRHdJaG9mUHdqRFV1ZVZodno4NEZCZytTeXV3OVBmZkIvNmFXT1FXQkZoYXllQWpJQk0zV3E3SFpOU1pIZ0lTbEpKcEhhdFpOZFVQcFhxMVp5Qk5yOGgzejExY0RxMWZLMWJwMnM1aFlXR2gvOExWdldMWWRsSU1URmVaNjA4a2Z6NXZJVkxod25HcU10Rm91YnN6OUMwelN2SzRTK2RMamVIdU5Ma09Cdng2NlVTZ0J3TDRCN282S2k4bE5UVXhjQytMU2dvT0JyWkdUVWI1OVJXU24vNy8yeGNxVjhIenEwWmhxUlN5K1YrMisrV1FyV0xWc21rN0hPOUYyOHg0N0piZ2hBL281ZEZVNTQ5VlhqV05vREQ5Uzh2NzVkY29uc3FCOHpSdm9MQUpnNTA3KzJtSC9IRFRGb0dEeTQ5anMrOUVGV2RMUnpjWWpRVm9zK0l4QjlnaStQOGVVMS9DMDRvWlJLUnZWTytpRkRodVJxbXZhUlVtcFJmbjcrQmszVDdQMUdxQVdheWNuSnVPMjIyK3pYang4L2p2Vk9CZkNpbzZNeFljSUU1T1Rrb0V1WEx2WFNqb3FLQ2x5NGNBSG56cDFEYm00dWNuTnpjZEhGWjM1Y1hCeTZkZXVHM3IxNzIvT2xEUjA2RkRrNU9UaDY5Q2hPbkRoaDMvMVNWRlNFb3FJaUhEOWU4K1NsMVdyRjJMRmp2ZjQ4eWNuSk9ITGtDR3cyR3pJek05SERhYkdwWGJ0Mk9ILytQSXFLaWxCUVVJRG1MajdYOWNyTCttNFhmMlJuWjJQVHBrMzIzMFZjWEJ6R2pSdFhJM2Zhd0lFRGtaaVlpSFhyMXFHMHRCUnIxcXhCbHk1ZE1HellNSjhMam9RQzgyZjYvdjM3cjFOS1hlZnVzWTI1ejBCR2hoRmdtQWJUQWZIQkI4YmxJVU5xWHp3Mk1kSDUySGJnbUNmMi9Ka01jdDRFNG0wVHk4bVRNaEg5dDc4QnYvdWRuQmE2N3o2ai9zUlhYOG1DdGFzVVVPWGxSdkhjUUthaGF0Wk1qdmV2V3lmcEJad25YOWV1bFhSd1NzbllxVGFhV2h6bGptbE0rOWZrNUZnRi9OWGRRd1BWM3dSaVhBUDQzOThBdUZRcGRXbXpaczFlVEUxTlBheHAyZ2MybSsyTFhidDJwVE5HOFk0eGltdE5PVWFCZVVOV0F3dm55VmZ6OGtBUW0rR0dwMVhpano0eUVyalhKWjlpaXhiZXExN3JrNi9PU2RRUEhEQ09uYVNteXE2N25CejNTZWM5ZWVZWkNRQ2lveVhQMGVqUmNwdStRdjNIUDdvdmNsVmZCYmVDVmUzUlhaN1BZSEtjYUF5dE15bjFxNFZTNm00QWQ3ZG8wYUxnNTMzNzdyc25PeHZEQ2dzUlV4OTl4dnIxUUhXbFNMOTkrNjMzM1JlTEZzbVhNNzBQZWVBQktlcWtGUENYdjhoQXhKbmVYd3dlWEhOUTBCQm16QUIrK1V2NVdXdjdONm9QR2lJaVFyUHZOOVA3WCtkZHphR3U2ZllaQU5CV0tmVnJBTDl1MGFMRnhZVUxGKzdYYzRXRjJzREdZckU0N0JCeHQ5c2lLaXJLN2RFL2YrakhCSFU3ZHV6QW9VT0hVRlJVNVBMeFNpbTBhdFVLblR0M1JwY3VYZERhVFh5UmxKU0VwT3FKb0FzWExpQTdPOXQrQkxEQVJXNzdqaDA3ZWh6VTZBUGJUcDA2MlkvdHVSdllIS2lldkRwOStuU05nVTFCUVlIOS9UdDI3T2p6di8vNTgrZXhmZnQyWkdWbDJXL3IxcTBiUm8wYTVYWkhUNmRPblhEampUZGkvZnIxeU1yS1FtWm1KazZjT0lGZXZYcGg0TUNCWVRIQUNiVy9qd2JrMEdkTTY5dDN4Nit5czNGWlFRRmlBbFZrVWZmZWU4YmwyMit2L2V2TW1pVXB0SnlaeHlSejV0U3N5ZEMrdlRGcDZZdU9QdFpCMGpRNWhlZVBYcjBrZG5yL2ZlRDN2d2YrOVMvNUdqRkN4aVI2WCtWcW5IWGloSEY3b0dzQWpCa2prNjlmZkFIODZVK085K2w1S1ljTmN6NDI3N3VtRmtlNTA1ZzNYbm1nbE9xbGxKcHRzVmhtcDZhbW52anNzODhPamh3NUVrbEpTU0hYQnpOR2NZMHhTbkNZZnovbVJZdUdGczZUcjBiQ0dtK1ZMNE1wSjBkMlhjYkZOZnlFWUVtSkZPZ0JnQ3V2ZEx4UHIyUWRHMnNjWmFuTnhLdisydlBtQVRmY0FMUnBJeit6bm5meXR0dmtlTE03TExoVi8weTdFR3lBNjh6bmpaKzEwR0tKdXhBUmdTb2d0UHVNMmxpMENQanlTN2w4NTUzR3pnOW4vLzYzVkI2KzdMSUdhNXFEMmg0dk05TjM3c2JGMWYyMTZsTnVyckVBRlIwdGkyNkI5S01mT1o1QUNDVEhBZ2xOdGMrQXBtblc4dkx5dU5McUJUVmJiWE1aTmxJcEtTbllvY2NZa01DMlZhdFdTRXBLUXZ2MjdkRytmWHVmancvcUVoSVNrSkNRWUMvZ1VGWldocnk4UEZ5OGVCSDUrZmtvS0NqQVNPZjhoWEQ4dDlFSE5sRlJVV2pYcmgxeWNuSnc4dVRKR2tVdDJwa21QODZjT1ZPamtJYjVxSityNDN6T2NuTnpzWHYzYm9lZE1MR3hzUmc1Y2lTNitsRHhYYy83OXNNUFAyRHo1czBvS2lyQ3dZTUhjZWpRSVhUdTNCbTllL2RHY25KeWJYWk5OUWorZlVpZlVXaXhOTC9RckJrMHBZeWFDNEd3ZnIyUjVxc3BLeWlRZkt1Ly9TMXcvZlhBOU9ueWVmakFBN0l6dUg5LzcyT3U1R1NwaVhIdVhHRFRMd0dTWXVqNTU2Vm82dUhETWtrTVNDNWNQVjl2WGVwT05LVTR5cFBHRnNmWFRtUlpXVm04bnUrVWZiQWp4aWlPR0tNNC9IMEViV3dUenBPdnhpOHRsRHZndm4ybENFNTlKaXZQendmZWZsc0NFUE5LNnViTkV2Z3BWVE94KzlkZnkvZEJnd0t6SSt1dXU0ekxTVWtTYkZ5OENQejFyeklKMGRDY2s5YnJQdjljS3J3RE1obHk2YVdCZmQ4UVczVUVJRWVjRENHMkxiZithSnBXQ0dBMWdFOXljbkkrMlphZFBRM0FPd0RxcDg4WU85YTNCWUFqUnlRMzE1bzFjdjN6ejJVQW9CZmVtalZMMGdmNGs5cWlPZ2NSMnJZRi92eG54Nk43emw1NHdmZlhEVVY2dXBSQTVtbXJEK1lqVFJzM3lsY2daV1hWMytTclk1OVJVajl2RXBvMFRjdFRTcTNTTkcxaGJtN3VrdnZ2di85blNxbDNnUEFlMk54MDAwMG9MeS9Ia2lWTG9Ha2FSbzRjaVk1ZWRxV1ZsSlJnMmJKbDBEUU5MVnUyckhHa01pRWhBYU9xaTJ5MmJ0MGFzYkd4K1BMTEwzSDgrSEdYUi9IcVl2TGt5UjRIU2VaL0czTTdrNU9Ua1pPVGc0cUtDcHc2ZGNxaDJuSHo1czBSRXhPRGtwSVNuREVYUTYxMm9ucnhSQ21GenAwN3UzemZxcW9xSEQ5K0hQdjI3VU91S2RacDFxd1ordmZ2ajEyN2R1RnJQZDd5UTBSRUJBWVBIb3c5ZS9hZ3NySVNtWm1aeU16TVJFeE1ETHAwNllKZXZYclZPQm9ZYkZWVlZjRnVRbEE0OXhuYlQ1eTRIc0RIQUFJYmE3ejJtbnlQanBaZHIrKzhJN0c5cXlKVnJzeWRLenNtZ1pvYk1ueTFmcjMzQ2VYNzdwUDRwbGN2aVc4Q1RUOXR0M3ExSE4yZk13Y1lNQUJZc0VDS1krbUx6L29wTkZjN095TWpmYXZOTVcyYWNWTFJWMmxwc2hIbDdGbVpiUDM5NytYMnI3OEc5UHlNOVZsQXpCZmhFa2Q1RW1xbkRCdE9Gb0N2YkRiYmh6dDI3RmczYjk2OEdVcXBFUUJqRk1Zb05URkdNWmhqRktWVTBNWTI0VHo1YXZTNm9kd0JWMWVOUTNYdWtIcVJtd3M4OG9na252L21HNmwwQ2NpeEYwQVNzVHNmYjFtK1hMNmJjdzc5NjEvR0JKQy9uQ2VYZi9sTENZWmF0L1k4K1ZwZkJiZmNKYTEvK0dINTNyV3JITXNPMGRXWmdESk54Rm1BWWszVFh0VTBUVld2cnFucUwyaWFwdjh5bE1WaTBhL2Jiek05eG42YjZYWHMxODJQQjZDVXNRUm12dC8rM3RWM20xL1gvajZhcGxrdEZvdUw4L1B1ZjFvQTM5cHN0bm1GaFlXZloyUmttR2VSZ3RkbjVPZkwzOXlISDhwUnRNcEt5UTMydDc4WngvOExDbVFueDl5NXdLZWZBci8rTlhESEhiNGR4YnZuSG1EMmJDbW0xYTZkKzNRa0Z5NzQxbDd6NzhmYmM2elcrczJCZlBpd0RHUmlZeVcvMjhjeXBrWFBudlgzbnVHZ1BvLzRPRTdlbDJpYTlpcGcvMk4xOWZkczdqTUFOLzJLK1RaVC8rT3lyekcvbDdkK3hjVmpZcFZTazMzOWNUVk55d093V2luMWZucDYraktZVDlhWStvMXdubHpTODVkMTd0d1ptWm1aT0g3OE9QcDVtWHc0ZE9nUTlDcktxYW11NjRQME51VXlMaTB0dGVkREN6UnZnOHBLMDRTUStXaGpjbkl5dG0zYkJnREl5c3B5R05nQVV1eWpwS1FFRnk5ZWRDaDRZYlBaN0lVczJyUnBneGk5SXJqSnZuMzdrSjZlam5MVFRuR3IxWXErZmZ0aTBLQkJpSTZPeGk3OWxKR2ZxcXRkbzIvZnZraFBUOGZodzRkaHM5bFFVbEtDZ3djUG9wdGUrVHlFbVA4K2twT1QxMlZsWlcxdG9uMkc4UitpUEVDYmE0NGNNZElPM1hHSEZQV2NOMC9pL0QxN0pNNzNwS0pDRm1ZQm9IdjMyay8rZWZ2YzFUUmpkMjdYcnZWVFpQTGVlMlhYNnZMbFV1UTNOVlZpKzZlZWtoMndPajJPYWVnSzhGYXI1T3FmTzFmR1JvODhJbU9OZWZQay9pdXVrQUphRGFreHhsRWx4dHpKMURObkNoZTJiZnUycC83RytlOGY5ZGpmT0xmRCtUV1VVbjBBK0Z6OVdkTzBrd0MrVUVxOXQzMzdkdWRLMW94UndCaUZNWXAzNXI4UFRkTTQrVm9MZWZaTHZrNG9OTFN5TW1NSGtidkpWK2RrK2JHeC91YzlPbmRPdmxkV091NkUrdTQ3K1g3MHFFem02SlZSdDIyVFJQV0FITm1wRC9mZkgzcTdRSE55akVubjIyNXJHaE92Z1BQazk1bjA5UFNYZ3RVVWZ3MFlNQ0F5S2lySzQrUnI5U0JvdVZKcW9WTHF5MjNidHJuYmF0SXdmVVordnZ4ZDc5NHRPWkEzYlpMMEgrYWc2TW9yWlJlTCtmai9yMzhOakJ3cDM3Ly9Ibmo2YWZrYU9GQVdWQzY5VkFMMlRwMmtQMm5lWFA3R0lpS2s2TlovL2lNVlpUMnB6UzRIYjgvcDA2ZjJSVDk4TVdXS0RMU2MzWHh6L2IxbklQVHNHZmhVS0ZkZUtUdVBsS3JmQ2U4dzdqTUE0TkpMTCsxa3RWbzkvakZVRDJhV0FmZ3dQVDE5RFFDWGtiUEZZc25UZy92eVFFMmtCRkhmdm4yUm1abUpVNmRPNGRTcFUralFvWVBMeHhVV0Z0cHpqYlZxMWNydlFIcmF0R21Jam5aZHo2QzB0QlFmVmxmcjl2VngzcFNhRm96TXI5ZXFWU3ZFeHNhaXVMallYcGpDTERFeEVkbloyZEEwRFdmUG5yWC9QdlNkS0FEYzVtNUxTa3F5UHlZbUpnWjkrdlJCbno1OUVHc3FZR011TmxJYk1URXhHRFZxRkFZUEhvejkrL2ZqNE1HRFNFNU9kdnZ2Rmt6bWY0TXBVNmJNdit1dXU5N3o4UENRRXNnK0EwQytjU25melVQODlNSUxjbXpkWXBIaVVpa3B3S1JKa2tQMDZhY2x4dmZrbFZlTVJka25uNnkvSE9RclZnRDZVZGhWcTJTUzk2MjNqTUtnZ2RDcmx4UWcvZVFUNE1FSFpUeno0b3RTek1wOHdrVC9IS3ZMNXBjUFAzUTlVYjFva2FRK2NPZk9PMlh5OWNBQjJmMDdaQWp3di8vSmZmZmVXL3YyMUZhNHhsR2VtT0tVUDV3NGtmSFlpUk8vQzJKci9ESjQ4T0FITFJhTHg4bFhUZFAyS2FXV0FGaVFucDd1ZG9hTU1RcGpGTVlvdmpIL0d5aWxhbTRsYmlEaFBQbDZ6bjRwVUFXYkFzM2NMbmVKMVoxWGRjYU1rUURDSCthdDZPWS93SmRmbGhYeHJDemdsbHVBWjUrVmxlRzMzemJhTkh5NDY5ZDBkMnpmbWJ0VktWOG5Yc3ZMalVDdExscTM5ajRaOGVHSHhuR3A0Y01ETTJIVXZMbE1ob1V5eCtJSXA0UFZqQUE3QnhrRS9UYzlQWDBKM0ErQ25KOGpBdDFuYk5zbUN3N0hqcmt2UnRHcWxVeU8zbk5QelFKNHVtSERaTEoyOVdvNVV2akZGL0kzdkdlUCsvZCs1Ulhnb1llOFQ3eUdxOVRVbW9PR0gvOVlxdnMyTlhwaS8rYk42M2Z4cUhIMkdRQndGTUJTbTgzMjBZNGRPellDOERvN3JtbWF2ZDhvYzB6SEVKWTZkZXFFcEtRazVPVGtZTk9tVFpnOGViTExJZzBiTjI1RVpXVWxsRkwyWTN1aHpOM0FCZ0RhdDIrUG8wZVBJajgvSC9uNStRNkZJUkpOaTB2bnpwMnpEeGpNaFNqYzVVSnIzYm8xTHJ2c01zVEd4cUpidDI0dWY0Lys1cE56SnpZMkZwZGRkaGtHRHg0Y3NydWJTa29jTnBJMGxuN0Q3ejRENW9WZUZ4VzEvYlp2bitSckIrUnpYcy83OStLTE1nbjUyV2ZBNHNYdVk0QzllK1ZrRENCcEN1b3JCVnBscFpIV1MvZmYvOHFFNkh2djFiNGdxVHMzM3l3MUpSNThVSXB1M1gyMzQvMzZSRWFiTm9GOVgxK01IQ2tUcnR1M1N3SFVBUVBrOTlPNXM0ekhHbHBqaktNYzQ1UlR3V3BHZ0cwSDhFVmxaZVdIdTNidDhpbkJNMk1VeGlpTVVYd1RLakZLNDVoOFBYczJpTTN3d0R5cDZFTWlaQWRLeWE0cFh6cFNjKzRlOCtweS8vNFM5RXljS01IWDAwOUxvYTFseStUK3UrNXlQMGxhSDBlRlhObTF5MzF4SUgvODR4OUdMaXQzekVleDY1THMzbXptVEpra0MyV09rOXNCbU9rT0RrM1R6aWlsbGxUbk9Wb0Yzd1pCWnZYWFo2U215dCtxT1JoczAwYUM3OHN2bDBGSFdwcWtHdkRGK1BIeVZWNHUxWHczYmdTMmJwVy80K1BIalVXRURoMGt2NXF2VHZrWW43Nzhza3pxK3ZLY1FGZHpkdmFiM3hqNTZhS2laS2R0V3BvTUpJcUxnYUZEZlh1ZE0yZUFoUXNsTDl6aXhRMS9GREVROUYxVWdkeEY1RW9qNlRNQTJUMENZSm5OWmx1d2MrZk9kSCtmYjdQWnp1a0JhMmtvcHpqeXc5Q2hRN0ZreVJKY3VIQUJtemR2cmxFY1l1L2V2ZllkR1AzNzl3KzV2RjJ1bUNzT3h6dmxRdTdRb1FPT0hqMEtBRGg1OHFUSGdZMHVNek1UZ09TTWErbGg1OXdsbDF4UzQ3YUxnWmh3TXpHL3Y5VnFyWkhYTGxRVW05S1ZLS1hDdHQrb2E1OEI4K1JySUJaNmYvOTdPVGxqdFVxK1U5MGxsOGlFNDl5NXNxZzdjR0RONGxIbnpza096Ykl5SUNaR05sL1UxOExkUXc4Qk8zY2FiVzdkR25qaUNka0FjdlhWc21QM2hSZHFYNlcrb3NJWTc1Zzk5cGpFQkdscGpwc3E5RUk3clZwNTMyeFJIMk9lUng4RmZ2cFRpZC8wazRpUFBWYjduNzh1R21NYzVSaW5oT1hrcXlaYlZyK3pXQ3hmbHBXVkxkaXpaMCtXMXljNVlZekNHSVV4aW05Q0pVWUo1OG5YRTVEZGJoWmtaY2xFWmFnZEk5ZFhKYXhXOXgrMjdvNmxkdW9rbGJJWExKRFZTVmRKcDIwMm1ZeDU0dzI1UG5od3pjY2tKMHRPcU91dWt3SmMrckdYWnMyQVgvM0t2NStIYW5LVDREcGthQnFRa2FGZnN3RndFYm1HcnIxNzk5cUdEQm55ejZxcXFnOTM3dHk1cG80dlYzOTloc1VDdlBrbXNHR0RGTVA0OWE5bG9QRDk5L0wxNnF1dW43ZGxpN0dMNWZCaDN4WWlvcUprOG5YTkdzbjc2ZVk0akV1K1ZzazFCd2FCcUt3THlPOTcweVlKK2x1MTh2MTVRNGU2SGhnc1dTSUR2QzVkWktld3U5eGx5NWRMU29hdnZ6WlNQNXc5RzlnZDZ6WWJjT2hRNEY3UG1UNHcxTk5sMUdlUmpERHZNd0Nnckt5c05DWW01b1dxcXFvRnZ1NGVjY2RxdFo3UU5NMEd3RkpVVkFSTjAwSzJrcXM3bFpXVnFLeXN0TysyYU5ldUhRWU1HSUM5ZS9kaS8vNzlhTk9tRFhwVy8vMWtaV1ZoeTVZdEFDU1AyR1htMUNnaHpEeVljQjZJdERmMVlkbloyUTU1NUJJU0VxQ1VncVpwT0Y4OVVYYisvSG43UU1tWENzRE9QdlYyQk54UE0ycWJpNzhCYVpxR2ZPT0l2YTI4dkR5cytvMUE5aGtBY3FESEdxZFBHK2tDYXVOLy81UFBPZ0Q0eFM5cUZvbjl5MS9rcyszd1lZbnpOMnlRd3B1QTVNU2NQTmtveURsdm5ueitCcHFteVdmeDY2L0w5UUVEWkpJNE5sWW0vSDd5RXhuUHZQU1N0SFhoUXNrNzY2K1RKMzBya3VWcytYTHZ6NnRMaXFDcUtwbmMzYnRYL24zMFdHVHFWRm5JM3JKRlhuL2dRSmtrcjR2R0hFZjV5ekhtT2h5c1p0U0dwbWxIYkRiYmI1VlNINlNucDllcEtqVmpGTVlvL21LTUV0d1lKV3duWHhWUXFnSEhBUFJBU1ltc2dJWGE4Vy85ZzZHcVNuYWR2dnl5NzgrOS9ucFp6VjYvM3ZlZmEvcDAxN2UzYWlVZnFqLytzWkhTSURIUk1RZGxLTml5eGZmVlY1MC9IekJ6NXNoWFhSMDRZQVJ5L3VibmJXaTV1WUNSWFB5VWtvSlU0YVJ5Ky9idHZ3akVDOVY3bnpGeXBId2RPQ0FCc2k4cmkrYS93YW9xLzQ0b2poM3JkeE9EWXNNR21aais5Rk1aUEczYUJJd1lVZmZYcmE3eWljeE14OG5JMGxMSENzc2ZmZVQ0dkxRMC95YXNmWkdmWDd0Qm9hODBUUWJ3K3YrUDFxM3I3NzNDdjgvQWdRTUh6Z0Y0S2hDdk5XUEdqTkw1OCtjZkE5Q2pxcW9LeGNYRmlJdUxDOFJMTjRqYzNGeXNXN2NPdzRjUGQ2aUdlOWxsbHlFN094dDVlWG5Zc0dFRElpSWlvR2thMXExYkIwM1RFQk1UZy9Iang5ZDZCOE9TSlV2Y0RnQTEwMFNIcjQvejVtejFhWWJvNk9nYWhTZGF0R2lCdUxnNEZCVVY0ZlRwMHc2RFU3M2liMEpDZ3YwNG43a0tja3BLaXM5dGFNcEtTMHZOQlVWT3pabzFLNno2alVEMkdRb28wNEFNQUwxUldpcWZWYldKRmMrZkJ4NTRRQzYzYWlXN1JwMjFhQ0VUdENOSHlpVHJxRkV5b2RhMnJjVDhHemJJNHg1L0hKZzJyZFkvazF2WjJiTDc5cXV2NUhySGp2TDVxK2NVVEV1VDNQYy8reG13Y3FXa2FFcE5sUk5qVTZjR3ZqMzFSZE1rZmpseVJMNVdyalR1YTlYS0tLeTJkS2t4Z2FtVXhKalZFMFhvMHFYMnVYYWJRaHpsTDhmQ3NobHVIaFdTZHU3YytXV2dYb3N4Q21NVThpNlVZcFN3blh5dHRoZUFuTEhac3lmMEpsL05lUnBmZlZVK3JIeE5idjduUHdONWVSSlVlYW1naHpadHBOS25wenhPc2JHT0s3dTV1WEljZXZseVdhVW0zNWsvOEVPOTA2cyt4cUJmQzFZelFrakQ5aG51UHBpOUxScTRlNTU1NGorVW1ZdGVPT2RoQzBTT1o4RDRPMnpkV2dwcUxGOHVlWjAvKzZ4bWtaT1VGT0RuUDVjRktuMWdGS3FGR3QzSnl6TStDK3B6OHBWOVJnMmFwdTFWU3ZVQWdBc1hMb1RGd01abXMySG56cDNZdlhzM2JEWmJqZU9JVnFzVjExeHpEWllzV1lLaW9pS3NYYnNXbXFiWkJ6VVRKa3h3S01yZ3Izd2ZDdzM1K2poUGJEYWJmV0NUbEpUazhqSHQyN2ZIa1NOSDdJVXR6UCtHdzUxeTN4ODdkZ3lBN0U1cDVjL3VNaWZEaHcvSGdGckdWM3YzN3NYbXpadHIvZDROemFtQ05Qc05JQjJBbE5sT1Q2L2Q1T3VkZHhwcGYxNTR3ZjFPeDBHRFpGTHV4aHZsMUVKYUdwQ1VaTlJ1K08xdmdULyswZi8zOTZTMFZIYTYvdWxQeG1kcDc5NHkrZWk4cTdWTkcwbDM5dVNUTXJiSno1ZmRzUGZlSzJNalh5ZnhVbExrTTlDWFRSY1RKMHBNMExxMVRERDY4aDRsSmNia3F1NVBmNUo2R2NlT3VVOERWMTR1NzlPdm4rTy84L1BQUzJFdTNkS2xzaEhuK2VlOXR3VmdIT1VOWXhVN3hpaitZNHpDR0NWWXduM3lkVE9BR3dESUt1Q0VDY0Z0alRQOVAyWHIxcEozNldjL2syTWJ2a2hJa0VUMTVlV1N2cURDUlFGM3BlUng3ZHA1RDBabXp3YSsrVVl1OSswcmt6Z25UMHJ5L1dYTEFwTjN0YWs0YURxUjVweGZLOVE0Rm1yYUc2eG1oSkRRN2pQQzJiNTlFclIvOElFTVZNeXNWamtTZWZmZHNxdmZHMTlXay9VY2JnTUdTREdTdSs1eXZEOHVUZ1o0ZDl3aC9WeDlIc05LU0tqYnNVVmZtQXNydWl2Z0dBanNNMnBRU3RuN2pUTm56cUJUcUMzMFZqT3Q2dVBMTDcvRWhlcUJjVlJVbEVNT01WMWNYQnlHRHgrT05Xdld3Rlk5c2ErVXd2ang0eDN5ak5WR1ExWVNQblhxbEwyaWIzczNhVklHRFJxRTFOUlVOUGRTbVBQY3VYUDI0NEhkYTNNMHVvbkt5elBTbkdxYXhuNEQyQURncHdBazlaZS9CVEZmZWtrS2JnTEFwRW5lYXhwTW5DZzdGYSs3VG5iTTZybG1mL3RiOTJtUHZEbnRvaDdKbVRQQVcyOUpuUVh6L2RPbjR3YXFNd0FBSUFCSlJFRlV5MlNzaTM0R2dLUmQrTk9mcE5qdDlPbFNQUElmLzVCSlVWL2I5OE1QVW1kaDlXclBqM3YyV1psRUJHVENkTTRjeVhucWJRTDIxVmRsZ3RoczkyN2pjbVNreFB4OStzZ2tzTDR6OU1TSm1ndjU3Nzl2NU9lOThVYUpEeFl0a2tuMDl1M2RwMzFyeW5HVVAvUzBlNklTUUFBcUtJY3Z4aWorWTR6U3RJUlNqQkx1azYvYjdaZjB4T3FoSWp2Ym1LUjcvMzBKTnM2ZGsyTTIva3gwNmgvMmRmSCsrOFpLNjlTcDhxRStiUnJ3eVNjU29GMTl0YXpJa204MmJaTHZzYkgrRjFKcmFQcHhKL0Zkc0pvUlFrSzN6d2huaXhiSkFNTlpqeDRTek45NVo4MjgxWHBSUWNmVlNOL2s1eHU3SGdZTkFtNjRRZkpZVjFiS3NjdTc3cEpDRjA1SjdjT2FxYklwM0t5Y0J3VDdqQm8wVGR1dUh3RTdINGdDT3ZYa2pHbUNYaC9VZE8zYUZXbHBhVFdPdVpXV2xpSTlQUjBIRHpxbXQ5UTBEYXRXcmNLUUlVUFFxMWN2bDlWeFE4MFIwMDQxZC9uUEVud3NVbmZVdEp1S0F4dmZuWFVzWXNsK0E5aGxYTnJsNFdFdWZQb3A4SWMveU9Ya1pJbmh2VTE2TFZrQ1BQVlV6WFJpNzcwbm43MzMzKy9mTWZFWFhnRCs3LytNNjMvL3Uwd1lGaGZMWmIydkdUSkVKb3F2dXNxMzE1MHlSV0xveVpObDkrd1RUL2oydkFVTDVHZTRlQkVvS3BKSlFXZVZsY0FqanppbUZ5c3NsQ0pYZi8rN2pJT21UM2VmZjFmUGg5dXlwV3hTNmRkUENoZjM2eWYzZGU5dXBBMVl0TWlZZkhVK2lmTHZmd016WmtoOE0zaXdYQWNrTnRtMVMzNk84bktaR0RkakhPVzdnd2RsQWwvc0NzZjBTSUhFR0NXME1VWUp2bENLVWNKOThuV24vZEwyN2FGVmRFdi9VSTZQQjY2NVJ0SUhUSmdnSDdnTnVVMzc0NCtONHlxcHFaSndQeUpDOHZmY2VxdE13Q29sd1lhWll5NGQwdjN3ZzFIOFlOaXcyaGRSYUFpYVp1VDRGZDhHcVNXaEpIVDdqSEEyZHF6MEt4VVZzbUEwWllvVWxoZy8zdjN2TnpGUkZuK1dMNWNCbUQvL0RtKzlKUU1FUU5LbnRHNHR1Mml1dk5KOVFSSEhIWjNtd0YzeW5UbmZyenR6eHYxOWdPeDRxYzhDV0xwUFBqRXVkK3RXUCsvQlBzTWRlNzlocmpZYlNpNWN1T0FRNEVkR1JtTGt5SkhvNGJSNG01K2ZqejE3OWlBakl3TlYxUk0xRVJFUkdESmtDQW9MQzdGdjN6NlVscFppNDhhTjJMbHpKL3IxNjRmZXZYc2pLcGhWclQwb0xpNjJIOEZMU2txcTAzRkxtODFtL3gyMmJkdlc1VTRjY3UyVWZqd2VnTTFtWTc4QjdMZGYycnZYOTFoanpScmc5dHRsWjUvVktyc2czYVdadVhoUkp2YmVlc3U4QzFER0hQMzdTNDdROCtkbFF2S1ZWNEJaczZSb2w2c0N2cnJLU3RsbE8yK2VYTy9TUlQ0Zjc3OWZKdXBtejVhQ1dTKytLSVZGZmRtQjZheC9mMW5reTh6MC9MUHBubnpTU0FYUW9vVk1BRHYvblgvM0hYRGZmY2FpZXBjdThydDc0dzM1ZnVLRVRJaSs5cG9VS1hOMTZtbmlSRGtSNk9uMzQ4M0xMd09QUGlyL2ZqMTZ5SGhCYit1WFgwcU1jdnc0OE5CRDhtLzI5NzlMRVZXQWNaUS9jZFFhaC9xNzdHOFlvekJHSVk5Q0tVWUo2OGxYQldScndFRUFmWkNaS2JtTzlNcmh3ZmJlZS9MOTJtdmx3M1RzV0RuZVAzV3E3SURWSlNkTDhESjJySHo0dEc5dkpLcDNwNnBLUGpEMTcrYXZxQ2lqR3VvLy95azVsYXFxWk1WMjZWSkEzODdlckprRUpMZmZMbzhaT0JEWXV0VjRqL29hM0hzU3JOUUhwYVZHYnFpRUJBbnU0dVBsM3lFeVVoNlRreU5wRzU1ODBnZzJicjg5T08zMTFZa1Q1bXFneDVVVW0yclNHcnpQOEhFbDArZm5lY3YvSEN3SkNiTEkwNjJiN003UXF5MTdNbXFVREViV3I1ZCs4dWFiSlRlY0oyZlBTdEQ5di8vSjlmaDQyYTBCMU15SjV1eVNTOXpmOStDRDd1Lzd4ei9reTlQOTNvNkVlbEpVSk1jbzI3YVZyNFFFNmNlam9tVHdmZktrRkNkNSsyMTV2TVVDakJ0WCsvZnpoSDJHU3pObnpzeWVOMi9lUWFWVW42S2lJdVRuNTRkYzBCc2ZINC80K0hoY3ZIZ1JTVWxKR0RObWpEM0lyNmlvd0E4Ly9JQ01qQXljTmgwVlZrcWhlL2Z1R0RwMHFEMTNXdGV1WGJGeDQwWmN1SEFCUlVWRjJMcDFLN1p2MzQ0T0hUcWdhOWV1Nk5DaFEwajk3TnUyYmJNZlI5UXJCSC84OGNmTytiMzhscHViaTNmZmZkZnQvYjVVOTkyOGVYTlk1VVNyTGYxdm90cnhlKzY1cDhuM0d3bzRvMG5hbGdFNGRjcTNmTzByVjhxTzBKSVN1ZjdtbThBVlZ6ZytwcmhZUGpjWExwU1lYbjhzSUJObUw3NW83SjZjTlVzS2RxMWFKU2tDbm4xV2NyK09HeWVQdWVFR3grUHlSVVZ5eEZ3L0NUZG1qRngrL0hIZ3IzK1ZZL2tMRnNodXlOLzlUbmFIVmxYVnJvaFVpeGJTM3FJaTJaVFNySmt4UGdFY0Z3SDFDWnNKRTJSY1k0NHYxcTZWaWVVdlRmV0xoZ3dCRmkrVzhkV29VYkpqOThFSHBkalhybDB5eVRwcGtqeXZiMS9qZWZIeHRkL2xXVlFrY2NDQ0JYSzlhMWZnNjY4ZEozSTdkNVovaXl1dmxIK1BlZk9rVFcrL0xlTWZ4bEdlMzl2TU1mWEVONzQvc1hGaWpNSVl4UmxqRkVPb3hTaGhQZmxhYlJHQVJ3SElCNUR6TVk1Z0tDaVFEMVFBdU9VVzQvWng0eVFCL3BOUHl1UnNXWmtNck45KzJ4aFkxOVd2ZmdYODdXL3lJZmpHRzNKYjc5N3lRZVdjWnlRaVF2TEtOblZSVVpKRTNyeUM2MDFhbXF5aWh6Szl5cTFZRjZ4bWhLQ0c2elBNdXpjYTRubkI5T2FiL2ozK3lTZGwwYU9pUWdZa3ExYjU5M3lsSkdDdlE4TDlrQkFSSVo4VHJ2SjZ1M0wzM2ZWWEtJNTlobHRLS1h1L2taV1ZWZXNpQmZXbFdiTm1HRHQyTEk0ZE80WWhRNGFnb3FJQ0J3NGNRRlpXRms2ZE9tWGZRUUxJZ0NZbEpRV3BxYWxvNlhUcUpTa3BDVk9tVEVGR1JnYlMwOU5SVkZRRW04MkdreWRQNHVUSmt3Q2tXdS9WVjErTnRoNG1CM3pKZytiUDQxdzVmdnc0TWpLa3lIVkNRb0xiNDN4VXYzSnljdXlYTlUxanYySDRDSURrL1ByZi95UXRnQ2VSa2NaT3hGZGVrVjJxZ0N3U0wxc21YMnZXeUFTc1dXcXFwQ200NVJiSDAxajkrc21FN3NxVjh0N2ZmeSt2cjk5MjMzMnlNV1BVS0ptMGpZZ3dha01NSFNyeFVXeXNUTHAyN1NyRm9zNmNrZHl1cjc4dWo3TmFKWjJCMVNydmJYNS9UWk12bTAyK3pCdEduUE9SNmdYRDlPYzkvcmh4WDJ5cy9ENzB5Ym1NREpsOFhyREFLQ29HU0N6LzhNUFNUbjNqQkNDN09qZHZCdjcxTC9rOTVlYktwUEtLRmJMNVpQWnM5OFhNZkxGNnRld0Mxbk8wRGhva3IrL3FjN3BuVCtEYmIyV2k5Tmd4MmFrN2NxU2tnN3YxVnNaUnZ0QTBjekV5RzdqekZRQmpGTVlvNUU2b3hTaU5ZZkoxRlVKdDhyVjVjeW11OWVXWHdFMDNPZDdYdGkwd2Q2NnNQbi8rdWF5TTd0NHQrZnd1WHF6N3pyWTc3cERnUjUrOEdUWk1rdmI3bXlQUTErSXhnVHl5L2Zubm5sZFZYUW5FRGwybFpLWDhHeDhXVHkwV1dmVi84ODNhcmZZM0pQTXhaV0JKc0pvUmdocXV6M0QzZCtUdDc4YmQ4M3paUFJNdVJveVF2N2xubnBIQmlGT2xVN2RhdDVhLzEwY2ZsZU40dm5MTVpSbzRkUTJtOUx6ZUI3elVpN0JZSkFlYlB1aXREK3d6UExIM0c2RTRzQUdBVnExYTJTdmZXaXdXN051M3oxNllBWkFCU2UvZXZkRzNiMStQUjkrVVV1alZxeGQ2OU9pQjQ4ZVBZLy8rL1E3QmErZk9uVDBPYWdBcGxLSHFHQjlvbW9haW9pSzM5NXVMZHd3ZlB0eWUrMjNZc0dIMjRoYkJOR2pRSVBUVXE0TDdLU01qQTd2OHpSVWFKTWVQSDdkZlZrcXgzekI4RFgzeWRlbFM3NU92WThiSUpHaEJnUnhMQjJTaWNOdzRPWlZnRmgwdEorbCs4WXVhdTJPZFhYT05mQzFmTHBPWUsxY2E5eDA5S2p0Szlmb0ZEejRvbXpLV0xqVjJnVm9zRWlmOTlLZFNOSGpSSWlBOVhTYUJxNnBrMTJkZHBLYktFWHVkVXNCdHQ4a3gra0dEcEQxOSs4cXg5YWxUYTM1V1JrVEk0NTk2U2lhVFhkRS9QNmRNa1FuWWQ5NlJTZURYWDVmY3AvLzZWKzNiLy9ycnhzVHJ4SW5TWGs4NzczcjJsSVhPS1ZOa1Vuak1HTm14V2h0Tk1ZN2FzTUZjN0cyekFzNTZlbmdUd2hpbEdtTVUzekJHQ1k3R01QbTZEa0FlZ0VTc1d5ZEgrdDNsRUdwSUR6NG9SMnJjNVNCcDAwWUNBWE5sU1UyVDR6ZjZ5bkJWbFh6cHE4YjZ4S3krbXF4UDBPaWRoMUpHQVBYV1cwQ0hEcktpNjVURU9tUjE2QUNrcEFUbnZmLzhaMG5nWGw0dVh4VVZqci83eUVocDN4VlhoSDZSTFVBbTN4Y3YxcThWQUZqczRkRk5UZjMyR2JHeEVreDdvdWNiTXg5eGk0OTNuWWZNMzljT0oybHBzdnNFa09PVHpzVkNuRVZFdU85VHZSazZ0SGJQYXdodnZDRjU0RXBLNUVSRWViblIvMGRFU0o4emRxd2NXNnd2N0RNOGlvK1BYMWRZV0pnSElQSDA2ZE1vTFMxMVd3RTNGRFJyMWd5alI0L0c4dVhMa1p5Y2pPN2R1Nk5UcDA1K0ZhZXdXQ3pvMXEwYnVuWHJob0tDQWh3N2RneTV1YmtZT1hLa3k4ZGJyVlowNmRJRkFEQjY5R2hFUkVUVTZXZW9xS2pBdW5YcjdLL3RyRWVQSHNqUHowZHBhYWxEZGVlVVlNVVJUcUtqbzJ2czJ2SG51ZUdndkx3Y21abVordFVDcFJUN0RjTVdBT2NCdE1MV3JUS1I2dTBvK2U5KzUzaTliVnZaUUpHV0puSHBtREV5Q1RwMXF2KzV4aWRNa0srOWUrWEkrMy8rSS9sWHpRdDZqenppL3NoN3g0NnlzL1RoaCtWNlhwNU1ncFdXT281WjlOMnVnT05Dc2xMR2w4VmlmTy9jdWVhQzlLT1B5bjBQUG1pTVlRWU9sTWxWZmZJMUpVVUthTTJhNVh1ZTFsYXQ1S1RoekpteTYvWE1HZG5aV3hmLytZOU1iaytaSWp0UmZablE2ZEJCSmt1ZmYxNSt4cnIwbFUwdGp0SUxtSWtGd1dwR3FHR013aGpGWDR4UmdxTlJWSnJSZ0w4Q2VBQ0FKRHQzRGw2Q3BhS2liaCtvRGEyODNEak81R3V1U24yVk5TTEMvVTdRd2tMaktJeDVkUnNBTGx3d2NqdU5IZXQvanN4RmkrVDc0TUhCbTdnTlJSOThZTTVKdTFBQlB3MW1jMEpOeVBZWmdXS3pTUkVHUUhaZ21JL2crVUpmaEFCQ3M5SXRCUjc3REsvbXo1OXY3emVHRFJ1R2dRTUhCcmxGM3Rsc3RyQ29CbHdYVlZWVkxnYyt3YUlmZld6WnNpWGlhOWwvbHBTVTJIUENlZHZCRTB4SGpoeXhEejQxVFZzNGMrWk05aHNtR3ZBbkFJOEJrTTBRenp4VHV4ZjYvbnVKY2YwOXhlWkpaYVVzOXRXaEFFeUR5OHFTMUdvMzNpaVRqblhadVZaVkphOVhtN0ZEV1psTVBnT1MwcTJ5VXZMV1V2MnFxSkJkc2xJOHh3YWdpd0pPQnJsVklZTXhTbWhpakJJOG9SaWpOSmJKMTVFQXZnTWdSMVAyN1dNRmMycTZORTNTVGVoNWg0SHJGTEFzbUUwS05ld3ppRXpZWi9qazNYZmZIYWxwMm5lQUJLMDMzbmhqblkrdEVZVXJUZFB3eFJkZjJLdHIyMnkyNis2KysyNzJHeVlhTUJoQU9nRFp0Wm1Sd1ZpRHFMYisvVy9aN1N5V0syQmlNSnNUYWhpakVCbENOVVpwRkVzTkN0Z0VRRWFOQnc0WXh5K0ltcUx2dnpkUG9oemdKRXBON0RPSVROaG4rR1RHakJuMmZ1UGl4WXZJenM0T2NvdUlndWZzMmJQMlFRMkFBNkV3cUFrMUN0Z0JpVGNrdityQ2hjRnRFRkU0Y3l4SU5pZFl6UWhWakZHSURLRWFvelNLeWRkcWY3RmZldlpaM3d0R0VUVW1tZ1k4OTV6NUZqOUxwellwN0RPSTJHZjRSZE0wZTcrUm5wNGV6S1lRQlpYNS83K21hZXczM0h2QmZvbXhCbEh0ZlA0NXNHbVRmdTB3QU82YWNJRXhDcEVJMVJpbE1VMitMZ0lnNVNhLyswNnFtQk0xTlJzMkFGOTlwVi9MQnZCMkVGc1Q2dGhuRUxIUDhFdFdWdFlpcGRReEFNak56VFVuOGlkcU1uSnljdXg1NHdCa0Z4VVZzZDl3YndXQURBREEvdjNPQllPSXlCdE5BNTU0d256TEMwcHl2cElUeGloRW9SMmpOSnJKVndXVUEvaTkvWWFISHphS1FSRTFCZVhsd0FNUG1HOTVRUUZsd1dwT3FHT2ZRVTBlK3d5L3paNDl1MXpUTkh1L3NXWExGbFI1cXk1TjFJaFVWVlZoazdFRERRQmVlT0NCQjlodnVLR0FDdWdGUGdIZzhjZU40clpFNU4zcnJ3Tjc5dWpYOWdINElJaXRDV21NVWFpcEMvVVlwZEZNdmxiN0JNQldBTUNoUThCVFR3VzNOVVFOYWM0Y3dOaGl2eC9BM0NDMkpseXd6NkNtaTMxR3JkeDExMTJmYUpxMkZRRHk4L094ZmZ2MllEZUpxTUhzMjdjUDU4K2ZCd0JvbXJZL016T1QvWVozeXdCc0JBQ2NQQW5jZDE5d1cwTVVMckt6Z2FlZk50L3lPd1Z3TnRFRHhpalVsSVY2ak5Lb0psOFZvQUc0RzdMS0RMejJHckJxVlZEYlJOUWdObTgySDhtcEJQQUxIc254am4wR05WbnNNK3JDb2QvWXUzY3ZDMXRRazVDYm00dHQxY1g1TkUyckJQQ0wyYk5uczkvd29qcldtQWs1Y1NPcEJ6NzdMS2h0SWdwNWxaWEFMYmNBRnkvcXQveVhCVUY5d2hpRm1xUndpRkVhMWVRckFDaGdKd0NwSGxKVkJkeDZLM0RzV0hBYlJWU2Zzck9CeVpNbFNCRi9WOEQ2WURZcG5MRFBvQ2FIZlVhZHpadzUwOTV2YUpxR3RXdlhvcUNnSU1pdElxby94Y1hGV0wxNk5iVHFnbEZLcWIvUG5EbVQvWWFQRkhBQXdLOEJBRFliY01jZGtnT1dpRnk3OTE2cHlTQnlvUC85a0ZlTVVhaXBDWmNZcGRGTnZsYjdNNEExQUlCejU0Q3JyZ0tPSHc5dWk0anF3NmxUd0RYWEFLZFA2N2RzaFRtUEtmbUtmUVkxRGV3ekFpWXpNOVBlYjVTVmxXSFpzbVVvTEN3TWNxdUlBcSs0dUJqTGx5OUhTVW1KZnRQV3pNeE05aHYrbXdmZ2N3QkFRUUV3YnB5a1BDSWlSMDg4QWJ6enp2K3pkK2Z4VVZibkhzQi9aeVloTzJRaENTRWhoRFVzSVNSc3NpOENzcW5naGx2VmdsaDdiNjMxOXRiYTJsYXB0YlYxYWUydHRhSUMxV3BkMmlxb3FPdzdzaWNrTEVKWVF4WVNsb1RzNjd6M2o1TjM1cDNKVEdiSlRHWW0rWDAvSHo2WlBTY2s4OHg3bnZjNXoxR3ZOUUc0VXdDWHZUZ2l2OE5qRk9vcS9Pa1lSWGg3QUo2aUFERUE5Z1BvRHdEbzJ4ZjQ4a3RnMkRDdmpvdkliYzZlQmViUEIwNmVWRzhwQkRCR0FKZmFlQmJad0poQm5SNWpodHU5OXRwck1hR2hvY2E0RVJZV2hwdHV1Z21Sa1pGZUhobVJlMVJXVm1ManhvMjRibHI2V3lpRUdMTmt5UkxHRFJjb1FBU0FmUUNHQWdEaTRvQ3Z2Z0pHamZMcXVJaDhRbE1UOE9TVHNpZTl5U01DZU52V1U4ZzJIcU5RWitkdnh5aWROdmtLQUFvd0NNQVdBRWtBZ05CUTRLMjNnSHZ2QlVTbi90R3BNMU1VNExQUGdBY2VrSlVUVWltQW0xcVcwSk9MR0RPb1UyTE04S2pWcTFjUFVoVEZHRGNDQWdJd2FkSWs5Ty9mMzhzakkycWYvUHg4N05peEE0Mk5qZXBOcFlxaTNOU3lwSlZjcEFDOUFleUVlckkzS0FqNDR4L2xNbXNlYTFCWFZWZ0kzSGNmc0dPSDl0Ym5CUENzdDRiVUdmQVloVG9yZnp4RzZmU2Y4QXJRRHpLWmttSzhjZTVjNEtXWGdMUTBidzJMeURWNWVjQlRUMWx1MUZBTVlKWUFqbnRwVkowS1l3WjFLb3daSGVMZGQ5L3QxOVRVWkJZM0VoTVRNWGJzV0VSRlJYbHZZRVF1cUtpb3dNR0RCM0ZCMDM1SFVaUmlJY1NzcFV1WE1tNjRnUUwwQXJBTlFLcnh4Z2tUWk1YZnVISGVHaFpSeDZ1ckEvN3lGK0RYdndhcXE3WDMvRUlBdi9QV3NEb1RIcU5RWitMUHh5aWRQdmtLQUFvUUMrQURBRE9OTndvQnpKc0hMRnNtZXk2eC9KNThWV1Vsc0gwN3NHb1ZzSGF0M0tqQjVCc0Fkd201ZkpqY2hER0QvQnBqaGxlc1dyVXFWZ2p4Z2FJb003VzNKeVVsWWZEZ3dVaElTRUMzYnQyOE5UeWlOalUyTnVMU3BVczRkZW9VOHZQekxlLytScS9YMy9YUVF3OHhicmlSQXZRQThBOEF0eGh2RkFLWU5nMzQzdmRrZis2ZVBiMDJQaUtQYVc0R2poNEZQdm9JV0xFQ3VIWk5lMjhsZ084SjRFTXZqYTVUNGpFSytiUE9jb3pTSlpLdkFLREl6Y1dlQnZBVWdIQ3pPNFdRRlcxanhzamVTekV4UUdDZ040WkpKUHNkWGIwS1hMNE1IRDRNWkdmTFpjUG1hZ0c4Q3VDWEFqQzBmaEZxTDhZTThodU1HVDVqK2ZMbHV1VGtaT3R4QTBCVVZCUjY5dXlKNE9CZ0JBVUZRYWZyclB1ZWtxOVRGQVYxZFhXb3E2dkQxYXRYY2MwOCthR3FCZkJxZm43K0w1Y3ZYODY0NFFHS25JczlBYm0wdWtlckI2U21BdVBIQTdHeE1oRWJGTlRSUXlSeWovSnk0TW9WNE13WllOY3V3UHJtVDdzQlBDU0FNeDA4dWk2Qnh5amtMenJyTVVxWFNiNnFGQ0FCd0I4QUxBYkFJeGp5TjQwQTFnQjRVZ0FYN0QyWTJvOHhnL3djWTRZWHJGaXhJaUVnSU9BUFFnakdEZkk3aXFJMENpSFdHQXlHSjVjdFc4YTQwUUZhcW1CZkFQQmRBQ0hlSFExUmh6c0cyV1pncmJjSDBoWHdHSVg4bVQ4Zm8zUzU1S3VxWldmelJ3RGNEbUFFZ0dEdmpvaklwZ1lBUnlFUFNON2t6dVRld1poQmZvUXh3MGU4OXRwck1TRWhJWThJSVJnM3lOY1o0NFlRNGsxZjNTbTRzMU5rTmRwU0FIY0R5QUFRNnQwUkVYbE1Qb0R0QU40UXdCNXZENllyNGpFSytaRk9jWXpTWlpPdldnclFEY0JZQU9tUU81Q0dRaTQ1SnZJR0EyUVpmVEZra05rbmdEcnZEb20wR0RQSXh6Qm0rSUdQUC82NFcwMU56VmlEd1pBT29MZWlLSXdiNUUwR0lVUnR5eVlWUjRVUSs1WXNXY0s0NFVNVVFBOWdOSUNSQVBwQUhtdm92VG9vSXRmVkE3Z0cyVkpnTjA4TSt4WWVvNUNQNlpUSEtFeStFaEVSRVJFUkVSRVJ1U2dqSStOSE9wM3VWWXViWHoxOCtQRC9lR1ZBNUZONE5vT0lpSWlJaUlpSWlJaklBNWg4SlNJaUlpSWlJaUlpSXZJQUpsK0ppSWlJaUlpSWlJaUlQSURKVnlJaUlpSWlJaUlpSWlJUFlQS1ZpSWlJaUlpSWlJaUl5QU9ZZkNVaUlpSWlJaUlpSWlMeUFDWmZpWWlJaUlpSWlJaUlpRHlBeVZjaUlpSWlJaUlpSWlJaUQyRHlsWWlJaUlpSWlJaUlpTWdEbUh3bElpSWlJaUlpSWlJaThnQW1YNG1JaUlpSWlJaUlpSWc4Z01sWElpSWlJaUlpSWlJaUlnOWc4cFdJaUlpSWlJaUlpSWpJQTVoOEpTSWlJaUlpSWlJaUl2SUFKbCtKaUlpSWlJaUlpSWlJUElESlZ5SWlJaUlpSWlJaUlpSVBZUEtWaUlpSWlJaUlpSWlJeUFPWWZDVWlJaUlpSWlJaUlpTHlBQ1pmaVlpSWlJaUlpSWlJaUR5QXlWY2lJaUlpSWlJaUlpSWlEMkR5bFlpSWlJaUlpSWlJaU1nRG1Id2xJaUlpSWlJaUlpSWk4Z0FtWDRtSWlJaUlpSWlJaUlnOGdNbFhJaUlpSWlJaUlpSWlJZzlnOHBXSWlJaUlpSWlJaUlqSUE1aDhKU0lpSWlJaUlpSWlJdklBSmwrSmlJaUlpSWlJaUlpSVBJREpWeUlpSWlJaUlpSWlJaUlQWVBLVmlJaUlpSWlJaUlpSXlBT1lmQ1VpSWlJaUlpSWlJaUx5QUNaZmlZaUlpSWlJaUlpSWlEeUF5VmNpSWlJaUlpSWlJaUlpRDJEeWxZaUlpSWlJaUlpSWlNZ0RtSHdsSWlJaUlpSWlJaUlpOGdBbVg0bUlpSWlJaUlpSWlJZzhnTWxYSWlJaUlpSWlJaUlpSWc5ZzhwV0lpSWlJaUlpSWlJaklBNWg4SlNJaUlpSWlJaUlpSXZJQUpsK0ppSWlJaUlpSWlJaUlQSURKVnlJaUlpSWlJaUlpSWlJUFlQS1ZpSWlJaUlpSWlJaUl5QU9ZZkNVaUlpSWlJaUlpSWlMeUFDWmZpWWlJaUlpSWlJaUlpRHlBeVZjaUlpSWlJaUlpSWlJaUQyRHlsWWlJaUlpSWlJaUlpTWdEbUh3bElpSWlJaUlpSWlJaThnQW1YNG1JaUlpSWlJaUlpSWc4Z01sWElpSWlJaUlpSWlJaUlnOWc4cFdJaUlpSWlJaUlpSWpJQTVoOEpTSWlJaUlpSWlJaUl2SUFKbCtKaUlpSWlJaUlpSWlJUElESlZ5SWlJaUlpSWlJaUlpSVBZUEtWaUlpSWlJaUlpSWlJeUFNQ3ZEMEFJaUlpSWlJaUlpSWlmNUdabWRrYlFLeDZYUWlSYU9WaHNabVptU00xMTh1enNySXVlSHh3NUhPWWZDVWlJaUlpSWlJaUluS1FvaWd6ZERyZGUzWWVkcjhRNG43TmMzNEM0QlhQam94OEVkc09FQkVSRVJFUkVSRVJPVWl2MTY4SDBPVEVVNW9CZk9DaDRaQ1BZL0tWaUlpSWlJaUlpSWpJUVljT0hib0NZSXNUVHptWWxaVlY1S254a0c5ajhwV0lpSWlJaUlpSWlNZzVIenJ4Mk04OU5ncnllVXkrRWhFUkVSRVJFUkVST1VFSThiV2lLQVo3ajFNVXhXQXdHTjd2aURHUmIyTHlsWWlJaUlpSWlJaUl5QW1IRGgwcUJyRFQzdU9FRUVleXM3UFBlMzVFNUt1WWZDVWlJaUlpSWlJaUluS1NvaWp2T2ZDWU5SMHhGdkpkVEw0U0VSRVJFUkVSRVJFNXlXQXd0Tmw2UUZFVVJhZlRzZVZBRjhma0t4RVJFUkVSRVJFUmtaTnljbklLQUh4ajYzNGhSTzZoUTRmT2RPQ1F5QWN4K1VwRVJFUkVSRVJFUk9RQ1JWRSthT1B1THpwc0lPU3ptSHdsSWlJaUlpSWlJaUp5Z2NGZytCS0FZdVV1UlZFVXRod2dKbCtKaUlpSWlJaUlpSWhja1pPVGN3N0Fmc3ZiRlVVNW5wV1ZkZHdMUXlJZncrUXJFUkVSRVJFUkVSR1Jpd3dHUTZ2V0E0cWlyUFBHV01qM01QbEtSRVJFUkVSRVJFVGtJcDFPMXlyUnF0UHAySEtBQURENVNrUkVSRVJFUkVSRTVMTERodytmQm5CRWMxUGU0Y09IYzd3MUh2SXRUTDRTRVJFUkVSRVJFUkcxZzhGZzBGYTZmdW0xZ1pEUFlmS1ZpSWlJaUlpSWlJaW9IWFE2M1JmcVpZdEVMQkVSRVJFUkVSRVJFUkcxUjJabTVySE16TXl6M2g0SCtaWUFidy9BRnloQUlJQmhBQVlBNkFrZ0dJRHc2cUNvSzFNQTFBTzRBdUFjZ0tNQ2FQRHVrRWhyeFlvVmdRRUJBY01NQnNNQXZWN2ZFMEN3RUlJeGc3eENVUlFGUUwyaUtGZWFtcHJPUlVWRkhWMjhlREZqaG85aDNDQmZ3cmpoL3poL0lSL0QrWXNmWXp4eHI1K1VsNTh0RHd5TVBBejh5TnRqOFZPZE1wNTAyVGVVQXZRQWNCdUErd0ZNQWhEaTNSRVIyVlFIWUIrQTl3RjhJb0NyWGg1UGw3Uml4WW9lQVFFQnR3a2hHRFBJMTlVQjJDZUVlTCs2dXZxVHh4NTdqREhEU3hnM3lJOHdidmdCemwvSWozRCs0dU1ZVHp3bkx6Z1lOWG85UmxaWGUzc29uVVduaUNkZEx2bXFBREVBZmc3Z3Y4RUFRLzZuSHNCS0FMOFJ3Q1Z2RDZZcmVPZWRkMkthbXBwK0xvUmd6Q0IvVks4b3lrcWRUdmViSlV1V01HWjBFTVlOOG5PTUd6Nkc4eGZ5YzV5LytCREdFL0p6Zmh0UHVrenlWWkUvNi9jQS9BSHlMSStKRUVELy9zRFFvVUJVRk5DOU94REFqZ3prSmMzTlFFVUZVRllHbkR3SjVPVUJpbUw1cUNvQXp3RDRzd0FNSFQvSXprOVJGTEY2OVdyck1RTkFSRVFFZXZUb2dhQ2dJSFRyMWcxY1BVemVvaWdLR2hvYTBORFFnT3ZYcjZPaW9zTGFZNnFFRU0vazUrZi9lZm55NVl3WkhzSzRRZjZDY2NNL2NQNUNmb1B6RjUvSGVFSitvNVBHa3k1eDFLOEFVUURlQW5DSDhVWWhnQWtUZ0FjZkJPNjRBK2paMDJ2akkycFRlVG53NmFmQU8rOEFPM1pZQnA3MUFCNFF3R1V2amE1VGV2MzExNk9DZ29MZUVrTGNvYjA5TGk0T0F3WU1RRXBLQ29LRGc3MDFQS0kyMWRmWEl6OC9INmRQbjhhbFM2MU9DSzhIOE1EU3BVc1pNOXlNY1lQOEdlT0c3K0g4aGZ3YTV5OCtoZkdFL0ZvbmlTZWRQdm1xQUwwQmJBSXcxSGpqK1BIQXE2OENOOXpndFhFUnVlVElFZUNKSjRCdDI3UzNuZ2R3bzVETnFLbWRWcTVjMlZzSVlSWXpZbU5qY2NNTk55QTJOdGFMSXlOeTNyVnIxN0J2M3o3TFpNcjU1dWJtR3g5NTVCSEdERGRoM0tET2hISEQremgvb1U2Rjh4ZXZZanloVHNXUDQwbW5UcjRxUUI4QVd3QU1CQUFFQndNdnZnZzg5cGc4MDBQa2p4UkZudlg1d1ErQW1ocjExZ0xJZ0pQbnhaSDV2VldyVnBuRkRMMWVqN0ZqeDJMbzBLRnRQNUhJeCtYbDVXSHYzcjFvYW1vQ0FDaUtVcURUNlc1Y3NtUUpZMFk3TVc1UVo4VzQ0UjJjdjFDbnhQbUxWekNlVUtma3AvR2swNzdqRktBN2dEMEFoZ01BZXZVQzFxNEZ4bzN6NnJpSTNPYllNV0RCQXVEQ0JmV1dzd0RHQ3VDYUYwZmx0OTU3NzczdURRME54cGdSRWhLQ21UTm5zbXFOT28yeXNqSnMzTGdSMWFhZFY4OGFESWF4eTVZdFk4eHdFZU1HZFhhTUd4Mkw4eGZxOURoLzZUQ01KOVRwK1ZrODBYbDdBSjZnQUhvQS80QWFhQklTZ0sxYkdXaW9jeGsrSE5pK0hVaEpVVzlpampuNUFBQWdBRWxFUVZUcEQrQVRCV0IzZENkOS9QSEgrdnI2ZW1QTUNBa0p3ZHk1YzVsQW9VNGxLaW9LOCtmUFIzaDR1SHBUZjUxTzk4bnk1Y3NaTTF6QXVFRmRBZU5HeCtIOGhib0V6bDg2Qk9NSmRRbCtGazg2WmZJVndPTUFiZ1VBOU9nQmJOb0VEQm5pM1JFUmVVTGZ2c0NXTFVCTWpIckxOQURQZVhGRWZxbXFxdXB4SWNTdEFCQVlHSWc1YytZZ01qTFMyOE1pY3J2dzhIRE1uVHNYUVVGQjZrM1RrcE9UR1ROY3dMaEJYUVhqUm9maC9JVzZCczVmT2dMakNYVU5maFJQT2wzYkFRVklCWEFFUUJEMGV1QmYvd0p1dTgzYnd5THlySzFiZ2RtemdlWm1BR2dFTUY0QWg3MDhLcit3Y3VYS1ZDSEVFUUJCUWdqTW1ERURmZnYyOWZhd2lEeXF1TGdZNjlldmh5SjNDMjFzYkd3Yy8raWpqekptT0loeGc3b2l4ZzNQNGZ5RnVpVE9YenlDOFlTNkpEK0lKNTJxOGxXUnllUTNBY2hUODQ4K3lrQkRYY09NR2NBdmY2bGVDd1R3dHRJSlQ2NTRnRm5NU0UxTlpRS0Z1b1NFaEFTTUhEbFN2Um9ZR0JqNE5oZ3pITVc0UVYwUzQ0Wm5jUDVDWFJibkwyN0hlRUpkbGgvRUU1OGFUSHNwd00wQVBnY2d5NCtQSHdkQ1E3MDdLS0tPVWxjSFpHWUMzMzZyM3JKRUFILzM0b2g4M3FwVnE0d3hJenc4SExmZGRoc0NBbnl5UlF5UjJ6VTNOMlB0MnJXNGZ2MDZBRUJSbENVUFAvenczNzA3S3QvSHVFRmRHZU9HKzNIK1FsMGE1eTl1eFhoQ1hacVB4NU5PVS9uYTBsVDNKZU1OTDc3SVFFTmRTM0F3OEplL2FHOTVWZ0c2ZVdzNHZxNWxzeEJqekJnelpnd1RLTlNsNlBWNmpCOC8zbmhkQ1BIczh1WExHVFBhd0xoQlhSM2pobnR4L2tKZEh1Y3Zic040UWwyZWo4ZVRUcE44aFR6TEk3dElqeG9GM0hXWGQwZEQ1QTB6WndMVHA2dlhVZ0E4NUxXeCtMaWtwQ1JqeklpSmlVRy9mdjI4UENLaWp0ZTdkMi8wNnRWTHZaclN0MjlmeG93Mk1HNFFNVzY0R2VjdlJKeS91QXZqQ1pFUHg1UE9sSHg5MG5qcG1XY0EwYWs2S2hBNVJnamcxNy9XM3ZLWXQ0Ymk2M1E2blRGbVpHUmtlSE1vUkY2Vm1abHB2R3d3R0JnejJzQzRRU1F4YnJnTjV5OUVuTCs0QytNSmtRL0hrMDZSZkZXQTBRQW1BZ0Q2OXdkdXZkVzdBeUx5cGlsVGdMUTA5VnE2QXN6dzVuQjgwVnR2dldXTUdSRVJFZWpUcDQrWFIwVGtQZkh4OFlpTWpBUUFDQ0hTVjY1Y3laaGhCZU1Ha1FualJ2dHgva0trd2ZsTHV6Q2VFR240YUR6cEZNbFhBUGNhTHozOE1NL3lVTmNtQlBEakgydHZlZGhiUS9GVk9wM09HRE1HRFJvRXdaaEJYWmdRQW1tbUF4U0FNY01xeGcwaUU4WU50K0Q4aFVqRitVdDdNWjRRcVh3MG52ajl1MUlCQWdFVUFvaUZYZzhVRkFDbVBsUkVYZFBWcS9KOTBOUUVBR1VBZWdtZ3djdWo4Z2tyVnF3SURBd01MQVFRSzRUQTRzV0xFY3BtOU5URjFkWFY0Y01QUDRTaUtBQlFGaDRlM212eDRzV01HUzBZTjRoYVk5eHdIZWN2UkZady91SVN4aE1pSzN3d25uU0d5dGRKQUdJQkFCTW5NdEFRQVVCTUREQi92bm90Q3JJQk93SFE2WFRHbUJFWEY4Y0VDaEdBNE9CZ0pDVWxxVmVqcXF1ckdUTTBHRGRjVTF0YjYrMGhrQWN4YnJRTDV5OUVsamgvY1JYakNaRWxINHdublNINU9zdDQ2V1l2L1g5ZXZBaDgreTFRVitmKzEyNXdNRGxmWFEzczJPSDQ2NjVabzU0RmFKODMzcEQvRGg1c2ZkL0JnNmI3TzBwMU5mQ2Izd0RQUGVmKzE4N05CVDc4VVA3NzVodkhuM2Z3b09sNW52Z2JzY1Y4aDB1dkJ4dGZJWVF3eGd4LzdkbFlYVjJONjlldm83bTUyZTJ2YlRBWUhIcGNVMU1UTGwyNjVQRHI1dWZuTy96YWxwcWJtMUZTVW9LU2toS0huM1BtekJtY1AzOGUxNjlmZCtsNzV1Zm5JejgvSDQyTmpTNDkzeCtscEtRWUx5dUt3cGloMFJuaVJrY3JLeXZEeHg5L2pLKysrZ3JGeGNYZUhvNlpwcVltWkdkbkl6czcyKzJ2WFZaV2huUG56dUhjdVhNb0xTMTErSGxYcmx3eFBzOFRzZDFUR0RkYzV2MzVTMGZhdFF1NGRzMjU1K3pmRDd6Mm12em5xb3dNK2UvOGVlZWZHeHdzLzdYbisvL3lsL0pmVnBacnovL0pUK1MvRFJ0Y0g0T3phbXVCUzVma1AyL2cvTVVWL2hWUFRwMHl6WTA3MHVlZnkvZmp1KzhDemh6ZjUrUUFpeGNELy9xWHpEVzAxOG1Ud09uVHpuMS9GK2N6WFo2UHhaTUFidy9BRFJZYUw5MXlpMmUrUTFVVkVCNXUrLzVYWGdIKy9HZlpXK0wwYWRuazJ2TDVqendDL09JWDJzYS85aDA5Q3R4ekQvRG9vOEFQZjJqN2NWbFp3TjEzeXdPTE5XdTBHWDdyOXU0RmJydE5Ib3lzWEFtTUd1WDRtQ3o5MTMvSnI4OCtDNHdaWTM3ZkYxK1lkcHI3L3ZkZC94N091T2ttWU04ZStic1lQMTVlZHdkRkFlNjlGemgyVEY3LzZpdkhuN3RraWZ4ZDl1MHJmNThkWmRJazdiV3BIZmVOZlpzUXdoZ3pmRFdKMHRqWWlNREFRSnYzSHoxNkZNZVBId2NBM0hubm5ZaUlpR2oxL04yN2QyUGt5SkdJaW9weStQdVdsWlZoMjdadEdESmtDSVlPSFdyemNWZXZYc1cyYmR0UVZWV0ZtVE5uYWl1ZnJMcDgrVEkyYjk2TTZPaG9USjQ4R1RFeE1UWWZxeWdLbXBxYXpINytxcW9xZlBubGx3Q0FKVXVXdEJxenRaOXg3OTY5YUdob3dJQUJBekIxcXZOLy9wczNid1lBM0g3NzdlalJvNGZUei9kSDhmSHgycXVNR1JyK0VEZEtTMHNSRmhhR3NMQXdidzhGaXFKZzkrN2RNQmdNS0NrcGdWNnY5L2FRekt4ZnY5NllHSTJOalVWaVlxTGJYbnZidG0wb0x5OEhBTnpreERISXJsMjdVRlpXaHZEd2NQVHIxODl0NC9FMHhnMlhlWDcrNGl1cXErWHhlSDA5TUdFQ3NIMDc0RWhNK1BKTDB6emlNUmMzcXo1eVJINTFwZmlodmw1K2JVK3h5bTkvSzc4T0hBaGtaanIvL0ZkZWtWL0R3NTJiMHh3OUNxU2t0RDEvdGVXamorVGNCWkR6bjQ3RytZc3IvQ3VlZlBrbDhELy9JeTkzNU54NDNUcGd4UW9nSkFSNDRBSEhuL2ZxcXpMeCtxOS9BUnMzQXJObTJYOU9XNTU2Q2xpN0Z1alRSK1l0Yk0yakZBVll1bFFtaXg5NXBQMEZiYzNOd09YTDdYc05hK0xqZmJmSHNJL0ZFNzlPdmlwQVBBQ1p6ZXpkR3hneXhQM2Z4R0FBaGc2VkgxN2YvYTU4czFnNmNVSitEUTZXSDNTV2xpMlRIMlNmZkNJVHNELy9PZEJHWXNYbzBVZGxzdTkvLzFjbVNxZE1zZjY0d0VDZ3BFU2V3Ym56VGhrVXpQL1FUSnFiZ1IvOFFGN096Z2JPbld0Zjh0WFh2UElLTUhteS9EbVhMZ1dPSHdlNmQyLy82MzcybVNueE9tOGVNSGV1WTg4N2NrUWVBQUh5akZsSFNra0IrdldUdjJOZ2dBTDBFY0RGamgyRWIzbnJyYmZpaFJCcEFCQWFHbXJjcWRtWEtJcUNUei85RkFFQkFSZzBhQkJHakJqUjZqRnFOYWRlcjBlNGxRUHIzYnQzNDl5NWM3aHc0UUpHamh5SjlQUjA2SFQyRnpyczJiTUg1ZVhsMkw5L1A2S2pveTBuMVVZNm5RNjF0YlV3R0F6WXNtVUw1czZkaTdpNE9Kcy96emN0bGVMWHJsMURaV1dsemVSclZWVVZkdXpZZ2NEQVFNeWVQZHZ1ZUs5ZHU0YlBQLzhjQ1FrSm1EUnBrakhwZFAzNmRUUzByQnF3OVRPNHFyR3hFZSs5OTU1Ylhzc3lrZXh0RVJFUkNBOFBSMVZWRlFBTVdMVnFWWitsUzVkMjZaZ0IrRWZjeU12THc1NDlleEFXRm9aNTgrYTFtWUJkdlhxMVU2ODlidHc0REI4KzNLbm5IRDE2RkpkYkR2RFQwdEpzeGdkdkdUZHVITmF0V3dkRlViQnIxeTdjZnZ2dGJaN3djbFIrZnI0eDhacVVsT1J3VXZmYXRXc29LeXNEQUw5S3ZBS01HNjdva1BsTGJxN3RlWU9sbkJ3Z09kbjU1d1VITzFZZCtlV1hzcG9Ta0QrdlplSTFMMDhXcnZqWVNScS85ZUtMd0s5K0JhU255MktSbmoyOVBTTG5jUDdpbEE2Sko5N3d4aHVtSWk5SGZmb3BzR2lSN2Z2UG5KRmZVMU1kVHhaZXZnejg4NS95OHFSSjdVKzhWbGViS3Rtam8yMG5YZ0U1eHA0OVpUN3F6VGVCaHg2U0o3QmNsWmNuODFydVZsWUcrT0N4TVFDZml5ZCtuWHdGTU5KNGFmUm96MlRjTjI2VVRhc0JtZEN6NXR0djVkZWhRd0ZyQ1k3SEhnTjI3NWF2OCt5enNqcjFndy9rRzc4dC8vaUhUSXhldnk1THBnOGRBcXdkeUtlbHlUTXhDeGJJZzV1RkMrV3krRUdEV2ovMjFWZUJ3NGZsNVNlZkJPNjRvKzB4K0p2eDQrWE9kaSs5QkJRV0FzODhJMy9tOW1odUJwWXZsNWYxZWxtRnJQN09iZW5WU3dhaGwxNHkzVFpoZ3YzbkpTWUNGbFdNTGhNQ3VQRkdXZDBzVFFId1QvZTh1SC9TNlhUR21ORlc5YVUzRlJVVm9icGxTWXRpbytKQW5keEhSa1phM1hGOTZOQ2hLQzB0UlhWMU5iS3lzcENmbjQ5cDA2YlpyZUNjT25VcVB2dnNNelEwTkdEcjFxMjQ5ZFpicmZhMmpJcUt3b3daTTdCcDB5WTBOemRqMDZaTnVQbm1tOUhkeW9tT1k4ZU80ZXJWcXdDQUVTTkdtQzFSdFZSYVdtcHNMWkNkblkyTWpBeWJqelVZRE5pNWN5Y01CZ05LUzB2UnBLbE11YXc1cSt0clNSOWZsNUNRZ0x5OFBBQ0F3V0RvOGpFRDhJKzRVVk5UQTRQQmdNcktTbno5OWRlWU4yK2UxL3JTRmhjWDQ5Q2hROGJydWJtNXlNM05iZGRyM252dnZRZ09EbTd2MEl4aVkyT1JscGFHM054YzFOVFU0UERodzdqaGhodmE5WnFLb2lDclpXbXhFQUpEaHc2MTIvWWtKQ1FFM2JwMXcxSDFKRzNMMk93OUx6UTAxQzNKWW5kaDNIQ2E1K2N2emMyT0wxUFZ0Z1J5NW5tT1ZwUCs1eitteXc4OTFQcithZFBrYS8zMHA4RFBmdWJZYTVKdEZSV3liZDNCZzdJZ1pjTUdVM0xkSDNEKzRpelB4NVBPUWsyK09wT2dmdTAxVXhYOHM4KzJmd3hmZjIwNkdiVnNtZjNITDE4dTJ6TVVGTWljMG9FRDF2Tk5aSjJQeFJOL1Q3NmFTalpIam16alllM3d6anZ5YTJBZzhQRERyZSt2ckpROVh3SGJMUVVtVDVaVnBrdVd5RjRqV1ZreXFmcW5Qd0hmKzU3dDc5Mi92L3oraXhiSnl0Yjc3Z08yYkxGK1p2aW1tNERmL1U0ZXVGeTlLaE94T1RueXJMVHErSEhaNTBSOS9Bc3YyUC81ZmNFWFh6ajMrREZqNUhLQ3hFUzV4TWZSNSt2MXNxclYwbXV2eWQ4ZklBOUs3YlYxQUlDLy9VMVdEbnowa2VtMjIyKzMvN3dQUG5EdjhvdXhZN1hCWmlKNDhHS01HZEhSMGQ0Y2gwMm5XM29BNlhRNkRMSnlBcVd4c2RHWW5MWFZVaUErUGg0TEZ5N0V6cDA3Y2ZIaVJWeTllaFdmZmZZWnhvMGJoOVEyVHZwRVJFUmd5cFFwMkx4NU0ycHJhN0Y5KzNiTW5Udlhhb0kzTVRFUm8wYU53c0dEQjFGZlg0K05HemRpMGFKRlpzdUx5OHZMY2JqbFpFOWlZaUpHang3ZDVzL2V2MzkvRkJRVTRNeVpNOGpPemtaOGZEd1NFaEtzUHZiUW9VTzQxdEkvYnVyVXFXYUpaYlcvWkhCd3NGTnRGNXcxYjk0OHAvK09LaW9xOFBubm4zdG9STzBYR3h0clRLSUlJUmd6SkorUEd5Tkhqa1JOVFEyKy9mWmJWRlJVWU1PR0RaZy9mejY2ZGV0bTh6bnA2ZWtZT0hDZ3pmcy8rZVFUcDhkUlZWV0ZiZHUyMlR4eDVFa1hMenBYeUJBVEV3TzlYbyt3c0RERXhNUTQvSHdoaE5WV0t5ZE9uRERHSkVWUnNISGpScnV2TldIQ0JQVHExUXZuWkVVR0FHRExsaTEybnpkOStuU2ZxcEJsM0hDYTUrY3ZxcUFnNjBuU3VqcDVyT3pzOHdCNVRPem9FdnE2T3JuVUY1Q0ZDWllyeDA2ZEF0U2UwTjZvZkZYbmJqLzdHZkNkNzNUODkvZUU1NThITGx3QTNudFA5cGFjT2xYT0g5VzJlSXNXeVNYUGpuQWtrZWVKZU0vNWl6TTZMcDY0UXE2S01LZmQwOGJhL2VIaGNqNDhmYnI5MTYrc0JNYU5zLys0aGdiNXZnQ0FZY1BzUDE1OTdiLzhSVjZlT2hXd1hKVjM0SUNNY1k2dUZnQk1KNk9DZzJYTXNWZVlCY2oyamIvNmxTemN5ODJWOGRrZWV3bm05OTZUK1NKWHJWNHRDOTc4Z1EvRkUzOVB2cHJlYWUwcHdiYmx5aFhaS2dDUWlUTnJ5MWNQSFRKOTZMVDF4bytKa1I5MHYvbU5QSU5SVXlNM2hicmpEbm1mTFFzWHlwNG9mL3FUM0ZCcitYTDVHdFk4K2FTc2VNM05CZDUrMnp6eFdsY25rN2QxZGJJaTlzTVAyejdJdWVjZTg4Umhlem55NFQxbmpqd2JaTW5WM2pXblQ4dFdFWTZ5ZHFCNTRZS3NublhGRDM3Z25rM04yc044eWJvVERZYzdKeUdFOFUwYUd4dnJ6YUZZVlZkWGh3c3RCd1o5Ky9aRmlKV0prVnBGQ2dBOTIxaEtGaFFVaEZtelppRTdPeHRaV1ZuR0RXWlNVbElRMU1hSGRuSnlNb1lQSDQ1ang0N2gwcVZMeU1yS3dpZ2JyVWxHakJpQnk1Y3ZvNnlzREpNbVRUSkx2RFkzTjJQNzl1MW9ibTVHOSs3ZE1YMzZkS3RKWEV2ang0L0hwVXVYVUYxZGpkMjdkK04yS3ljdENnb0tqSlZpR1JrWlNOWlVkQmdNQnVUbjV3T0FXL3M0V2hNUUVOQm1jc3NhWDZwV3M4WWlXZDNsWXdiZyszRkROWDc4ZUZSWFYrUGl4WXNvS3l2RHhvMGJNV2ZPSEFRRW1BNzF0SnZlaFlXRnViV2ZjVTFORGRhdlg0ODZ6ZWVvWHEvSHpKa3puZnAvYTJwcXdxNWR1MUJZV0FoQXhzSzJZcFpxMDZaTnpnOGE4b1RJenAwN0hYNjhYcS9IZ3c4K2FIWmJWVldWOFVTVHM3NzU1aHVYTnlQMEZZd2JUdlBzL01XWGZQcXBLYm15YkZucnVjZjI3YWJMRHJRYmNqdTFwZGlWS3gzL3ZUMXA1VXBaSExSOXU1ekxxQW5Zd1lPOVBUTEhjUDdpRE4rT0ovWldkRnE3WDFIa0NsSkhsckszckFhMDYvUnBVNVcvbzN2d3ZQNjZYRklQbVBvM3ExNStXZVplK3ZlWEJXNk9KRVN2WFpNeEVaQzVsc2hJd0praWtROCtrUDhjWWUra1NGaFkrMW9GdEhYeXp0ZjRVRHp4OStTcjZUL1BtWTJzSExWcWxhbk0zTmFHVndjT21DN2JPK3NpaEV6a2pSd3ArN211WGR0MjRsWDF3Z3R5eWNpeFk3SzZkY1lNV1Q1dDdVekowMC9MVXZUUVVQUDcvL2hIMlg4ME1GRDJBaW9wa2YrME9rdVBHSGVwcjVmdEhpb3E1UFdQUDViWDgvTGsyYUxISDdmOSszdmxGZE1CNWVMRnBrVDJ1Ky9LU21qTFRkazh4Zno3K0U2WmpQY1lBNFVuS3lKZGxaZVhaOXpsZXBpTnM3TGFKZldPSkRReU1qSVFIUjJOUFh2MllOYXNXUTRsTVVhUEhvM0N3a0tVbDVjakp5Y0hDUWtKU0VoSXNMb1VOajA5SFVJSUJBUUVtTjEvOU9oUlhMdDJEVHFkRG1QSGprVnRiUzFxMVdVMkxhd2xmcnAxNjRiSmt5Zmo0TUdEbURadG10VmV0ZDI3ZDBkMGREUWlJeU9SYVZGOVUxeGNiT3ozR2gwZHJmWWh0RW1uMHlFME5OVG1NdC9LeWtyajVjREFRSjlQbnJhWGR2TTJuVTdIbUNINWROeFFDU0V3ZGVwVWZQNzU1NmlvcUVCVlZSVnFhbXJNMm9GVWEzYnBkZWN5L3JxNk9xeGZ2eDRWRlJVUVFtRENoQWs0Y2VLRWNSTy8yYk5uTzlRQ3BMS3lFdHUyYmNPVmxrUklZbUtpd3lkdXZLVzV1UmxidDI1Rlk4dk95VE5tekVCS1Nnb3FLaXB3NXN3WkRCczJ6R2JjUFhyMEtDNjE5TXpzMTY4ZnByZFUrWncrZlJyeDhmR3RObFAwVll3YlR2UHMvTVdYckZnaHZ3WUdXdS9mcUs1T1MwcVMrMXY0aTRzWDVkeHN3d1paSkROK3ZHdXZZekRJeEEwZ04rWjExM3UrV3pmWmttN3NXSmw4dlhSSnJyd2NQQmo0NjErQjMvL2U5bk0vL1ZUT0p3SFR2aVlkamZNWFozU2RlTkllSjArYUxqdnkvMVJSWVdvZk9IKytuTDlyelo4djl3STZlMWJPKzlYM1RGdFdyNWFGWGtJQVAvbUo0Mk9uOXZHaGVPSzN5VmNGNkFaQS9rOEdCYlhkck5oVjZnSERnQUV5eVdZdDJha20yUFI2T1E1SFNzZFRVMlVEOUpDUTFvL3YxNi8xbVpPZ0lObi85WVliNUxKNE5YdnZTc1BreGtiZ3R0dXMzNmM5US9MSFA1cjZuTGJGMFRFNDh1RnRiMGZPZSs0eGxmNTdndVhrN29jL05DWFhIMzFVSmw2UEhaTXRJeG9hWkQvZ3padGJuL2twTDVkSmNrQTJQdi9yWCtYbHp6NlR2YTRHRHBROWdEdWlGMlY4dkJ5ZlRIb2xLVUN3QUZ6WTh0WC9mZnp4eDkycXFxcjZBekF1TmZVMUoxc09EQ0lpSWhBVUZHUTFJYWoyUkJWQ1FLZlQyZTBOQ01nazUrelpzMXNsU0FFZ1BEeTgxVTdrZXIwZVU2ZE94UmRmZklHa3BDUmp3c21WWmNnR2d3R2JOMisyZXA5Mnc2bm01bVpqNHJsbno1NllNMmNPaEJCb2FHZ3dKalVBb0tHaEFjSEJ3Wmc5ZTdieGZnREdDbFR0OHQwREJ3N2dnUFlFbVJYUjBkRll1SENoelo5TnUzUzRYNzkrbUdSck04Tk9Jamc0R0hxOUhzM056VEFZREVuTGx5OFBYcjU4ZVplTUdZQi94QTJ0YnQyNlllYk1tZGkxYXhkbXpKalJhcnhxTlNuZ3ZoWUsxZFhWMkxCaGc3RVg5Y1NKRXpGNDhHQWtKaWJpeXkrL1JIVjFOYjc2Nml0TW1EQUJnOXVvdXNyTHk4TytmZnVNNy9mQmd3ZGp3b1FKRG0wV3FOV3ZYeitNZHpVUjRnRExSUERldlh1TnllTFUxRlNrcEtTZ3ZMd2NhOWV1aGNGZ1FGRlJFZWJPbmRzcXpqWTBOQ0FuSndlQTdPR3FqamsvUHg4N2QrNUU5Kzdkc1dEQkFyY215VDJGY2NOeEhUSi84UlhmZm11YUo5MTFsendtMXFxcU1tMDhjOE1OcmVkRTJtclV0dVpYb2FHZTcybGFWUVZzMnlhUC9UZHNNQitQclFJZFIxUlVtT1oxOWpZTGNsWnNyTnhuNU1ZYlpVR1IrdHIyVmdWcDJ6MTVxekNIOHhlSCtFVThzZGJTWitWS1U1N0J5WlpCVHJGMTR0YmFzVWpmdnNENTg2YnJMNzBrV3pucWRNQWYvdEQ2OGNPR3liajIwVWV5VU82NzMyMGQ0N1FVeFpSYldyQUFVRGN5OVVLYnBpN0hoK0tKM3laZkFTUUJrRWV5ZmZwNHB2SHcyYlB5NjVrejlwT016YzN1NmJPU2xXWDl6RzltcGt3RWRsUXZsOTY5Mnc0Z3puTEhoM2RRVU1mdDJQblVVOEJiYjhuTDZlbW1UYnVHRDVjdEhSNThVTFo0ZU9naEdYU0ZrRXNKL3ZkLzVSdDcxaXg1bHZuRkYwMWp2dVVXMlJObTUwNTVBTFI5dTZ3RThDUWhaSnNKT2NIVEFSZ0k0R2piVDJyYjhPSER1d1VFQkV6WDZYUWpzckt5WG5ISE1EdENWVldWTVdhRWhvYjZaQ1dWV21WWldWbHBOOUdwS0FyV090cXpxdzBMRnk2MG1vU0ppWW5CTGJmYzBtRTlMbk55Y3BDdDlsWnV3L3Z2djIvMTlpVkxscUMydGhabjFiamRBWHk1ZDZ1cmhCRG8zcjA3eXNyS0lJVFFKU1VsZGRtWUFmaEgzTEFVR1JtSm0yKyt1ZFh0emMzTnhuWWRrWkdSVmpmSXM2YXRKZkZYcjE3RnBrMmJVRk5UQXdDNDRZWWJqQW5XOFBCd3pKOC8zMWdSdTN2M2J1VG41MlBDaEFsbVNlRnIxNjVoNzk2OXhoTkxlcjBlWThlT3hWQVhkK1RWNi9VZGxyQThlUEFnVHAwNkJVQldSYXViZGtWR1JtTHk1TW5Zc1dNSFNrdExzV1BIRHN5WU1RTUFVRjlmandNSERxQ3BxUW05ZS9kR2JXMHR4b3daWXh4emNuSXk0dVBqVVZKU2dzMmJOMlBldkhsT0o2QTdtb2ZpUm5oZ1lPQk1BQ0k3TzN1TmUwYnFFencvZjlHcXIzZHRhV2xiejdPMUFiRWxOZEVBV084dCtPV1hwblpmLy9tUCtjWmNsdHFLQjVNbUFidDJPVFltVjd6OHN0eFRRM01pMkl3YWIrcnF6Sk0zV3NYRnJSUElIWkhZek1pUTgxbGYzWW5jRmcvTVg0WU1HUklUSEJ3OFY2L1g3ejEwNk5BWmR3elRCM1JzUEhHRnRZU3dkdVdiTHlhTUN3cGt5MGRBenZWdFZjcis4cGR5Wld4Vmxld2IvZTY3dGw5end3YTVlaGFRZVFadkt5eDByR2pRRnNzVjFMN01BL0hFVmY2Y2ZEVmw0WHk0QjV0YldTWmU3WjBwV2JQR1ZPVjYvcnc4bzlNVkZCWEozckdMRmdHdUpJNCsvbGdtVFFFZ0pVVWVIR29uY2c4OElKY3UvUGEzY3JuVTRjT3lPbnJPSExtenFHclpNdk5XRkVMSWhPNklFVEp4KytTVHBxU3VKeVVtcXNFR0FCTGdRckRwM2J0M2FIeDgvQ3doeEcwQTdnSVFwaWhLTmdDL1NhUVlESWFlNmdUV0h5cUpmSUZsNGxWYnFXcE5mbjYrc2NyMXJydnVRcmk5YW5ZM08zSGloTEY2ZHRhc1dlalRwMCtyeDJ6Y3VCRUZCUVdJalkwMVMxQlovbXlyVjY4R0FOeCsrKzFtN1JFYWJVMitPcEhRMEZDVXRmUzQwdXYxWFRabUFKMHJidXpaczhkNGdtZTRXbkhSaHBDUUVOVFcxdUxNbVRPSWo0ODNXem9mRWhLQ2dJQUE3Tml4QXpVMU5kRHBkSmcwYVZLckRiekN3OE54NjYyM1l1Zk9uYmh3NFFJdVhyeUlvcUlpREJzMkRNbkp5VGgyN0JqT2E1SVZzYkd4bURKbGlsdDcwZHBTVTFPRHdzSkNKQ2NuTzlTT3hkSzVjK2VRbTVzTFFQNmNOOTEwazFsMTY0QUJBM0Q5K25VY09YTEV1UEZoUkVRRU5tellZS3lVQldTRnIyVUxtVW1USm1ITm1qVW9MUzNGZ1FNSGpFbGRYK2FPdUpHUmtSRUpZTFpPcDd0TFVaUmJoUkJCQUY0RjBKbVNyeDAvZjNGZ2hZeGJud2ZJUG9tclZwbXVXMHNLdFh6T3VwV3RFMlRhNUsydHpjUWFHbVIxNjlxMWNyV2FTbDB4RUJzclZ5QXVXQ0JYUE41NXA3eGRYUUdYblcyNzUrYlRUN2RlbHR4UkZXL2F4T3VaTTdhVHlDcDFBelRBc2VSTWJLeGpiZlNjNVliNVMxcGFXbnhnWU9BY0FQY0lJV1lEQ0RBWUROTUJkSmJrYTlmTGh6aEQyeC8xaVNka3duRE9IUE05WWQ1OVY2NUkxaDdqL2ZqSFFIVzFYSlg3L1BPMlh6OHREYmo1WnJtaCtudnZ5U3I0c1dPdFAvYTU1MHlYTFZzWVZGVElJaTUzU0VseDdIR1BQZWFlNytjdjNCQlAzTUdmazYrbUtPK3B5aXg3SDRyUFB5OTNuZ1BrTDlPOG1hLzNhY2Z2QjlVNlRtdG9rRDJOdFBic2tXZkFBWGt3ZE8rOTFwOTc1WXFzSnA0NVUvWmtuVC9mZE44ZGQ4aksxZzBiZ0UyYnJDL1BlZTQ1K2YyWExaUGZaL0prVTlQK0VTTk1tNTdWMUFCLy83dXB3alUxRmZqdi81YjluZHF6VE1rWjVodkZXZDg2M29yVTFOU0kwTkRRT1VLSXV4UkZXU1NFY0c1bklSOGpoRERHREZjbTJoM0JYbkx6eUpFanhrMWRGaTFhNUhQOUo3VTduRHRiSVppWm1kbXFmNnZCWU1EQmd3ZHhUSDF2QVhqb29ZZXNWb0UxTkRUZ1c4MGt3Vlp2VnJYbnBUc1N3L1BtemJOWkdhenUvTjIzYjErelRia3FLaXA4dm1KV3U5R2J3V0Rvc2pFRDhPMjQwZHpjYkd5N1lVbjdPMnhzYk1UdTNidU5MVGw2OWVxRlFZTUcyWDM5cEtRazVPWGxvYXlzRE92VTNjcGJUSjA2RlFNR0RNQk5OOTJFRFJzMllOeTRjVFkzdUFzTURNU05OOTZJTTJmTzRNQ0JBNml0clVWdWJxNHhjUW5JeE4yb1VhTWNHcGV6REFaRHE1aFJXbHBxL0ptbVRadUcvamI2c05mVjFlR3p6ejVEUWtJQyt2WHJoeVJOaFU1S1Nnb0dEaHlJd3NKQ3pKMDdGNkdob2EyZW41bVpDWVBCZ01HREIwT3YxMlBkdW5YRzlneFJVVkVvS3l2RHFWT24wTlRVaENsVHBoakgyYU5IRHd3Wk1nVGw1ZVUyKzMvN0dsZmp4dURCZzN1R2g0ZlBVUlRsYmlIRVhBQ0JnUE9mSVg3RTgvTVhMVnVKeHJvNlU5THcwaVc1R2MyZ1FhYTVnL3E4bzBmbFJyK3Z2MjVLc0dWbnkyUG90dnpwVDZZOUU2dzVkODdVY3VDcHA2ejNJRjIrSFBqMXIrVmxUeWNxMzNnRGVQWlo2Mk5ldUZCV3RZMGJaMG9pYXpjSTdvaU5aMzc5YTlQL2hhVnAwMlRTMkJIVHBwbVN5WTV3WkFYQ1N5OTVwbitsaS9PWHpNek0zZ0RtQ2lIdUJ6QU5hbVZvNTlTeDhhU2pPWkw4MSt6TjBNbzk5OGl2OWZXeWVBcVE3MmYxZGtBbVRnRlpPUXpJWHNuLytwZTgvUE9mbTY4RVZoVDUvU29xNU1tcHlrclpNdVh6eitWOXYvcVY5YzNEMTYrWE9RcGJWcTJTdmFQZGdXME1ySE14bnJpYlB5ZGZUVmtIYnkybFVIZXJTMGx4ZitMVlZyQnhab21LbisrZWE5UEtsYktDTkRiV0ZEQlY2ZW55YkhSenMrekxaQ3Y1dW5XclhGTHd6anZ5dzBxYmZOWHI1ZG40aXhkdFZ3dnJkTEk2ZHNzVzRMNzdUS1gzenowbmx5QTg4UVR3Zi84SC9QT2ZRSDYrYkUyZ0J1OFhYMnlkTlBZazh6T2hiVGFhYlprRXpUVVlESGZyZExwNWFEbGc2UXlUSUoxT0Y2VW1CMzB0aWVLb0N4Y3VBSkNKUTNjblhtMzFqbldtQWsxeDR3ZCtUVTBOdG03ZGl0TFNVdWgwT3VQUzUyM2J0cUd4c1JGVHAwNDFtK3dmT25RSTllb0dpWUROamJiY21Yd05DQWd3UzZ4cTdkKy9INEJNWUdrZkV4TVRnL3Z2djcvZDM5dVR0QldlUW9ndUd6TUEzNDRiaFlXRk5uRU5oREFBQUNBQVNVUkJWUHNwUC9qZ2c5RHI5U2d1THNhdVhidU03NGZJeUVqTW1ESERvZC9QMkxGajBkVFVoS0tpSXJQM0ZtQjYvNFNGaFdIUm9rVjJYNiswdE5TczJ0T1NvaWdvS1NsQllHQWdldlhxNVpZcTQxT25UdUhVcVZNSURnN0dyRm16ek82TGlvcUNFQUtLb3FDb3FNaG04dlhTcFV1b3JxN0c2ZE9uRVJRVVpKWjhGVUpnOHVUSnFLNnV0aGxQaEJBWU0yWU1pb3VMc1gzN2R1T21nNW1abWNqSXlNQytmZnR3L1BoeG5EMTdGdFhWMVpnK2Zib3hpVHQyN0ZpZmJ6ZWc1VXpjR0Q1OGVLK0FnSUI1ZXIzK0hnQXpBZWc3Uzh4d1FNZk1YM3IzbG4wSUEyeE05WUtDVFBzeDdOMExxQ2QvYzNMazdUcWRQSlpldkZoZTM3MGIrUEJEV1d3d1lJQ3NGTlBieUdtVmw4dGo0TGFzV0NIbktVSUFqenppMnM5b2plVWVFMnJ5OE1zdjViNGFnS3orZk9rbFdlR3FVamZqRVFLWU9GSDJjbnppQ1huYjlPbXROOVRTVm8rcXh5TGp4N2RPZktoLzE2dFhtMWZiZWNMMDZhWWV1MW9mZkdDZWJISTNUeVg5bkppL1pHWm05Z1V3RDhDOUFDWUxJZnduZUxhUDkvTWhiYkdWenlndGJmc3g0ZUd5SFlHTDdZZGFPWDRjYUdxU2wwZU5Ncit2WmROTEpDZkwzSTcyZmZyNTV6SVJXMTR1LzFWVXRKMWZVWk9zRXllYTMrN0lQam9kcmIwOXB0OTR3L29taXI3S2lYamlTZjZjZkRVZDVYbGpLV0Irdmx4dURnQzMzKzcrMTdjVmJKeEpibWdmNjBjSDhIWnQyd2JzMnljVG1CVVZnTFp2WFhpNFRJUm5aOHVxVlZ1MmJqVmQxaVplVlRwZDIyMGE2dXJrR2VnWFg1UkJPQ2hJQmlFMVlQLzV6L0lNMnM5K0p2dFFaV2JLcW9FNzd1all4Q3NnTnlMUVhMTzhlK1RJa1lsQ2lQbENpTHVFRUxNQUNBY25mSkdqUm8yNkd3QVVSUkVBaE9ZeXROZjFlcjNaWXl5Zm85UHBXajFYY3hrdFkycjF1dHJyT3AxT1dQdmU2dld2dnZwcS9BMDMzSUNvcUtoV0c1LzRnK3JxYWx5OWVoV0FyS1owTjFzOVp1MVY0M3BDWVdFaGR1ellnYnE2T29TR2htTGN1SEhZMWxMVlVWcGFpdHJhV3F4WnN3WlRwa3hCVWxJU3JseTVZdHlzVEdVdCtkclkyR2lzRk96b2xnZ3FJWVROaEsydkNEQ2ZySGZabUFFQWVYbDVFZXBTZW4rTUcxRlJVUWdLQ2tKVlZSWDY5T21EcVZPbk92ejNGeFFVaE9uVHA5dDluTFdrV1gxOVBZcUtpbEJZV0lqQ3drSmpUMWhWWEZ3YzR1UGpjZjc4ZVZSV1ZxSzJ0aFo1ZVhuR2l2R3dzREQwN05rVFVWRlJpSWlJUUVSRUJNTER3eEVVRkdUNTkyblRwVXVYY1BueVplaDBPalEyTnBwVnd3Y0dCaUlxS2dyWHJsMURVVkdSemRjbzFpeS9UYkxTbDA0STBXWXNhVzV1Um5aMk5uSnpjNkVvQ3ZSNlBTWk1tR0NzOEwzaGhoc1FGaGFHZ3djUG9xU2tCR3ZYcnNXRUNST1FrcExpVjRsWHdIN2NTRXRMNjlPdFc3ZjVpcUxjSzRTWUNzMTd1eTJLb2d3ZU5XclVZclFSTHl5dnErOVZPekdremRmUVhyY1hTeXhpbHMzSEFjREpiNzhWcVMxSmVJL09YK0xpNURHb0xVS1lDanIrOFEvNU5TUkViaUtqalhWLyt4dHc5OTJ5V3ZMR0crWEd0NDgrQ3N5ZGEvdTEvL1NudGxzV2xKWEoxd1hrQ3JRQkF4ejdtUnhocTBpbFh6L1RmYzg5Wjc0Y0daRExoeDk1UkxZU1VJc2wxT1NyTmRwVkIxYXEzdDF1NFVMYmlaSmV2UngvbllJQzArV2FHbG5aTjNTb0xDU3g3QU4rOGFKYzFhZlhBN05udDM2dGhBU1p1UExVS2l3Nzg1ZjA5UFIrQVFFQkN4UkZlVUFJTVJZT3hoUWh4SXhSbzBiRnc4bVlZdTM5Yk9lNEJEQS9ObWtWZXl5K3AvRjUxbzV4ckYxL3A3QXc4U0Uxa2VtTHJaRWNTWjVhZTh5Y09kWXJTRjJsNW15NmRXdTl0NDU2REpDY0xGc1FhSTlYOXU1dCszVzdkWk4vLzVHUnBoTTR6enhqbm9QNHozL3N2ODRUVDdRZGI5eWxUeDk1NGd4b25ZUjIxdjMzbXo0SEhOeER3S3ZzeEpPTzRzL0pWMU1KaWpjbXN0cE5YMGFOY3IxaGNWU1VaUm0wKzJnUERKeWRORFkwbURZY2N3ZEgvbitTa3gwN2dKay9YL1pWYVdpUVBabSs4eDN6K3lkT2xNblhpeGZsc2liMVRMZVd1dFFwUEJ5WU90WCs5OVRhdUZHMkRGQ0RiSEt5ckd5MVBDditrNS9JU3R3SEhwQm4rTzY4RTdqMVZ0bTQzd05MSzIweS96QU9CdVFCaTA2bm15K0V1RThJTWRINkU5c21oRWdCOEdITFplM3R0aDdmNW5WSFg4ZlcvZGFxTHJXUE9YMzZORkpTVWhBVkZlVjNrMW9BT0hQRzFKNHFKaWJHWnFXcVBkMjZkVE9yR0hVbjdjWThybFF4VlZWVjRjQ0JBOFlla0QxNjlNQk5OOTFrN09NS0FMZmNjZ3MyYjk2TXExZXZZdVBHalJnNWNpUkNRa0tnS0FwME9oMFNFaEpRV0ZobzdEMm9kVTNUVDhuUnpZYTZJb3NrWTVlTkdRQlFVRkR3anBwODliVzRrWlNVWkZaRmZlSENCZXl5MkhRbU9EZ1ljK2JNUVVsSkNaSTl0QnQ0WTJNanlzdkxjZlhxVlZ5K2ZCbVhMMSsyR3AvQ3dzTFFyMTgvREI0ODJGaFJQMmJNR0pTVWxPRHMyYk1vS0Nnd25qU3BycTVHZFhXMXNkcGZTNi9YWS9yMDZYWi9ucVNrSkp3NWN3WUdnd0g1K2ZrWVlKSGdpWXVMdzdWcjExQmRYWTNLeWtwRVJFUzBlbzNDbHVXNWFrV3VNNHFLaXJCMzcxN2ovMFZZV0JobXpKalJxcjlyV2xvYW9xS2lqQ2VjdG03ZGl1VGtaSXdkTzlhdjRwUzF1REY2OU9nQkJvTmhnUkRpUGdBM0FNNS9OZ2doNWdPWXI3bHVlWDliejNYb3NjNjhwcTNIT3hKUEFDQXZPUGdGWS9MVkUvT1hwaWE1K1lzek5tNlVYOGVNYWIyRWQrUkllZjhkZDhqTllyNytXaVpqTGFsVmQrZk95YXBTUUs0TXRMWUIxUi8vYUZyZS8vamp6bzNWSFVhTWtOVnMwNllCNnVxQmh4OTJiaXphLytPT1NMNW1aTml2bkxWTUhObExmQlVXeXFUVS8vMmYzREI0OFdMWkdrM3RXZm5WVnpMUmJxMTFSVU9EYWRXZnB5cGZyYzlmVXZWNi9jMHRNV1VVNE5MeDVyUGFLNjdHQ1VkdmMyUjhqaHlmV0h2Y2pzaklyY2JrcTQrZjJHK1h0aXJIS3lya2ZCdXcvVjVVOTJRWk9WTCtQYXNhRzJVbFBDQlBBdDExbDZ4MlRVbVI3NS80ZUhraUt5NU9WazZxLzZLalpSc1c3Y25YV2JOa1BObThHZGl4UStZWHFxcE1TZFVlUGRyWFI5c2R3c0xhUG5IbWpJZ0krYzlmV0lrbjN1RFB5VmR0Q1VQSGYvZDMzakZkdGt6K09lUFJSMlhGcENWdDBIMzExZFo5UUhyMWNtNlhPVzIva3JhbzMvZnNXZmVWK2dPT3ZkYldyWExKakMzcUI4NmNPYWJXQW12V1dFKyt2djY2dkx4OWUrdms2N2x6cGtBN2U3YmpIMVk1T2NBdmZpRTMyVkl0WGl5WFR0bGE2bkhUVGJMLzY3SmxNcGgvOXBrOG1GbTZWQ1puTFRZbjhZaVduKzljY0REZWo0MmRsTm16WjVZUUlzUE9zem8xWDB1aU9PTDA2ZFBHeXp0MjdIRDVkVkpUVXpIUmNqa016Q3RjangwN1psdzJyL3J3d3crTlMyWWQ4ZEZISHpuMHVDVkxscUM1dVJrNU9Ubkl6YzAxSmxvVEVoSXdZOFlNQkFVRm1TVnl3c0xDc0dEQkF1ellzUVBuejUvSGtTTkhrSkdSZ2RUVVZJU0VoQ0E4UEJ5RmhZVW8xUzVwYXFGV0RnTkF6NTQ5VzkxdlRWVlZGUW9LQ25EdTNEbk1talhMTE1IZ1NPOVdXeFhGcW9DQUFEeWc5cUh5RWVyN282eXNESWNQSDU2VW1ablpaV09HRU1MNEMvZTF1S0hUNmN5cVdHMVZoQVlGQmRsc1QrQU10WldCS2pzN0c2ZE9uVEsyOHJBa2hFQjBkRFQ2OU9tRDVPUmt4TmpZa0NVK1BoN3hMU2VoeTh2TFVWUlVaR3hUVUdtbGwxdnYzcjNiVEx5cWs5UEV4RVJqVXN4VzhsWHRFMzNwMHFWV3lkZkt5a3JqOSsvZHU3ZkR2LzlyMTY3aDhPSER1SGp4b3ZHMmZ2MzZZZUxFaVRhcmpoTVRFM0hiYmJkaDE2NWR1SGp4SXZMejgxRlFVSUJCZ3dZaExTM05MNUt3MXVLR29pZ1pYYWlkZ0tOTWIxUlB6RjkyN1FKbXpIRHR1VHQzMnE5aVhMTkcvck9remg4ZWZ4eW9yWlhIN0MrK0tJK1RMYWtKMll3TTRKWmJYQnRyZXl4WkFuei8rL0puZGZYdlUwMitCZ1o2Wng1cWpiTW4yQVlOa3IvemQ5OEZmdnBUdVVmRjMvOHVlMWh1M213cTNMR1dDQ3dvTU4zdXFlUnJTN3c4RXh5TTkrUGlKby9xMlRNSGdJOXRzT0pkT2tVeGZURDV5dCtoVmxzcmRqLzgwTlFlc0QxdHk3cDN0MzZTUjB0TnZscHVpUGZ0dDZZV0lwbVpzdksvcE1TMURlU2VmVmErYjRLRGdhd3NtWHg5OWxsVHRmbHZmMnQ3a3l0UGJiamxyYzlmVzczR3ZjbjgrTXRyZmNUOE9mbHFhcmJUMGJ0UDc5cGxxbm9rejlMK2J0VVBsZWhvR1R4MzdaSVZySlliYjJrVFM3dDJ0VDVUcGxhOUFuTEhVbnYyN1FQKzhBZDVzS2wrT0NRa0FILzlLM0RiYmZhZkh4Y25rNjcvL3JkTW9oY1V5SVR0VzIvSmc4NWx5K1R1cVo1YTB0cFNBVjJyMCtGeXQyNGg4R0twdmE4dytGay81SktTRXBjclhmMUJkWFUxamgwN2h1Ym1aZ1FFQkdEMDZORnRiaktqVnI3dDI3Y1BWNjVjd1lnUkk4d20vb0RzR1Z0ZFhZMndzRERqODlTZWs1R1JrVzB1dmRiK1gyL1F4SXY2K25xZjYvdnBDZXI3bzdHeEVUVTFOVjA2WmlpS1lpeTc5cmU0NFdrcEtTbkl6czQyWHRmcGRJaU9qa1o4ZkR4NjllcUZYcjE2T2QxaUl6SXlFcEdSa2NiM2YzMTlQY3JLeW5EOStuVlVWRlNnc3JJUzR5MVhtY0I2MVgxUVVCRGk0dUpRVWxLQ3dzTENWaHR2eGNXWlduNlZscGEyMnV4TDI0N0FXc3NCUzVjdlgwWnVicTVadFc1b2FDakdqeC92VUtzWXRUZnQrZlBuc1gvL2ZsUlhWK1BreVpNNGRlb1UrdlRwZzhHREJ5TXBLY2xuK3lremJqakdBRFFacjNUMC9NWFQxcXd4RlNoODk3dTJkLzMreHo5a2E2L1JvenRzYUdhY3JHSzNTcTNjMVJ4aitJM0tTamwvK1ovL2tmT2dCeCtVTzdZLy9yaGMyVGxzbVB5NTJvbzFTVW15aitiVnErNXRHNkhWTW4rcDBlbHdPVEF3QkVBSDdHem1YNW9BVTliU2wrTkpTWW44bTdMM2QrVUp0YlZ5UlN3QVRKbGlmbDlPanZ3YUdtcHFTK0pLNGxWOTdaVXI1U3JYbmozbHo2ejJ2cjcvZnRsaXhSWnV1T1Y1NWh2VVd0K3R0Z1A0Yy9MVjlKL1cwY0htVDMrU1g0T0RaZFhsMjIvTHN4dldtcHhiczJLRlBPTUt0QTRDanRxMXk5UTQycGIvL205WlRUcG9rRXorT1dQSUVNZmV2STRHVUZjRGdmYU5vaTBYbno5Zi9oOVVWc3BOcjdRbDlQMzZ5UU9yUzVlczkxaFJlNTNvZFBKZ3c1cTZPdUNUVDJSdksrMXJoSVhKZzVNWFhuQ3QxMjk0dUR3TDl2TExRSFcxYlBhL2RxMWMxckJ3b1R3YmIyVmkyUzR0RzZVTXE2bkJuOCtjK1VJQXo0MGFOV29vZ084QXVCbEF1bnUvb2U5U2wvSDRXeExsMkxGakFHVFNjY0NBQVRoMTZoUjY5ZXFGZWZQbU9mVDhreWRQWWsvTExwdnhMclk1bVQ5L3Z0ME50Yjc1NWhzVUZ4ZWplL2Z1clRhNGFVdjM3dDB4ZWZKa0hEdDJERk9tVERHcjh0cTBhUk5pWW1Ld2NPRkNzOTNFaFJBWVAzNDhtcHViemFyeG9xS2lFQkFRZ0thbUpoUVdGbUx3NE1IRys5VCtqWmJMZmhzYkcxRlVWSVNpb2lLenBjOHF2VjZQM3IxN1E2L1htN1ZBbURkdm5zMStqLzlxMlNsMTd0eTVWcGN6YTM4T1g2UCtqSEZ4Y2JqbGxsdStXTHAwYVplTkdjMmFYN2kveFEydDIyKy9IUTBORFZpM2JoMFVSY0g0OGVQUjI4NkttTnJhV256OTlkZFFGQVU5ZXZSbzFmTTJNakxTV0VVZkV4T0QwTkJRZlBIRkY3aHc0WUxWZGdIdHNYRGh3allUdWRyZmpYYWNTVWxKS0NrcFFXTmpJNHFMaTVHWW1HaThMeUlpQWlFaElhaXRyYlZhS1YvUVVxMGloRUFmZFJka0M4M056Ymh3NFFLT0h6K095NWN2RzI4UENBakFzR0hEa0pPVGd5MWJ0amorZzdZSURBeEVSa1lHamg0OWlxYW1KdVRuNXlNL1B4OGhJU0ZJVGs3R29FR0RXc1V4YjdNV045TFQwOVAwZXYxM2hCQUxBS1I1ZDRRK1FxLzNiUEoxK25USGpyblBuSkU5VHRVOUVENzdUQ2JTMUZVd2p6NHEyd2M0czZ5MHBXY3pZbU9CMy8vZWZBbThwZWVmZC94MWZaRzZnczVUL1U0OVNhM1EyN3haTHBWKzlWVmcrSERaMHUyZWUweEpjN1Z5elZwRlpiZHU3bDBoYVUzTC9HVkVUUTMrY3ViTTV3SjRMajA5ZlpSZXI3Ky9KYWFrZW5ZQXZzOGdoSDhrWDRjTWtSdFdlWExqdVlvSzRNMDM1Y2tFemNsVjdOOHZjeVpDdEc0MXFINCtxeHQydDlmU3BhYkw4ZkV5QjNQOXV0d0xSbk9NMEdFc055QlVmZllaOE5SVDh2S0hIOHAyRE83a1l5dkZBQmpqU1F2SGwzSzZtVDhuWDAyMXpCMVoxbnptakdtNXpVTVB5V2IySzFmSzNoNUhqOHFHN1cxcGJKUUhKQURRdjcvcnUwL2FXNjZ1S0ticTNMNTliVGVnOTNYYUF6ZHRuOG9GQzRDbm41YVgxNjFyM2I5a3hBaVpmRDF4UWlabzFZUEh4a1pUb0IwM3pucS8zVC8vV2U1S1dGNXV1aTA0V0NiTWYvNXpHZEJmZU1HMW4wZXZsNi85L2UvTGc1L1ZxK1dZU2tya0I0YTE1Vm50Wlg3d1d3c0FodzhmUGdIZ0Z3QitNV0xFaVA0QkFRSGZhZW1mTkJpT2I0SlJCa0R0aHE0STB3R0FZbnFJb2w1WEFFRDdHTVU4azJmNUdBV1FFMnJ0ZFd1UFViOXFYczl5TEFvQXhNZkhENG1KaVprSHdDeUI1dXNxS3l1Um41OFBBQmc0Y0NEUzA5Tng2dFFwWExwMENXVmxaWWl5YytCdk1CaVEwM0ptTnlJaXd1YXUzdlk0c3V4VnJSZ05EdzgzOW5SMFZFcEtDbEswUzJVQVhMeDQwZmd2S2lvSzBWYVd0bGttaEhRNkhYcjE2bVZzRmFBbVh5OWZ2bXpjOU1leWQyTnhjYkhOQk1uNDhlTXhjT0JBNDJZOTJyNnhrWkdSZG5kbER3ME45ZHJtWHE3U3ZqOFVSZW15TVVOUkZDVXVMczdZUE5pZjRvWWw5ZjNZcDA4ZjVPZm40OEtGQ3hocVorSjg2dFFwNHdtWHpNeE1xNC9SbnR5b3E2dXp1dEdkTzloTGZEZHBUa1pyMnk4a0pTWGgwS0ZEQUdRODBTWmZBWG15cHJhMkZ0ZXZYemZibE10Z01CaFAxdlRzMmROcW4remp4NDhqS3l2THVJa2ZJT1BSa0NGRGtKNmVqdURnWUdQc2RaWVFBcG1abVJneVpBaXlzcktRbDVjSGc4R0EydHBhbkR4NUV2MnM5YkwzTW10eEl5Y241eWlBbndINFdVWkd4aUFoaEJvM0JzREJ1QUhncEtJb1dlcExvM1ZzTU42dWlSK3c4cmhXNzN0Ymo5UEVFVnVQTS92ZVFnaWw1Vy9VNnZmVXZtYXZ1anJUREx5amwyVldWTWpkdUQvNFFMYkNhbW9DQWdKa2RaYTYvTCt5VWxaZ3JWZ2hpeEIrK0VNNTMzRmtTZnNqajhoajNMLzlUUjRyMjFvS3JEMitib3YyLzhmZWMvUjZ6L1lmek11VDFXeWhvYkpQYXNzSjFnNXBIK1p1Ly9WZnNtcDEvWHE1TVZCbXBteUY5cXRmbVJlbHFQLy8zbHJ4WTJYK2twT1RjeGpBWVFEL08zTGt5T0U2bmU3K2xwaVNETWRqeWhaRlVkUXpicDZPS1k0Y203UjZydVZyMmpwR1NhdXAwUU9RZlVaOGJabTNsdHEyek1tNWdWTXVYd2FlZkZMTzFiZHZONjJFVlZ1MXBhV1pKMlVCK1I0QTVFa0kxZC8vYmpvSjVTekw1UEwzdnk5UGJNVEV0SjE4OWRTR1c3YnlQei81aWZ6YXQ2L01QZmhnSVlqYldZa24zdURQeVZmVGJpcU9mb2k3dy9QUHk5M3RkVHJabkR3bFJWWmhybHNuZDdlejA5OFByN3hpT2hqNTVTODl0OVI4d3diVDduMmJOc2trN3h0djJPNU42cXRhbGdrRGtHZlNWZW5wY3VsL2NiSDEzUkJIakpBYkJCZ013SUVEY29kV1FBWmd0WWZjd29YV3YrZVVLYWJIeE1jRDMvdWVQRkJKU0RBOXhzcG1QZzVSZzF1dlh2TEE5cGxuZ05kZWs0blgrZlBiWHBMZ0t2TmczNnE4SnpjMzl5eUE1d0E4TjNyMDZJVG01dWI3ZFRyZFFnQVRBTFQxQjNvaEt5dnJQcmVPMVlOV3IxNDlYMUdVZVFETUpzdSs3c2lSSTFBVUJVSUlwS1dsSVR3OEhIMzY5TUhGaXhlUmxaV0ZHOVcvYlJ1T0hqMXFUSWlNSERuU1k1V1cyaDNOaTRxS3NHM2J0alo3SEZxeTlqczVjdVFJQUpuTVRVaElzUGw3cy93ZVNVbEpLQ2dvd0tWTGwxQlhWNGZnNEdCakpaNU9wMnZWTDFKTmpxb1ZyaWtwS2RpNWN5Y0EyZXRSdTB1NnR1K3RzMHVxL1VXZDVnQmVDTkZsWXdZQVBQNzQ0L1BWT1pBL3hRMWJoZ3daZ3Z6OGZCUVhGNk80dUJnSjJzODFqYXFxS21NLzFPam9hS2VUZmZmZWU2L05FeE4xZFhYNG9HV25jVWNmWjQvMmIxYjdldEhSMFFnTkRVVk5UWTF4OHl5dHFLZ29GQlVWUVZFVVhMbHl4Zmovb1ZiTEFyRFpYelkrUHQ3NG1KQ1FFS1NtcGlJMU5kV3NRbCs3SVpvclFrSkNNSEhpUkdSa1pPREVpUk00ZWZJa2twS1NiUDdldk1sZTNNak96czZEM09qbTJjek16TDVDaVBzQjNLb295bGdoUkZ0bE1sOWxaV1c1YVQybTk0M1RiQjdtMGZsTFJZWHNaNWliSy9zUDd0MHJsOTVxVHlKTm1TSlg4Mm1YLy8vd2gzSUYxZzkvS050dVBmT00vSmVXSnBNWkkwZktGV2FKaVRLUkVoRWg1MFNCZ1hLTzhjOS8yajYrVnJsU0xXcnZPYW1wcm05KzdJaEZpMlRDMHRJZGQzanVlM3JLb0VGeTd2U2Yvd0EvK3BIY2VPdUZGNEJ0MjRDV1ZWSUFUUE1IVHliTTJtSm4vbkxreUpGakFKNEc4SFRMUmx6M0E3Z0ZRSHBiTVVWUmxPZXlzckljWEs3cTJ3N0xlUElqQUIyYkQzRkdmYjJwNnREVzM1TGxlemMwMVBrZXh1cStEazFONWh0aGZmT04vSHIyck16VHFDdFhEeDJTZi91QVkyMElYZkhZWTc1WEJWcFNZa282MzM5LzEwaThBbmJqU1VmeDUrU3JhZWNVZHpVb3R1ZjRjZG1uQ0pBSEZtcC9zQmRla0I5aW4zNHFsNURiT3VnNGRreWVFUVprMmJ1bnl1NmJta3lsNUtxUFBwSWZxTys4NDNvamZtL1FMZ1cwWEdJM2ZibzhlMy82dFB5blBmczhRdE9QL2ZCaFUvSlZ1MW5Xb2tYV3YrZW9VY0R2ZmllVHJYZmZiWDFETG5jbHNSTVQ1ZC9QTTg5WWxzTzdqL25HYkpmYWV1aWhRNGVLQWJ3TTRPVVJJMFpFNmZYNis0UVFpNFFRMDZEZDVNNFBLWXBpakJuMW52cS9kclB5OG5MalJsdkp5Y25HNnRQUm8wZWpvS0FBRnk1Y1FINSt2czNrUUhsNXViRW5ZNjlldlZyMU5IUVhnOEdBZzJveit4Ym56cDFEYVdrcHBreVo0bENpNFAzMzM3ZDVYMVZWRmY3NXozL2F2SCtKeFJucWxKUVU3TnUzRHdhREFkOSsreTFHakJpQnZKYmxrSW1KaWEyU3BoRVJFWmc2ZFNxU2s1T05pVlkxK1dwSjNZQW5ORFRVNXpaZ2NoZUxqZFc2Yk13QS9ETnV0Q1V4TVJIeDhmRW9LU25CM3IxN3NYRGhRcXQveDN2MjdFRlRVeE9FRUZZMzZQTTF0cEt2Z0l4OVo4K2VSVVZGQlNvcUtzeXErTFVyQjY1ZXZXcU1WZHJOc216MWE0MkppY0hvMGFNUkdocUtmdjM2V2YxL2ROY0ptdERRVUl3ZVBSb1pHUmsrVzRIdFROekl5c3E2QU9CM0FINDNldlRvQklQQmNKOFFRajJCNDg5ekUwZDRidjV5NkpDYzdKODdaM3RUM3Vob09VOTU1SkhXbTgrb3hvNlZ5ZHJObTJWcnRjOC9sNnY3amg2MS9iMWZlUVg0OFkvdEoxNzlWV1ptNitUckxiY0FEei9zbmZHNHd4MTN5S0tQSC8xSWJycTFiSm41L1dwaXlzRU5TdDNPaWZsTFRrN09TUURQQUhnbVBUMjlYMHNpZGlHQVVYWk83dmk3anMrSE9FczdMc3ZLVTVYbFNweHAwK1RKQUdkb2N3YmFlZEhMTDh2WWRmRWljT2Vkd0s5L0xhdTgzM3pUTktaeDQ2eS9wcTFsKzVac3JTUnlkSjdRMEdBcW1tdVBtQmo3S3dBKytNRFV1bkxjT1BlY3RJcUlrRGtOWCtaRVBQRWtmejdBTVFVYmJYV2tKLzMwcC9LTXNWNHZsNHlyUm95UUgxZ3JWc2lEbWJTMDFzM0hyMTZWemMzcjYrWHkrVGZmOU55WmhoLy9HR2lwR01OUGZ5cmZpTC80aFF3NnMyYkppdDNubjdlZVZQUTFhazhsUUo1cDE1b3hRd1lRUUNhL3RUc0lhdHMvWkdXWkxxOWRLNzhPSGRwMks0YWYvclQxYmU0K282NzkvaUVoNW0wVjNNazhtRHNjMlhOemM4c0EvQlhBWDFOVFV5TkNRa0x1YnFsdW13ay9iSHB2TUJpdXFwUGpPbDllbXFOeDhPQkJZOVZyUm9acHMvbW9xQ2dNSGp3WUowK2V4TzdkdXhFVkZkV3FyMmg5ZlQwMmI5NXM3SW5xeVFUSy92MzdqY3Z4UjR3WWdhQ2dJQncrZkJqVjFkVll2MzQ5MHRMU01HclVxQTVMVm9hRWhDQXhNUkVGQlFVNGNlSUVBZ01EamI5emF4VjhnWUdCclhaQ3Q2VzhwYklnSWlJQzE2OWZ4eWQyVmp2WXVqODZPaG9MZlhTU1dxTlptaU9FNkxJeEEvRFB1R0hQbURGanNHN2RPcFNYbDJQLy92MnROckE2ZHV5WXNVcDAyTEJoUHRkYjFCcjFwQWlBVm0wK0VoSVNjUGJzV1FDeVFyK3Q1S3RLYmZVU0dSblpaZ3VWRWRvVHZTM2N2VG1pOXZ2cjlmcFdyVlo4aGF0eG8rVUV6aXNBWGhrOWVuUlBSVkh1QVhDYm9paVRoUkIrY0tEcU5NL05Yekl6NVR4RE84bnMyVk1XRlV5YUpJK2JKMHlRclFZY01YT20vTmZRQU96Y0tZczREaDZVeFNRWExwZ204QWtKY3A4SlI3VzA5TERyNVpkbFV0ZVI1emo2TTducWlTZE0rM1FFQmNsSzJ3a1RaRUsycGdZWU04YXgxeWt0QlQ3K1dQWlhYYnUyWTVmME56YWF6NnRVUC8rNS9Ga21URENmNjZpYkZFVkgyNThEZWFLOW5ZdnpsNXljbkhNQW5nZndmRnBhV3AvQXdNRDdBZHdxaEJnTC84NTlXTlB4K1JCbmFYK1BEbXhlYVVZSTJVclJrWlBmMmo3TTJpS3BZY05rN0pvN1Y4YXVaNTZSRzIycEsyZVhMcldkSk8yb3RvMDVPYlkzS0hURzMvNW0ybGZJRm0wN0dGdUZhTTU2K0dGNW9zNlh1UmhQM00yZkExQUJBQU1BSFM1ZWxHOU1UNVpOLy92ZnNyVUFJSmVoV3pZbWZ2RkYyVXMwTDAvdVhMOTd0NmxTczdaV25nbFdHOUd2WENrL3ROMU5VV1RTOEM5L2tkZUhENWRKNHRCUWVjQ3dlREZRVUNBYjZHL1pJai84cmZWL05CZ3NkNFJyUDBjbnJZR0I1cTBZVHAweVhiYjhQOU5XOEc3YVpKNThIVFpNQmxLRHdaUjh6Y21SMVFDQWE4dUUzTjFZdmlOMkkxUVVXUlVzR1FCWU9lcXk3K1RKazVVQTNnYnc5c0NCQTRNaUlpSnVoNTl0dXFQWDZ3c1VSVEVBMEZWWFZ4dVRtcjdxL1Buenh1cXIxTlRVVnYxT3g0NGRpK0xpWWxSVVZHRERoZzFZc0dDQnNlS3J1YmtabXpadFFrWExicnlUSjA5MnVnZXJvdzRjT0lBVExXZUdJeU1qa1pHUmdZQ0FBTVRIeDJQYnRtMm9ycTVHYm00dWlvcUtNR1BHREp1YlQybXJWdzhlUElqYzNGd0VCQVRndHR0dXM5b3pkYytlUFRoNThxVE5EY1NHREJtQ2dvSUMxTlhWR2F0eXc4TEMydDByVVUzUTJPdTE2NjhVUlRIKzNRQXdORFEwZE5tWUFmaGYzTENtcWFrSlRVMU54dmdRRnhlSDRjT0g0OWl4WXpoeDRnUjY5dXlKZ1MwclJ5NWV2SWdEQnc0QWtMMU9SM3RyTjNJbmFST2VsckZPMitPNXFLaklyTmR0WkdRa2hCQlFGTVY0QXVuYXRXdkdaSzZ0cXRlMjJEc2g0eXpMeW41ZjVLNjRjZWpRb1NzQVhnUHcydWpSbzNzME56Y3ZGa0owanJNZUpwNmJ2K2gwd091dnl6bEljTEJzSGREWUtOc0g3TnNIL1BHUDFwOTM0SUJwTlY5ZW5tTkpnS0FnbVh6ZHVoWG8zdDE4VTF4N0xQcXUyNlQ5N0hmME9mWW9pcXpxVFUyVlNVVkhqUmxqUGNHNmJwMmNleVVueTBwaFd6MWcxNitYTFJtMmJERzFmcmh5cFdPcnhRb0xYWnZMckY5di8zbnVudE80YWY1eTlPalJpd0IrRCtEM3c0Y1A3eFVZR1BnZG5VN250U1hISHRDeCtSQlhxQ3RKOUhyYmhWKzIvbjRTRTJYdTRyMzNaS1c1dFkxQ0RRYVpWSDN0TlhsZFU2eGlsSlFrV3cvT215YzM0UHIzditYdEFRSEFEMzdnM005RHJkbllsTlJudUNtZXVJUGZKbDhGVUtjQTV3QU1RRzJ0ekdaNzZnUHMyalc1d3owZ1A2aXQ3ZERadmJ0OEk0OGZMdzljSms2VUg4aXhzVEpZN040dEgvZjAwOEM5OTdwL2pFVkZzdnIycTYvazlkNjk1VTUyYXUreENSTmtFdksrKzJRdjFFT0g1Qm55dDk4RzdyckwvTFUyYkpEQnlaMGNyZXEwUEdPemY3LzhHaGZYZW5Pc2dRTmxNQzBva0VzVDFLcGtRUDdjUC9xUlRNS3FmVlRWUUF1MC9wazdxOHVYQWRNR0tNVUNhR1ByV2NlY1BuMjZIc0FITGYvOHhwSWxTK3BXK3NNb1ZnQUFJQUJKUkVGVXJWcDFEc0NBNXVabTFOVFVJQ3dzek52RHNxcSt2aDc3OXUwREFBUUZCV0hVcUZHdEhoTVlHSWdaTTJiZ2l5KytRRVZGQmRhdFc0ZlpzMmNqT0RnWUd6ZHVOTzdlblo2ZTd2SW1XMjJwcWFuQjd0MjdqVHVDaDRhR1l0YXNXY2JOYnVMaTRuRHJyYmYrZjN0M0hoOVZmZTkvL0gyeVFNQUl3YkR2aTJ5eVNJQkVjQU5sY2F1dHRzV2wybHBFYXgrdEQ2a3QvcmpYNGkzMnRsZHJlMXZhcXRXMkx2VzZ0TFZXVVZSUWxFVVFVRWdrUUFpTExBSENFaUJzQ1NITG5OOGYzOHlXWkpKSk1qTm5sdGZ6OFpoSHpwdzVNL09aa0h6QytaenY5L1BWaWhVclZGeGNyR1BIam1uaHdvVzYvUExMNnkyczVldm8wYVBhWER1MWNkeTRjUTBXWG84ZVBhcnR0UmRtUmdaWTVMQlBuejdLek16VXNXUEhQSXYxakI0OXVsV2piMnRxYW5TMGRtUkJabWFtMzJQQjluYmN1M2V2VnExYTFlSVl3cTJpb3NKMzhhS0Q5OTEzWDhMbURDbTI4a1pEU2twS3RITGxTdVhrNUtpUHozK094NDBicCtMaVlwV1dsbXIxNnRWS1RVMlZiZHRhdVhLbGJOdFd1M2J0TkdYS2xCYVBzbnozM1hjREZxbDkxMDBMOXJpbXVIOHYwOUxTNmkyTzFhRkRCNTEzM25rcUt5dlRvVU9IL0Fyb0tTa3B1dWlpaTVTUmtlRnBPZUR1RHkycDBWd0ZyM0RralEwYk5weVU5SmZXdms2MENmdjV5NFFKNWxaWWFFNDRneG1KN2R2S29xWW11T2U0VFo3YzdCQWRzWHExS1V6Lys5K21DTGwyclhUSkphMS8zZHIvQTZtb3lMOHZiVVdGT1E5eisvdmYvWjgzY1dMekN0YUpKZ3puTDF1MmJEa2sweVlwYmtTMEh0SlM3b0ZVTlRWbTFPbHZtdkZQY01NTlptYnhxbFhCZjY3dmZLZmgvUmRjWUM2UTNIaWp0NlZCcDA3KytTOGFmUDU1OENQcDNacFRjRit3d054YXE3RFFlMUdtdWYxNUl5ME0rYVNsWXJiNFdtdUx6SXFwcHBkSHVKTE5kNy9ybmU3eWkxOEV2bEk2ZXJUNW8zN3p6YWE2UG5HaUtSaTYrNFU4K0tEMHkxK0dOcmFLQ2pQUzlYLyt4OXRvZThnUTZiMzM2bzlxN2R6WkRMR2ZOMDk2L0hIVGpQK1dXOHhpVXIvOWJmVDlKNkN5MGlRZ3lVeVhhc2preWVacVdNK2U1dC9JZHpwRDNTdjg3cFZKaHc0MS8xWXQ5YnZmdFh4RndnVUx6TTlCcE5ST3RYVGZpOXdiUnlmYnRyZFlsalZJTXRQSG83V0k4c2tubjNpbWNJNGRPMVp0QTB4THUrQ0NDelJseWhSOTlORkhPblhxbEJZdFdxUjI3ZHA1cHNhUEdERWk1Q1BYYW1wcVZGQlFvUHo4Zk04Q1JCMDZkTkQwNmRQcmpXcE5TMHZUOU9uVGxadWJxL3o4ZkZWVlZXblpzbVVhTm15WWNuSnk2aFYyYW1wcTlNa25uOGgzZ2FOejU4NzVmZjZxcWlxdFhyMWF0bTJyUjQ4ZUFmdmRTdEtnUVlNOEkxVlRVbEphM2ZPMnVMallVOGp0MGFPSDN3cnN3ZloyVEFuMzFNaFdxck5hZmNMbkRDbDI4b1l2bDh1bGpSczNhdE9tVFhLNVhQVmFKaVFuSjJ2YXRHbDY5OTEzVlZaV3B1WExsOHUyYlUvaDlacHJydkZiT0txNWZFWkJodVM0eHJoY0xrL3hOZEJJK083ZHUrdkxMNy8wTEw3bCsyK1lVNmZYMis3YUdUSWRPM2FzTitPZ09YSnljalJpeElnV1BYZkxsaTM2ekgzeE9RYVFONW90TXVjdmJvRXVaRFIxd2g3b2ViNG4zZEhNZC9Hb3V2MU1ROUZmVWZKTzRjM01OSXNKTFZsaVdxSzkrYVk1ei9MVnY3LzA3VytiNHBCN2hHd2tGMG5xMzkrTUVneW1VSFB0dGVhelpHYWFBbk9renhFNWYybU95T2FUNXZMdEZmM2IzNXI2U0xBelVCOS8zQ3h5L2E5L21aL2R4blR1TE0yWjAvaWFPdTNiKytlMWtoSlRZMWl5eE13WVJ2QjgyeGRFKzRYcUtNb24wWDBXMkxUUEpIMVZrcm1DZWMwMW9YK0hYLy9hTkpxWHpHcjBUZlhSdVBaYWM2WHp1dXZNaUZsM2sra0hId3c4M2FjcGh4cm9DWHpraVBUTU0yYWtxTy9qMy9tT0tjYjY5RFR6azVSa0NyVTVPZWJZMDZmTmE2U2xlZU9iTk1rN1BiOHB3VTdoRGZiMWZFZVRMVnZtdlVveGFWTER4ei84c0dtYzNkVEl2cnc4YjcraWNJdzhqbGIraXlOc2NTcU1hR0ZabGlkbkhEbHlSTDJpN1Q4b2tqWnQydVJwTjlDN2QyOE5hNkxmVUs5ZXZUUjE2bFI5OE1FSE9uZnVuR2RSb0JFalJ0UXJLZ1NyenNJcGtzeklwc0xDUWhVV0Z2bzlmdUdGRjJyQ2hBbWVoYXJxc2l4TDQ4YU5VNWN1WGJSeTVVcFZWVldwc0xCUXljbko5ZUpMVGs3V3VISGpsSitmcjVLU0V1WGw1V25UcGswYU1tU0lSbzRjcWJTME5IMzAwVWM2ZnZ5NDJyUnBvOHNDWFpTUktlcHNkUGUrbHBsNm5aZVhwL0hOdlpyc3c5MDM4dnp6ei9mMGZJMDNwYVdsbm0zYnRoTStaMGl4a1RjaytZNDgxS0pGaXp3WFlkcTJiZXZYNTlUdHZQUE9VMDVPanBZdFcrYTVrR0JabHFaTW1kTHF0aHEzMzM1N3ZZV3YzQ29xS3ZSYWJiLzJZSTlyek1HREIxVlZWU1hKdjhXQXI5R2pSeXNyS3l0ZzJ4TzNZOGVPZVg2dnd6RmpJRjZSTjVvdC9PY3ZpYXFnd0JRL1gzbWwvcmxIY3JJNVA3dm5udUJXTnc5bTlMMzczR0xFQ0xNbzg5MTMrejkrM25sbW9NdGRkNW5GbHAyY0VyNW5qK25OK05GSGpSLzM2S1BlMWREUG5UTURSMzcwbzhnV1lEbC9hWTdvemlmdUM0bVptV1lObkc5OXk3VGdDRVpHaGxrMHZMTFN0QytvL1Z2dng3TE1jVjI3TnYzN05YKyt0R0tGMlI0MnpQeitIamhnZmpjWEx3NU4zOVZFc1cyYmR6dklkVE1jRTBYNUpOYUxyN21lTFhkVDhGRDY5NytsLy9nUHM5Mjd0MWtKc3FsZjZuZmZOU3ZvMVIzQy9yZS9tZEdaOTkvZnZEOWV2L2lGOUt0ZmVlOC85WlRwVFZKZWJyYmRLL3VOSFdzS3hWZGZIZHpyM25TVFNkQmYrNW9aUGZ2VG4zb2ZhOWN1OUZjd1d2SjZMNy9zM2I3NTVvYVBDZmJLdTIrUy85YTNtaDlMckhLUEhEYldPQlZHdExCdE85YzkzZlI0Rks0S3VuZnZYbTNZc0VHU0tZeGNlZVdWVFQ1bjM3NTl5c3ZMcXpkRmQrZk9uV3JmdnIyR0R4L2VyS25EN3RGeWJsdTNidFh3NGNOVlhWMnRyVnUzZWtiUVpXWm1LanM3MnpOVnR5bDkrL2JWVjc3eUZjOGlZQmZYN1p2dGMxemZ2bjFWWEZ5c0w3NzRRb2NQSDFaQlFZRUtDd3ZWb1VNSG5UaHhRa2xKU2JyeXlpc0RGbExPbmoycnBVdVhlZ3JSN3A2T216WnRVbnA2ZXBNRjdZYVVsNWRyVCsxVjN0YjJqWTFtUi8wWGJFajRuQ0ZGZjk1d08rS3owcSs3OE5xdlh6OU5uRGl4M2xUOGlvb0s1ZVhsYVp2dmY1NWxwdm92WGJwVVk4ZU8xZURCZ3lPMlNGNXJmT216Z0V5Z0hxMFp2b3R2TkdLWHorZ0lpcS9CSTI4MFczalBYeExWVzI4MWZMNHdhSkFwaW43M3UvVjdScm9YOVBFZnZSMmNVNmU4STZwR2o1YSsrbFhUUTdLNjJyU2Z1L3R1NmRaYi9YdlhPdVhsbDgwNTZNbVRVbG1aS1FyWFZWMHRQZlNRLzVUa00yZk1nbHhQUFNYOTkzK2JnVHVSK0x2QStVdHpSRzgrS1M3MkZ1bGVlc244L0J3N1p0ci9OYWZRMmFaTjZ3dDhMNzFrZm9ZbDgvNnZ2R0lHWkwzeGhoa3NOM1dxbVRtTTRLeGRhNzYyYjkvOGhkUWlMWXJ5U2F3WFg3M0Rtbkp6UTl0a2V0a3k2YzQ3elJEMzVHUnpGYlZPanorUGt5Zk4xYzVubmpFTm45Mm1UVE05UjU5KzJ2eFNQL1NRV2JYenZ2dk1vbDBOTlkxMnE2NDJvMnlmZTg3Yzc5dlg5Qk82LzM3emgzNytmTE5nMW1PUG1ZYjZ3VnpCcmV1aWk4d1BZMUZSNE0vbWxPSmk4L2trNmZMTFc5ZExwTHJhVzhpZE1NRzdxRUM4czIxdlR4dmpFNGNpaVNhZW5PRzdzblUwT0hqd29GYXNXT0hwUnpocDBxU0E3UVlxS3l2MTVaZGZxckN3MEZOa2thU2VQWHNxSXlORGhZV0ZPbmZ1bkQ3Ly9ITnQzcnhaUTRjTzFkQ2hReHVkUnV4eXViUm16UnBQTDFWM2o4UzFhOWZxOU9uVHlzckswbFZYWGFYOC9Id05IejdjcjM5a3NESXlNblRqalRmcXpKa3pBVCtiNzJmcDJiT25EaDQ4cURWcjF1amt5Wk9leitydTRkaVE4dkp5TFY2ODJETjZyVy9mdmhvK2ZMZysvUEJEejJkMHVWeTY2S0tMbWhXN2UvcTJwRmEzTDRobUIzMVdsSGE1WE9RTUkycnpodHVKRXlmOGlwQnQyclRSaEFrVE5Lak95Y3FwVTZlMGVmTm03ZHk1VXpXMUY0bFRVMU0xZHV4WW5UbHpSZ1VGQmFxb3FOQ25uMzZxalJzM2F2anc0Um95WkVpVHY2OU9LUzh2OTdRSjZOYXRXNnRhUXJoY0xzLzNzRXVYTGcyT0ZrYkR5QnZORnI3emwwUTJlYkpadUxlcXloUnJicnBKdXZkZXMvWkRvTzl2cDA3bUhHM0pFak1RcFRuL0RzODhZODR4SkROMU9UUFR6Q2E4NG9yQUN5djdqOEF5TXhEZGlvcnFQKzUyNUVqZ3h5UXoxZHgzeG9MdnpKeDU4N3dyd1hmb1lBYncxTTJWYTlaSVAvaUJ0M2pYdDY4NTkzM3lTZk4xLzM1cDVrelRldTJKSjhJN3VwTHpsK2FLM256aTdudWNubTdxSXYvNmwvblpxYXowam9pTmhOZGY5N1lleWNveTlaWFVWTk9MK2JiYlRBSFdza3pyRUYrK1Urdmh0V2VQZHlINjdPeklYSkJwcVNqTEp6RmRmTFdrWWx2YUptbW9pb3BNbjlWUW5CUi8rS0VaRWVxZVd2djAwNllBNkt1OFhGcTB5QlFJMzN2UGU2eGsvdUErOXBqMzZ1dDk5NWtGdTVZdU5TMENIbjNVOUg2OTZpcHp6RmUvNnQrZnBhek1URkZ4WDMyWk5NbHNQL3l3OVB2Zm0vWUFMNzlzcnFiKzVDZG0yTHp2WWxQTjBhR0RpYmVzekNUQ2xCU3BpV2w1RWZId3d5WWV5UlNYSlRONjFtY2hqQlpadTdieFAwakJUREY2OE1ISTltMXRxZjM3dlUzT3BiMldhY2llMEdiTm1sWDgzSFBQYmJNc2EyaFpXWmxPblRvVkZTZll4Y1hGV3JwMHFhY1lNbkhpeEhxOUM2dXJxN1Z2M3o3dDJiTkgrL2J0OHh3cm1kNkU0OGFOODR6NkdqcDBxTmF0VzZmaTRtS2RQWHRXWDN6eGhmTHo4OVc5ZTNmMTY5ZFBmZnYyOVN2RVZsZFhhOW15Wlo3RnM3cDM3NjVwMDZacHc0WU5LaWdvMEpZdFcvVGxsMTlxd0lBQkdqbHlwRHAyN05qaVZkOVRVMVBWc1dOSFZWZFh5K1Z5eWJLc2dDMExTa3RMdFczYnRuclQrMCtjT0tHRkN4ZXFUNTgrR2oxNnRMcDI3ZW81ZnVuU3BaNytnMTI3ZHRXa1NaT1VrcEtpQ1JNbTZOUGEvbS9yMXExVGFXbXBKa3lZME9DbzROTStKME1wS1NrcUxTMVZZZTNVd3I1OSt6YjRNL1BDQ3k4MCszc1JiZHkvRTdYMjNudnZ2UW1mTTZUb3pSdSswdFBUbFo2ZXJwTW5UNnBidDI2YU5HbVNweEJaVlZXbFBYdjJhT2ZPblRyazA2YklzaXdOSERoUTQ4ZVA5K1NEZnYzNjZkTlBQOVdKRXlkVVZsYW05ZXZYS3pjM1Z6MTY5RkMvZnYzVW8wZVBxUHJzR3paczhGd1VHVjQ3RStiMTExK3YyNE8wMlVwS1NocjluWjQ1YzJhVHIvSFpaNS9GVk4vV2xpSnZORi9Zemw4Q0NYTGtkOURQYTZyM29sTXlNa3lCWmNBQU04cTFTNWVtbjNQcHBlWjhidFVxYWZwMDA0dXljK2ZHbjNQMHFCbWs0MTdJTnozZG5NdEo5WHZMMWpWcVZPREhaczhPL05pZi9tUnVqVDN1MnhyUHQ5amdMcnhlYzQzMGw3LzRmMStXTHpjRGd4WXQ4dTRiTzFaYXVOQ01acnYwVWpQamN2WnNzMWh6ZnI1cHNYZjk5ZVo1TFpoSjFDVE9YNW9sNHZta09mNzJOL04xK25SVDdKdzgyVXp2bnpIRGpJQjE2OTNiRENTYlBOblVSTHAzOXk0YUhraE5qYm40NGY3cWUydmJWbkxQc1B2TFg4ejZOalUxcGszaGUrOTVheDBwS2ViaXdwMTNtbU5HanBUV3IvZStoeE16M1p4cWZWQlI0ZTN6bkpGaGFrVHA2ZWJmd2IydXhlSERwbTNEdkhuZUMwZDMzdWxNdk1HS3Nud1MwOFhYV205Sm1pdkovT0VJUlZHc1RSdnZsY3ovL1Y4elNsVXl5V3p4WW5OYnRzd1VZSDFsWlprMkJkLzhwdjhWZ09IRFRVSDN3dzlOUzRKMTY4enJ1L2Y5NEFjbUdWeDZxU25hcHFaNis1R01IMjgrVi92MnB1amFyNTlaS2ZESUVkUGI5WTkvTk1jbEo1dDJCc25KNXIxOTM5KzJ6YzNsTWpmZkpGVzMyT2hlTU14SmI3N3BUZGJEaDB0Zi83cXo4Y1NxMWF0OTc2MTBLb3hvWTFtV0oyZnMyN2V2eFF1aWhGSlNVcEtuYlVCT1RvNkcxbzZZT0hYcWxBNGNPS0FEQnc3bzRNR0RmajBkSlRQMWY5U29VZXJmdjc5ZklUUWpJMFBYWEhPTmlvdUxsWnVicTVLU0VybGNMaFVYRjZ1NHVGaHIxcXpSK2VlZnI2NWR1MnJjdUhGS1NrcnlGR1U2ZCs2c3FWT25LaVVsUlRrNU9VcFBUMWRlWHA0cUtpcTBkZXRXYmExZFFOQ3lMQ1VuSjh1eUxNL056ZjFaM0Y5ZExwZHMyL1pib01ydDZxdXY5cHNxWEZsWnFhS2lJdTNZc2NPdlVOU3ZYejlkY3NrbE9uRGdnUEx5OGxSZVhxNTkrL1lwUFQxZFhidDIxWjQ5ZTdScTFTcFA3OGV1WGJ0cSt2VHBuZ1d1aGc0ZHF1cnFhazh4WlB2MjdTb3BLZEZsbDEybXpNeE1mZnp4eDBwTFMxTnljcktLYXhmaVNFcEtVbXBxcWo3NDRBTlBvVGdySzZ0NS83Z3g1UERodzU1dDI3YkpHVDZpTVcvNFNrbEowZVRKazdWNzkyNk5IVHZXMDF0NTM3NTlPbmp3b04vRkdzdXkxTDkvZjJWbFphbGpuVkVlM2JwMTAwMDMzYVNkTzNjcUx5OVBaV1ZsY3JsY25qd2ttWVgwcGs2ZHFpNk5GRGFDNmRYYW5PTWFzbmZ2WHUzY3VWT1N5WG1CV2c0Z3ZNZ2JMUmI2ODVkQVd0cWZQQmI3bWovOWRQT09uemZQRkJ5cXFzd2dtYVZMbS9kOHl6S0Z6MVlzVUJoeXRtMEdzYmkxYjIvT1o5M0YyWjA3emVDaGwxLzJMZ290bVlMVm5Ebm1QTk4zRWRITExqT2pGRjk4MFp6bmxwU1lBdFlISDVpQzFmejVnUmVqYmduT1gxb2ljdmtrV0tkUG00SzlaR29qYmxkZFpYN3U1czB6NS92bnpwbStxMy8rczdtRndnOS9LUDNoRCthaXdaTlBtbjFEaHBoK3gzVjd3NmVtbXI2eWlhNXRXN01nb085by9LWk1uR2hHeEVlektNc244VkI4WGFwUUo1dEprMHdSOVBScDZjYy9OdnRLU2t5eXFCMFo1cEdXWnE3ZWZPOTc5VWZIMWpWdG1ya3RXV0wrQ0g3NG9mZXhYYnZNRlVsM3o0elpzMDBpZU84OWI2K2dwQ1R6K1c2OTFmUXdmZXN0czVCVWVia3BxSmFWdGU1eloyV1pLVHBPS3l2ejltRDYzZS9NVlNsSitzMXZXdGFUS2RUKzh6OU56NXFXZU9rbDg3TVZDVys4NFh2djNjaThhVXp3NUl4b0thSjA3OTVkNDhhTlUxVlZsU2VlaW9vS0xWNjhXR1YxZnErVGs1UFZ2MzkvRFIwNk5PREszbTd1cWZzSERoelE1czJiUFVWRnlZenU3TldybDJkMDNFVVhYYVRkdTNkcjJyUnBucEdvbG1WcHhJZ1JHakJnZ0hidDJxVzllL2ZxK1BIanFxNnVsbTNiOVlyQnpaV1ptYWwrL2ZycHpKa3pubEY1aHc4ZjlpdlNkdW5TUlZsWldaNUZqb1lNR2FLQkF3Y3FQejlmdTNidDBxaFJvN1JxMVNydDJMSEQ4NXcrZmZwbzh1VEpuc0tyMjRnUkk1U2FtdXBwUFZCYVdxckZpeGRyeG93Wk9uNzhlTDN2OWVEQmczWG16Qm5QU05oaHc0WUZYUDM4TzBIbWhEMTc5bWpsU3NmLzlqZG9yOC9NQXN1eXlCbitvaTV2MUhYQkJSZDRmajZUa3BKVVVGRGdOMm84TFMxTlE0WU0wYkJod3hxZG5tOVpsZ1lQSHF4Qmd3WnA3OTY5MnJwMXExK0JyVStmUG8wV1hpWFR0cVFsSStOOTJiWmQ3M2ZTbDIvK3ljbko4ZlNuemM3TzlseUVjZExvMGFOMW9YdEY4MmJhdVhPbjh2UHpReHhSZUpBM1dpejA1eStCQkpyVjFkVHZhS0RuRlJZR3YrWkN0THZrRWpQZzVXYy9rejc1eEl6K0NrWm1waGtoT25ldWFXc1FMUC9lZzZIamUvSEpzcVE3N2pCdEZFYVBOdWVUdzRhWnRnVXpabmdYQ1hOTFRUWEhQL0pJNEFXTWs1Sk1EOXViYmpJRjJMLysxUXppK2VNZlRlL2JGMThNM1dmaC9LVWxJcGRQZ25YKytXYWRsVVdMNmcrazZ0SkZldlpaTXhQNDdiZWxqeitXTm0weWkycWRQTm42MGZWMzNXVitadDMvQjhyT05ndW9OM0hlVkU4d00yS2wwTFo1ZVB2dHhrZklOeVFVSTNRdHkrUTA5d0RBeGlRbG1YclUwMCszYk9aMUpFVlpQb21INHV0S1NhV1NPbW5sU2pPRVBSVDlTMy95RS8vN1hicVlYOXFKRTgzVjBVbVR6QS9kakJuK1BYYUNjYzAxNXJabGkrazU4dXFycHYrcWV4U3JaUHJEQnBveTA3T251VEk1WjQ2NVgxcHEyaGxVVkhpSDM5ZlVlRWU3U3Y3Snc3Szh0NlFrNzljK2ZhS2pSOHlkZDVxcnNvY1ArL2NVOHIxcTVxU3VYVnMremFaMmVuVFluVHhwcGd3WnB5VXRiT1RvaEpLZW5yN3l6Smt6cFpJNkhUcDBTQlVWRlFGWDI0NmtrU05IK3QxM2p5NWJ0R2lSWEM2WHVuZnZyZ0VEQm1qQWdBRnE0enNpSVFpOWV2VlNyMTY5ZE9MRUNXM2Z2bDI3ZHUxU1JrYUdKa3lZNERsbTFLaFJHang0Y0lQZmkvYnQyMnZreUpHZUdDc3JLMVZlWHE2YW1oclp0bDN2MWhCM0ljYjNxN3NBbEpTVXBFMmJObm1LS1VsSlNlcmJ0NitHRGgycW5nMzB4azVKU2RIWXNXTTFac3dZblRwMVN2djI3ZlA3SE9QR2pRdFkrQmt5WklnNmRPaWdGU3RXcUx5OFhPUEhqMWRhV3BxNmR1MnFrcElTMmJhdHRMUTA5ZXJWUzJQR2pGRnljckltVHB5b3paczNhL3o0OFFHL3g4RXVhaGF0Q3hpNVJ4elhPbTFaRmpuRFI3VG1qVUJTVWxKMDVaVlhhc21TSmVyZHU3Y0dEaHlvWHIxNk5ldm5MeWtweVpOelRwOCtyZDI3ZDZ1a3BNUXZiL2hLVGs1VzM5cis3RmRlZVdYQWRpTEJxcXFxOGx5b2FPajNhOUNnUVRwMTZwUXFLaW84RjJja3FYK29Gd3h0b2JTMHRIb2ppNXZ6M0ZoQTNtaVY4SnkvdUxWdmI4NVZHdVArUDdidmdsRHA2VTMzOHd6bXRXUEp4SWxtRktkazJzalZYVFM1cnRSVU0wcXNKUnI1ZjBSSXpaMXJ6dTFtenpZTEtVdG1TdlhBZ2Q3aWEvLytaakRKZmZjMXZnNkpyd3N1TUtNVFo4MHlvMTZQSERFek0wT0Y4NWVXQ204K2FhblpzMDE3dzBDL0w1MDdtNkwrM1hkNzk5bTJhVDNvbnFYcnJtdTRaL0Q2MWpiY044bGJ3N0FzNzJDMlo1NlJldlF3bzdQckxEd2F0WHIwQ1AzQzU4RjYvSEd6UUZwbHBibFZWZmwvNzl1ME1mRmRmbm4wTDdJbFJXVStpWUpLVyt2WjB1OGxQU0RKakk2c1d6Z05wWFhyekM5RWM2K2NOS2E2Mmd5NWI4VkNFWEhIblhpamFaR1B4WXZOMStIRC9hOHdOOGVoUTk3bTNRRk9ZRVBpbFZkOGU3RDgwNUp1RGQrYnhaN25uMy9la3pPeXM3UHJGVDZqU1VsSmlkTFQwK3V0VnQ0YUxwZExMcGVyM3NoUUorWG41K3Z3NGNPZW5yVE5LVDZjT0hGQ0gzLzhzUzY1NUJLL0lreGp6cDA3cDRLQ2dxRGJDSnc3ZHk1cUZ4MEtoUysvL05KVDZMSnQrNSt6WnMwaVo5UVJTM25EemVWeVJXM0JQMVJxYW1xQ3Z2Z1JDZTcyREIwN2RsUjZDMWM1UDN2MnJLZHZiVk9qakoxRTNtaWRpSjYvT01IbE1vdFpTYVovWURNdkhIc0tBSkovZ1JndHQyK2ZtWTU5ODgybTZOeWFRVGMxTmViMVFsa280dnlseGFJMm4xUlZtUXNXc2FLeTB0dGFNdGgrMmU0Ujg2bXBnVWVDbmpuamJXdFNkNmJ4aVJQZVBzMlRKemUvVC9kYmI1bXZZOFk0VjdpTlJsR1lUK0tsK0RwQjBocEpaa1JpUVVGMGpPQUVuR0RiWm5xRnU4K09kSjBsTFhZeXBHanp3Z3N2VExCdGU0MWtUcEJ2dnZubVZrK1JCV0tWYmR0NjU1MTNkS3gyOFFPWHkzWGRQZmZjUTg2b2c3d0JlSkUzV28vekY4QUg1eSt0UWo0QmZFUnBQb21MNFJDV3RGYVMrYzRXRm5xbmpnQ0phTjA2MzBSVEdBMkpKdHJNbkRuVGt6Tk9uanpwMXdzVlNEUkhqeDcxRkZBa0ZWSkFhUmg1QS9BaWI3UWU1eStBRDg1ZldvVjhBdmlJMG53U0Y4WFhXazk0dGg1OU5QZ0d5VUE4c1czcDV6LzMzZFBNWlY4VGgyM2JucHlSbDVmblpDaUFvM3gvL20zYkptYzBncndCR09TTmtPSDhCZUQ4SlZUSUowQVU1NU40S3I2K0pXbTNKR25OR3JPeUhwQm9WcStXM24vZmZhOVkwcDhkakNhcTdkdTM3eTNMc25aTHBxK3F6NkloUU1JNGZQaXdwMGVscE9LeXNqSnlSaVBJR3dCNUk4UTRmd0U0ZndrVjhna1F4ZmtrYm9xdmxsUXA2Zjk1ZHN5WjQyMStEQ1NDeWtycGdRZDg5L3pDa3M0NUZVNjBtejkvZnFWdDI1NmM4Zm5ubjZ1bXFSVnVnVGhTVTFPanRXdlgrdTc2eFFNUFBFRE9hQVI1QTRtT3ZCRmFuTDhnNFhIK0VqTGtFeVM4S004bmNWTjhyZldHcFBXU3BPM2JwVWNlY1RZYUlKSVdMSkM4MHdDM1Nucld3V2hpd3QxMzMvMkdiZHZySmVuVXFWUEt6YzExT2lRZ1lnb0tDblM4ZGlWcTI3YTNGaFVWa1RPQ1FONUFJaU52aEFYbkwwaGNuTCtFR3ZrRWlTdks4MGxjRlY4dHlaWjBqNlFxU2RMdmZpY3RYZXBvVEVCRWZQYVo5Tk9mdXU5VlMvcWVKYmtjakNoVytPV01MVnUyc0lnT0VrSkpTWWsyMURhaXQyMjdXdEwzNXMrZlQ4NElEbmtEQ1ltOEVSNmN2eUJoY2Y0U2N1UVRKS3dZeUNkeFZYeVZKRXZhS01sMDJLMnBrVzY3VGRxOTI5bWdnSEFxTHBhKzlqV3B1dHE5NXlsTFd1VmtTTEZrMXF4Wm5weGgyN2FXTDErdTA2ZFBPeHdWRUQ3bDVlWDY2S09QWk5jdXhHQloxbE96WnMwaVp6UURlUU9KaHJ3UlhweS9JT0Z3L2hJMjVCTWtuQmpKSjNGWGZLMzF1S1Jsa3FSang2U3JyNWIyN25VMklpQWNEaDZVcGsyVERoMXk3MWt2MzE0L0NFcFJVWkVuWjV3N2QwNkxGeS9XbVRObkhJNEtDTDN5OG5JdFdiSkVaOCtlZGU5YVgxUlVSTTVvQWZJR0VnVjVJMkk0ZjBGaTRQd2xFc2duU0F3eGxFOHNwd01JRjF2S2xQU1pwSUdTcEg3OXBQZmVreTY2eU5HNGdKRFp0VXU2L25wcDJ6YjNuZ09TeGx2U29VYWVoUUNlZlBMSnpQYnQyM3R5eG5ubm5hZnAwNmNySXlQRDRjaUEwRGg5K3JRKy9QQkRuVHg1MHIzcmdHVlo0MmZPbkVuT2FDSHlCdUlkZVNPeU9IOUIzT1A4SldMSUo0aDdNWlpQNG5Ya3F5enBtS1JySmUyWFpLNzBaR2RMcjc0cTFVNlpBbUtTYlVzTEYwcGp4dmdtbWlPU2JvaldSQk1MN3IvLy9tT1daWGx5UmxsWm1kNTU1eDN0MnJYTDRjaUExaXNxS3RMQ2hRdDlDeWhIYk51K2dRSks2NUEzRU0vSUc1SEgrUXZpRnVjdkVVYytRZHlLMFh3U3R5TmYzV3hwZ0tTUEpmWDM3THoyV3VuWHY1WkdqblFxTEtCbGR1eVE1czZWM256VGQrOUJTVk10cWNDaHFPTEtTeSs5TktDNnV0b3ZaL1RxMVV2WjJkbnExS21UYzRFQkxYRHExQ210WDc5ZWUzMm1tdG0yZmRDeXJLbDMzMzAzT1NORXlCdUlKK1FONTNIK2dyakMrWXVqeUNlSUt6R2NUK0srK0NwSnR0UkYwbXVTcG5oMldwWjAzWFhTUGZkSVYxMGxNVVVRMGVyMGFXbkZDdW41NTgwVkhwZmZvbjFySk0yd3pCQjdoTWp6enovZnhiS3MxMnpibnVLN3YzZnYzaG95WkloNjlPaWhObTNhT0JVZTBLaXFxaW9kT25SSTI3ZHZWMUZSVWQySDF5UW5KOCs0NjY2N3lCa2hSdDVBTENOdlJCL09YeERUT0grSkt1UVR4TFE0eVNjSlVYeVZKTnUwV0hoWTBseEo2WDRQV3BhNTZqTit2TlMxcTVTWkthV21PaEVtWUZicE8zWk1LaW1SY25PbEw3NW9hR3JJV1VrTEpNMnpKRmY5RjBGcnpaOC9QNmx2Mzc0TjV3eEpuVHAxVXVmT25aV1dscWEyYmRzcUtTbHV1N2dneXRtMnJZcUtDbFZVVk9qWXNXTTZmdng0UTRlZGxiU2dxS2hvM3Z6NTg4a1pZVUxlUUt3Z2I4UUd6bDhRTXpoL2lYcmtFOFNNT00wbkNWTjhkYk9sSHBKK0pla1dTVzBkRGdkb3JpcEpiMGw2eUpKWXNqSUNubjMyMlI0cEtTbS9zaXlMbklHWVk5dDJsV1ZaYjdsY3JvZnV1ZWNlY2thRWtEY1F5OGdiMFlmekY4UTR6bCtpQ1BrRU1TNW04MG5DRlYvZGFsZi91MWZTMXlXTmtwVG1iRVJBUUpXU05rdGFLT25QMGR4RU9wNDkrZVNUbWUzYXRidlhzaXh5QnFLZEoyZFlsdlZuRnNkeERua0RNWVM4RVFNNGYwRU00ZndseXBGUEVFUGlJcDhrYlBIVmx5MjFrWlF0YWJTa25wTGF5d3pMQjV6Z2tobEdmMUFteWF5enBBcG5RNEt2Zi83em4yM0t5OHV6WFM3WGFFazliZHNtWjhCSkxzdXl6dFl1aUxQWnNxeDFNMmZPSkdkRUdmSUdvZ3g1SThaeC9vSStuYThUQUFBVm5rbEVRVlFvdy9sTERDT2ZJTXJFWlQ2aCtJcVFHVE5tek95a3BLUUZkWFl2eU0zTmZkQ1JnQUFBQUFBQUFBQUhjVFVEQUFBQUFBQUFBTUtBNGlzQUFBQUFBQUFBaEFIRlZ3QUFBQUFBQUFBSUE0cXZBQUFBQUFBQUFCQUdGRjhCQUFBQUFBQUFJQXdvdmdJQUFBQUFBQUJBR0ZCOEJRQUFBQUFBQUlBd29QZ0tBQUFBQUFBQUFHRkE4UlVBQUFBQUFBQUF3b0RpS3dBQUFBQUFBQUNFQWNWWEFBQUFBQUFBQUFnRGlxOEFBQUFBQUFBQUVBWVVYd0VBQUFBQUFBQWdEQ2krQWdBQUFBQUFBRUFZVUh3RkFBQUFBQUFBZ0RDZytBb0FBQUFBQUFBQVlVRHhGUUFBQUFBQUFBRENnT0lyQUFBQUFBQUFBSVFCeFZjQUFBQUFBQUFBQ0FPS3J3QUFBQUFBQUFBUUJoUmZBUUFBQUFBQUFDQU1LTDRDQUFBQUFBQUFRQmhRZkFVQUFBQUFBQUNBTUtENENnQUFBQUFBQUFCaFFQRVZBQUFBQUFBQUFNS0E0aXNBQUFBQUFBQUFoQUhGVndBQUFBQUFBQUFJQTRxdkFBQUFBQUFBQUJBR0ZGOEJBQUFBQUFBQUlBd292Z0lBQUFBQUFBQkFHRkI4QlFBQUFBQUFBSUF3b1BnS0FBQUFBQUFBQUdGQThSVUFBQUFBQUFBQXdvRGlLd0FBQUFBQUFBQ0VBY1ZYQUFBQUFBQUFBQWdEaXE4QUFBQUFBQUFBRUFZVVh3RUFBQUFBQUFBZ0RDaStBZ0FBQUFBQUFFQVlVSHdGQUFBQUFBQUFnREJJY1RvQXhLNnNyS3lla3JxNDcxdVcxYXVCdzdwa1pXVmQ3SFAvUkY1ZTN0NndCd2NBQUFBQUFBQTRqT0lyV21PS1pWa3ZOWEhNSFpabDNlRnpmNjZrSjhJWUV3QUFBQUFBQUJBVmFEdUFGcXVwcVZraXFTYlk0MjNiZGxWWFY3OGF4cEFBQUFBQUFBQ0FxRUh4RlMyV241OS9STkx5Wmp4bFEzNSsvdjR3aFFNQUFBQUFBQUJFRllxdmFCWGJ0bDlyeHVHTHdoWUlBQUFBQUFBQUVHVW92cUpWa3BLUzNyTnQyOVhVY2JadHUyemJicW8vTEFBQUFBQUFBQkEzS0w2aVZUWnMySEJRMGlkTkhXZFoxc1l2dnZoaVQvZ2pBZ0FBQUFBQUFLSUR4VmUwbW1WWlRiWWVzRzM3blVqRUFnQUFBQUFBQUVRTGlxOW90WFBuenIxdjI3WWQ2SEhidG0yWHkvVktKR01DQUFBQUFBQUFuRWJ4RmEyMlpjdVdJa21mQm5yY3NxeE5HemR1M0I3QmtBQUFBQUFBQUFESFVYeEZTTmkyM1ZqcmdVVVJDd1FBQUFBQUFBQ0lFaFJmRVJJdWwrczlTUTIxSHJCdDI2YmxBQUFBQUFBQUFCSU94VmVFUkg1Ky9tN2J0amMwOEZCaFhsNWVRY1FEQWdBQUFBQUFBQnhHOFJVaFkxbldxM1gzMmJiOW5oT3hBQUFBQUFBQUFFNmorSXBRZXFmdURzdXlYbklpRUFBQUFBQUFBTUJwRkY4Uk1ybTV1VHNsYmZUWnRTTTNOemZmcVhnQUFBQUFBQUFBSjFGOFJVaTVYQzdmeGJWb09RQUFBQUFBQUlDRVJmRVZJWldVbExUSXZWMm5FQXNBQUFBQUFBQUFhSTJzckt3dFdWbFp1NXlPQXdBQUFBQUFBSEJTaXRNQlJBTmJTcFYwa2FSQmtqcExTcE5rT1JwVURKdHo0c1N1RTZtcEdiblNiS2RqaVZHMnBIT1Nqa3JhTFdtekpWVTZHeElBQUFBQUFBQ2FLMkVMakxiVVVkTE5rdTZRZEpta2RzNUdGRDkycEtXcFBEbFpGNWVWT1IxS3ZLaVF0RTdTSzVMK2JVbkhISTRIQUFBQUFBQUFRVWk0NHFzdFpVcjZUMGsvRUFWWHhKNXprcDZUOU4rV2RNanBZQUFBQUFBQUFCQll3aFJmYmZOWnZ5ZnBWektqWHIwc1N4bzRVQm8rWE9yVVNlclFRVXFoSXdNY1VsTWpuVG9sbFpaSzI3WkpPM1pJdGwzM3FET1Mva3ZTN3kzSkZma2dBUUFBQUFBQTBKU0VLTDdhVWlkSmY1SDBEYzlPeTVJbVRwUys4eDNwRzkrUU9uZDJMRDZnVVNkT1NHKytLZjN0YjlMS2xYVUxzVXNrZmR1U1NoeUtEZ0FBQUFBQUFBSEVmZkhWbG5wS1dpcHB1R2ZuaEFuU2dnWFNKWmM0RmhmUUloczNTai82a2JSOHVlL2VQWkt1dHN6aVhBQUFBQUFBQUlnU2NWMTh0YVUra2o2V2RLRWtLUzFOZXVJSjZmNzd6Y2hYSUJiWnRoa0YrOE1mU3VYbDdyMzdaUXF3T3h5TURBQUFBQUFBQUQ3aXRnSnBTeDBrZlNwcGhDU3BlM2RwNFVJcEo4ZlJ1SUNRMmJKRnV1RUdhZTllOTU1ZGtySXQ2YmlEVVFFQUFBQUFBS0JXWEJaZmJTbFowcjhsZlZXUzFLT0g5UEhIMHJCaGpzWUZoTnpldmRMa3lkS2VQZTQ5S3lSTnRhUnF4MklDQUFBQUFBQ0FKQ25KNlFEQzVBRzVDNjhkTzBwTGwxSjRSWHpxMTg5Y1dNak1kTytaSk9ubkRrWUVBQUFBQUFDQVduRTM4dFdXaGtyYUtLbXRrcE9sMTErWGJyN1o2YkNBOEZxMlRKbzJUYXFwa2FRcVNSTXNLZGZocUFBQUFBQUFBQkphWEkxOHRVMHgrYytTMmtxUzdydVB3aXNTdzFWWFNmUG11ZStsU3ZxckhZY1hWd0FBQUFBQUFHSkpYQlZuYk9rcmt0NlJaS1pqRnhSSTdkczdHeFFRS1JVVlVsYVdWRmpvM2pQVGtsNTBNQ0lBQUFBQUFJQ0VGamNqWDIwcFJkS3ZQVHVlZUlMQ0t4SkxXcHIweHovNjd2bVpMYlZ4S2h3QUFBQUFBSUJFRnpmRlY1bFJyMlpWcmJGanBSa3puSTBHY01LVUtkTGt5ZTU3L1NYZDVWZ3NBQUFBQUFBQUNTNmVpcThQZWJiKzY3OGtLNjQ2S2dEQnNTenAwVWQ5OTl6dlZDZ0FBQUFBQUFDSkxpNHFsTFkwVHRKNlNkTEFnZExPblJSZmtiaHNXeG85V3RxODJiM25ha3RhNW1SSUFBQUFBQUFBaVNoZVJyN2U3dG1hTll2Q0t4S2JaVWsvL3JIdm5sbE9oUUlBQUFBQUFKRElZcjVLYVV1cGtnNUk2cUxrWkduL2ZxbDdkNmZEQXB4MTdKajVQYWl1bHFSU1NkMHRxZExocUFBQUFBQUFBQkpLUEl4OHZVeFNGMG5TcFpkU2VBVWtLVE5UdXY1Njk3MU9NZ3ZTQVFBQUFBQUFJSUxpb2ZnNjFiUDFsU2l2THkxZkxtM2ZIdHl4ZVhuUzNMbVN5eFhXa0FLNjlscHp1L2ZlMEw3dXRtMm1KMit3OHZPbGt5ZERHME9pbURIRDkxNlUvM0lBQUFBQUFBREVuM2hvTzdCSjBraEpVa0dCTkh5NHN3RUZVbE1qZGVraWxaWktWMTh0ZmZSUjRHTlhyWkt1dU1Kc3YvaWlkTmRkRVFuUmo3dHY3dENoVW1GaDZGNzNwcHVraFF1bFBuMmtUeitWZXZkdStEamJsdTYrVzNycEpWTUFmdWFaMXIxdlRZMVVVdEs2MTJoSXQyN1IyMk40OTI2ekFKM3hwU1ZkNkdRNEFBQUFBQUFBaUNHMjFNMDJaVHJiN3RuVHRsMHVPMnF0WG0xN1l2M05iNW8rZnVwVWMrekFnYlpkWFIzKytPcHl4enAwYU9oZTg4d1oyMjdYenJ6dXhSYzNmZnljT2VaWXk3THRUejl0M1h0djNlcjlUS0c4bFphMkxxNXdjcmxzZThBQTMzajdPUDA3Q3dBQUFBQUFrRWhpdmUzQXhaNnRjZU9pZHdTaUpDMWViTDVhbG5UcnJVMGYvOWhqNXV1dVhkTHJyNGN2cmtoYXZGZzZlOVpzMzNOUDA4ZlBuMjlHeHRxMmRQLzl6clZnaUZXV1pVWlplMTNoVkNnQUFBQUFBQUNKS01YcEFGcHByR2ZyNG9zYk9Td0t2UCsrK1hyRkZhYWcySnhDOGUyM20xdFQ3cnJMdENtSVZtKzhZYjZtcFVsMzNobGNPNFB2ZjE5NjVCSFQvbURUSnFsdDI2YWZNMnhZNDQrLy9MSjB3dzFOdjA0Z0w3d2cvZmpITFg5K0pHVm5TODg5NTc1M3FhUlhIWXdHQUFBQUFBQWdvY1I2OFRYSHN6Vnhvb05oTkdIN2RtbjllclA5M2U4NkdvcGpqaCtYM256VGJOOTJtNVNSSVhYcUZQenpYM3ZOM0lKaDI0MC9mdDU1NXYxYnFsMjdsajgzMGthTjhyMDMwcWt3QUFBQUFBQUFFbEdzRjErOXhhU1JVVnhYY285R3pjZ3doVWVwNlFKaE9NeWVMZjNqSDJiNzBLSEl2dmNMTDBnVkZXYkU3NXc1a1gzdlJPWmRjRXVTQmpnVkJnQUFBQUFBUUNLSzJlS3JMYldSWkNwTGJkdWFxZnpSeU9XUy91Ly96UGEzdiszc3FNbVRKNlhEaHlQL3ZyWXRQZnVzMmI3aEJtbkVDTzkraEZlM2J1Wm56dlRhN1cxTGFaWlU0WFJZQUFBQUFBQUFpU0JtaTYrU2VrdEtsaVQxNlNNbFJlbmFZUjkrS08zZmI3WWJham5RMmtYQ1lxR0ErY0VIMG80ZFpudnVYR2Rqa2FRREI0THJOeHVJRXdYc2xySXNhZkJnS1Q5Zk1ndnNYU2hwczdOQkFRQUFBQUFBSklaWUxyNTI5bXgxNmVKZ0dFMTQ0Z252OWdVWEJENnVaMDhwTlRXNDE2eXFrb3FMV3hkWHNJNGVsZWJQRCs3WTIyNXJlTEdybi8vY3UzMzU1ZjZQblRwbCtzR0dRdi8rd1IxMy8vMmhlYjlZMGF1WHUvZ3FTVDFFOFJVQUFBQUFBQ0FpWXJuNG11blphcXlvNmFUUFA1Yysvamk0WXovNnFPSENaVU1LQzZYaHcxc2VWM01jT3lZOSttaHd4NDRaVS84ekxGa2lmZnBwNE9jOC83ejA0SU10ajg5WExJd0Nka0szYnI3M2VqZ1ZCZ0FBQUFBQVFLS0owcm42UWVuazJXck55dlhoOU5oalRrZmd2R0JIelViU20yK2FRbTFMYjMvNms5T2ZvSG44UjRaM2RTb01BQUFBQUFDQVJCUExJMS9UdkZ0cGpSem1rTHc4NmEyM2dqOCtVaU5abTJ2bzBKYjNSMzNqRFdudDJzYVArZEdQekMzYyt2U1Izbi9mYkk4ZDI3clh1dU1PNmRwcnpYYUhEcTE3clVobzM5N3ZubE5oQUFBQUFBQUFKSnBZTHI2MjlXeTFhZU5nR0FITW5tMUdTVjV4aGZUSkowMGZINjA5WDF2cXpCbHZVYlZqUitua1NXZmpPZTg4YjhHMHRjNC8zOXhpaGYvRmlTaThVZ0VBQUFBQUFCQ2ZZcm40NnExVUJsdTBqSlIvL01OYmNQM05iNlJMTGdsOGJOdmFHdkt5WmRLUUljRzkvdmJ0MHVqUnJZc3gzSDcyTTJuL2ZyUDl5MThHWHVRcVhBdHVXVlpvWHJPNTJyYVZLaXFjZWU5QS9DOU90QTEwR0FBQUFBQUFBRUlybG91dlZkNnRxa1lPaXpDWFM1bzcxMnpmY291VWs5UDQ4UzBwMUEwWkVuMEZQbCtIRDB0LytJUFp2dU1PYWNxVXdNZXk0RmI0VlZiNjNYTXFEQUFBQUFBQWdFUVR5OFZYYnhFcG1vcXZTVW5Td0lGU2FhbjAyOS9XZjN6L2Z0Ti9ORnlpb1FEWnJaczBlTEJwTmZENzMwc2xKWkdQWWV2V2h2ZS8vYmEzT1A3M3Ywc1hYeHphOTAyS3dqWHN6cDN6dlhmV3FUQUFBQUFBQUFBU1RTd1hYNzFEUDZOdEZPaDk5NW5pYTY5ZVRrZmluTzkvWHhveFFzck1iTHo0R3E0RnQ0WU5hM2ovbkRubWE3OStabVN5VSswSklxbTgzUGNleFZjQUFBQUFBSUFJaWVYaWE2bG42OFFKQjhOb3dOZS9McVVFOGEwOWZWcEtUMi85K3hVV1NzT0h0LzUxUXVuKys2TnZGT2podzlLU0pXYjdqanNTby9BcTFTMStIM0VxREFBQUFBQUFnRVFUeThYWFk1NnRVQzNZRkNyUnRnQ1lFNEl0dkZaV1NzWEZyWCsvekV6cC9QTWJQK2ExMTZUcWFyT2RrMk9LMXExMS92blJQOEw1OEdIZmU0ZWNDZ01BQUFBQUFDRFJ4RWZ4OWVoUkI4Tm9wdVJrMHhOVk1nWEsxbzYrZk93eDZadmY5TDVtck1uUGw3S3pXLzg2Zi9xVGFYWFFtRDE3dk5zMzNkVDY5NVNrV2JPa3YvNDFOSzhWTHY3RjdSQlV1Z0VBQUFBQUFCQ01XQzYrN3Bma2twU2tmZnZNUWxPeE1JMjhSdy9wVUlnSEgxNTRZZWhmRThFSjUrSnBvV0RiMHM2ZDduc3VTVjg2R0EwQUFBQUFBRUJDaWJLbW5NR3p6SUpidXlWSlo4K0dadXE2RTJ5NzhadmIxcTBOUC80Zi8rRmM3S0gyK2VkTmZ6OENmWCtDc1dCQjgxKy9vZHZXcmQ3WDdOczN0TitEVUNzcGtjNmNjZDg3YUVubGpSME9BQUFBQUFDQTBJblo0bXV0TFo2dHpac2REQU1KeGJkOVFmLytUa1VSbkYyNy9PNDVGUVlBQUFBQUFFQWlpdlhpNjJlZXJiVnJIUXdEQ1dYYk51LzJvRUhPeFJFTS80c1NXd0lkQmdBQUFBQUFnTkNMOWVKcnJtZnJpeThjREFNSnhWM29iOTllNnQzYjJWaWE4dm5udnZmV09CVUdBQUFBQUFCQUlvcmxCYmNrYWFObkt6YzNkaGJkQ2xaMXRYZTd1WitycWVPRGZiMXQyNXIzM25mZEpiMzRZdkRIeDVvOWU2UjMzelhiMmRsU1VoUmZ2N0J0YWZseTN6MmZPQlFKQUFBQUFBQkFRb3JwNHFzbEZkdlNOa2xEVlZSa1ZuVWZQTmpwc0VKbnh3N3Zka2FHYzNGRVNuYTJNKzliVVNFdFdTSmxacHJ2YzRjT1VucTZHZG5hcG8wNTV2QmhhY1VLYWQ0ODZmUnBzKy9PTzUySk4xajc5MHZidDd2djdiWGNDOVFCQUFBQUFBQWdJbUs2K0ZyckxVbHpKVW1MRmtrUFB1aHNOQzIxZEtsVVZTVjE3aXkxYXllZE9pWDk5S2Ztc2ZSMHFXdlg1cjNlN05taGp6RVlPVG5Pdkc5cnRHMHJmZnZiM3FKcU1DWk9sR2JPREY5TW9iQjZ0ZSs5bFU2RkFRQUFBQUFBa0tqaW9maTZWUEZRZkgzbkhla1BmMmo0c2U5L3YvbHRCeFlzYUgxTWtmYjIyOUtvVWMxN3pvQUJyWDlmeTVMR2pqVWpXNXVTbENUZGVxdjA5Tk5TY25McjN6dWMzbmpEOTk2N1RvVUJBQUFBQUFDUXFPS2grTHBTVXFta1RscTVVanAyekV3Zmp6VVRKa2hQUFNYVjFKajdsaVgxN3kvZGNvdjA4NTg3R2xyRTlPaGhQck1USG4vYzlMZXRyRFMzcWlyemIrRnltVnViTmlhK3l5K1Ava1cySk9ua1NXbmhRdmU5MDVJV05uSTBBQUFBQUFBQXdpRG1pNitXVkdsTC95ZnBBVlZYbThXZWZ2SVRwOFB5OThJTDVtdm56b0dQdWYxMmM1UGliK0d3M3IybE45OXMrTEVMTC9RK2R1R0Z6WDl0OTNQSGpHbFpiRzRUSnBoYnZGaTB5QlNRamZjdHFjTEpjQUFBQUFBQUFCSlJYRlQ0YkdtQ3BEV1NwR0hEcElLQytDcGVBczFoMjJieHNnMGIzSHV1czZURlRvWUVBQUFBQUFDUWlKS2NEaUFVTEdtdEpGTnBLaXlVUHZqQTJZQUFKNjFiNTF0NExhVHdDZ0FBQUFBQTRJeTRLTDdXZXNLejllaWpadlFma0doc3UyNlA0S2VkQ2dVQUFBQUFBQ0RSeGMzY2ZGdHFJNmxRMGdCSjB0dHZTemZlNkdoTVFNU3RXaVZkY1lYN1hyR2tnWlowenNHSUFBQUFBQUFBRWxiY2pIeTFwRXBKLzgrelk4NGNxWUkxaHBCQUtpdWxCeDd3M2ZNTENxOEFBQUFBQUFET2ladmlhNjAzSksyWEpHM2ZMajN5aUxQUkFKRzBZSUdVbCtlK3QxWFNzdzVHQXdBQUFBQUFrUERpcHUyQW15MWRMT2x6U2FsS1RwWVdMNWFtVG5VNkxDQzhQdnRNdXV3eXFicGFrcW9sWFdWSnF4eU9DZ0FBQUFBQUlLSEYyOGhYV2RKR1NXYkZvWm9hNmJiYnBOMjduUTBLQ0tmaVl1bHJYM01YWGlYcEtRcXZBQUFBQUFBQXpvdTdrYStTWkVzcGtqNlFkSlVrcVg5L2FmbHlxVjgvQjZNQ3d1RGdRVE95dTZEQXZXZTlwTXRxZXlBREFBQUFBQURBUVhFMzhsV1NMRFB0ZW9ha1haS2tQWHVrU1pOOEMxUkE3TnUxUzdycUt0K2Y2d09TYnFUd0NnQUFBQUFBRUIzaXN2Z3FTWlowVE5LMWt2WkxrdmJ1bGJLenBWZGZsV3piMGRpQVZyRnRhZUZDYWN3WWFkczI5OTRqa202d3BFTU9SZ1lBQUFBQUFBQWZjVnQ4bFNSTDJpSHBTa2w3SkVubDVkSWRkMGpYWHk5dDN1eGthRURMN05naGZlTWIwazAzU2FkUHUvY2VsRmxnYTZPRGtRRUFBQUFBQUtDT3VPejVXcGN0ZFpIMG1xUXBucDJXSlYxM25YVFBQV2JxZGthR1kvRUJqVHA5V2xxeFFucitlVFBpMWVYeWZYU05wQm1XYVRrQUFBQUFBQUNBS0pJUXhWZEpzczBvMzRjbHpaV1U3dmVnWlVralIwcmp4MHRkdTBxWm1WSnFxaE5oQWxKMXRYVHNtRlJTSXVYbVNsOTgwVkNyakxPU0ZraWFaMG11K2k4Q0FBQUFBQUFBcHlWTThkWE5sbnBJK3BXa1d5UzFkVGdjb0xtcUpMMGw2U0ZMMnV0ME1BQUFBQUFBQUFnczRZcXZicmFVS2VsZVNWK1hORXBTbXJNUkFRRlZTdG9zYWFHa1A3T29GZ0FBQUFBQVFHeEkyT0tyTDF0cUl5bGIwbWhKUFNXMVY1d3ZSb2FvNXBKcEszQlFwdWk2enBJcW5BMEp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nWHYxL1FQTC9wMmMybGRJQUFBQUFTVVZPUks1Q1lJST0iLAoJIlRoZW1lIiA6ICIiLAoJIlR5cGUiIDogImZsb3ciLAoJIlZlcnNpb24iIDogIjE3Igp9Cg=="/>
    </extobj>
  </extobjs>
</s:customData>
</file>

<file path=customXml/itemProps28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5709</Words>
  <Application>WPS 演示</Application>
  <PresentationFormat>宽屏</PresentationFormat>
  <Paragraphs>783</Paragraphs>
  <Slides>27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Wingdings</vt:lpstr>
      <vt:lpstr>Arial</vt:lpstr>
      <vt:lpstr>黑体</vt:lpstr>
      <vt:lpstr>Arial Unicode MS</vt:lpstr>
      <vt:lpstr>Calibri</vt:lpstr>
      <vt:lpstr>Segoe UI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你猜</cp:lastModifiedBy>
  <cp:revision>458</cp:revision>
  <dcterms:created xsi:type="dcterms:W3CDTF">2019-06-19T02:08:00Z</dcterms:created>
  <dcterms:modified xsi:type="dcterms:W3CDTF">2023-07-25T05:38:06Z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